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5"/>
  </p:notesMasterIdLst>
  <p:handoutMasterIdLst>
    <p:handoutMasterId r:id="rId7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/>
  <p:notesSz cx="6858000" cy="9144000"/>
  <p:defaultTextStyle>
    <a:defPPr>
      <a:defRPr lang="fr-F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  <a:srgbClr val="14384E"/>
    <a:srgbClr val="507C5C"/>
    <a:srgbClr val="B55378"/>
    <a:srgbClr val="01677B"/>
    <a:srgbClr val="24737F"/>
    <a:srgbClr val="3D3B49"/>
    <a:srgbClr val="ED6B9A"/>
    <a:srgbClr val="E5E5E5"/>
    <a:srgbClr val="00A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 autoAdjust="0"/>
    <p:restoredTop sz="82177"/>
  </p:normalViewPr>
  <p:slideViewPr>
    <p:cSldViewPr snapToGrid="0" snapToObjects="1" showGuides="1">
      <p:cViewPr varScale="1">
        <p:scale>
          <a:sx n="100" d="100"/>
          <a:sy n="100" d="100"/>
        </p:scale>
        <p:origin x="1816" y="1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6" d="100"/>
          <a:sy n="96" d="100"/>
        </p:scale>
        <p:origin x="3688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Name of presentation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06/12/2019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CH">
                <a:latin typeface="Arial" panose="020B0604020202020204" pitchFamily="34" charset="0"/>
              </a:rPr>
              <a:t>Speaker</a:t>
            </a:r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Name of presentation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CH"/>
              <a:t>06/12/2019</a:t>
            </a:r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80975" y="858838"/>
            <a:ext cx="6496050" cy="3654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80879" y="4630882"/>
            <a:ext cx="6496242" cy="39173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r>
              <a:rPr lang="fr-FR"/>
              <a:t>Speaker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section begins here. Not part of the 20-minute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Protocol backup. Use if asked how checkpoints were chosen or whether the test set was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MAPPO settings and the tuned baseline 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 backup: the exact baseline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4 backup: mechanism comparison and exact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4 backup: why the WCCI pilot cannot isolate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A and B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C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 D and 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F backup. Important: typed_mean looks worse on bus14 and clearly better after transfer — the single most interesting reversal in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 backup: the complete shift table and the normalizer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8 backup: the visual before/after.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5 backup: what Gmax-delta actually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10 backup: gate and policy-change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10 appendix: the full zero-shot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7 appendix: the target-control board and the action-space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if asked whether the mean is driven by a few episodes.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Glossary. Keep this one findable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 — slide 1 of 25   ·   cumulative 0:20</a:t>
            </a:r>
          </a:p>
          <a:p/>
          <a:p>
            <a:r>
              <a:t>Title.</a:t>
            </a:r>
          </a:p>
          <a:p>
            <a:r>
              <a:t>Good morning. My thesis asks whether a decentralized reinforcement-learning</a:t>
            </a:r>
          </a:p>
          <a:p>
            <a:r>
              <a:t>policy for power-grid topology control, trained on a small 14-bus grid, can</a:t>
            </a:r>
          </a:p>
          <a:p>
            <a:r>
              <a:t>still be useful on a grid two and a half times larger. Everything is built on</a:t>
            </a:r>
          </a:p>
          <a:p>
            <a:r>
              <a:t>Grid2Op and on the MARL2Grid decentralized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 — slide 2 of 25   ·   cumulative 0:45</a:t>
            </a:r>
          </a:p>
          <a:p/>
          <a:p>
            <a:r>
              <a:t>Roadmap.</a:t>
            </a:r>
          </a:p>
          <a:p>
            <a:r>
              <a:t>Four steps. First why topology control is worth automating and why nobody can</a:t>
            </a:r>
          </a:p>
          <a:p>
            <a:r>
              <a:t>move a trained policy between grids. Second the design: the state and the</a:t>
            </a:r>
          </a:p>
          <a:p>
            <a:r>
              <a:t>action interface both have to stop depending on grid size. Third the evidence</a:t>
            </a:r>
          </a:p>
          <a:p>
            <a:r>
              <a:t>on a real target grid. Fourth what it means. The report follows the</a:t>
            </a:r>
          </a:p>
          <a:p>
            <a:r>
              <a:t>chronological order of the work; this talk is ordered by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 — slide 3 of 25   ·   cumulative 1:45</a:t>
            </a:r>
          </a:p>
          <a:p/>
          <a:p>
            <a:r>
              <a:t>The mechanism, in one picture. Take your time on this slide.</a:t>
            </a:r>
          </a:p>
          <a:p/>
          <a:p>
            <a:r>
              <a:t>Two generators on the left, one load on the right, two corridors between the</a:t>
            </a:r>
          </a:p>
          <a:p>
            <a:r>
              <a:t>substations. Every substation has two busbars; on the left panel everything is</a:t>
            </a:r>
          </a:p>
          <a:p>
            <a:r>
              <a:t>switched to the first one and the second sits there empty. The upper corridor is</a:t>
            </a:r>
          </a:p>
          <a:p>
            <a:r>
              <a:t>the short one, so by impedance it takes most of the flow and sits at 118 percent</a:t>
            </a:r>
          </a:p>
          <a:p>
            <a:r>
              <a:t>of its thermal limit while the long corridor runs at only 60. Nothing is broken</a:t>
            </a:r>
          </a:p>
          <a:p>
            <a:r>
              <a:t>— the power simply follows the path of least resistance.</a:t>
            </a:r>
          </a:p>
          <a:p/>
          <a:p>
            <a:r>
              <a:t>Now move one generator and one line onto the second busbar — that is the orange</a:t>
            </a:r>
          </a:p>
          <a:p>
            <a:r>
              <a:t>part. The two corridors are no longer fed from the same node, so the flow has to</a:t>
            </a:r>
          </a:p>
          <a:p>
            <a:r>
              <a:t>share: 87 and 91 percent. The overload is gone.</a:t>
            </a:r>
          </a:p>
          <a:p/>
          <a:p>
            <a:r>
              <a:t>Nothing physical changed. Same lines, same generation, same demand, and no new</a:t>
            </a:r>
          </a:p>
          <a:p>
            <a:r>
              <a:t>equipment — the second busbar was already there. Only the switch positions</a:t>
            </a:r>
          </a:p>
          <a:p>
            <a:r>
              <a:t>moved. That is the entire lever this thesis automates, and it is why the</a:t>
            </a:r>
          </a:p>
          <a:p>
            <a:r>
              <a:t>marginal cost is essentially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 — slide 4 of 25   ·   cumulative 3:15</a:t>
            </a:r>
          </a:p>
          <a:p/>
          <a:p>
            <a:r>
              <a:t>Three ideas, quickly — left to right.</a:t>
            </a:r>
          </a:p>
          <a:p/>
          <a:p>
            <a:r>
              <a:t>Topology control. A transmission grid is usually drawn as a fixed graph, but</a:t>
            </a:r>
          </a:p>
          <a:p>
            <a:r>
              <a:t>operators can change it: inside every substation the connected elements sit on</a:t>
            </a:r>
          </a:p>
          <a:p>
            <a:r>
              <a:t>busbars, and moving one element or splitting the substation redirects the power</a:t>
            </a:r>
          </a:p>
          <a:p>
            <a:r>
              <a:t>flow. The switchgear is already installed, so the marginal cost is essentially</a:t>
            </a:r>
          </a:p>
          <a:p>
            <a:r>
              <a:t>zero — unlike redispatch or curtailment, which you pay for every time. In</a:t>
            </a:r>
          </a:p>
          <a:p>
            <a:r>
              <a:t>practice operators use a short list of remedial actions prepared offline, so</a:t>
            </a:r>
          </a:p>
          <a:p>
            <a:r>
              <a:t>most of this flexibility is never used.</a:t>
            </a:r>
          </a:p>
          <a:p/>
          <a:p>
            <a:r>
              <a:t>Too big to search. A substation with d elements and two busbars has two-to-the-d</a:t>
            </a:r>
          </a:p>
          <a:p>
            <a:r>
              <a:t>assignments, so the 14-bus grid already has 178 unitary actions and the WCCI grid</a:t>
            </a:r>
          </a:p>
          <a:p>
            <a:r>
              <a:t>has almost sixty-seven thousand. And the decisions are coupled in time —</a:t>
            </a:r>
          </a:p>
          <a:p>
            <a:r>
              <a:t>an action now changes which contingencies you can still handle, and cooldowns can</a:t>
            </a:r>
          </a:p>
          <a:p>
            <a:r>
              <a:t>lock a substation for several steps. No closed form, one very clear objective:</a:t>
            </a:r>
          </a:p>
          <a:p>
            <a:r>
              <a:t>keep the grid alive. That is a reinforcement-learning problem, and Grid2Op gives</a:t>
            </a:r>
          </a:p>
          <a:p>
            <a:r>
              <a:t>us the simulator and the operating rules.</a:t>
            </a:r>
          </a:p>
          <a:p/>
          <a:p>
            <a:r>
              <a:t>Already regional. Almost all published work uses one agent for the whole grid,</a:t>
            </a:r>
          </a:p>
          <a:p>
            <a:r>
              <a:t>which is not how systems are operated — they are split into regions, each with</a:t>
            </a:r>
          </a:p>
          <a:p>
            <a:r>
              <a:t>its own control centre. Decentralization is also the only structure that scales,</a:t>
            </a:r>
          </a:p>
          <a:p>
            <a:r>
              <a:t>because a central actor's input and output both grow with the grid. Centralized</a:t>
            </a:r>
          </a:p>
          <a:p>
            <a:r>
              <a:t>training with decentralized execution gives us the best of both: a global critic</a:t>
            </a:r>
          </a:p>
          <a:p>
            <a:r>
              <a:t>during training only, local actors at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slide 5 of 25   ·   cumulative 4:00</a:t>
            </a:r>
          </a:p>
          <a:p/>
          <a:p>
            <a:r>
              <a:t>State of the art.</a:t>
            </a:r>
          </a:p>
          <a:p>
            <a:r>
              <a:t>Four families. Single-agent methods like SMAAC, the WCCI 2020 winner, work well</a:t>
            </a:r>
          </a:p>
          <a:p>
            <a:r>
              <a:t>but need the action space reduced or factorized first. Policy-plus-heuristic</a:t>
            </a:r>
          </a:p>
          <a:p>
            <a:r>
              <a:t>methods like PowRL win competitions by only querying the agent when the grid is</a:t>
            </a:r>
          </a:p>
          <a:p>
            <a:r>
              <a:t>stressed, but the rule lives outside the policy. Hierarchical and centrally</a:t>
            </a:r>
          </a:p>
          <a:p>
            <a:r>
              <a:t>coordinated multi-agent methods split the decision but still have a component</a:t>
            </a:r>
          </a:p>
          <a:p>
            <a:r>
              <a:t>that sees the whole grid. Fully decentralized control has had much less</a:t>
            </a:r>
          </a:p>
          <a:p>
            <a:r>
              <a:t>attention; MARL2Grid is my starting point there. All four share one limitation:</a:t>
            </a:r>
          </a:p>
          <a:p>
            <a:r>
              <a:t>the actor's output layer has one row per action index, so the policy cannot be</a:t>
            </a:r>
          </a:p>
          <a:p>
            <a:r>
              <a:t>moved. Graph encoders fix the state side. The action interface is the part</a:t>
            </a:r>
          </a:p>
          <a:p>
            <a:r>
              <a:t>nobody has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— slide 6 of 25   ·   cumulative 5:10</a:t>
            </a:r>
          </a:p>
          <a:p/>
          <a:p>
            <a:r>
              <a:t>Why a GNN, and where it stops helping.</a:t>
            </a:r>
          </a:p>
          <a:p/>
          <a:p>
            <a:r>
              <a:t>A graph network is size-invariant: the same weights read a graph with any</a:t>
            </a:r>
          </a:p>
          <a:p>
            <a:r>
              <a:t>number of nodes and edges. That is the obvious argument for using one, and it</a:t>
            </a:r>
          </a:p>
          <a:p>
            <a:r>
              <a:t>buys the first level of sharing — inside bus14, all three agents run the same</a:t>
            </a:r>
          </a:p>
          <a:p>
            <a:r>
              <a:t>encoder even though their regions differ in shape and size.</a:t>
            </a:r>
          </a:p>
          <a:p/>
          <a:p>
            <a:r>
              <a:t>The second level is the one that matters for this thesis, and it is not</a:t>
            </a:r>
          </a:p>
          <a:p>
            <a:r>
              <a:t>automatic. Because the grid is partitioned into regions, an agent never sees</a:t>
            </a:r>
          </a:p>
          <a:p>
            <a:r>
              <a:t>the whole network — it sees a local graph of four to six substations on bus14,</a:t>
            </a:r>
          </a:p>
          <a:p>
            <a:r>
              <a:t>five to seventeen on WCCI. Those are the same order of magnitude, which is</a:t>
            </a:r>
          </a:p>
          <a:p>
            <a:r>
              <a:t>emphatically not true of fourteen substations against thirty-six. So the same</a:t>
            </a:r>
          </a:p>
          <a:p>
            <a:r>
              <a:t>encoder can read both grids: the bus14 checkpoint loads on WCCI unchanged.</a:t>
            </a:r>
          </a:p>
          <a:p/>
          <a:p>
            <a:r>
              <a:t>But size-invariance of the state is not transferability of the policy. The</a:t>
            </a:r>
          </a:p>
          <a:p>
            <a:r>
              <a:t>action head still has one output row per action index, and the number of</a:t>
            </a:r>
          </a:p>
          <a:p>
            <a:r>
              <a:t>actions differs by agent and by grid — so that head cannot move. Full</a:t>
            </a:r>
          </a:p>
          <a:p>
            <a:r>
              <a:t>transferability needs a way to score an action that does not depend on how many</a:t>
            </a:r>
          </a:p>
          <a:p>
            <a:r>
              <a:t>actions there are.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0:05 — slide 7 of 25   ·   cumulative 5:15</a:t>
            </a:r>
          </a:p>
          <a:p/>
          <a:p>
            <a:r>
              <a:t>Section divider — say the part title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slide 8 of 25   ·   cumulative 6:00</a:t>
            </a:r>
          </a:p>
          <a:p/>
          <a:p>
            <a:r>
              <a:t>Method I.</a:t>
            </a:r>
          </a:p>
          <a:p>
            <a:r>
              <a:t>The actor is a shared graph encoder. Each agent builds a local graph: its own</a:t>
            </a:r>
          </a:p>
          <a:p>
            <a:r>
              <a:t>substations, every line touching them, and across a boundary only the shared</a:t>
            </a:r>
          </a:p>
          <a:p>
            <a:r>
              <a:t>line — never the neighbour's private generators and loads. The candidate graph</a:t>
            </a:r>
          </a:p>
          <a:p>
            <a:r>
              <a:t>has a fixed shape and a dynamic mask switches edges on and off, so a topology</a:t>
            </a:r>
          </a:p>
          <a:p>
            <a:r>
              <a:t>change rewires connectivity without rebuilding the tensor. The encoder is GINE</a:t>
            </a:r>
          </a:p>
          <a:p>
            <a:r>
              <a:t>with two message-passing layers at width 128; edge features carry line status,</a:t>
            </a:r>
          </a:p>
          <a:p>
            <a:r>
              <a:t>loading, overflow and cooldown, which matters because GINE folds the edge vector</a:t>
            </a:r>
          </a:p>
          <a:p>
            <a:r>
              <a:t>into every message. Readout over the energized nodes gives one vector per agent.</a:t>
            </a:r>
          </a:p>
          <a:p>
            <a:r>
              <a:t>The critic stays a centralized MLP and is thrown away after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slide 9 of 25   ·   cumulative 6:55</a:t>
            </a:r>
          </a:p>
          <a:p/>
          <a:p>
            <a:r>
              <a:t>Three graph representations.</a:t>
            </a:r>
          </a:p>
          <a:p/>
          <a:p>
            <a:r>
              <a:t>The busbar graph has one node per busbar, with generator and load power summed</a:t>
            </a:r>
          </a:p>
          <a:p>
            <a:r>
              <a:t>onto it. The disaggregated graph promotes each generator and load to its own</a:t>
            </a:r>
          </a:p>
          <a:p>
            <a:r>
              <a:t>node, so their state stays individual. The line-node graph goes one step</a:t>
            </a:r>
          </a:p>
          <a:p>
            <a:r>
              <a:t>further and makes every transmission line a node as well.</a:t>
            </a:r>
          </a:p>
          <a:p/>
          <a:p>
            <a:r>
              <a:t>The table underneath is the reason the third one is what I use for transfer.</a:t>
            </a:r>
          </a:p>
          <a:p>
            <a:r>
              <a:t>Look at what an agent sees of its neighbour. In the busbar graph it sees the</a:t>
            </a:r>
          </a:p>
          <a:p>
            <a:r>
              <a:t>far-end busbar with the neighbour's aggregated power and angle — that is</a:t>
            </a:r>
          </a:p>
          <a:p>
            <a:r>
              <a:t>somebody else's private state. In the disaggregated graph it still constructs</a:t>
            </a:r>
          </a:p>
          <a:p>
            <a:r>
              <a:t>that far-end busbar. In the line-node graph it sees only the shared line node:</a:t>
            </a:r>
          </a:p>
          <a:p>
            <a:r>
              <a:t>no neighbouring busbar, no equipment, no attachment. That is both the cleanest</a:t>
            </a:r>
          </a:p>
          <a:p>
            <a:r>
              <a:t>information boundary and the one that makes a boundary line addressable without</a:t>
            </a:r>
          </a:p>
          <a:p>
            <a:r>
              <a:t>having to build any part of the neighbour's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 — slide 10 of 25   ·   cumulative 8:05</a:t>
            </a:r>
          </a:p>
          <a:p/>
          <a:p>
            <a:r>
              <a:t>Three optional augmentations.</a:t>
            </a:r>
          </a:p>
          <a:p/>
          <a:p>
            <a:r>
              <a:t>None of these adds a measurement — every physical channel on an added edge is</a:t>
            </a:r>
          </a:p>
          <a:p>
            <a:r>
              <a:t>zero. They only change how quickly information moves.</a:t>
            </a:r>
          </a:p>
          <a:p/>
          <a:p>
            <a:r>
              <a:t>On the left, factors e and n. The base graph does not connect the two busbars</a:t>
            </a:r>
          </a:p>
          <a:p>
            <a:r>
              <a:t>of a substation to each other at all. Factor e adds a direct edge between them,</a:t>
            </a:r>
          </a:p>
          <a:p>
            <a:r>
              <a:t>so they exchange messages in one hop. Factor n instead inserts a learned summary</a:t>
            </a:r>
          </a:p>
          <a:p>
            <a:r>
              <a:t>node, which does the same job in two hops, and is initialised purely from</a:t>
            </a:r>
          </a:p>
          <a:p>
            <a:r>
              <a:t>structure: the number of busbars, lines, generators and loads. The bottom-right</a:t>
            </a:r>
          </a:p>
          <a:p>
            <a:r>
              <a:t>panel shows both enabled together.</a:t>
            </a:r>
          </a:p>
          <a:p/>
          <a:p>
            <a:r>
              <a:t>On the right, factor v: one learned virtual node collects from the controlled</a:t>
            </a:r>
          </a:p>
          <a:p>
            <a:r>
              <a:t>busbars and its final state replaces the readout entirely. The edges point one</a:t>
            </a:r>
          </a:p>
          <a:p>
            <a:r>
              <a:t>way — it can gather but cannot send back into the physical graph.</a:t>
            </a:r>
          </a:p>
          <a:p/>
          <a:p>
            <a:r>
              <a:t>All three are restricted to controlled substations. Adding them in a neighbour</a:t>
            </a:r>
          </a:p>
          <a:p>
            <a:r>
              <a:t>would expose part of another agent's action space and create a communication</a:t>
            </a:r>
          </a:p>
          <a:p>
            <a:r>
              <a:t>path that does not physically exist. Three binary factors, eight cells: that is</a:t>
            </a:r>
          </a:p>
          <a:p>
            <a:r>
              <a:t>Screen D, and the answer turns out to be that none of them pays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 — slide 11 of 25   ·   cumulative 9:10</a:t>
            </a:r>
          </a:p>
          <a:p/>
          <a:p>
            <a:r>
              <a:t>What the encoder can be.</a:t>
            </a:r>
          </a:p>
          <a:p/>
          <a:p>
            <a:r>
              <a:t>Three knobs. The operator: GINE against GAT. GINE is the one I keep, and the</a:t>
            </a:r>
          </a:p>
          <a:p>
            <a:r>
              <a:t>reason is on the slide — the edge vector is projected and added into every</a:t>
            </a:r>
          </a:p>
          <a:p>
            <a:r>
              <a:t>message, so two identical nodes still send different messages when one edge is</a:t>
            </a:r>
          </a:p>
          <a:p>
            <a:r>
              <a:t>an overloaded line and the other is an asset attachment. GAT weights neighbours</a:t>
            </a:r>
          </a:p>
          <a:p>
            <a:r>
              <a:t>by attention and lets edges only gate that weighting.</a:t>
            </a:r>
          </a:p>
          <a:p/>
          <a:p>
            <a:r>
              <a:t>Capacity: message-passing depth from one to three layers, crossed with width</a:t>
            </a:r>
          </a:p>
          <a:p>
            <a:r>
              <a:t>sixteen to one hundred twenty-eight. Twelve cells. Depth controls reach — one</a:t>
            </a:r>
          </a:p>
          <a:p>
            <a:r>
              <a:t>layer crosses one line, two layers combine information across two.</a:t>
            </a:r>
          </a:p>
          <a:p/>
          <a:p>
            <a:r>
              <a:t>Readout: after message passing I still need one fixed vector, and that is two</a:t>
            </a:r>
          </a:p>
          <a:p>
            <a:r>
              <a:t>independent choices — which nodes go in, and how they are combined. Four node</a:t>
            </a:r>
          </a:p>
          <a:p>
            <a:r>
              <a:t>populations, mean or a component-wise maximum, so eight readouts; or the virtual</a:t>
            </a:r>
          </a:p>
          <a:p>
            <a:r>
              <a:t>node replaces the whole thing.</a:t>
            </a:r>
          </a:p>
          <a:p/>
          <a:p>
            <a:r>
              <a:t>Everything downstream in this talk uses the row at the bottom: GINE, two layers,</a:t>
            </a:r>
          </a:p>
          <a:p>
            <a:r>
              <a:t>width 128, readout over the energized nodes, no augmentation. The evidence for</a:t>
            </a:r>
          </a:p>
          <a:p>
            <a:r>
              <a:t>each of those is three slides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12 of 25   ·   cumulative 10:00</a:t>
            </a:r>
          </a:p>
          <a:p/>
          <a:p>
            <a:r>
              <a:t>Method II. This is the core contribution.</a:t>
            </a:r>
          </a:p>
          <a:p>
            <a:r>
              <a:t>A normal discrete head has one output row per action index, so the network has</a:t>
            </a:r>
          </a:p>
          <a:p>
            <a:r>
              <a:t>to learn separately what each index means and the head gets wider as the grid</a:t>
            </a:r>
          </a:p>
          <a:p>
            <a:r>
              <a:t>grows. Instead I score each action from the graph nodes it actually modifies. A</a:t>
            </a:r>
          </a:p>
          <a:p>
            <a:r>
              <a:t>Grid2Op action names the line endpoints, generators, loads and substations it</a:t>
            </a:r>
          </a:p>
          <a:p>
            <a:r>
              <a:t>changes; those map once to graph rows. Gather those rows, pool them into a</a:t>
            </a:r>
          </a:p>
          <a:p>
            <a:r>
              <a:t>context c-j, concatenate the global embedding and optionally a small static</a:t>
            </a:r>
          </a:p>
          <a:p>
            <a:r>
              <a:t>descriptor, and push it through one shared scalar-output MLP. The same</a:t>
            </a:r>
          </a:p>
          <a:p>
            <a:r>
              <a:t>parameters score every action, so the head no longer grows with the action</a:t>
            </a:r>
          </a:p>
          <a:p>
            <a:r>
              <a:t>space, and two actions are compared through the physical objects they touch.</a:t>
            </a:r>
          </a:p>
          <a:p>
            <a:r>
              <a:t>There are three binary choices in that head, so eight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slide 13 of 25   ·   cumulative 10:55</a:t>
            </a:r>
          </a:p>
          <a:p/>
          <a:p>
            <a:r>
              <a:t>Cross-grid inputs.</a:t>
            </a:r>
          </a:p>
          <a:p>
            <a:r>
              <a:t>A GNN can process any grid size, but that does not mean the numbers mean the</a:t>
            </a:r>
          </a:p>
          <a:p>
            <a:r>
              <a:t>same thing. I sampled 426 thousand bus14 and 1.24 million WCCI node</a:t>
            </a:r>
          </a:p>
          <a:p>
            <a:r>
              <a:t>observations under do-nothing and compared every channel. Loading rho already</a:t>
            </a:r>
          </a:p>
          <a:p>
            <a:r>
              <a:t>transfers, because it is divided by each line's own thermal limit — grid-</a:t>
            </a:r>
          </a:p>
          <a:p>
            <a:r>
              <a:t>relative quantities cross for free. The absolute voltage angle was the worst</a:t>
            </a:r>
          </a:p>
          <a:p>
            <a:r>
              <a:t>channel, shifted by 1.9 pooled standard deviations, and most of that is just</a:t>
            </a:r>
          </a:p>
          <a:p>
            <a:r>
              <a:t>the different slack bus. Replacing it with the angle difference across a line</a:t>
            </a:r>
          </a:p>
          <a:p>
            <a:r>
              <a:t>removes the reference entirely and cuts KS from 0.68 to 0.23. Power is a real</a:t>
            </a:r>
          </a:p>
          <a:p>
            <a:r>
              <a:t>trade-off: scaling by the largest generator fixes the spread but worsens the</a:t>
            </a:r>
          </a:p>
          <a:p>
            <a:r>
              <a:t>offset, because typical output is 39% of the biggest unit on bus14 and only 20%</a:t>
            </a:r>
          </a:p>
          <a:p>
            <a:r>
              <a:t>on WCCI. So I keep both conditions, NL and NLS, and let the transfer</a:t>
            </a:r>
          </a:p>
          <a:p>
            <a:r>
              <a:t>experiments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0:05 — slide 14 of 25   ·   cumulative 11:00</a:t>
            </a:r>
          </a:p>
          <a:p/>
          <a:p>
            <a:r>
              <a:t>Section divider — say the part title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15 of 25   ·   cumulative 11:50</a:t>
            </a:r>
          </a:p>
          <a:p/>
          <a:p>
            <a:r>
              <a:t>Experimental frame. Please keep this slide in mind for the rest.</a:t>
            </a:r>
          </a:p>
          <a:p>
            <a:r>
              <a:t>Source is the IEEE 14-bus grid: 14 substations, 20 lines, 3 agents, 178</a:t>
            </a:r>
          </a:p>
          <a:p>
            <a:r>
              <a:t>actions. Target is the WCCI 2020 grid: 36 substations, 59 lines, 4 very unequal</a:t>
            </a:r>
          </a:p>
          <a:p>
            <a:r>
              <a:t>regions, and almost sixty-seven thousand actions which have to be capped at k</a:t>
            </a:r>
          </a:p>
          <a:p>
            <a:r>
              <a:t>per agent. I disable scheduled maintenance on WCCI so that a transferred policy</a:t>
            </a:r>
          </a:p>
          <a:p>
            <a:r>
              <a:t>is not tested on a hazard that never existed in its source environment — that</a:t>
            </a:r>
          </a:p>
          <a:p>
            <a:r>
              <a:t>alone moves do-nothing survival from 27 to 57 percent. Evaluation is one fixed</a:t>
            </a:r>
          </a:p>
          <a:p>
            <a:r>
              <a:t>set of 50 chronics. Do nothing completes 26 of them, so those are the easy</a:t>
            </a:r>
          </a:p>
          <a:p>
            <a:r>
              <a:t>cohort; the other 24 are the difficult cohort, and that is where all the real</a:t>
            </a:r>
          </a:p>
          <a:p>
            <a:r>
              <a:t>evidence is. Do nothing gets 56% overall but only 8.34% on the difficult</a:t>
            </a:r>
          </a:p>
          <a:p>
            <a:r>
              <a:t>cohort. That 8.34 is the number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16 of 25   ·   cumulative 12:40</a:t>
            </a:r>
          </a:p>
          <a:p/>
          <a:p>
            <a:r>
              <a:t>Source-grid screens.</a:t>
            </a:r>
          </a:p>
          <a:p>
            <a:r>
              <a:t>Six controlled screens, each varying one thing against its own baseline. GINE</a:t>
            </a:r>
          </a:p>
          <a:p>
            <a:r>
              <a:t>beats GAT by nearly four points, so GINE everywhere. Depth and width show no</a:t>
            </a:r>
          </a:p>
          <a:p>
            <a:r>
              <a:t>monotone rule, but two layers at width 128 converges fastest and most stably, so</a:t>
            </a:r>
          </a:p>
          <a:p>
            <a:r>
              <a:t>that is the default. Readout scope matters a lot: pooling only the energized</a:t>
            </a:r>
          </a:p>
          <a:p>
            <a:r>
              <a:t>nodes reaches 99.4%. The structural augmentations do not pay for themselves and</a:t>
            </a:r>
          </a:p>
          <a:p>
            <a:r>
              <a:t>virtual-node readout is actively destructive. Asset message direction is a</a:t>
            </a:r>
          </a:p>
          <a:p>
            <a:r>
              <a:t>coin-flip at one seed, so I keep both. And crucially, Screen F shows the</a:t>
            </a:r>
          </a:p>
          <a:p>
            <a:r>
              <a:t>candidate-action head is not a compromise: six of eight cells are above 98%,</a:t>
            </a:r>
          </a:p>
          <a:p>
            <a:r>
              <a:t>the best is 99.5%. The transferable interface costs essentially nothing on the</a:t>
            </a:r>
          </a:p>
          <a:p>
            <a:r>
              <a:t>source grid. That gives two branches — encoder-only transfer from A to E, and</a:t>
            </a:r>
          </a:p>
          <a:p>
            <a:r>
              <a:t>complete-policy transfer from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17 of 25   ·   cumulative 13:30</a:t>
            </a:r>
          </a:p>
          <a:p/>
          <a:p>
            <a:r>
              <a:t>Sparse intervention.</a:t>
            </a:r>
          </a:p>
          <a:p>
            <a:r>
              <a:t>Survival alone is not enough: a policy that reconfigures substations at every</a:t>
            </a:r>
          </a:p>
          <a:p>
            <a:r>
              <a:t>opportunity would never be trusted in a control room. Most of the literature</a:t>
            </a:r>
          </a:p>
          <a:p>
            <a:r>
              <a:t>hard-codes a loading threshold outside the policy. I tested five ways of making</a:t>
            </a:r>
          </a:p>
          <a:p>
            <a:r>
              <a:t>it learned instead. The winner is the adaptive intervention budget with a local</a:t>
            </a:r>
          </a:p>
          <a:p>
            <a:r>
              <a:t>safety weight: each agent has its own penalty coefficient, adjusted after every</a:t>
            </a:r>
          </a:p>
          <a:p>
            <a:r>
              <a:t>rollout against a target budget, and the cost of acting is high when its own</a:t>
            </a:r>
          </a:p>
          <a:p>
            <a:r>
              <a:t>lines are relaxed and low when they are stressed. It improves both objectives at</a:t>
            </a:r>
          </a:p>
          <a:p>
            <a:r>
              <a:t>once — survival from 93.7 to about 98.4 percent while non-idle actions drop from</a:t>
            </a:r>
          </a:p>
          <a:p>
            <a:r>
              <a:t>57 percent of decisions to about two. And it stays fully decentralized. Keep the</a:t>
            </a:r>
          </a:p>
          <a:p>
            <a:r>
              <a:t>local-rho idea in mind, because it comes back at transfer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slide 18 of 25   ·   cumulative 14:25</a:t>
            </a:r>
          </a:p>
          <a:p/>
          <a:p>
            <a:r>
              <a:t>Target difficulty.</a:t>
            </a:r>
          </a:p>
          <a:p>
            <a:r>
              <a:t>Before testing transfer I need to know what target training alone can do. This</a:t>
            </a:r>
          </a:p>
          <a:p>
            <a:r>
              <a:t>is the first surprise. At a matched action cap of 64, the flat MLP averages 33</a:t>
            </a:r>
          </a:p>
          <a:p>
            <a:r>
              <a:t>percent, the graph encoders with fixed heads 38, the candidate scorers 47 — and</a:t>
            </a:r>
          </a:p>
          <a:p>
            <a:r>
              <a:t>all three are below the 56 percent you get by doing nothing. That sounds like a</a:t>
            </a:r>
          </a:p>
          <a:p>
            <a:r>
              <a:t>failure, but look at the right panel: overall survival is dominated by the 26</a:t>
            </a:r>
          </a:p>
          <a:p>
            <a:r>
              <a:t>easy chronics that do-nothing already completes. On the 24 difficult chronics</a:t>
            </a:r>
          </a:p>
          <a:p>
            <a:r>
              <a:t>the ordering flips. The candidate scorer averages 10.5 percent against 8.3 for</a:t>
            </a:r>
          </a:p>
          <a:p>
            <a:r>
              <a:t>do nothing, with a best cell at 18.5, while the fixed-head GNN is actually worse</a:t>
            </a:r>
          </a:p>
          <a:p>
            <a:r>
              <a:t>than inaction. So difficult-cohort survival is the metric, and the candidate</a:t>
            </a:r>
          </a:p>
          <a:p>
            <a:r>
              <a:t>scorer is both the best target learner and the only architecture whose full</a:t>
            </a:r>
          </a:p>
          <a:p>
            <a:r>
              <a:t>policy can be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 — slide 19 of 25   ·   cumulative 15:20</a:t>
            </a:r>
          </a:p>
          <a:p/>
          <a:p>
            <a:r>
              <a:t>Zero-shot transfer. This is the central result.</a:t>
            </a:r>
          </a:p>
          <a:p>
            <a:r>
              <a:t>Take the actor trained on bus14, change nothing, and run it on WCCI. With the</a:t>
            </a:r>
          </a:p>
          <a:p>
            <a:r>
              <a:t>local safety gate and the smallest action set it reaches 62.5 percent overall</a:t>
            </a:r>
          </a:p>
          <a:p>
            <a:r>
              <a:t>and 21.9 percent on the difficult chronics. To judge that fairly I normalize</a:t>
            </a:r>
          </a:p>
          <a:p>
            <a:r>
              <a:t>against the greedy policy available at the same k: zero is do-nothing, a hundred</a:t>
            </a:r>
          </a:p>
          <a:p>
            <a:r>
              <a:t>is greedy. At k=32 the transferred actor recovers 55 percent of that gain. Then</a:t>
            </a:r>
          </a:p>
          <a:p>
            <a:r>
              <a:t>it collapses — 5.8, 5.2, 2.9 percent at 64, 128 and 256 — even though greedy</a:t>
            </a:r>
          </a:p>
          <a:p>
            <a:r>
              <a:t>itself keeps getting better, from 68 to 98 percent. So the extra actions are</a:t>
            </a:r>
          </a:p>
          <a:p>
            <a:r>
              <a:t>genuinely useful; the policy just cannot rank them. Without the gate the median</a:t>
            </a:r>
          </a:p>
          <a:p>
            <a:r>
              <a:t>is below do-nothing everywhere. The binding constraint is the selection problem,</a:t>
            </a:r>
          </a:p>
          <a:p>
            <a:r>
              <a:t>not the size of the action set, and you only see that with the relative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20 of 25   ·   cumulative 16:10</a:t>
            </a:r>
          </a:p>
          <a:p/>
          <a:p>
            <a:r>
              <a:t>What transfers.</a:t>
            </a:r>
          </a:p>
          <a:p>
            <a:r>
              <a:t>Which design choices actually survive the grid change? Matched comparisons on</a:t>
            </a:r>
          </a:p>
          <a:p>
            <a:r>
              <a:t>the difficult cohort. Typed-mean candidate pooling is the clear winner: plus 5.4</a:t>
            </a:r>
          </a:p>
          <a:p>
            <a:r>
              <a:t>points ungated and plus 8.7 with the gate. That is the choice that averages the</a:t>
            </a:r>
          </a:p>
          <a:p>
            <a:r>
              <a:t>busbar, line, load and generator embeddings separately instead of mixing them</a:t>
            </a:r>
          </a:p>
          <a:p>
            <a:r>
              <a:t>into one vector — keeping the physical roles apart is what preserves meaning</a:t>
            </a:r>
          </a:p>
          <a:p>
            <a:r>
              <a:t>across grids. Physical scaling adds about a point, less than the distribution</a:t>
            </a:r>
          </a:p>
          <a:p>
            <a:r>
              <a:t>analysis promised. The static descriptor is neutral and a dedicated idle head</a:t>
            </a:r>
          </a:p>
          <a:p>
            <a:r>
              <a:t>actually hurts without the gate. Two decision-time changes help as well. And an</a:t>
            </a:r>
          </a:p>
          <a:p>
            <a:r>
              <a:t>important negative: the local gate is not a free safety layer — it adds seven</a:t>
            </a:r>
          </a:p>
          <a:p>
            <a:r>
              <a:t>points to the transferred actor but costs the scratch-trained scorer and the</a:t>
            </a:r>
          </a:p>
          <a:p>
            <a:r>
              <a:t>flat MLP. You have to validate it per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21 of 25   ·   cumulative 17:00</a:t>
            </a:r>
          </a:p>
          <a:p/>
          <a:p>
            <a:r>
              <a:t>Adaptation.</a:t>
            </a:r>
          </a:p>
          <a:p>
            <a:r>
              <a:t>Last question: if zero-shot is incomplete, is the source checkpoint still worth</a:t>
            </a:r>
          </a:p>
          <a:p>
            <a:r>
              <a:t>anything as an initialization? Yes, and this is the most consistent result in</a:t>
            </a:r>
          </a:p>
          <a:p>
            <a:r>
              <a:t>the thesis. Same eight architectures, same action cap, three routes. Median</a:t>
            </a:r>
          </a:p>
          <a:p>
            <a:r>
              <a:t>difficult-cohort survival goes from 5.7 percent zero-shot to 9.6 from scratch to</a:t>
            </a:r>
          </a:p>
          <a:p>
            <a:r>
              <a:t>18.1 after fine-tuning. Fine-tuning beats zero-shot in all eight cells by twelve</a:t>
            </a:r>
          </a:p>
          <a:p>
            <a:r>
              <a:t>points on average and beats scratch in seven of eight by about eight — on</a:t>
            </a:r>
          </a:p>
          <a:p>
            <a:r>
              <a:t>roughly five million target steps against fifteen million from scratch. The</a:t>
            </a:r>
          </a:p>
          <a:p>
            <a:r>
              <a:t>right panel adds the qualification I care about: some actors buy difficult</a:t>
            </a:r>
          </a:p>
          <a:p>
            <a:r>
              <a:t>chronics by breaking easy ones. The useful region is the top right, and the</a:t>
            </a:r>
          </a:p>
          <a:p>
            <a:r>
              <a:t>fine-tuned points are the ones that get there. All of them are still far below</a:t>
            </a:r>
          </a:p>
          <a:p>
            <a:r>
              <a:t>greedy, so there is a lot left in the action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— slide 22 of 25   ·   cumulative 17:45</a:t>
            </a:r>
          </a:p>
          <a:p/>
          <a:p>
            <a:r>
              <a:t>Placeholder. Be upfront about this, then move on quickly.</a:t>
            </a:r>
          </a:p>
          <a:p>
            <a:r>
              <a:t>One branch is not finished. Chapter 9 asks a narrower question: forget the</a:t>
            </a:r>
          </a:p>
          <a:p>
            <a:r>
              <a:t>action interface, does the encoder alone carry anything? Freeze the bus14</a:t>
            </a:r>
          </a:p>
          <a:p>
            <a:r>
              <a:t>encoder, throw away the heads, learn new WCCI heads. The critical control is</a:t>
            </a:r>
          </a:p>
          <a:p>
            <a:r>
              <a:t>random-frozen, because an actor can still learn through fresh heads even if the</a:t>
            </a:r>
          </a:p>
          <a:p>
            <a:r>
              <a:t>frozen features are noise. The design and the interpretation rules are already</a:t>
            </a:r>
          </a:p>
          <a:p>
            <a:r>
              <a:t>fixed in writing, so the conclusion cannot be picked after seeing the numbers.</a:t>
            </a:r>
          </a:p>
          <a:p>
            <a:r>
              <a:t>Missing: the matched curves, the four-by-four table, and six protocol fields.</a:t>
            </a:r>
          </a:p>
          <a:p>
            <a:r>
              <a:t>If asked — the complete-policy result I just showed is stronger evidence anyway,</a:t>
            </a:r>
          </a:p>
          <a:p>
            <a:r>
              <a:t>because it transfers the interface as well as the 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 — slide 23 of 25   ·   cumulative 18:35</a:t>
            </a:r>
          </a:p>
          <a:p/>
          <a:p>
            <a:r>
              <a:t>Summary.</a:t>
            </a:r>
          </a:p>
          <a:p>
            <a:r>
              <a:t>One picture for the whole thesis, on the difficult cohort. Do nothing is 8.3</a:t>
            </a:r>
          </a:p>
          <a:p>
            <a:r>
              <a:t>percent. A naive zero-shot median is below that at 5.7. Retraining the same</a:t>
            </a:r>
          </a:p>
          <a:p>
            <a:r>
              <a:t>architecture from scratch on the target gets you to 9.6 — barely above</a:t>
            </a:r>
          </a:p>
          <a:p>
            <a:r>
              <a:t>inaction. Fine-tuning from the source checkpoint reaches 18.1, and the best</a:t>
            </a:r>
          </a:p>
          <a:p>
            <a:r>
              <a:t>transferred cell with the local gate reaches 25.8, roughly three times do</a:t>
            </a:r>
          </a:p>
          <a:p>
            <a:r>
              <a:t>nothing. Greedy, which cheats by querying the simulator every step, is at 68 —</a:t>
            </a:r>
          </a:p>
          <a:p>
            <a:r>
              <a:t>so there is a lot of headroom left. What transferred is the candidate-action</a:t>
            </a:r>
          </a:p>
          <a:p>
            <a:r>
              <a:t>interface. What did not is the ability to rank large action sets. And the honest</a:t>
            </a:r>
          </a:p>
          <a:p>
            <a:r>
              <a:t>caveat is one seed and fifty chronics, so I trust matched differences inside a</a:t>
            </a:r>
          </a:p>
          <a:p>
            <a:r>
              <a:t>block and not small gaps between unrelated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 — slide 24 of 25   ·   cumulative 19:15</a:t>
            </a:r>
          </a:p>
          <a:p/>
          <a:p>
            <a:r>
              <a:t>Limitations and outlook.</a:t>
            </a:r>
          </a:p>
          <a:p>
            <a:r>
              <a:t>Four honest limitations. One seed per cell, so I report matched differences and</a:t>
            </a:r>
          </a:p>
          <a:p>
            <a:r>
              <a:t>avoid architecture rankings. Two grids in one direction, so I cannot separate</a:t>
            </a:r>
          </a:p>
          <a:p>
            <a:r>
              <a:t>"small action sets are better" from "this particular pair behaves this way". Some</a:t>
            </a:r>
          </a:p>
          <a:p>
            <a:r>
              <a:t>campaigns ran at different budgets, so cross-block gaps are not comparable. And</a:t>
            </a:r>
          </a:p>
          <a:p>
            <a:r>
              <a:t>the action reduction is offline and static — given that the k=32 collapse points</a:t>
            </a:r>
          </a:p>
          <a:p>
            <a:r>
              <a:t>straight at the selection problem, a state-dependent or curriculum candidate set</a:t>
            </a:r>
          </a:p>
          <a:p>
            <a:r>
              <a:t>is the obvious next thing to try. The design conclusion survives all of that:</a:t>
            </a:r>
          </a:p>
          <a:p>
            <a:r>
              <a:t>make the interface portable, keep the node roles separate, validate the gate per</a:t>
            </a:r>
          </a:p>
          <a:p>
            <a:r>
              <a:t>policy, and prefer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 — slide 25 of 25   ·   cumulative 19:30</a:t>
            </a:r>
          </a:p>
          <a:p/>
          <a:p>
            <a:r>
              <a:t>Thank you.</a:t>
            </a:r>
          </a:p>
          <a:p>
            <a:r>
              <a:t>Leave this slide up during questions; the right-hand panel is my own cheat</a:t>
            </a:r>
          </a:p>
          <a:p>
            <a:r>
              <a:t>sheet. Supplementary slides follow for the detailed screens, the feature-shift</a:t>
            </a:r>
          </a:p>
          <a:p>
            <a:r>
              <a:t>analysis, the full result matrices and the reproducibility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92070D8D-CA3B-F9F3-4459-889D0035AC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6858000"/>
          </a:xfrm>
          <a:custGeom>
            <a:avLst/>
            <a:gdLst>
              <a:gd name="connsiteX0" fmla="*/ 1047876 w 12191998"/>
              <a:gd name="connsiteY0" fmla="*/ 414079 h 6858000"/>
              <a:gd name="connsiteX1" fmla="*/ 1124412 w 12191998"/>
              <a:gd name="connsiteY1" fmla="*/ 414079 h 6858000"/>
              <a:gd name="connsiteX2" fmla="*/ 1157024 w 12191998"/>
              <a:gd name="connsiteY2" fmla="*/ 415945 h 6858000"/>
              <a:gd name="connsiteX3" fmla="*/ 1184611 w 12191998"/>
              <a:gd name="connsiteY3" fmla="*/ 423190 h 6858000"/>
              <a:gd name="connsiteX4" fmla="*/ 1203730 w 12191998"/>
              <a:gd name="connsiteY4" fmla="*/ 438343 h 6858000"/>
              <a:gd name="connsiteX5" fmla="*/ 1210935 w 12191998"/>
              <a:gd name="connsiteY5" fmla="*/ 463999 h 6858000"/>
              <a:gd name="connsiteX6" fmla="*/ 1203730 w 12191998"/>
              <a:gd name="connsiteY6" fmla="*/ 489655 h 6858000"/>
              <a:gd name="connsiteX7" fmla="*/ 1184611 w 12191998"/>
              <a:gd name="connsiteY7" fmla="*/ 504809 h 6858000"/>
              <a:gd name="connsiteX8" fmla="*/ 1157024 w 12191998"/>
              <a:gd name="connsiteY8" fmla="*/ 512053 h 6858000"/>
              <a:gd name="connsiteX9" fmla="*/ 1124412 w 12191998"/>
              <a:gd name="connsiteY9" fmla="*/ 513919 h 6858000"/>
              <a:gd name="connsiteX10" fmla="*/ 1047876 w 12191998"/>
              <a:gd name="connsiteY10" fmla="*/ 513919 h 6858000"/>
              <a:gd name="connsiteX11" fmla="*/ 1761701 w 12191998"/>
              <a:gd name="connsiteY11" fmla="*/ 331195 h 6858000"/>
              <a:gd name="connsiteX12" fmla="*/ 1761701 w 12191998"/>
              <a:gd name="connsiteY12" fmla="*/ 779561 h 6858000"/>
              <a:gd name="connsiteX13" fmla="*/ 2085670 w 12191998"/>
              <a:gd name="connsiteY13" fmla="*/ 779561 h 6858000"/>
              <a:gd name="connsiteX14" fmla="*/ 2085670 w 12191998"/>
              <a:gd name="connsiteY14" fmla="*/ 696645 h 6858000"/>
              <a:gd name="connsiteX15" fmla="*/ 1858272 w 12191998"/>
              <a:gd name="connsiteY15" fmla="*/ 696645 h 6858000"/>
              <a:gd name="connsiteX16" fmla="*/ 1858272 w 12191998"/>
              <a:gd name="connsiteY16" fmla="*/ 331195 h 6858000"/>
              <a:gd name="connsiteX17" fmla="*/ 1367737 w 12191998"/>
              <a:gd name="connsiteY17" fmla="*/ 331195 h 6858000"/>
              <a:gd name="connsiteX18" fmla="*/ 1367737 w 12191998"/>
              <a:gd name="connsiteY18" fmla="*/ 513920 h 6858000"/>
              <a:gd name="connsiteX19" fmla="*/ 1464340 w 12191998"/>
              <a:gd name="connsiteY19" fmla="*/ 513920 h 6858000"/>
              <a:gd name="connsiteX20" fmla="*/ 1464340 w 12191998"/>
              <a:gd name="connsiteY20" fmla="*/ 596804 h 6858000"/>
              <a:gd name="connsiteX21" fmla="*/ 1367737 w 12191998"/>
              <a:gd name="connsiteY21" fmla="*/ 596804 h 6858000"/>
              <a:gd name="connsiteX22" fmla="*/ 1367737 w 12191998"/>
              <a:gd name="connsiteY22" fmla="*/ 779529 h 6858000"/>
              <a:gd name="connsiteX23" fmla="*/ 1464340 w 12191998"/>
              <a:gd name="connsiteY23" fmla="*/ 779529 h 6858000"/>
              <a:gd name="connsiteX24" fmla="*/ 1464340 w 12191998"/>
              <a:gd name="connsiteY24" fmla="*/ 596804 h 6858000"/>
              <a:gd name="connsiteX25" fmla="*/ 1672304 w 12191998"/>
              <a:gd name="connsiteY25" fmla="*/ 596804 h 6858000"/>
              <a:gd name="connsiteX26" fmla="*/ 1672304 w 12191998"/>
              <a:gd name="connsiteY26" fmla="*/ 513920 h 6858000"/>
              <a:gd name="connsiteX27" fmla="*/ 1464340 w 12191998"/>
              <a:gd name="connsiteY27" fmla="*/ 513920 h 6858000"/>
              <a:gd name="connsiteX28" fmla="*/ 1464340 w 12191998"/>
              <a:gd name="connsiteY28" fmla="*/ 414079 h 6858000"/>
              <a:gd name="connsiteX29" fmla="*/ 1691738 w 12191998"/>
              <a:gd name="connsiteY29" fmla="*/ 414079 h 6858000"/>
              <a:gd name="connsiteX30" fmla="*/ 1691738 w 12191998"/>
              <a:gd name="connsiteY30" fmla="*/ 331195 h 6858000"/>
              <a:gd name="connsiteX31" fmla="*/ 544446 w 12191998"/>
              <a:gd name="connsiteY31" fmla="*/ 331195 h 6858000"/>
              <a:gd name="connsiteX32" fmla="*/ 544446 w 12191998"/>
              <a:gd name="connsiteY32" fmla="*/ 513920 h 6858000"/>
              <a:gd name="connsiteX33" fmla="*/ 641049 w 12191998"/>
              <a:gd name="connsiteY33" fmla="*/ 513920 h 6858000"/>
              <a:gd name="connsiteX34" fmla="*/ 641049 w 12191998"/>
              <a:gd name="connsiteY34" fmla="*/ 596804 h 6858000"/>
              <a:gd name="connsiteX35" fmla="*/ 544446 w 12191998"/>
              <a:gd name="connsiteY35" fmla="*/ 596804 h 6858000"/>
              <a:gd name="connsiteX36" fmla="*/ 544446 w 12191998"/>
              <a:gd name="connsiteY36" fmla="*/ 779560 h 6858000"/>
              <a:gd name="connsiteX37" fmla="*/ 868447 w 12191998"/>
              <a:gd name="connsiteY37" fmla="*/ 779560 h 6858000"/>
              <a:gd name="connsiteX38" fmla="*/ 868447 w 12191998"/>
              <a:gd name="connsiteY38" fmla="*/ 696645 h 6858000"/>
              <a:gd name="connsiteX39" fmla="*/ 641049 w 12191998"/>
              <a:gd name="connsiteY39" fmla="*/ 696645 h 6858000"/>
              <a:gd name="connsiteX40" fmla="*/ 641049 w 12191998"/>
              <a:gd name="connsiteY40" fmla="*/ 596804 h 6858000"/>
              <a:gd name="connsiteX41" fmla="*/ 849013 w 12191998"/>
              <a:gd name="connsiteY41" fmla="*/ 596804 h 6858000"/>
              <a:gd name="connsiteX42" fmla="*/ 849013 w 12191998"/>
              <a:gd name="connsiteY42" fmla="*/ 513920 h 6858000"/>
              <a:gd name="connsiteX43" fmla="*/ 641049 w 12191998"/>
              <a:gd name="connsiteY43" fmla="*/ 513920 h 6858000"/>
              <a:gd name="connsiteX44" fmla="*/ 641049 w 12191998"/>
              <a:gd name="connsiteY44" fmla="*/ 414079 h 6858000"/>
              <a:gd name="connsiteX45" fmla="*/ 868447 w 12191998"/>
              <a:gd name="connsiteY45" fmla="*/ 414079 h 6858000"/>
              <a:gd name="connsiteX46" fmla="*/ 868447 w 12191998"/>
              <a:gd name="connsiteY46" fmla="*/ 331195 h 6858000"/>
              <a:gd name="connsiteX47" fmla="*/ 951241 w 12191998"/>
              <a:gd name="connsiteY47" fmla="*/ 331163 h 6858000"/>
              <a:gd name="connsiteX48" fmla="*/ 951241 w 12191998"/>
              <a:gd name="connsiteY48" fmla="*/ 779529 h 6858000"/>
              <a:gd name="connsiteX49" fmla="*/ 1047844 w 12191998"/>
              <a:gd name="connsiteY49" fmla="*/ 779529 h 6858000"/>
              <a:gd name="connsiteX50" fmla="*/ 1047844 w 12191998"/>
              <a:gd name="connsiteY50" fmla="*/ 596772 h 6858000"/>
              <a:gd name="connsiteX51" fmla="*/ 1151336 w 12191998"/>
              <a:gd name="connsiteY51" fmla="*/ 596772 h 6858000"/>
              <a:gd name="connsiteX52" fmla="*/ 1222848 w 12191998"/>
              <a:gd name="connsiteY52" fmla="*/ 585478 h 6858000"/>
              <a:gd name="connsiteX53" fmla="*/ 1270850 w 12191998"/>
              <a:gd name="connsiteY53" fmla="*/ 555615 h 6858000"/>
              <a:gd name="connsiteX54" fmla="*/ 1297836 w 12191998"/>
              <a:gd name="connsiteY54" fmla="*/ 513002 h 6858000"/>
              <a:gd name="connsiteX55" fmla="*/ 1306305 w 12191998"/>
              <a:gd name="connsiteY55" fmla="*/ 463999 h 6858000"/>
              <a:gd name="connsiteX56" fmla="*/ 1297836 w 12191998"/>
              <a:gd name="connsiteY56" fmla="*/ 414712 h 6858000"/>
              <a:gd name="connsiteX57" fmla="*/ 1270850 w 12191998"/>
              <a:gd name="connsiteY57" fmla="*/ 372384 h 6858000"/>
              <a:gd name="connsiteX58" fmla="*/ 1270850 w 12191998"/>
              <a:gd name="connsiteY58" fmla="*/ 372352 h 6858000"/>
              <a:gd name="connsiteX59" fmla="*/ 1222848 w 12191998"/>
              <a:gd name="connsiteY59" fmla="*/ 342488 h 6858000"/>
              <a:gd name="connsiteX60" fmla="*/ 1151336 w 12191998"/>
              <a:gd name="connsiteY60" fmla="*/ 331163 h 6858000"/>
              <a:gd name="connsiteX61" fmla="*/ 0 w 12191998"/>
              <a:gd name="connsiteY61" fmla="*/ 0 h 6858000"/>
              <a:gd name="connsiteX62" fmla="*/ 12191998 w 12191998"/>
              <a:gd name="connsiteY62" fmla="*/ 0 h 6858000"/>
              <a:gd name="connsiteX63" fmla="*/ 12191998 w 12191998"/>
              <a:gd name="connsiteY63" fmla="*/ 6858000 h 6858000"/>
              <a:gd name="connsiteX64" fmla="*/ 0 w 12191998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1998" h="6858000">
                <a:moveTo>
                  <a:pt x="1047876" y="414079"/>
                </a:moveTo>
                <a:lnTo>
                  <a:pt x="1124412" y="414079"/>
                </a:lnTo>
                <a:cubicBezTo>
                  <a:pt x="1135694" y="414079"/>
                  <a:pt x="1146564" y="414712"/>
                  <a:pt x="1157024" y="415945"/>
                </a:cubicBezTo>
                <a:cubicBezTo>
                  <a:pt x="1167484" y="417179"/>
                  <a:pt x="1176680" y="419615"/>
                  <a:pt x="1184611" y="423190"/>
                </a:cubicBezTo>
                <a:cubicBezTo>
                  <a:pt x="1192543" y="426765"/>
                  <a:pt x="1198927" y="431826"/>
                  <a:pt x="1203730" y="438343"/>
                </a:cubicBezTo>
                <a:cubicBezTo>
                  <a:pt x="1208533" y="444860"/>
                  <a:pt x="1210935" y="453433"/>
                  <a:pt x="1210935" y="463999"/>
                </a:cubicBezTo>
                <a:cubicBezTo>
                  <a:pt x="1210935" y="474565"/>
                  <a:pt x="1208533" y="483138"/>
                  <a:pt x="1203730" y="489655"/>
                </a:cubicBezTo>
                <a:cubicBezTo>
                  <a:pt x="1198927" y="496172"/>
                  <a:pt x="1192543" y="501234"/>
                  <a:pt x="1184611" y="504809"/>
                </a:cubicBezTo>
                <a:cubicBezTo>
                  <a:pt x="1176648" y="508383"/>
                  <a:pt x="1167452" y="510788"/>
                  <a:pt x="1157024" y="512053"/>
                </a:cubicBezTo>
                <a:cubicBezTo>
                  <a:pt x="1146564" y="513287"/>
                  <a:pt x="1135694" y="513919"/>
                  <a:pt x="1124412" y="513919"/>
                </a:cubicBezTo>
                <a:lnTo>
                  <a:pt x="1047876" y="513919"/>
                </a:lnTo>
                <a:close/>
                <a:moveTo>
                  <a:pt x="1761701" y="331195"/>
                </a:moveTo>
                <a:lnTo>
                  <a:pt x="1761701" y="779561"/>
                </a:lnTo>
                <a:lnTo>
                  <a:pt x="2085670" y="779561"/>
                </a:lnTo>
                <a:lnTo>
                  <a:pt x="2085670" y="696645"/>
                </a:lnTo>
                <a:lnTo>
                  <a:pt x="1858272" y="696645"/>
                </a:lnTo>
                <a:lnTo>
                  <a:pt x="1858272" y="331195"/>
                </a:lnTo>
                <a:close/>
                <a:moveTo>
                  <a:pt x="1367737" y="331195"/>
                </a:moveTo>
                <a:lnTo>
                  <a:pt x="1367737" y="513920"/>
                </a:lnTo>
                <a:lnTo>
                  <a:pt x="1464340" y="513920"/>
                </a:lnTo>
                <a:lnTo>
                  <a:pt x="1464340" y="596804"/>
                </a:lnTo>
                <a:lnTo>
                  <a:pt x="1367737" y="596804"/>
                </a:lnTo>
                <a:lnTo>
                  <a:pt x="1367737" y="779529"/>
                </a:lnTo>
                <a:lnTo>
                  <a:pt x="1464340" y="779529"/>
                </a:lnTo>
                <a:lnTo>
                  <a:pt x="1464340" y="596804"/>
                </a:lnTo>
                <a:lnTo>
                  <a:pt x="1672304" y="596804"/>
                </a:lnTo>
                <a:lnTo>
                  <a:pt x="1672304" y="513920"/>
                </a:lnTo>
                <a:lnTo>
                  <a:pt x="1464340" y="513920"/>
                </a:lnTo>
                <a:lnTo>
                  <a:pt x="1464340" y="414079"/>
                </a:lnTo>
                <a:lnTo>
                  <a:pt x="1691738" y="414079"/>
                </a:lnTo>
                <a:lnTo>
                  <a:pt x="1691738" y="331195"/>
                </a:lnTo>
                <a:close/>
                <a:moveTo>
                  <a:pt x="544446" y="331195"/>
                </a:moveTo>
                <a:lnTo>
                  <a:pt x="544446" y="513920"/>
                </a:lnTo>
                <a:lnTo>
                  <a:pt x="641049" y="513920"/>
                </a:lnTo>
                <a:lnTo>
                  <a:pt x="641049" y="596804"/>
                </a:lnTo>
                <a:lnTo>
                  <a:pt x="544446" y="596804"/>
                </a:lnTo>
                <a:lnTo>
                  <a:pt x="544446" y="779560"/>
                </a:lnTo>
                <a:lnTo>
                  <a:pt x="868447" y="779560"/>
                </a:lnTo>
                <a:lnTo>
                  <a:pt x="868447" y="696645"/>
                </a:lnTo>
                <a:lnTo>
                  <a:pt x="641049" y="696645"/>
                </a:lnTo>
                <a:lnTo>
                  <a:pt x="641049" y="596804"/>
                </a:lnTo>
                <a:lnTo>
                  <a:pt x="849013" y="596804"/>
                </a:lnTo>
                <a:lnTo>
                  <a:pt x="849013" y="513920"/>
                </a:lnTo>
                <a:lnTo>
                  <a:pt x="641049" y="513920"/>
                </a:lnTo>
                <a:lnTo>
                  <a:pt x="641049" y="414079"/>
                </a:lnTo>
                <a:lnTo>
                  <a:pt x="868447" y="414079"/>
                </a:lnTo>
                <a:lnTo>
                  <a:pt x="868447" y="331195"/>
                </a:lnTo>
                <a:close/>
                <a:moveTo>
                  <a:pt x="951241" y="331163"/>
                </a:moveTo>
                <a:lnTo>
                  <a:pt x="951241" y="779529"/>
                </a:lnTo>
                <a:lnTo>
                  <a:pt x="1047844" y="779529"/>
                </a:lnTo>
                <a:lnTo>
                  <a:pt x="1047844" y="596772"/>
                </a:lnTo>
                <a:lnTo>
                  <a:pt x="1151336" y="596772"/>
                </a:lnTo>
                <a:cubicBezTo>
                  <a:pt x="1179334" y="596772"/>
                  <a:pt x="1203193" y="593007"/>
                  <a:pt x="1222848" y="585478"/>
                </a:cubicBezTo>
                <a:cubicBezTo>
                  <a:pt x="1242504" y="577949"/>
                  <a:pt x="1258494" y="567984"/>
                  <a:pt x="1270850" y="555615"/>
                </a:cubicBezTo>
                <a:cubicBezTo>
                  <a:pt x="1283174" y="543245"/>
                  <a:pt x="1292180" y="529041"/>
                  <a:pt x="1297836" y="513002"/>
                </a:cubicBezTo>
                <a:cubicBezTo>
                  <a:pt x="1303493" y="496963"/>
                  <a:pt x="1306305" y="480639"/>
                  <a:pt x="1306305" y="463999"/>
                </a:cubicBezTo>
                <a:cubicBezTo>
                  <a:pt x="1306305" y="447359"/>
                  <a:pt x="1303493" y="430561"/>
                  <a:pt x="1297836" y="414712"/>
                </a:cubicBezTo>
                <a:cubicBezTo>
                  <a:pt x="1292180" y="398862"/>
                  <a:pt x="1283205" y="384753"/>
                  <a:pt x="1270850" y="372384"/>
                </a:cubicBezTo>
                <a:lnTo>
                  <a:pt x="1270850" y="372352"/>
                </a:lnTo>
                <a:cubicBezTo>
                  <a:pt x="1258494" y="359983"/>
                  <a:pt x="1242504" y="350018"/>
                  <a:pt x="1222848" y="342488"/>
                </a:cubicBezTo>
                <a:cubicBezTo>
                  <a:pt x="1203193" y="334959"/>
                  <a:pt x="1179334" y="331163"/>
                  <a:pt x="1151336" y="331163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noProof="0" dirty="0"/>
              <a:t>Cliquez sur l'icône pour ajouter une image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63" y="2084388"/>
            <a:ext cx="9274175" cy="3476493"/>
          </a:xfrm>
          <a:noFill/>
        </p:spPr>
        <p:txBody>
          <a:bodyPr lIns="216000" anchor="t" anchorCtr="0">
            <a:normAutofit/>
          </a:bodyPr>
          <a:lstStyle>
            <a:lvl1pPr algn="l">
              <a:defRPr sz="8800" b="1" spc="-3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fr-FR" noProof="0" dirty="0"/>
              <a:t>Modifiez le style du titre</a:t>
            </a:r>
            <a:endParaRPr lang="en-GB" noProof="0" dirty="0"/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8562" y="1471092"/>
            <a:ext cx="7002451" cy="613833"/>
          </a:xfrm>
          <a:noFill/>
        </p:spPr>
        <p:txBody>
          <a:bodyPr lIns="288000" anchor="ctr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fr-FR" sz="1200" b="0" i="0" kern="1200" spc="300" noProof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E530C81D-4372-96E0-73AD-09E3F978C2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7438" y="5479627"/>
            <a:ext cx="2652584" cy="1048173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8000" tIns="108000" rIns="108000" bIns="45720" rtlCol="0" anchor="t" anchorCtr="0">
            <a:normAutofit/>
          </a:bodyPr>
          <a:lstStyle>
            <a:lvl1pPr>
              <a:defRPr lang="fr-FR" sz="1400" b="1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r">
              <a:buClr>
                <a:schemeClr val="accent1"/>
              </a:buClr>
              <a:buNone/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44" name="Espace réservé du texte 42">
            <a:extLst>
              <a:ext uri="{FF2B5EF4-FFF2-40B4-BE49-F238E27FC236}">
                <a16:creationId xmlns:a16="http://schemas.microsoft.com/office/drawing/2014/main" id="{F2962BF5-AECB-05D4-B7BD-D343940A8F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5725" y="5479627"/>
            <a:ext cx="2652584" cy="1048173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8000" tIns="108000" rIns="108000" bIns="45720" rtlCol="0" anchor="t" anchorCtr="0">
            <a:normAutofit/>
          </a:bodyPr>
          <a:lstStyle>
            <a:lvl1pPr>
              <a:defRPr lang="fr-FR" sz="1400" b="1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r">
              <a:buClr>
                <a:schemeClr val="accent1"/>
              </a:buClr>
              <a:buNone/>
            </a:pPr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5" orient="horz" pos="5" userDrawn="1">
          <p15:clr>
            <a:srgbClr val="FBAE40"/>
          </p15:clr>
        </p15:guide>
        <p15:guide id="6" orient="horz" pos="4110" userDrawn="1">
          <p15:clr>
            <a:srgbClr val="FBAE40"/>
          </p15:clr>
        </p15:guide>
        <p15:guide id="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gradFill>
          <a:gsLst>
            <a:gs pos="0">
              <a:schemeClr val="tx2">
                <a:lumMod val="50000"/>
              </a:schemeClr>
            </a:gs>
            <a:gs pos="32000">
              <a:schemeClr val="tx2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-12700"/>
            <a:ext cx="6024562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6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EE007531-9D25-1147-CFAD-91E33B09A7C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40DDB56F-E6F6-A6A8-BABC-742D2F12116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CF0089D8-9722-4F2C-3669-55AB1AF2CB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bg>
      <p:bgPr>
        <a:gradFill>
          <a:gsLst>
            <a:gs pos="0">
              <a:schemeClr val="accent1">
                <a:lumMod val="50000"/>
              </a:schemeClr>
            </a:gs>
            <a:gs pos="32000">
              <a:schemeClr val="accent1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-12700"/>
            <a:ext cx="6024562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3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984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mmary">
    <p:bg>
      <p:bgPr>
        <a:gradFill>
          <a:gsLst>
            <a:gs pos="0">
              <a:schemeClr val="accent2">
                <a:lumMod val="50000"/>
              </a:schemeClr>
            </a:gs>
            <a:gs pos="32000">
              <a:schemeClr val="accent2"/>
            </a:gs>
            <a:gs pos="99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-12700"/>
            <a:ext cx="6024562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3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25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mmary">
    <p:bg>
      <p:bgPr>
        <a:gradFill>
          <a:gsLst>
            <a:gs pos="0">
              <a:schemeClr val="tx1">
                <a:lumMod val="50000"/>
              </a:schemeClr>
            </a:gs>
            <a:gs pos="32000">
              <a:schemeClr val="tx1"/>
            </a:gs>
            <a:gs pos="99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-12700"/>
            <a:ext cx="6024562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3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27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mmary">
    <p:bg>
      <p:bgPr>
        <a:gradFill>
          <a:gsLst>
            <a:gs pos="0">
              <a:schemeClr val="accent4">
                <a:lumMod val="50000"/>
              </a:schemeClr>
            </a:gs>
            <a:gs pos="32000">
              <a:schemeClr val="accent4"/>
            </a:gs>
            <a:gs pos="99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9" y="-12700"/>
            <a:ext cx="6024561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3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6554DF-70B4-182A-5B09-B5E21366F90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D13DF1-CA37-4F2E-8695-F279B0F2175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A4FCC3A-6CDB-8F60-958D-327E8DAF009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375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ummary">
    <p:bg>
      <p:bgPr>
        <a:gradFill>
          <a:gsLst>
            <a:gs pos="0">
              <a:schemeClr val="accent3">
                <a:lumMod val="50000"/>
              </a:schemeClr>
            </a:gs>
            <a:gs pos="32000">
              <a:schemeClr val="accent3"/>
            </a:gs>
            <a:gs pos="99000">
              <a:schemeClr val="accent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-12700"/>
            <a:ext cx="6024562" cy="68707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873125"/>
            <a:ext cx="5148898" cy="559435"/>
          </a:xfrm>
        </p:spPr>
        <p:txBody>
          <a:bodyPr>
            <a:normAutofit/>
          </a:bodyPr>
          <a:lstStyle>
            <a:lvl1pPr>
              <a:defRPr lang="en-GB" sz="1467" b="0" i="0" kern="1200" spc="3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dirty="0"/>
              <a:t>MODIFIEZ LE STYLE DU TITRE</a:t>
            </a:r>
            <a:endParaRPr lang="en-GB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F3F5D8E-5689-C835-6882-288E2190F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2673" y="256633"/>
            <a:ext cx="823217" cy="356277"/>
          </a:xfrm>
          <a:prstGeom prst="rect">
            <a:avLst/>
          </a:prstGeom>
        </p:spPr>
      </p:pic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4" y="2084388"/>
            <a:ext cx="5473699" cy="4456112"/>
          </a:xfrm>
          <a:noFill/>
        </p:spPr>
        <p:txBody>
          <a:bodyPr lIns="0" anchor="ctr">
            <a:noAutofit/>
          </a:bodyPr>
          <a:lstStyle>
            <a:lvl1pPr marL="0" indent="0" algn="l">
              <a:buNone/>
              <a:defRPr lang="fr-FR" sz="4000" b="1" i="0" kern="1000" spc="-300" baseline="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 pitchFamily="2" charset="2"/>
              <a:buNone/>
            </a:pPr>
            <a:r>
              <a:rPr lang="fr-FR" noProof="0" dirty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6554DF-70B4-182A-5B09-B5E21366F90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D13DF1-CA37-4F2E-8695-F279B0F2175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A4FCC3A-6CDB-8F60-958D-327E8DAF009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587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F3597A-A13D-7013-BAE2-C9613316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32C1CA-DB30-E56F-9D0A-D169EB21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ECD5E1-317B-1135-8109-60D2B0C8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33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32000">
              <a:schemeClr val="bg2"/>
            </a:gs>
            <a:gs pos="99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F3597A-A13D-7013-BAE2-C9613316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632C1CA-DB30-E56F-9D0A-D169EB21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ECD5E1-317B-1135-8109-60D2B0C8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549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bg>
      <p:bgPr>
        <a:gradFill>
          <a:gsLst>
            <a:gs pos="0">
              <a:schemeClr val="tx2">
                <a:lumMod val="50000"/>
              </a:schemeClr>
            </a:gs>
            <a:gs pos="32000">
              <a:schemeClr val="tx2"/>
            </a:gs>
            <a:gs pos="98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/>
          <p:nvPr/>
        </p:nvSpPr>
        <p:spPr>
          <a:xfrm>
            <a:off x="555663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/>
          <p:nvPr/>
        </p:nvSpPr>
        <p:spPr>
          <a:xfrm>
            <a:off x="555663" y="449275"/>
            <a:ext cx="138216" cy="77962"/>
          </a:xfrm>
          <a:custGeom>
            <a:avLst/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/>
          <p:nvPr/>
        </p:nvSpPr>
        <p:spPr>
          <a:xfrm>
            <a:off x="59687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/>
          <p:nvPr/>
        </p:nvSpPr>
        <p:spPr>
          <a:xfrm>
            <a:off x="729199" y="335955"/>
            <a:ext cx="151468" cy="191270"/>
          </a:xfrm>
          <a:custGeom>
            <a:avLst/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/>
          <p:nvPr/>
        </p:nvSpPr>
        <p:spPr>
          <a:xfrm>
            <a:off x="1074937" y="335968"/>
            <a:ext cx="138203" cy="191269"/>
          </a:xfrm>
          <a:custGeom>
            <a:avLst/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/>
          <p:nvPr/>
        </p:nvSpPr>
        <p:spPr>
          <a:xfrm>
            <a:off x="906874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/>
          <p:nvPr/>
        </p:nvSpPr>
        <p:spPr>
          <a:xfrm>
            <a:off x="906874" y="449275"/>
            <a:ext cx="41210" cy="77949"/>
          </a:xfrm>
          <a:custGeom>
            <a:avLst/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/>
          <p:nvPr/>
        </p:nvSpPr>
        <p:spPr>
          <a:xfrm>
            <a:off x="94808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19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bg>
      <p:bgPr>
        <a:gradFill>
          <a:gsLst>
            <a:gs pos="0">
              <a:schemeClr val="accent2">
                <a:lumMod val="50000"/>
              </a:schemeClr>
            </a:gs>
            <a:gs pos="32000">
              <a:schemeClr val="accent2"/>
            </a:gs>
            <a:gs pos="98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/>
          <p:nvPr/>
        </p:nvSpPr>
        <p:spPr>
          <a:xfrm>
            <a:off x="555663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/>
          <p:nvPr/>
        </p:nvSpPr>
        <p:spPr>
          <a:xfrm>
            <a:off x="555663" y="449275"/>
            <a:ext cx="138216" cy="77962"/>
          </a:xfrm>
          <a:custGeom>
            <a:avLst/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/>
          <p:nvPr/>
        </p:nvSpPr>
        <p:spPr>
          <a:xfrm>
            <a:off x="59687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/>
          <p:nvPr/>
        </p:nvSpPr>
        <p:spPr>
          <a:xfrm>
            <a:off x="729199" y="335955"/>
            <a:ext cx="151468" cy="191270"/>
          </a:xfrm>
          <a:custGeom>
            <a:avLst/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/>
          <p:nvPr/>
        </p:nvSpPr>
        <p:spPr>
          <a:xfrm>
            <a:off x="1074937" y="335968"/>
            <a:ext cx="138203" cy="191269"/>
          </a:xfrm>
          <a:custGeom>
            <a:avLst/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/>
          <p:nvPr/>
        </p:nvSpPr>
        <p:spPr>
          <a:xfrm>
            <a:off x="906874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/>
          <p:nvPr/>
        </p:nvSpPr>
        <p:spPr>
          <a:xfrm>
            <a:off x="906874" y="449275"/>
            <a:ext cx="41210" cy="77949"/>
          </a:xfrm>
          <a:custGeom>
            <a:avLst/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/>
          <p:nvPr/>
        </p:nvSpPr>
        <p:spPr>
          <a:xfrm>
            <a:off x="94808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7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/>
          <p:nvPr/>
        </p:nvSpPr>
        <p:spPr>
          <a:xfrm>
            <a:off x="555663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/>
          <p:nvPr/>
        </p:nvSpPr>
        <p:spPr>
          <a:xfrm>
            <a:off x="555663" y="449275"/>
            <a:ext cx="138216" cy="77962"/>
          </a:xfrm>
          <a:custGeom>
            <a:avLst/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/>
          <p:nvPr/>
        </p:nvSpPr>
        <p:spPr>
          <a:xfrm>
            <a:off x="59687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/>
          <p:nvPr/>
        </p:nvSpPr>
        <p:spPr>
          <a:xfrm>
            <a:off x="729199" y="335955"/>
            <a:ext cx="151468" cy="191270"/>
          </a:xfrm>
          <a:custGeom>
            <a:avLst/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/>
          <p:nvPr/>
        </p:nvSpPr>
        <p:spPr>
          <a:xfrm>
            <a:off x="1074937" y="335968"/>
            <a:ext cx="138203" cy="191269"/>
          </a:xfrm>
          <a:custGeom>
            <a:avLst/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/>
          <p:nvPr/>
        </p:nvSpPr>
        <p:spPr>
          <a:xfrm>
            <a:off x="906874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/>
          <p:nvPr/>
        </p:nvSpPr>
        <p:spPr>
          <a:xfrm>
            <a:off x="906874" y="449275"/>
            <a:ext cx="41210" cy="77949"/>
          </a:xfrm>
          <a:custGeom>
            <a:avLst/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/>
          <p:nvPr/>
        </p:nvSpPr>
        <p:spPr>
          <a:xfrm>
            <a:off x="94808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19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bg>
      <p:bgPr>
        <a:gradFill>
          <a:gsLst>
            <a:gs pos="0">
              <a:schemeClr val="accent4">
                <a:lumMod val="50000"/>
              </a:schemeClr>
            </a:gs>
            <a:gs pos="32000">
              <a:schemeClr val="accent4"/>
            </a:gs>
            <a:gs pos="98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/>
          <p:nvPr/>
        </p:nvSpPr>
        <p:spPr>
          <a:xfrm>
            <a:off x="555663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/>
          <p:nvPr/>
        </p:nvSpPr>
        <p:spPr>
          <a:xfrm>
            <a:off x="555663" y="449275"/>
            <a:ext cx="138216" cy="77962"/>
          </a:xfrm>
          <a:custGeom>
            <a:avLst/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/>
          <p:nvPr/>
        </p:nvSpPr>
        <p:spPr>
          <a:xfrm>
            <a:off x="59687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/>
          <p:nvPr/>
        </p:nvSpPr>
        <p:spPr>
          <a:xfrm>
            <a:off x="729199" y="335955"/>
            <a:ext cx="151468" cy="191270"/>
          </a:xfrm>
          <a:custGeom>
            <a:avLst/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/>
          <p:nvPr/>
        </p:nvSpPr>
        <p:spPr>
          <a:xfrm>
            <a:off x="1074937" y="335968"/>
            <a:ext cx="138203" cy="191269"/>
          </a:xfrm>
          <a:custGeom>
            <a:avLst/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/>
          <p:nvPr/>
        </p:nvSpPr>
        <p:spPr>
          <a:xfrm>
            <a:off x="906874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/>
          <p:nvPr/>
        </p:nvSpPr>
        <p:spPr>
          <a:xfrm>
            <a:off x="906874" y="449275"/>
            <a:ext cx="41210" cy="77949"/>
          </a:xfrm>
          <a:custGeom>
            <a:avLst/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/>
          <p:nvPr/>
        </p:nvSpPr>
        <p:spPr>
          <a:xfrm>
            <a:off x="94808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612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CB5EF085-9E71-E082-A736-CB60A2C5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493E0B43-BBF0-959B-0E47-C44652B9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6B5919CB-557E-8300-3A6C-3D6D5AF5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7129" y="2084388"/>
            <a:ext cx="6408737" cy="4440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4537075" cy="1448915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22DD9F30-F80E-914F-1B20-A9EAB1B742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084388"/>
            <a:ext cx="4151313" cy="4773612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92E5A6A1-4AC1-0BB6-E626-24778B60F6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848975" y="2084388"/>
            <a:ext cx="1343025" cy="477361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D88601-F174-B07B-479E-B3197621D4C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AE73F236-20ED-DFBB-7E76-598139248C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1692F41-D3AF-8119-B301-B41665A8EA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74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2084388"/>
            <a:ext cx="6408737" cy="4440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4063" y="0"/>
            <a:ext cx="508793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8A24E7-AF51-FA4F-8358-EA974AE5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4537075" cy="1448915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763FA0-46A9-01D7-F5D6-1197E47013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760BCC-F795-2BE7-ECC8-4DB38C0EAE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C7E246-39A8-E26D-0412-8CFF722643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084388"/>
            <a:ext cx="5087937" cy="4773612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0" y="2084388"/>
            <a:ext cx="6408738" cy="443165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E3D8B0-A2A8-4DC8-5F62-A0CC5D8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02ECE5-BB68-95FD-C1E5-7E85CF75A9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B38248C-C5F6-85A2-58EC-57A9882FCF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743A807-A5BB-357C-504A-BD41B46C67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681A201C-93EA-FC5A-555B-4F3F182CE8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087938" cy="6858000"/>
          </a:xfrm>
          <a:custGeom>
            <a:avLst/>
            <a:gdLst>
              <a:gd name="connsiteX0" fmla="*/ 555662 w 5087938"/>
              <a:gd name="connsiteY0" fmla="*/ 449275 h 6858000"/>
              <a:gd name="connsiteX1" fmla="*/ 555662 w 5087938"/>
              <a:gd name="connsiteY1" fmla="*/ 527238 h 6858000"/>
              <a:gd name="connsiteX2" fmla="*/ 693879 w 5087938"/>
              <a:gd name="connsiteY2" fmla="*/ 527238 h 6858000"/>
              <a:gd name="connsiteX3" fmla="*/ 693879 w 5087938"/>
              <a:gd name="connsiteY3" fmla="*/ 491866 h 6858000"/>
              <a:gd name="connsiteX4" fmla="*/ 596872 w 5087938"/>
              <a:gd name="connsiteY4" fmla="*/ 491866 h 6858000"/>
              <a:gd name="connsiteX5" fmla="*/ 596872 w 5087938"/>
              <a:gd name="connsiteY5" fmla="*/ 449275 h 6858000"/>
              <a:gd name="connsiteX6" fmla="*/ 948083 w 5087938"/>
              <a:gd name="connsiteY6" fmla="*/ 413918 h 6858000"/>
              <a:gd name="connsiteX7" fmla="*/ 948083 w 5087938"/>
              <a:gd name="connsiteY7" fmla="*/ 449275 h 6858000"/>
              <a:gd name="connsiteX8" fmla="*/ 906873 w 5087938"/>
              <a:gd name="connsiteY8" fmla="*/ 449275 h 6858000"/>
              <a:gd name="connsiteX9" fmla="*/ 906873 w 5087938"/>
              <a:gd name="connsiteY9" fmla="*/ 527224 h 6858000"/>
              <a:gd name="connsiteX10" fmla="*/ 948083 w 5087938"/>
              <a:gd name="connsiteY10" fmla="*/ 527224 h 6858000"/>
              <a:gd name="connsiteX11" fmla="*/ 948083 w 5087938"/>
              <a:gd name="connsiteY11" fmla="*/ 449276 h 6858000"/>
              <a:gd name="connsiteX12" fmla="*/ 1036799 w 5087938"/>
              <a:gd name="connsiteY12" fmla="*/ 449276 h 6858000"/>
              <a:gd name="connsiteX13" fmla="*/ 1036799 w 5087938"/>
              <a:gd name="connsiteY13" fmla="*/ 413918 h 6858000"/>
              <a:gd name="connsiteX14" fmla="*/ 596873 w 5087938"/>
              <a:gd name="connsiteY14" fmla="*/ 413918 h 6858000"/>
              <a:gd name="connsiteX15" fmla="*/ 596873 w 5087938"/>
              <a:gd name="connsiteY15" fmla="*/ 449276 h 6858000"/>
              <a:gd name="connsiteX16" fmla="*/ 685589 w 5087938"/>
              <a:gd name="connsiteY16" fmla="*/ 449276 h 6858000"/>
              <a:gd name="connsiteX17" fmla="*/ 685589 w 5087938"/>
              <a:gd name="connsiteY17" fmla="*/ 413918 h 6858000"/>
              <a:gd name="connsiteX18" fmla="*/ 770422 w 5087938"/>
              <a:gd name="connsiteY18" fmla="*/ 371326 h 6858000"/>
              <a:gd name="connsiteX19" fmla="*/ 803072 w 5087938"/>
              <a:gd name="connsiteY19" fmla="*/ 371326 h 6858000"/>
              <a:gd name="connsiteX20" fmla="*/ 816984 w 5087938"/>
              <a:gd name="connsiteY20" fmla="*/ 372123 h 6858000"/>
              <a:gd name="connsiteX21" fmla="*/ 828752 w 5087938"/>
              <a:gd name="connsiteY21" fmla="*/ 375213 h 6858000"/>
              <a:gd name="connsiteX22" fmla="*/ 836908 w 5087938"/>
              <a:gd name="connsiteY22" fmla="*/ 381677 h 6858000"/>
              <a:gd name="connsiteX23" fmla="*/ 839982 w 5087938"/>
              <a:gd name="connsiteY23" fmla="*/ 392622 h 6858000"/>
              <a:gd name="connsiteX24" fmla="*/ 836908 w 5087938"/>
              <a:gd name="connsiteY24" fmla="*/ 403567 h 6858000"/>
              <a:gd name="connsiteX25" fmla="*/ 828752 w 5087938"/>
              <a:gd name="connsiteY25" fmla="*/ 410031 h 6858000"/>
              <a:gd name="connsiteX26" fmla="*/ 816984 w 5087938"/>
              <a:gd name="connsiteY26" fmla="*/ 413122 h 6858000"/>
              <a:gd name="connsiteX27" fmla="*/ 803072 w 5087938"/>
              <a:gd name="connsiteY27" fmla="*/ 413918 h 6858000"/>
              <a:gd name="connsiteX28" fmla="*/ 770422 w 5087938"/>
              <a:gd name="connsiteY28" fmla="*/ 413918 h 6858000"/>
              <a:gd name="connsiteX29" fmla="*/ 1074936 w 5087938"/>
              <a:gd name="connsiteY29" fmla="*/ 335968 h 6858000"/>
              <a:gd name="connsiteX30" fmla="*/ 1074936 w 5087938"/>
              <a:gd name="connsiteY30" fmla="*/ 527238 h 6858000"/>
              <a:gd name="connsiteX31" fmla="*/ 1213139 w 5087938"/>
              <a:gd name="connsiteY31" fmla="*/ 527238 h 6858000"/>
              <a:gd name="connsiteX32" fmla="*/ 1213139 w 5087938"/>
              <a:gd name="connsiteY32" fmla="*/ 491867 h 6858000"/>
              <a:gd name="connsiteX33" fmla="*/ 1116133 w 5087938"/>
              <a:gd name="connsiteY33" fmla="*/ 491867 h 6858000"/>
              <a:gd name="connsiteX34" fmla="*/ 1116133 w 5087938"/>
              <a:gd name="connsiteY34" fmla="*/ 335968 h 6858000"/>
              <a:gd name="connsiteX35" fmla="*/ 906873 w 5087938"/>
              <a:gd name="connsiteY35" fmla="*/ 335968 h 6858000"/>
              <a:gd name="connsiteX36" fmla="*/ 906873 w 5087938"/>
              <a:gd name="connsiteY36" fmla="*/ 413917 h 6858000"/>
              <a:gd name="connsiteX37" fmla="*/ 948083 w 5087938"/>
              <a:gd name="connsiteY37" fmla="*/ 413917 h 6858000"/>
              <a:gd name="connsiteX38" fmla="*/ 948083 w 5087938"/>
              <a:gd name="connsiteY38" fmla="*/ 371326 h 6858000"/>
              <a:gd name="connsiteX39" fmla="*/ 1045090 w 5087938"/>
              <a:gd name="connsiteY39" fmla="*/ 371326 h 6858000"/>
              <a:gd name="connsiteX40" fmla="*/ 1045090 w 5087938"/>
              <a:gd name="connsiteY40" fmla="*/ 335968 h 6858000"/>
              <a:gd name="connsiteX41" fmla="*/ 555662 w 5087938"/>
              <a:gd name="connsiteY41" fmla="*/ 335968 h 6858000"/>
              <a:gd name="connsiteX42" fmla="*/ 555662 w 5087938"/>
              <a:gd name="connsiteY42" fmla="*/ 413917 h 6858000"/>
              <a:gd name="connsiteX43" fmla="*/ 596872 w 5087938"/>
              <a:gd name="connsiteY43" fmla="*/ 413917 h 6858000"/>
              <a:gd name="connsiteX44" fmla="*/ 596872 w 5087938"/>
              <a:gd name="connsiteY44" fmla="*/ 371326 h 6858000"/>
              <a:gd name="connsiteX45" fmla="*/ 693879 w 5087938"/>
              <a:gd name="connsiteY45" fmla="*/ 371326 h 6858000"/>
              <a:gd name="connsiteX46" fmla="*/ 693879 w 5087938"/>
              <a:gd name="connsiteY46" fmla="*/ 335968 h 6858000"/>
              <a:gd name="connsiteX47" fmla="*/ 729198 w 5087938"/>
              <a:gd name="connsiteY47" fmla="*/ 335955 h 6858000"/>
              <a:gd name="connsiteX48" fmla="*/ 729198 w 5087938"/>
              <a:gd name="connsiteY48" fmla="*/ 527225 h 6858000"/>
              <a:gd name="connsiteX49" fmla="*/ 770408 w 5087938"/>
              <a:gd name="connsiteY49" fmla="*/ 527225 h 6858000"/>
              <a:gd name="connsiteX50" fmla="*/ 770408 w 5087938"/>
              <a:gd name="connsiteY50" fmla="*/ 449262 h 6858000"/>
              <a:gd name="connsiteX51" fmla="*/ 814557 w 5087938"/>
              <a:gd name="connsiteY51" fmla="*/ 449262 h 6858000"/>
              <a:gd name="connsiteX52" fmla="*/ 845064 w 5087938"/>
              <a:gd name="connsiteY52" fmla="*/ 444444 h 6858000"/>
              <a:gd name="connsiteX53" fmla="*/ 865541 w 5087938"/>
              <a:gd name="connsiteY53" fmla="*/ 431705 h 6858000"/>
              <a:gd name="connsiteX54" fmla="*/ 877053 w 5087938"/>
              <a:gd name="connsiteY54" fmla="*/ 413526 h 6858000"/>
              <a:gd name="connsiteX55" fmla="*/ 880666 w 5087938"/>
              <a:gd name="connsiteY55" fmla="*/ 392622 h 6858000"/>
              <a:gd name="connsiteX56" fmla="*/ 877053 w 5087938"/>
              <a:gd name="connsiteY56" fmla="*/ 371596 h 6858000"/>
              <a:gd name="connsiteX57" fmla="*/ 865541 w 5087938"/>
              <a:gd name="connsiteY57" fmla="*/ 353539 h 6858000"/>
              <a:gd name="connsiteX58" fmla="*/ 865541 w 5087938"/>
              <a:gd name="connsiteY58" fmla="*/ 353526 h 6858000"/>
              <a:gd name="connsiteX59" fmla="*/ 845064 w 5087938"/>
              <a:gd name="connsiteY59" fmla="*/ 340786 h 6858000"/>
              <a:gd name="connsiteX60" fmla="*/ 814557 w 5087938"/>
              <a:gd name="connsiteY60" fmla="*/ 335955 h 6858000"/>
              <a:gd name="connsiteX61" fmla="*/ 0 w 5087938"/>
              <a:gd name="connsiteY61" fmla="*/ 0 h 6858000"/>
              <a:gd name="connsiteX62" fmla="*/ 5087938 w 5087938"/>
              <a:gd name="connsiteY62" fmla="*/ 0 h 6858000"/>
              <a:gd name="connsiteX63" fmla="*/ 5087938 w 5087938"/>
              <a:gd name="connsiteY63" fmla="*/ 6858000 h 6858000"/>
              <a:gd name="connsiteX64" fmla="*/ 0 w 5087938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87938" h="6858000">
                <a:moveTo>
                  <a:pt x="555662" y="449275"/>
                </a:moveTo>
                <a:lnTo>
                  <a:pt x="555662" y="527238"/>
                </a:lnTo>
                <a:lnTo>
                  <a:pt x="693879" y="527238"/>
                </a:lnTo>
                <a:lnTo>
                  <a:pt x="693879" y="491866"/>
                </a:lnTo>
                <a:lnTo>
                  <a:pt x="596872" y="491866"/>
                </a:lnTo>
                <a:lnTo>
                  <a:pt x="596872" y="449275"/>
                </a:lnTo>
                <a:close/>
                <a:moveTo>
                  <a:pt x="948083" y="413918"/>
                </a:moveTo>
                <a:lnTo>
                  <a:pt x="948083" y="449275"/>
                </a:lnTo>
                <a:lnTo>
                  <a:pt x="906873" y="449275"/>
                </a:lnTo>
                <a:lnTo>
                  <a:pt x="906873" y="527224"/>
                </a:lnTo>
                <a:lnTo>
                  <a:pt x="948083" y="527224"/>
                </a:lnTo>
                <a:lnTo>
                  <a:pt x="948083" y="449276"/>
                </a:lnTo>
                <a:lnTo>
                  <a:pt x="1036799" y="449276"/>
                </a:lnTo>
                <a:lnTo>
                  <a:pt x="1036799" y="413918"/>
                </a:lnTo>
                <a:close/>
                <a:moveTo>
                  <a:pt x="596873" y="413918"/>
                </a:moveTo>
                <a:lnTo>
                  <a:pt x="596873" y="449276"/>
                </a:lnTo>
                <a:lnTo>
                  <a:pt x="685589" y="449276"/>
                </a:lnTo>
                <a:lnTo>
                  <a:pt x="685589" y="413918"/>
                </a:lnTo>
                <a:close/>
                <a:moveTo>
                  <a:pt x="770422" y="371326"/>
                </a:moveTo>
                <a:lnTo>
                  <a:pt x="803072" y="371326"/>
                </a:lnTo>
                <a:cubicBezTo>
                  <a:pt x="807884" y="371326"/>
                  <a:pt x="812522" y="371596"/>
                  <a:pt x="816984" y="372123"/>
                </a:cubicBezTo>
                <a:cubicBezTo>
                  <a:pt x="821446" y="372649"/>
                  <a:pt x="825369" y="373688"/>
                  <a:pt x="828752" y="375213"/>
                </a:cubicBezTo>
                <a:cubicBezTo>
                  <a:pt x="832136" y="376738"/>
                  <a:pt x="834859" y="378897"/>
                  <a:pt x="836908" y="381677"/>
                </a:cubicBezTo>
                <a:cubicBezTo>
                  <a:pt x="838957" y="384457"/>
                  <a:pt x="839982" y="388115"/>
                  <a:pt x="839982" y="392622"/>
                </a:cubicBezTo>
                <a:cubicBezTo>
                  <a:pt x="839982" y="397130"/>
                  <a:pt x="838957" y="400787"/>
                  <a:pt x="836908" y="403567"/>
                </a:cubicBezTo>
                <a:cubicBezTo>
                  <a:pt x="834859" y="406347"/>
                  <a:pt x="832136" y="408506"/>
                  <a:pt x="828752" y="410031"/>
                </a:cubicBezTo>
                <a:cubicBezTo>
                  <a:pt x="825355" y="411556"/>
                  <a:pt x="821432" y="412582"/>
                  <a:pt x="816984" y="413122"/>
                </a:cubicBezTo>
                <a:cubicBezTo>
                  <a:pt x="812522" y="413648"/>
                  <a:pt x="807884" y="413918"/>
                  <a:pt x="803072" y="413918"/>
                </a:cubicBezTo>
                <a:lnTo>
                  <a:pt x="770422" y="413918"/>
                </a:lnTo>
                <a:close/>
                <a:moveTo>
                  <a:pt x="1074936" y="335968"/>
                </a:moveTo>
                <a:lnTo>
                  <a:pt x="1074936" y="527238"/>
                </a:lnTo>
                <a:lnTo>
                  <a:pt x="1213139" y="527238"/>
                </a:lnTo>
                <a:lnTo>
                  <a:pt x="1213139" y="491867"/>
                </a:lnTo>
                <a:lnTo>
                  <a:pt x="1116133" y="491867"/>
                </a:lnTo>
                <a:lnTo>
                  <a:pt x="1116133" y="335968"/>
                </a:lnTo>
                <a:close/>
                <a:moveTo>
                  <a:pt x="906873" y="335968"/>
                </a:moveTo>
                <a:lnTo>
                  <a:pt x="906873" y="413917"/>
                </a:lnTo>
                <a:lnTo>
                  <a:pt x="948083" y="413917"/>
                </a:lnTo>
                <a:lnTo>
                  <a:pt x="948083" y="371326"/>
                </a:lnTo>
                <a:lnTo>
                  <a:pt x="1045090" y="371326"/>
                </a:lnTo>
                <a:lnTo>
                  <a:pt x="1045090" y="335968"/>
                </a:lnTo>
                <a:close/>
                <a:moveTo>
                  <a:pt x="555662" y="335968"/>
                </a:moveTo>
                <a:lnTo>
                  <a:pt x="555662" y="413917"/>
                </a:lnTo>
                <a:lnTo>
                  <a:pt x="596872" y="413917"/>
                </a:lnTo>
                <a:lnTo>
                  <a:pt x="596872" y="371326"/>
                </a:lnTo>
                <a:lnTo>
                  <a:pt x="693879" y="371326"/>
                </a:lnTo>
                <a:lnTo>
                  <a:pt x="693879" y="335968"/>
                </a:lnTo>
                <a:close/>
                <a:moveTo>
                  <a:pt x="729198" y="335955"/>
                </a:moveTo>
                <a:lnTo>
                  <a:pt x="729198" y="527225"/>
                </a:lnTo>
                <a:lnTo>
                  <a:pt x="770408" y="527225"/>
                </a:lnTo>
                <a:lnTo>
                  <a:pt x="770408" y="449262"/>
                </a:lnTo>
                <a:lnTo>
                  <a:pt x="814557" y="449262"/>
                </a:lnTo>
                <a:cubicBezTo>
                  <a:pt x="826501" y="449262"/>
                  <a:pt x="836679" y="447656"/>
                  <a:pt x="845064" y="444444"/>
                </a:cubicBezTo>
                <a:cubicBezTo>
                  <a:pt x="853449" y="441232"/>
                  <a:pt x="860270" y="436981"/>
                  <a:pt x="865541" y="431705"/>
                </a:cubicBezTo>
                <a:cubicBezTo>
                  <a:pt x="870798" y="426428"/>
                  <a:pt x="874640" y="420369"/>
                  <a:pt x="877053" y="413526"/>
                </a:cubicBezTo>
                <a:cubicBezTo>
                  <a:pt x="879466" y="406684"/>
                  <a:pt x="880666" y="399721"/>
                  <a:pt x="880666" y="392622"/>
                </a:cubicBezTo>
                <a:cubicBezTo>
                  <a:pt x="880666" y="385524"/>
                  <a:pt x="879466" y="378357"/>
                  <a:pt x="877053" y="371596"/>
                </a:cubicBezTo>
                <a:cubicBezTo>
                  <a:pt x="874640" y="364835"/>
                  <a:pt x="870812" y="358816"/>
                  <a:pt x="865541" y="353539"/>
                </a:cubicBezTo>
                <a:lnTo>
                  <a:pt x="865541" y="353526"/>
                </a:lnTo>
                <a:cubicBezTo>
                  <a:pt x="860270" y="348249"/>
                  <a:pt x="853449" y="343998"/>
                  <a:pt x="845064" y="340786"/>
                </a:cubicBezTo>
                <a:cubicBezTo>
                  <a:pt x="836679" y="337574"/>
                  <a:pt x="826501" y="335955"/>
                  <a:pt x="814557" y="335955"/>
                </a:cubicBezTo>
                <a:close/>
                <a:moveTo>
                  <a:pt x="0" y="0"/>
                </a:moveTo>
                <a:lnTo>
                  <a:pt x="5087938" y="0"/>
                </a:lnTo>
                <a:lnTo>
                  <a:pt x="50879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00" y="3122613"/>
            <a:ext cx="6423768" cy="34020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72B795-3D3B-CF04-8F9C-98724619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635264"/>
            <a:ext cx="4514939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B7D5B9-A0FB-66F6-6235-067EFD1976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4FF79E-463D-E0D5-E51F-74864AFBF5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2546CC-8E0E-6399-FA48-C7DD92265E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862" y="878457"/>
            <a:ext cx="3600451" cy="3131858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5775" y="873125"/>
            <a:ext cx="3600450" cy="3137782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629752"/>
            <a:ext cx="11090275" cy="1894873"/>
          </a:xfrm>
        </p:spPr>
        <p:txBody>
          <a:bodyPr anchor="b" anchorCtr="0">
            <a:noAutofit/>
          </a:bodyPr>
          <a:lstStyle>
            <a:lvl1pPr algn="ctr">
              <a:defRPr sz="8800" spc="-15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40688" y="877888"/>
            <a:ext cx="3600450" cy="3132137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1A7E87-4B7A-CFD6-6B20-E86B243D55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663B78-8811-7847-374B-E04CB9D218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06B9C-EE70-75A4-32F1-EBA7FEEB4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862" y="3392175"/>
            <a:ext cx="3600451" cy="3131858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95775" y="3386843"/>
            <a:ext cx="3600450" cy="3137782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54010"/>
            <a:ext cx="11090275" cy="2314872"/>
          </a:xfrm>
        </p:spPr>
        <p:txBody>
          <a:bodyPr anchor="t" anchorCtr="0">
            <a:noAutofit/>
          </a:bodyPr>
          <a:lstStyle>
            <a:lvl1pPr algn="ctr">
              <a:defRPr sz="8800" spc="-15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40688" y="3391606"/>
            <a:ext cx="3600450" cy="3132137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11A7E87-4B7A-CFD6-6B20-E86B243D55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663B78-8811-7847-374B-E04CB9D218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606B9C-EE70-75A4-32F1-EBA7FEEB4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860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63" y="3122613"/>
            <a:ext cx="11090274" cy="3402012"/>
          </a:xfrm>
        </p:spPr>
        <p:txBody>
          <a:bodyPr/>
          <a:lstStyle>
            <a:lvl1pPr>
              <a:buClrTx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13439"/>
            <a:ext cx="11130168" cy="2106613"/>
          </a:xfrm>
        </p:spPr>
        <p:txBody>
          <a:bodyPr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/>
          <p:nvPr/>
        </p:nvSpPr>
        <p:spPr>
          <a:xfrm>
            <a:off x="555663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/>
          <p:nvPr/>
        </p:nvSpPr>
        <p:spPr>
          <a:xfrm>
            <a:off x="555663" y="449275"/>
            <a:ext cx="138216" cy="77962"/>
          </a:xfrm>
          <a:custGeom>
            <a:avLst/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/>
          <p:nvPr/>
        </p:nvSpPr>
        <p:spPr>
          <a:xfrm>
            <a:off x="59687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/>
          <p:nvPr/>
        </p:nvSpPr>
        <p:spPr>
          <a:xfrm>
            <a:off x="729199" y="335955"/>
            <a:ext cx="151468" cy="191270"/>
          </a:xfrm>
          <a:custGeom>
            <a:avLst/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/>
          <p:nvPr/>
        </p:nvSpPr>
        <p:spPr>
          <a:xfrm>
            <a:off x="1074937" y="335968"/>
            <a:ext cx="138203" cy="191269"/>
          </a:xfrm>
          <a:custGeom>
            <a:avLst/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/>
          <p:nvPr/>
        </p:nvSpPr>
        <p:spPr>
          <a:xfrm>
            <a:off x="906874" y="335968"/>
            <a:ext cx="138216" cy="77949"/>
          </a:xfrm>
          <a:custGeom>
            <a:avLst/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/>
          <p:nvPr/>
        </p:nvSpPr>
        <p:spPr>
          <a:xfrm>
            <a:off x="906874" y="449275"/>
            <a:ext cx="41210" cy="77949"/>
          </a:xfrm>
          <a:custGeom>
            <a:avLst/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6" name="Forme libre 15">
            <a:extLst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/>
          <p:nvPr/>
        </p:nvSpPr>
        <p:spPr>
          <a:xfrm>
            <a:off x="948084" y="413918"/>
            <a:ext cx="88715" cy="35357"/>
          </a:xfrm>
          <a:custGeom>
            <a:avLst/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>
            <a:schemeClr val="bg1"/>
          </a:solidFill>
          <a:ln w="1343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948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3122044"/>
            <a:ext cx="5473699" cy="3402581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28493"/>
            <a:ext cx="4537075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726" y="3122613"/>
            <a:ext cx="5473699" cy="341788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C99EA67-017D-5E36-3D31-35C78A9038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DA3C390-B7C6-FDDC-B2F4-FDC4F9A941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E95600B-BF9C-E9AB-B807-83458E4CC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444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3122044"/>
            <a:ext cx="3600449" cy="3402581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 marL="447675" indent="-157163">
              <a:tabLst/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28493"/>
            <a:ext cx="4537075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776" y="3122613"/>
            <a:ext cx="3600450" cy="3417887"/>
          </a:xfrm>
        </p:spPr>
        <p:txBody>
          <a:bodyPr>
            <a:noAutofit/>
          </a:bodyPr>
          <a:lstStyle>
            <a:lvl1pPr>
              <a:defRPr sz="2000"/>
            </a:lvl1pPr>
            <a:lvl2pPr marL="622300" indent="-165100">
              <a:tabLst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C99EA67-017D-5E36-3D31-35C78A9038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DA3C390-B7C6-FDDC-B2F4-FDC4F9A941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E95600B-BF9C-E9AB-B807-83458E4CC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05412C-D799-52BC-620F-5066AC3A4D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0688" y="3122613"/>
            <a:ext cx="3600450" cy="34020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8073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863" y="3122613"/>
            <a:ext cx="2663826" cy="3401320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150" y="3122044"/>
            <a:ext cx="2663825" cy="3402582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436" y="3122044"/>
            <a:ext cx="2663825" cy="3401624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28493"/>
            <a:ext cx="4537075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5725" y="3122613"/>
            <a:ext cx="2679700" cy="340162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DED269A-C79F-3F95-BE6D-8008CF0897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230432B-6A23-E581-EEEF-B30407CBD2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D243C14-9FA0-E923-D04E-420D9DC16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11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grey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32000">
              <a:schemeClr val="bg2"/>
            </a:gs>
            <a:gs pos="99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863" y="3122613"/>
            <a:ext cx="2663826" cy="3131858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150" y="3122043"/>
            <a:ext cx="2663825" cy="3133019"/>
          </a:xfrm>
        </p:spPr>
        <p:txBody>
          <a:bodyPr/>
          <a:lstStyle>
            <a:lvl1pPr>
              <a:defRPr sz="2000"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436" y="3122044"/>
            <a:ext cx="2663825" cy="3132137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28493"/>
            <a:ext cx="4537075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75725" y="3122613"/>
            <a:ext cx="2679700" cy="313213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5788EF65-FC86-CA51-7666-C634CC6E43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CE4CA97-11D2-A0C2-E9A8-5AA2A62B8B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D6A5DCB-257B-ABB5-3508-281E7C0090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086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D68D3A-BE52-3CFA-EEBB-E265EA02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C3619F-6739-7018-D8F3-4B783EAF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F2FAA6-5480-8421-1675-22FA21F4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75D5D2-7CED-091C-0B10-7B2731AD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73124"/>
            <a:ext cx="12191999" cy="598487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BED1A9-9D09-E324-D507-8547BD8EDE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DAC261-7DF0-187A-D0C1-AF0B45E8E5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14B235-7E68-AF61-29B8-77CF8DD321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7999"/>
          </a:xfrm>
          <a:custGeom>
            <a:avLst/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F0DAA2-4F8C-57C5-70AF-C09C85FE85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A54448-3D98-55D4-A93A-919F2D091C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1EDA2B-8A2F-D33E-C6F9-727DD4FC59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512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7999"/>
          </a:xfrm>
          <a:custGeom>
            <a:avLst/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96DC45-A2F3-ED7E-0FA3-50FAE375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37400C-1017-B66F-9CB5-7D2B04E5F6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6CCDED-88C0-1A5D-5485-599A787953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10E308-8E16-948D-3328-AA3B12D0FC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268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7999"/>
          </a:xfrm>
          <a:custGeom>
            <a:avLst/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96DC45-A2F3-ED7E-0FA3-50FAE375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37400C-1017-B66F-9CB5-7D2B04E5F6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E6CCDED-88C0-1A5D-5485-599A787953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10E308-8E16-948D-3328-AA3B12D0FC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E37AA37-33C9-00F4-0938-24808C087E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63" y="3122613"/>
            <a:ext cx="4537075" cy="34020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897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7438" y="873124"/>
            <a:ext cx="6024562" cy="5984875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2A07D4F-8346-2B64-0416-FDCE0BE7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5422516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AAB541-0B94-EF7A-F9FC-B2F912BCC9B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463358-F0B0-6AE3-8B48-F27B994F8E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6324209-65E2-F84D-CEC3-21C85F0683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027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5386" y="873124"/>
            <a:ext cx="7886614" cy="598487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63" y="3429000"/>
            <a:ext cx="3600450" cy="3095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3625313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9D85D5B-A131-4663-BB0F-2FD2D8EA48F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C75641-C52C-0748-91D5-A9EC6D45FDB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F563173-40CF-80A1-AC40-E374BA6BC65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867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7438" y="-6354"/>
            <a:ext cx="6024562" cy="686435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63" y="3429000"/>
            <a:ext cx="5473700" cy="3095625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3625313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81F6B9-181F-A14F-EC0D-72BB1C622B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8AB052-5DEF-92C2-7982-B1EB40F5946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8F4CFBF-8E13-8DFF-1A2A-5DE644DC27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79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5386" y="0"/>
            <a:ext cx="3590839" cy="6857999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50298" y="2084388"/>
            <a:ext cx="3600450" cy="444023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3625313" cy="210661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E2F5CC-09F6-CAC3-00B8-734CED0893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63" y="3122613"/>
            <a:ext cx="3600450" cy="34020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6432F55-8A97-1BB4-2F23-086FDAC46DF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F05EDAD6-9C14-3B54-9823-67DD86CA86F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9A76A2C-D3BB-E03F-C381-18BB0CD1198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49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52899"/>
            <a:ext cx="12192001" cy="27051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550862" y="2084918"/>
            <a:ext cx="11090275" cy="1915583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E69DB1A-EF51-40EA-B47B-454F35B329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EE2F84-86D7-EF9E-E1F1-6D9B4FD3511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294AFBB-3C11-FEBF-59B2-2F637FB532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52899"/>
            <a:ext cx="12192001" cy="27051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4295775" y="1476530"/>
            <a:ext cx="7345362" cy="2523971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635473"/>
            <a:ext cx="3625313" cy="3037117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866AC3B0-0D3A-8762-2087-9A5794DDBAE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02C03D-8F8B-28B8-FBD5-78C5C498F54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952B62-C420-1723-20D4-4BCBCC6765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28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space réservé pour une image  48">
            <a:extLst>
              <a:ext uri="{FF2B5EF4-FFF2-40B4-BE49-F238E27FC236}">
                <a16:creationId xmlns:a16="http://schemas.microsoft.com/office/drawing/2014/main" id="{EB4B76CC-D6E6-F71B-F115-CCF181F6E9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12192001" cy="3122613"/>
          </a:xfrm>
          <a:custGeom>
            <a:avLst/>
            <a:gdLst>
              <a:gd name="connsiteX0" fmla="*/ 767072 w 12192001"/>
              <a:gd name="connsiteY0" fmla="*/ 371000 h 3122613"/>
              <a:gd name="connsiteX1" fmla="*/ 799951 w 12192001"/>
              <a:gd name="connsiteY1" fmla="*/ 371000 h 3122613"/>
              <a:gd name="connsiteX2" fmla="*/ 813959 w 12192001"/>
              <a:gd name="connsiteY2" fmla="*/ 371799 h 3122613"/>
              <a:gd name="connsiteX3" fmla="*/ 825811 w 12192001"/>
              <a:gd name="connsiteY3" fmla="*/ 374901 h 3122613"/>
              <a:gd name="connsiteX4" fmla="*/ 834031 w 12192001"/>
              <a:gd name="connsiteY4" fmla="*/ 381381 h 3122613"/>
              <a:gd name="connsiteX5" fmla="*/ 837140 w 12192001"/>
              <a:gd name="connsiteY5" fmla="*/ 392376 h 3122613"/>
              <a:gd name="connsiteX6" fmla="*/ 834031 w 12192001"/>
              <a:gd name="connsiteY6" fmla="*/ 403372 h 3122613"/>
              <a:gd name="connsiteX7" fmla="*/ 834031 w 12192001"/>
              <a:gd name="connsiteY7" fmla="*/ 403341 h 3122613"/>
              <a:gd name="connsiteX8" fmla="*/ 825811 w 12192001"/>
              <a:gd name="connsiteY8" fmla="*/ 409821 h 3122613"/>
              <a:gd name="connsiteX9" fmla="*/ 813959 w 12192001"/>
              <a:gd name="connsiteY9" fmla="*/ 412923 h 3122613"/>
              <a:gd name="connsiteX10" fmla="*/ 799951 w 12192001"/>
              <a:gd name="connsiteY10" fmla="*/ 413722 h 3122613"/>
              <a:gd name="connsiteX11" fmla="*/ 767072 w 12192001"/>
              <a:gd name="connsiteY11" fmla="*/ 413722 h 3122613"/>
              <a:gd name="connsiteX12" fmla="*/ 1073698 w 12192001"/>
              <a:gd name="connsiteY12" fmla="*/ 335496 h 3122613"/>
              <a:gd name="connsiteX13" fmla="*/ 1073698 w 12192001"/>
              <a:gd name="connsiteY13" fmla="*/ 527421 h 3122613"/>
              <a:gd name="connsiteX14" fmla="*/ 1212850 w 12192001"/>
              <a:gd name="connsiteY14" fmla="*/ 527421 h 3122613"/>
              <a:gd name="connsiteX15" fmla="*/ 1212850 w 12192001"/>
              <a:gd name="connsiteY15" fmla="*/ 491948 h 3122613"/>
              <a:gd name="connsiteX16" fmla="*/ 1115167 w 12192001"/>
              <a:gd name="connsiteY16" fmla="*/ 491948 h 3122613"/>
              <a:gd name="connsiteX17" fmla="*/ 1115167 w 12192001"/>
              <a:gd name="connsiteY17" fmla="*/ 335496 h 3122613"/>
              <a:gd name="connsiteX18" fmla="*/ 904469 w 12192001"/>
              <a:gd name="connsiteY18" fmla="*/ 335496 h 3122613"/>
              <a:gd name="connsiteX19" fmla="*/ 904469 w 12192001"/>
              <a:gd name="connsiteY19" fmla="*/ 413722 h 3122613"/>
              <a:gd name="connsiteX20" fmla="*/ 945968 w 12192001"/>
              <a:gd name="connsiteY20" fmla="*/ 413722 h 3122613"/>
              <a:gd name="connsiteX21" fmla="*/ 945968 w 12192001"/>
              <a:gd name="connsiteY21" fmla="*/ 449195 h 3122613"/>
              <a:gd name="connsiteX22" fmla="*/ 904469 w 12192001"/>
              <a:gd name="connsiteY22" fmla="*/ 449195 h 3122613"/>
              <a:gd name="connsiteX23" fmla="*/ 904469 w 12192001"/>
              <a:gd name="connsiteY23" fmla="*/ 527421 h 3122613"/>
              <a:gd name="connsiteX24" fmla="*/ 945969 w 12192001"/>
              <a:gd name="connsiteY24" fmla="*/ 527421 h 3122613"/>
              <a:gd name="connsiteX25" fmla="*/ 945969 w 12192001"/>
              <a:gd name="connsiteY25" fmla="*/ 449195 h 3122613"/>
              <a:gd name="connsiteX26" fmla="*/ 1035278 w 12192001"/>
              <a:gd name="connsiteY26" fmla="*/ 449195 h 3122613"/>
              <a:gd name="connsiteX27" fmla="*/ 1035278 w 12192001"/>
              <a:gd name="connsiteY27" fmla="*/ 413722 h 3122613"/>
              <a:gd name="connsiteX28" fmla="*/ 945969 w 12192001"/>
              <a:gd name="connsiteY28" fmla="*/ 413722 h 3122613"/>
              <a:gd name="connsiteX29" fmla="*/ 945969 w 12192001"/>
              <a:gd name="connsiteY29" fmla="*/ 370969 h 3122613"/>
              <a:gd name="connsiteX30" fmla="*/ 1043652 w 12192001"/>
              <a:gd name="connsiteY30" fmla="*/ 370969 h 3122613"/>
              <a:gd name="connsiteX31" fmla="*/ 1043652 w 12192001"/>
              <a:gd name="connsiteY31" fmla="*/ 335496 h 3122613"/>
              <a:gd name="connsiteX32" fmla="*/ 725542 w 12192001"/>
              <a:gd name="connsiteY32" fmla="*/ 335496 h 3122613"/>
              <a:gd name="connsiteX33" fmla="*/ 725542 w 12192001"/>
              <a:gd name="connsiteY33" fmla="*/ 527421 h 3122613"/>
              <a:gd name="connsiteX34" fmla="*/ 767041 w 12192001"/>
              <a:gd name="connsiteY34" fmla="*/ 527421 h 3122613"/>
              <a:gd name="connsiteX35" fmla="*/ 767041 w 12192001"/>
              <a:gd name="connsiteY35" fmla="*/ 449195 h 3122613"/>
              <a:gd name="connsiteX36" fmla="*/ 811496 w 12192001"/>
              <a:gd name="connsiteY36" fmla="*/ 449195 h 3122613"/>
              <a:gd name="connsiteX37" fmla="*/ 842220 w 12192001"/>
              <a:gd name="connsiteY37" fmla="*/ 444343 h 3122613"/>
              <a:gd name="connsiteX38" fmla="*/ 862847 w 12192001"/>
              <a:gd name="connsiteY38" fmla="*/ 431566 h 3122613"/>
              <a:gd name="connsiteX39" fmla="*/ 874422 w 12192001"/>
              <a:gd name="connsiteY39" fmla="*/ 413322 h 3122613"/>
              <a:gd name="connsiteX40" fmla="*/ 878055 w 12192001"/>
              <a:gd name="connsiteY40" fmla="*/ 392346 h 3122613"/>
              <a:gd name="connsiteX41" fmla="*/ 874422 w 12192001"/>
              <a:gd name="connsiteY41" fmla="*/ 371246 h 3122613"/>
              <a:gd name="connsiteX42" fmla="*/ 862847 w 12192001"/>
              <a:gd name="connsiteY42" fmla="*/ 353125 h 3122613"/>
              <a:gd name="connsiteX43" fmla="*/ 842220 w 12192001"/>
              <a:gd name="connsiteY43" fmla="*/ 340349 h 3122613"/>
              <a:gd name="connsiteX44" fmla="*/ 811496 w 12192001"/>
              <a:gd name="connsiteY44" fmla="*/ 335496 h 3122613"/>
              <a:gd name="connsiteX45" fmla="*/ 550863 w 12192001"/>
              <a:gd name="connsiteY45" fmla="*/ 335496 h 3122613"/>
              <a:gd name="connsiteX46" fmla="*/ 550863 w 12192001"/>
              <a:gd name="connsiteY46" fmla="*/ 413722 h 3122613"/>
              <a:gd name="connsiteX47" fmla="*/ 592363 w 12192001"/>
              <a:gd name="connsiteY47" fmla="*/ 413722 h 3122613"/>
              <a:gd name="connsiteX48" fmla="*/ 592363 w 12192001"/>
              <a:gd name="connsiteY48" fmla="*/ 449195 h 3122613"/>
              <a:gd name="connsiteX49" fmla="*/ 550863 w 12192001"/>
              <a:gd name="connsiteY49" fmla="*/ 449195 h 3122613"/>
              <a:gd name="connsiteX50" fmla="*/ 550863 w 12192001"/>
              <a:gd name="connsiteY50" fmla="*/ 527421 h 3122613"/>
              <a:gd name="connsiteX51" fmla="*/ 690015 w 12192001"/>
              <a:gd name="connsiteY51" fmla="*/ 527421 h 3122613"/>
              <a:gd name="connsiteX52" fmla="*/ 690015 w 12192001"/>
              <a:gd name="connsiteY52" fmla="*/ 491948 h 3122613"/>
              <a:gd name="connsiteX53" fmla="*/ 592363 w 12192001"/>
              <a:gd name="connsiteY53" fmla="*/ 491948 h 3122613"/>
              <a:gd name="connsiteX54" fmla="*/ 592363 w 12192001"/>
              <a:gd name="connsiteY54" fmla="*/ 449195 h 3122613"/>
              <a:gd name="connsiteX55" fmla="*/ 681672 w 12192001"/>
              <a:gd name="connsiteY55" fmla="*/ 449195 h 3122613"/>
              <a:gd name="connsiteX56" fmla="*/ 681672 w 12192001"/>
              <a:gd name="connsiteY56" fmla="*/ 413722 h 3122613"/>
              <a:gd name="connsiteX57" fmla="*/ 592363 w 12192001"/>
              <a:gd name="connsiteY57" fmla="*/ 413722 h 3122613"/>
              <a:gd name="connsiteX58" fmla="*/ 592363 w 12192001"/>
              <a:gd name="connsiteY58" fmla="*/ 370969 h 3122613"/>
              <a:gd name="connsiteX59" fmla="*/ 690015 w 12192001"/>
              <a:gd name="connsiteY59" fmla="*/ 370969 h 3122613"/>
              <a:gd name="connsiteX60" fmla="*/ 690015 w 12192001"/>
              <a:gd name="connsiteY60" fmla="*/ 335496 h 3122613"/>
              <a:gd name="connsiteX61" fmla="*/ 0 w 12192001"/>
              <a:gd name="connsiteY61" fmla="*/ 0 h 3122613"/>
              <a:gd name="connsiteX62" fmla="*/ 12192001 w 12192001"/>
              <a:gd name="connsiteY62" fmla="*/ 0 h 3122613"/>
              <a:gd name="connsiteX63" fmla="*/ 12192001 w 12192001"/>
              <a:gd name="connsiteY63" fmla="*/ 3122613 h 3122613"/>
              <a:gd name="connsiteX64" fmla="*/ 0 w 12192001"/>
              <a:gd name="connsiteY64" fmla="*/ 3122613 h 3122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1" h="3122613">
                <a:moveTo>
                  <a:pt x="767072" y="371000"/>
                </a:moveTo>
                <a:lnTo>
                  <a:pt x="799951" y="371000"/>
                </a:lnTo>
                <a:cubicBezTo>
                  <a:pt x="804815" y="371000"/>
                  <a:pt x="809464" y="371276"/>
                  <a:pt x="813959" y="371799"/>
                </a:cubicBezTo>
                <a:cubicBezTo>
                  <a:pt x="818453" y="372321"/>
                  <a:pt x="822394" y="373365"/>
                  <a:pt x="825811" y="374901"/>
                </a:cubicBezTo>
                <a:cubicBezTo>
                  <a:pt x="829228" y="376436"/>
                  <a:pt x="831969" y="378586"/>
                  <a:pt x="834031" y="381381"/>
                </a:cubicBezTo>
                <a:cubicBezTo>
                  <a:pt x="836094" y="384176"/>
                  <a:pt x="837140" y="387831"/>
                  <a:pt x="837140" y="392376"/>
                </a:cubicBezTo>
                <a:cubicBezTo>
                  <a:pt x="837140" y="396922"/>
                  <a:pt x="836094" y="400577"/>
                  <a:pt x="834031" y="403372"/>
                </a:cubicBezTo>
                <a:lnTo>
                  <a:pt x="834031" y="403341"/>
                </a:lnTo>
                <a:cubicBezTo>
                  <a:pt x="831969" y="406136"/>
                  <a:pt x="829228" y="408316"/>
                  <a:pt x="825811" y="409821"/>
                </a:cubicBezTo>
                <a:cubicBezTo>
                  <a:pt x="822394" y="411357"/>
                  <a:pt x="818453" y="412401"/>
                  <a:pt x="813959" y="412923"/>
                </a:cubicBezTo>
                <a:cubicBezTo>
                  <a:pt x="809464" y="413446"/>
                  <a:pt x="804785" y="413722"/>
                  <a:pt x="799951" y="413722"/>
                </a:cubicBezTo>
                <a:lnTo>
                  <a:pt x="767072" y="413722"/>
                </a:lnTo>
                <a:close/>
                <a:moveTo>
                  <a:pt x="1073698" y="335496"/>
                </a:moveTo>
                <a:lnTo>
                  <a:pt x="1073698" y="527421"/>
                </a:lnTo>
                <a:lnTo>
                  <a:pt x="1212850" y="527421"/>
                </a:lnTo>
                <a:lnTo>
                  <a:pt x="1212850" y="491948"/>
                </a:lnTo>
                <a:lnTo>
                  <a:pt x="1115167" y="491948"/>
                </a:lnTo>
                <a:lnTo>
                  <a:pt x="1115167" y="335496"/>
                </a:lnTo>
                <a:close/>
                <a:moveTo>
                  <a:pt x="904469" y="335496"/>
                </a:moveTo>
                <a:lnTo>
                  <a:pt x="904469" y="413722"/>
                </a:lnTo>
                <a:lnTo>
                  <a:pt x="945968" y="413722"/>
                </a:lnTo>
                <a:lnTo>
                  <a:pt x="945968" y="449195"/>
                </a:lnTo>
                <a:lnTo>
                  <a:pt x="904469" y="449195"/>
                </a:lnTo>
                <a:lnTo>
                  <a:pt x="904469" y="527421"/>
                </a:lnTo>
                <a:lnTo>
                  <a:pt x="945969" y="527421"/>
                </a:lnTo>
                <a:lnTo>
                  <a:pt x="945969" y="449195"/>
                </a:lnTo>
                <a:lnTo>
                  <a:pt x="1035278" y="449195"/>
                </a:lnTo>
                <a:lnTo>
                  <a:pt x="1035278" y="413722"/>
                </a:lnTo>
                <a:lnTo>
                  <a:pt x="945969" y="413722"/>
                </a:lnTo>
                <a:lnTo>
                  <a:pt x="945969" y="370969"/>
                </a:lnTo>
                <a:lnTo>
                  <a:pt x="1043652" y="370969"/>
                </a:lnTo>
                <a:lnTo>
                  <a:pt x="1043652" y="335496"/>
                </a:lnTo>
                <a:close/>
                <a:moveTo>
                  <a:pt x="725542" y="335496"/>
                </a:moveTo>
                <a:lnTo>
                  <a:pt x="725542" y="527421"/>
                </a:lnTo>
                <a:lnTo>
                  <a:pt x="767041" y="527421"/>
                </a:lnTo>
                <a:lnTo>
                  <a:pt x="767041" y="449195"/>
                </a:lnTo>
                <a:lnTo>
                  <a:pt x="811496" y="449195"/>
                </a:lnTo>
                <a:cubicBezTo>
                  <a:pt x="823533" y="449195"/>
                  <a:pt x="833754" y="447598"/>
                  <a:pt x="842220" y="444343"/>
                </a:cubicBezTo>
                <a:cubicBezTo>
                  <a:pt x="850656" y="441118"/>
                  <a:pt x="857521" y="436849"/>
                  <a:pt x="862847" y="431566"/>
                </a:cubicBezTo>
                <a:cubicBezTo>
                  <a:pt x="868142" y="426283"/>
                  <a:pt x="872021" y="420202"/>
                  <a:pt x="874422" y="413322"/>
                </a:cubicBezTo>
                <a:cubicBezTo>
                  <a:pt x="876854" y="406443"/>
                  <a:pt x="878055" y="399471"/>
                  <a:pt x="878055" y="392346"/>
                </a:cubicBezTo>
                <a:cubicBezTo>
                  <a:pt x="878055" y="385220"/>
                  <a:pt x="876854" y="378033"/>
                  <a:pt x="874422" y="371246"/>
                </a:cubicBezTo>
                <a:cubicBezTo>
                  <a:pt x="871990" y="364458"/>
                  <a:pt x="868142" y="358408"/>
                  <a:pt x="862847" y="353125"/>
                </a:cubicBezTo>
                <a:cubicBezTo>
                  <a:pt x="857552" y="347843"/>
                  <a:pt x="850686" y="343574"/>
                  <a:pt x="842220" y="340349"/>
                </a:cubicBezTo>
                <a:cubicBezTo>
                  <a:pt x="833785" y="337124"/>
                  <a:pt x="823533" y="335496"/>
                  <a:pt x="811496" y="335496"/>
                </a:cubicBezTo>
                <a:close/>
                <a:moveTo>
                  <a:pt x="550863" y="335496"/>
                </a:moveTo>
                <a:lnTo>
                  <a:pt x="550863" y="413722"/>
                </a:lnTo>
                <a:lnTo>
                  <a:pt x="592363" y="413722"/>
                </a:lnTo>
                <a:lnTo>
                  <a:pt x="592363" y="449195"/>
                </a:lnTo>
                <a:lnTo>
                  <a:pt x="550863" y="449195"/>
                </a:lnTo>
                <a:lnTo>
                  <a:pt x="550863" y="527421"/>
                </a:lnTo>
                <a:lnTo>
                  <a:pt x="690015" y="527421"/>
                </a:lnTo>
                <a:lnTo>
                  <a:pt x="690015" y="491948"/>
                </a:lnTo>
                <a:lnTo>
                  <a:pt x="592363" y="491948"/>
                </a:lnTo>
                <a:lnTo>
                  <a:pt x="592363" y="449195"/>
                </a:lnTo>
                <a:lnTo>
                  <a:pt x="681672" y="449195"/>
                </a:lnTo>
                <a:lnTo>
                  <a:pt x="681672" y="413722"/>
                </a:lnTo>
                <a:lnTo>
                  <a:pt x="592363" y="413722"/>
                </a:lnTo>
                <a:lnTo>
                  <a:pt x="592363" y="370969"/>
                </a:lnTo>
                <a:lnTo>
                  <a:pt x="690015" y="370969"/>
                </a:lnTo>
                <a:lnTo>
                  <a:pt x="690015" y="335496"/>
                </a:lnTo>
                <a:close/>
                <a:moveTo>
                  <a:pt x="0" y="0"/>
                </a:moveTo>
                <a:lnTo>
                  <a:pt x="12192001" y="0"/>
                </a:lnTo>
                <a:lnTo>
                  <a:pt x="12192001" y="3122613"/>
                </a:lnTo>
                <a:lnTo>
                  <a:pt x="0" y="312261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4295775" y="4002665"/>
            <a:ext cx="7345362" cy="2523971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00" y="3161608"/>
            <a:ext cx="3625313" cy="3037117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50" name="Espace réservé de la date 49">
            <a:extLst>
              <a:ext uri="{FF2B5EF4-FFF2-40B4-BE49-F238E27FC236}">
                <a16:creationId xmlns:a16="http://schemas.microsoft.com/office/drawing/2014/main" id="{1F58FB1B-3FCB-DC0A-985A-A79C7796D0E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51" name="Espace réservé du pied de page 50">
            <a:extLst>
              <a:ext uri="{FF2B5EF4-FFF2-40B4-BE49-F238E27FC236}">
                <a16:creationId xmlns:a16="http://schemas.microsoft.com/office/drawing/2014/main" id="{FCBC8351-192B-9FDA-B249-F979A12D1B6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2" name="Espace réservé du numéro de diapositive 51">
            <a:extLst>
              <a:ext uri="{FF2B5EF4-FFF2-40B4-BE49-F238E27FC236}">
                <a16:creationId xmlns:a16="http://schemas.microsoft.com/office/drawing/2014/main" id="{0A5A4FBE-7267-1A29-AF9C-9A2954CFE7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91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7BDFDB8-5D94-8AAC-B64A-A9FB976C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969540E-0813-FBAC-C0A6-0D971B48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1E5FCE-1EB9-A21D-4086-BD23BB30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658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D68D3A-BE52-3CFA-EEBB-E265EA02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814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D4A1D4-4D59-C98D-B14C-603DAF099D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1632" y="4213160"/>
            <a:ext cx="6549224" cy="1236948"/>
          </a:xfrm>
        </p:spPr>
        <p:txBody>
          <a:bodyPr anchor="t">
            <a:normAutofit/>
          </a:bodyPr>
          <a:lstStyle>
            <a:lvl1pPr algn="l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461EB-F85C-B02A-124B-8663D3F1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EPFL AT A GLANCE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F06045-4045-E22A-2DBF-CF2C672B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FFAF1D-DB53-DE23-A6BD-5A40B747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E2D7-8BAB-964D-ABC0-59BC6355B452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7D5E237-4009-C2DC-494E-9DD7C05BB6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8288" y="259289"/>
            <a:ext cx="5522976" cy="538989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3426D41-9688-0E5E-A010-1A0EA10502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4688" y="2670027"/>
            <a:ext cx="5522976" cy="544434"/>
          </a:xfrm>
          <a:prstGeom prst="rect">
            <a:avLst/>
          </a:prstGeom>
        </p:spPr>
      </p:pic>
      <p:pic>
        <p:nvPicPr>
          <p:cNvPr id="3" name="Grafik 10">
            <a:extLst>
              <a:ext uri="{FF2B5EF4-FFF2-40B4-BE49-F238E27FC236}">
                <a16:creationId xmlns:a16="http://schemas.microsoft.com/office/drawing/2014/main" id="{B6C66B92-FF65-9929-6438-1268DC8926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8263" y="3520887"/>
            <a:ext cx="5805489" cy="36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04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Relationship Id="rId43" Type="http://schemas.openxmlformats.org/officeDocument/2006/relationships/image" Target="../media/image1.png"/><Relationship Id="rId4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6000" y="635473"/>
            <a:ext cx="4537075" cy="2106613"/>
          </a:xfrm>
          <a:prstGeom prst="rect">
            <a:avLst/>
          </a:prstGeom>
        </p:spPr>
        <p:txBody>
          <a:bodyPr vert="horz" lIns="0" tIns="180000" rIns="0" bIns="0" rtlCol="0" anchor="t">
            <a:normAutofit/>
          </a:bodyPr>
          <a:lstStyle/>
          <a:p>
            <a:r>
              <a:rPr lang="en-GB" noProof="0" dirty="0" err="1"/>
              <a:t>Modifiez</a:t>
            </a:r>
            <a:r>
              <a:rPr lang="en-GB" noProof="0" dirty="0"/>
              <a:t> le style du titre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2400" y="2084388"/>
            <a:ext cx="6408737" cy="4440237"/>
          </a:xfrm>
          <a:prstGeom prst="rect">
            <a:avLst/>
          </a:prstGeom>
        </p:spPr>
        <p:txBody>
          <a:bodyPr vert="horz" lIns="36000" tIns="46800" rIns="36000" bIns="45720" rtlCol="0">
            <a:normAutofit/>
          </a:bodyPr>
          <a:lstStyle/>
          <a:p>
            <a:pPr lvl="0"/>
            <a:r>
              <a:rPr lang="en-GB" noProof="0" dirty="0"/>
              <a:t>Modifier les styles du </a:t>
            </a:r>
            <a:r>
              <a:rPr lang="en-GB" noProof="0" dirty="0" err="1"/>
              <a:t>texte</a:t>
            </a:r>
            <a:r>
              <a:rPr lang="en-GB" noProof="0" dirty="0"/>
              <a:t> du masque</a:t>
            </a:r>
          </a:p>
          <a:p>
            <a:pPr lvl="1"/>
            <a:r>
              <a:rPr lang="en-GB" noProof="0" dirty="0"/>
              <a:t>Deuxième </a:t>
            </a:r>
            <a:r>
              <a:rPr lang="en-GB" noProof="0" dirty="0" err="1"/>
              <a:t>niveau</a:t>
            </a:r>
            <a:endParaRPr lang="en-GB" noProof="0" dirty="0"/>
          </a:p>
          <a:p>
            <a:pPr lvl="2"/>
            <a:r>
              <a:rPr lang="en-GB" noProof="0" dirty="0" err="1"/>
              <a:t>Troisième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r>
              <a:rPr lang="en-GB" noProof="0" dirty="0"/>
              <a:t>
</a:t>
            </a:r>
            <a:r>
              <a:rPr lang="en-GB" noProof="0" dirty="0" err="1"/>
              <a:t>Quatrième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r>
              <a:rPr lang="en-GB" noProof="0" dirty="0"/>
              <a:t>
</a:t>
            </a:r>
            <a:r>
              <a:rPr lang="en-GB" noProof="0" dirty="0" err="1"/>
              <a:t>Cinquième</a:t>
            </a:r>
            <a:r>
              <a:rPr lang="en-GB" noProof="0" dirty="0"/>
              <a:t> </a:t>
            </a:r>
            <a:r>
              <a:rPr lang="en-GB" noProof="0" dirty="0" err="1"/>
              <a:t>niveau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32638" y="317500"/>
            <a:ext cx="3868422" cy="214830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r">
              <a:defRPr sz="700" b="1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/>
              <a:t>EPFL AT A GLANCE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32639" y="432364"/>
            <a:ext cx="3868422" cy="225104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r">
              <a:defRPr sz="7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485" y="-12704"/>
            <a:ext cx="683683" cy="882252"/>
          </a:xfrm>
          <a:prstGeom prst="rect">
            <a:avLst/>
          </a:prstGeom>
        </p:spPr>
        <p:txBody>
          <a:bodyPr vert="horz" lIns="90000" tIns="0" rIns="0" bIns="0" rtlCol="0" anchor="ctr" anchorCtr="0"/>
          <a:lstStyle>
            <a:lvl1pPr algn="r">
              <a:defRPr sz="2100" b="1">
                <a:solidFill>
                  <a:schemeClr val="tx2"/>
                </a:solidFill>
                <a:latin typeface="+mn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EDBD709-C136-495B-58C2-E2313268EB8B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473122" y="253458"/>
            <a:ext cx="822318" cy="35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703" r:id="rId3"/>
    <p:sldLayoutId id="2147483704" r:id="rId4"/>
    <p:sldLayoutId id="2147483705" r:id="rId5"/>
    <p:sldLayoutId id="2147483706" r:id="rId6"/>
    <p:sldLayoutId id="2147483711" r:id="rId7"/>
    <p:sldLayoutId id="2147483692" r:id="rId8"/>
    <p:sldLayoutId id="2147483708" r:id="rId9"/>
    <p:sldLayoutId id="2147483707" r:id="rId10"/>
    <p:sldLayoutId id="2147483715" r:id="rId11"/>
    <p:sldLayoutId id="2147483709" r:id="rId12"/>
    <p:sldLayoutId id="2147483721" r:id="rId13"/>
    <p:sldLayoutId id="2147483662" r:id="rId14"/>
    <p:sldLayoutId id="2147483696" r:id="rId15"/>
    <p:sldLayoutId id="2147483674" r:id="rId16"/>
    <p:sldLayoutId id="2147483675" r:id="rId17"/>
    <p:sldLayoutId id="2147483682" r:id="rId18"/>
    <p:sldLayoutId id="2147483664" r:id="rId19"/>
    <p:sldLayoutId id="2147483722" r:id="rId20"/>
    <p:sldLayoutId id="2147483710" r:id="rId21"/>
    <p:sldLayoutId id="2147483702" r:id="rId22"/>
    <p:sldLayoutId id="2147483720" r:id="rId23"/>
    <p:sldLayoutId id="2147483693" r:id="rId24"/>
    <p:sldLayoutId id="2147483694" r:id="rId25"/>
    <p:sldLayoutId id="2147483666" r:id="rId26"/>
    <p:sldLayoutId id="2147483678" r:id="rId27"/>
    <p:sldLayoutId id="2147483688" r:id="rId28"/>
    <p:sldLayoutId id="2147483690" r:id="rId29"/>
    <p:sldLayoutId id="2147483719" r:id="rId30"/>
    <p:sldLayoutId id="2147483686" r:id="rId31"/>
    <p:sldLayoutId id="2147483689" r:id="rId32"/>
    <p:sldLayoutId id="2147483695" r:id="rId33"/>
    <p:sldLayoutId id="2147483691" r:id="rId34"/>
    <p:sldLayoutId id="2147483679" r:id="rId35"/>
    <p:sldLayoutId id="2147483697" r:id="rId36"/>
    <p:sldLayoutId id="2147483701" r:id="rId37"/>
    <p:sldLayoutId id="2147483667" r:id="rId38"/>
    <p:sldLayoutId id="2147483713" r:id="rId39"/>
    <p:sldLayoutId id="2147483714" r:id="rId40"/>
    <p:sldLayoutId id="2147483886" r:id="rId4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000" spc="-150" baseline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90000"/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47675" indent="-157163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2133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63588" indent="-225425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90000"/>
        <a:buFont typeface="Wingdings" pitchFamily="2" charset="2"/>
        <a:buChar char="§"/>
        <a:tabLst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pos="3885" userDrawn="1">
          <p15:clr>
            <a:srgbClr val="F26B43"/>
          </p15:clr>
        </p15:guide>
        <p15:guide id="5" orient="horz" pos="210" userDrawn="1">
          <p15:clr>
            <a:srgbClr val="F26B43"/>
          </p15:clr>
        </p15:guide>
        <p15:guide id="6" orient="horz" pos="4110" userDrawn="1">
          <p15:clr>
            <a:srgbClr val="F26B43"/>
          </p15:clr>
        </p15:guide>
        <p15:guide id="7" pos="846" userDrawn="1">
          <p15:clr>
            <a:srgbClr val="F26B43"/>
          </p15:clr>
        </p15:guide>
        <p15:guide id="8" userDrawn="1">
          <p15:clr>
            <a:srgbClr val="F26B43"/>
          </p15:clr>
        </p15:guide>
        <p15:guide id="10" pos="4384" userDrawn="1">
          <p15:clr>
            <a:srgbClr val="F26B43"/>
          </p15:clr>
        </p15:guide>
        <p15:guide id="11" pos="4475" userDrawn="1">
          <p15:clr>
            <a:srgbClr val="F26B43"/>
          </p15:clr>
        </p15:guide>
        <p15:guide id="12" pos="4974" userDrawn="1">
          <p15:clr>
            <a:srgbClr val="F26B43"/>
          </p15:clr>
        </p15:guide>
        <p15:guide id="13" pos="5065" userDrawn="1">
          <p15:clr>
            <a:srgbClr val="F26B43"/>
          </p15:clr>
        </p15:guide>
        <p15:guide id="14" pos="6834" userDrawn="1">
          <p15:clr>
            <a:srgbClr val="F26B43"/>
          </p15:clr>
        </p15:guide>
        <p15:guide id="15" orient="horz" pos="550" userDrawn="1">
          <p15:clr>
            <a:srgbClr val="F26B43"/>
          </p15:clr>
        </p15:guide>
        <p15:guide id="16" orient="horz" pos="1313" userDrawn="1">
          <p15:clr>
            <a:srgbClr val="F26B43"/>
          </p15:clr>
        </p15:guide>
        <p15:guide id="17" orient="horz" pos="1967" userDrawn="1">
          <p15:clr>
            <a:srgbClr val="F26B43"/>
          </p15:clr>
        </p15:guide>
        <p15:guide id="18" orient="horz" pos="2616" userDrawn="1">
          <p15:clr>
            <a:srgbClr val="F26B43"/>
          </p15:clr>
        </p15:guide>
        <p15:guide id="19" orient="horz" pos="3277" userDrawn="1">
          <p15:clr>
            <a:srgbClr val="F26B43"/>
          </p15:clr>
        </p15:guide>
        <p15:guide id="20" orient="horz" pos="4320" userDrawn="1">
          <p15:clr>
            <a:srgbClr val="F26B43"/>
          </p15:clr>
        </p15:guide>
        <p15:guide id="21" pos="7333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937" userDrawn="1">
          <p15:clr>
            <a:srgbClr val="F26B43"/>
          </p15:clr>
        </p15:guide>
        <p15:guide id="24" pos="1436" userDrawn="1">
          <p15:clr>
            <a:srgbClr val="F26B43"/>
          </p15:clr>
        </p15:guide>
        <p15:guide id="25" pos="1527" userDrawn="1">
          <p15:clr>
            <a:srgbClr val="F26B43"/>
          </p15:clr>
        </p15:guide>
        <p15:guide id="26" pos="2026" userDrawn="1">
          <p15:clr>
            <a:srgbClr val="F26B43"/>
          </p15:clr>
        </p15:guide>
        <p15:guide id="27" pos="2116" userDrawn="1">
          <p15:clr>
            <a:srgbClr val="F26B43"/>
          </p15:clr>
        </p15:guide>
        <p15:guide id="28" pos="2615" userDrawn="1">
          <p15:clr>
            <a:srgbClr val="F26B43"/>
          </p15:clr>
        </p15:guide>
        <p15:guide id="29" pos="2706" userDrawn="1">
          <p15:clr>
            <a:srgbClr val="F26B43"/>
          </p15:clr>
        </p15:guide>
        <p15:guide id="30" pos="3205" userDrawn="1">
          <p15:clr>
            <a:srgbClr val="F26B43"/>
          </p15:clr>
        </p15:guide>
        <p15:guide id="31" pos="3296" userDrawn="1">
          <p15:clr>
            <a:srgbClr val="F26B43"/>
          </p15:clr>
        </p15:guide>
        <p15:guide id="32" pos="3795" userDrawn="1">
          <p15:clr>
            <a:srgbClr val="F26B43"/>
          </p15:clr>
        </p15:guide>
        <p15:guide id="33" pos="5564" userDrawn="1">
          <p15:clr>
            <a:srgbClr val="F26B43"/>
          </p15:clr>
        </p15:guide>
        <p15:guide id="34" pos="5654" userDrawn="1">
          <p15:clr>
            <a:srgbClr val="F26B43"/>
          </p15:clr>
        </p15:guide>
        <p15:guide id="35" pos="6153" userDrawn="1">
          <p15:clr>
            <a:srgbClr val="F26B43"/>
          </p15:clr>
        </p15:guide>
        <p15:guide id="36" pos="6244" userDrawn="1">
          <p15:clr>
            <a:srgbClr val="F26B43"/>
          </p15:clr>
        </p15:guide>
        <p15:guide id="37" pos="674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4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070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MASTER THESIS  · 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27632"/>
            <a:ext cx="111831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413C3A"/>
                </a:solidFill>
                <a:latin typeface="Arial"/>
              </a:rPr>
              <a:t>Graph Neural Networks for Decentralized
Multi-Agent Reinforcement Learning in
Power-Grid Topology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3639312"/>
            <a:ext cx="1417320" cy="41148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968496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413C3A"/>
                </a:solidFill>
                <a:latin typeface="Arial"/>
              </a:rPr>
              <a:t>Corentin Plumet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98848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Supervisors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Prof. Fink · Prof. Peng · Dr. Nejjar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Environment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Grid2Op / L2RPN  ·  built on MARL2Grid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3968496"/>
            <a:ext cx="4462272" cy="1874519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42062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1" i="0">
                <a:solidFill>
                  <a:srgbClr val="24737F"/>
                </a:solidFill>
                <a:latin typeface="Arial"/>
              </a:rPr>
              <a:t>Can a decentralized graph policy trained on a 14-bus grid still control a 36-substation grid?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7A7674"/>
                </a:solidFill>
                <a:latin typeface="Arial"/>
              </a:rPr>
              <a:t>IEEE 14-bus  →  L2RPN WCCI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5232759E-1946-4D54-920C-2C6135198321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The argument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Topology control is nearly free flexibility — but every published policy is welded to the grid it was trained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93391"/>
            <a:ext cx="2679192" cy="388620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59152"/>
            <a:ext cx="21671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24737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118103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3C3A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685031"/>
            <a:ext cx="21671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413C3A"/>
                </a:solidFill>
                <a:latin typeface="Arial"/>
              </a:rPr>
              <a:t>Almost-free flexibility.
Combinatorial search.
Regional operation.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93391"/>
            <a:ext cx="2679192" cy="388620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359152"/>
            <a:ext cx="21671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4F8FCC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18103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3C3A"/>
                </a:solidFill>
                <a:latin typeface="Arial"/>
              </a:rPr>
              <a:t>The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685031"/>
            <a:ext cx="21671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413C3A"/>
                </a:solidFill>
                <a:latin typeface="Arial"/>
              </a:rPr>
              <a:t>State and action interface
both independent
of grid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93391"/>
            <a:ext cx="2679192" cy="388620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359152"/>
            <a:ext cx="21671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D0661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18103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3C3A"/>
                </a:solidFill>
                <a:latin typeface="Arial"/>
              </a:rPr>
              <a:t>The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85031"/>
            <a:ext cx="21671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413C3A"/>
                </a:solidFill>
                <a:latin typeface="Arial"/>
              </a:rPr>
              <a:t>bus14 → WCCI36.
Zero-shot, from scratch,
fine-tuned.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993391"/>
            <a:ext cx="2679192" cy="388620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2359152"/>
            <a:ext cx="21671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B51F1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3118103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3C3A"/>
                </a:solidFill>
                <a:latin typeface="Arial"/>
              </a:rPr>
              <a:t>The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685031"/>
            <a:ext cx="21671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>
                <a:solidFill>
                  <a:srgbClr val="413C3A"/>
                </a:solidFill>
                <a:latin typeface="Arial"/>
              </a:rPr>
              <a:t>Incomplete — but 3× do-nothing,
and better than retraining.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Ordered by what the evidence supports, not by how the work happened.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F543C2DC-9468-4A83-A0B6-42EB63D1305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How a topology action relieves an overload</a:t>
            </a:r>
          </a:p>
        </p:txBody>
      </p:sp>
      <p:pic>
        <p:nvPicPr>
          <p:cNvPr id="4" name="Picture 3" descr="topology_rel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0298"/>
            <a:ext cx="11185855" cy="4168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3C3A"/>
                </a:solidFill>
                <a:latin typeface="Arial"/>
              </a:rPr>
              <a:t>Same lines, same generation, same demand.  </a:t>
            </a:r>
            <a:r>
              <a:rPr sz="1700" b="1" i="0">
                <a:solidFill>
                  <a:srgbClr val="B51F1F"/>
                </a:solidFill>
                <a:latin typeface="Arial"/>
              </a:rPr>
              <a:t>Only the switch positions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1DDA9DEF-D2B7-4B6F-88D6-43CB874BDBFF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The problem,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Almost-free flexibility · an action space too large to search · a grid already operated region by region.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4737F"/>
                </a:solidFill>
                <a:latin typeface="Arial"/>
              </a:rPr>
              <a:t>1 ·  TOPOLOGY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0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Reconfigure busbars, not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74336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Marginal cost ≈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59551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Today: a short offline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B51F1F"/>
                </a:solidFill>
                <a:latin typeface="Arial"/>
              </a:rPr>
              <a:t>2 ·  TOO BIG TO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4389120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2</a:t>
            </a:r>
            <a:r>
              <a:rPr sz="1500" b="0" i="1" baseline="30000">
                <a:solidFill>
                  <a:srgbClr val="413C3A"/>
                </a:solidFill>
                <a:latin typeface="Arial"/>
              </a:rPr>
              <a:t>d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assignments per substation.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974336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Cooldowns couple decisions in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559551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→  Reinforcement learning.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6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8FCC"/>
                </a:solidFill>
                <a:latin typeface="Arial"/>
              </a:rPr>
              <a:t>3 ·  ALREADY REGIONAL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4389120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One control centre per region.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4974336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A central actor grows with the grid.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5559551"/>
            <a:ext cx="3630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413C3A"/>
                </a:solidFill>
                <a:latin typeface="Arial"/>
              </a:rPr>
              <a:t>CTDE: global critic, training only.</a:t>
            </a:r>
          </a:p>
        </p:txBody>
      </p:sp>
      <p:pic>
        <p:nvPicPr>
          <p:cNvPr id="17" name="Picture 16" descr="graph_busba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0835"/>
            <a:ext cx="3630168" cy="161340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315968" y="2240279"/>
            <a:ext cx="3630168" cy="1874519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633472"/>
            <a:ext cx="3355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>
                <a:solidFill>
                  <a:srgbClr val="24737F"/>
                </a:solidFill>
                <a:latin typeface="Arial"/>
              </a:rPr>
              <a:t>178</a:t>
            </a:r>
            <a:r>
              <a:rPr sz="2000" b="0" i="0">
                <a:solidFill>
                  <a:srgbClr val="7A7674"/>
                </a:solidFill>
                <a:latin typeface="Arial"/>
              </a:rPr>
              <a:t>   →   </a:t>
            </a:r>
            <a:r>
              <a:rPr sz="3200" b="1" i="0">
                <a:solidFill>
                  <a:srgbClr val="B51F1F"/>
                </a:solidFill>
                <a:latin typeface="Arial"/>
              </a:rPr>
              <a:t>66,965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337560"/>
            <a:ext cx="3355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7A7674"/>
                </a:solidFill>
                <a:latin typeface="Arial"/>
              </a:rPr>
              <a:t>bus14  →  WCCI36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666744"/>
            <a:ext cx="33558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unitary topology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2240279"/>
            <a:ext cx="3630168" cy="1874519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0184" y="2532887"/>
            <a:ext cx="322783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47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2624327"/>
            <a:ext cx="30083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4737F"/>
                </a:solidFill>
                <a:latin typeface="Arial"/>
              </a:rPr>
              <a:t>centralized critic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0184" y="3154679"/>
            <a:ext cx="99669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246120"/>
            <a:ext cx="996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13C3A"/>
                </a:solidFill>
                <a:latin typeface="Arial"/>
              </a:rPr>
              <a:t>actor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154679"/>
            <a:ext cx="99669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246120"/>
            <a:ext cx="996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13C3A"/>
                </a:solidFill>
                <a:latin typeface="Arial"/>
              </a:rPr>
              <a:t>actor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06456" y="3154679"/>
            <a:ext cx="99669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06456" y="3246120"/>
            <a:ext cx="996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413C3A"/>
                </a:solidFill>
                <a:latin typeface="Arial"/>
              </a:rPr>
              <a:t>actor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66674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critic discarded after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7220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Grid2Op / L2RPN supply the simulator, time series and operating rules · built on MARL2Grid: 3 agents on bus14, 52 / 50 / 76 non-idle actions · Fisher 2008, Viebahn 2022.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201113F6-2AA7-4864-8CF0-8B1EDA7E9F89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State of the art: four families, one shared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Existing methods shrink the search or coordinate centrally. None produces a policy you can move to another grid.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47672"/>
          <a:ext cx="11185853" cy="3474720"/>
        </p:xfrm>
        <a:graphic>
          <a:graphicData uri="http://schemas.openxmlformats.org/drawingml/2006/table">
            <a:tbl>
              <a:tblPr firstRow="0" bandRow="0"/>
              <a:tblGrid>
                <a:gridCol w="2125312"/>
                <a:gridCol w="2684605"/>
                <a:gridCol w="3355756"/>
                <a:gridCol w="3020180"/>
              </a:tblGrid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Representative work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Why it stays put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Single-agent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7A7674"/>
                          </a:solidFill>
                          <a:latin typeface="Arial"/>
                        </a:rPr>
                        <a:t>SMAAC · Subramanian 2021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Afterstate actor–critic, hierarchical where / how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Action space reduced or factorized per grid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Policy + heuristics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7A7674"/>
                          </a:solidFill>
                          <a:latin typeface="Arial"/>
                        </a:rPr>
                        <a:t>PowRL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Act only when loading is high; overload manager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The rule sits outside the policy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Hierarchical /
centrally coordinated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7A7674"/>
                          </a:solidFill>
                          <a:latin typeface="Arial"/>
                        </a:rPr>
                        <a:t>Manczak · van der Sar · de Mol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Split when / where / how; central arbitration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A component still sees the whole grid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Fully decentralized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>
                          <a:solidFill>
                            <a:srgbClr val="7A7674"/>
                          </a:solidFill>
                          <a:latin typeface="Arial"/>
                        </a:rPr>
                        <a:t>MARL2Grid  (starting point)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Local observations, no communication, no selector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413C3A"/>
                          </a:solidFill>
                          <a:latin typeface="Arial"/>
                        </a:rPr>
                        <a:t>Fixed-width actors welded to one grid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5216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B51F1F"/>
                </a:solidFill>
                <a:latin typeface="Arial"/>
              </a:rPr>
              <a:t>The gap.  </a:t>
            </a:r>
            <a:r>
              <a:rPr sz="1600" b="0" i="0">
                <a:solidFill>
                  <a:srgbClr val="413C3A"/>
                </a:solidFill>
                <a:latin typeface="Arial"/>
              </a:rPr>
              <a:t>A graph encoder frees the </a:t>
            </a:r>
            <a:r>
              <a:rPr sz="1600" b="1" i="0">
                <a:solidFill>
                  <a:srgbClr val="413C3A"/>
                </a:solidFill>
                <a:latin typeface="Arial"/>
              </a:rPr>
              <a:t>state</a:t>
            </a:r>
            <a:r>
              <a:rPr sz="1600" b="0" i="0">
                <a:solidFill>
                  <a:srgbClr val="413C3A"/>
                </a:solidFill>
                <a:latin typeface="Arial"/>
              </a:rPr>
              <a:t> from grid size. The </a:t>
            </a:r>
            <a:r>
              <a:rPr sz="1600" b="1" i="0">
                <a:solidFill>
                  <a:srgbClr val="413C3A"/>
                </a:solidFill>
                <a:latin typeface="Arial"/>
              </a:rPr>
              <a:t>action interface</a:t>
            </a:r>
            <a:r>
              <a:rPr sz="1600" b="0" i="0">
                <a:solidFill>
                  <a:srgbClr val="413C3A"/>
                </a:solidFill>
                <a:latin typeface="Arial"/>
              </a:rPr>
              <a:t> — one output row per action index — does 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034C797-7851-402B-8AE5-66F8973E6F66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One encoder, two levels of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A GNN is size-invariant — and regions of comparable size make the same encoder work across grids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5623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4737F"/>
                </a:solidFill>
                <a:latin typeface="Arial"/>
              </a:rPr>
              <a:t>bus14  ·  3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21991"/>
            <a:ext cx="80467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22576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13C3A"/>
                </a:solidFill>
                <a:latin typeface="Arial"/>
              </a:rPr>
              <a:t>agent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21991"/>
            <a:ext cx="80467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22576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13C3A"/>
                </a:solidFill>
                <a:latin typeface="Arial"/>
              </a:rPr>
              <a:t>agent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221991"/>
            <a:ext cx="80467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2322576"/>
            <a:ext cx="804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13C3A"/>
                </a:solidFill>
                <a:latin typeface="Arial"/>
              </a:rPr>
              <a:t>agent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56231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B51F1F"/>
                </a:solidFill>
                <a:latin typeface="Arial"/>
              </a:rPr>
              <a:t>WCCI36  ·  4 regions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221991"/>
            <a:ext cx="71323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322576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13C3A"/>
                </a:solidFill>
                <a:latin typeface="Arial"/>
              </a:rPr>
              <a:t>agent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2221991"/>
            <a:ext cx="71323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2322576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13C3A"/>
                </a:solidFill>
                <a:latin typeface="Arial"/>
              </a:rPr>
              <a:t>agent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77272" y="2221991"/>
            <a:ext cx="71323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322576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13C3A"/>
                </a:solidFill>
                <a:latin typeface="Arial"/>
              </a:rPr>
              <a:t>agent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45367" y="2221991"/>
            <a:ext cx="71323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45367" y="2322576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413C3A"/>
                </a:solidFill>
                <a:latin typeface="Arial"/>
              </a:rPr>
              <a:t>agent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2112263"/>
            <a:ext cx="4160520" cy="713232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 w="12700">
            <a:solidFill>
              <a:srgbClr val="247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0208" y="2221991"/>
            <a:ext cx="38496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4737F"/>
                </a:solidFill>
                <a:latin typeface="Arial"/>
              </a:rPr>
              <a:t>ONE SHARED GNN 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2514600"/>
            <a:ext cx="3849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7A7674"/>
                </a:solidFill>
                <a:latin typeface="Arial"/>
              </a:rPr>
              <a:t>invariant to node and edge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2258568"/>
            <a:ext cx="530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7A7674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2258568"/>
            <a:ext cx="530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7A7674"/>
                </a:solidFill>
                <a:latin typeface="Arial"/>
              </a:rP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6207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1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same weights for every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62072"/>
            <a:ext cx="3867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2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same weights on the other 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82696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Regions are the same order of size — 4–6 substations on bus14, 5–17 on WCCI36 — so the encoder always reads a local graph, never a whole grid of 14 against 36.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31920"/>
            <a:ext cx="548640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47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33087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4737F"/>
                </a:solidFill>
                <a:latin typeface="Arial"/>
              </a:rPr>
              <a:t>THE STATE TRANSFERS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35424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50" b="0" i="0">
                <a:solidFill>
                  <a:srgbClr val="413C3A"/>
                </a:solidFill>
                <a:latin typeface="Arial"/>
              </a:rPr>
              <a:t>One weight set reads any local graph, on either grid.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24737F"/>
                </a:solidFill>
                <a:latin typeface="Arial"/>
              </a:rPr>
              <a:t>→  the bus14 encoder loads on WCCI36 unchanged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931920"/>
            <a:ext cx="5486400" cy="1737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5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133087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B51F1F"/>
                </a:solidFill>
                <a:latin typeface="Arial"/>
              </a:rPr>
              <a:t>THE ACTION HEAD DOES NOT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535424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50" b="0" i="0">
                <a:solidFill>
                  <a:srgbClr val="413C3A"/>
                </a:solidFill>
                <a:latin typeface="Arial"/>
              </a:rPr>
              <a:t>One output row per action index, and |A| differs by agent and by grid.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B51F1F"/>
                </a:solidFill>
                <a:latin typeface="Arial"/>
              </a:rPr>
              <a:t>→  score actions in a way independent of |A|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9788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Third condition, separately: the same channel must carry a comparable number on both grids.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247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98CA08DF-E0B8-4809-A849-A83713DC4E58}" type="slidenum">
              <a:rPr sz="1700" b="1">
                <a:solidFill>
                  <a:srgbClr val="FFFFFF"/>
                </a:solidFill>
                <a:latin typeface="Arial"/>
              </a:rPr>
              <a:t>0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8FC6CB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Designing a policy that can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CFE6E9"/>
                </a:solidFill>
                <a:latin typeface="Arial"/>
              </a:rPr>
              <a:t>The two mechanisms that let one set of weights read a different grid — and the input transformation that makes the numbers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395728"/>
            <a:ext cx="25603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1.  The problem and the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2.  Designing a policy that can move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3.  Does it cross grids?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4.  What it 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CFF9230-0779-4A6C-90FE-DA3125BB0B68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Method I — one shared encoder, one local graph per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The state stops depending on grid size: the same weights read any local neighbourhood.</a:t>
            </a:r>
          </a:p>
        </p:txBody>
      </p:sp>
      <p:pic>
        <p:nvPicPr>
          <p:cNvPr id="5" name="Picture 4" descr="graph_act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7260"/>
            <a:ext cx="7086600" cy="3112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532120"/>
            <a:ext cx="7086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Local graph → active-edge filtering → shared GINE encoder → readout → agent-specific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38679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Local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67508"/>
            <a:ext cx="386791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Own substations and every line touching them. Across a boundary: the shared line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803017"/>
            <a:ext cx="38679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Dynamic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96006"/>
            <a:ext cx="386791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Fixed tensor shape; inactive edges dropped before message passing.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731514"/>
            <a:ext cx="38679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Shared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024503"/>
            <a:ext cx="386791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One encoder for every agent; only the action head is agent-specific.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660011"/>
            <a:ext cx="38679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Centralized critic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53000"/>
            <a:ext cx="386791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A separate MLP over the global state, discarded after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82512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What the graph and the encoder can be: next two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FD793153-062B-496E-83DB-C27440D4158E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Three graph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How much of the substation the encoder actually sees — and what that leaves visible across a regional boundary.</a:t>
            </a:r>
          </a:p>
        </p:txBody>
      </p:sp>
      <p:pic>
        <p:nvPicPr>
          <p:cNvPr id="5" name="Picture 4" descr="graph_busba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7623"/>
            <a:ext cx="3630168" cy="1613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520439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413C3A"/>
                </a:solidFill>
                <a:latin typeface="Arial"/>
              </a:rPr>
              <a:t>Busbar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94760"/>
            <a:ext cx="3630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one node per busbar; power summed onto it</a:t>
            </a:r>
          </a:p>
        </p:txBody>
      </p:sp>
      <p:pic>
        <p:nvPicPr>
          <p:cNvPr id="8" name="Picture 7" descr="graph_heterogeneous_equip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817623"/>
            <a:ext cx="3630168" cy="16134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5968" y="3520439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413C3A"/>
                </a:solidFill>
                <a:latin typeface="Arial"/>
              </a:rPr>
              <a:t>Disaggregated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3794760"/>
            <a:ext cx="3630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generators and loads become their own nodes</a:t>
            </a:r>
          </a:p>
        </p:txBody>
      </p:sp>
      <p:pic>
        <p:nvPicPr>
          <p:cNvPr id="11" name="Picture 10" descr="graph_heterogeneous_line_n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817623"/>
            <a:ext cx="3630168" cy="16134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9016" y="3520439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>
                <a:solidFill>
                  <a:srgbClr val="B51F1F"/>
                </a:solidFill>
                <a:latin typeface="Arial"/>
              </a:rPr>
              <a:t>Line-node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6" y="3794760"/>
            <a:ext cx="3630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every transmission line becomes a node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617720"/>
          <a:ext cx="11185854" cy="1463040"/>
        </p:xfrm>
        <a:graphic>
          <a:graphicData uri="http://schemas.openxmlformats.org/drawingml/2006/table">
            <a:tbl>
              <a:tblPr firstRow="0" bandRow="0"/>
              <a:tblGrid>
                <a:gridCol w="2460888"/>
                <a:gridCol w="872496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>
                          <a:solidFill>
                            <a:srgbClr val="7A767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>
                          <a:solidFill>
                            <a:srgbClr val="7A7674"/>
                          </a:solidFill>
                          <a:latin typeface="Arial"/>
                        </a:rPr>
                        <a:t>What a local actor sees of its neighbour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Busbar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the shared line and the far-end busbar, with its aggregated power and angle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Disaggregated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the shared line and the far-end busbar — but no neighbouring generator or load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B51F1F"/>
                          </a:solidFill>
                          <a:latin typeface="Arial"/>
                        </a:rPr>
                        <a:t>Line-node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the shared line node only — no neighbouring busbar, equipment or attachment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14476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B51F1F"/>
                </a:solidFill>
                <a:latin typeface="Arial"/>
              </a:rPr>
              <a:t>The line-node graph is the one carried into transfer: a boundary line stays addressable without constructing the neighbour's busbar.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434880B8-4D17-4203-86E7-7F4777D92D51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Three optional augmentations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Extra structure, zero extra measurement — and never extended into a neighbouring region.</a:t>
            </a:r>
          </a:p>
        </p:txBody>
      </p:sp>
      <p:pic>
        <p:nvPicPr>
          <p:cNvPr id="5" name="Picture 4" descr="graph_substation_augmen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8062"/>
            <a:ext cx="5806440" cy="3245882"/>
          </a:xfrm>
          <a:prstGeom prst="rect">
            <a:avLst/>
          </a:prstGeom>
        </p:spPr>
      </p:pic>
      <p:pic>
        <p:nvPicPr>
          <p:cNvPr id="6" name="Picture 5" descr="graph_virtual_rea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270511"/>
            <a:ext cx="5148072" cy="2545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38928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D0661C"/>
                </a:solidFill>
                <a:latin typeface="Arial"/>
              </a:rPr>
              <a:t>e</a:t>
            </a:r>
            <a:r>
              <a:rPr sz="1500" b="1" i="0">
                <a:solidFill>
                  <a:srgbClr val="413C3A"/>
                </a:solidFill>
                <a:latin typeface="Arial"/>
              </a:rPr>
              <a:t>  direct same-substation edge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     </a:t>
            </a:r>
            <a:r>
              <a:rPr sz="1500" b="1" i="0">
                <a:solidFill>
                  <a:srgbClr val="D0661C"/>
                </a:solidFill>
                <a:latin typeface="Arial"/>
              </a:rPr>
              <a:t>n</a:t>
            </a:r>
            <a:r>
              <a:rPr sz="1500" b="1" i="0">
                <a:solidFill>
                  <a:srgbClr val="413C3A"/>
                </a:solidFill>
                <a:latin typeface="Arial"/>
              </a:rPr>
              <a:t>  summary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9824"/>
            <a:ext cx="5806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The two busbars of a substation exchange messages in one hop, or in two through a learned hub.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The hub is initialised from structure only, not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5138928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12880"/>
                </a:solidFill>
                <a:latin typeface="Arial"/>
              </a:rPr>
              <a:t>v</a:t>
            </a:r>
            <a:r>
              <a:rPr sz="1500" b="1" i="0">
                <a:solidFill>
                  <a:srgbClr val="413C3A"/>
                </a:solidFill>
                <a:latin typeface="Arial"/>
              </a:rPr>
              <a:t>  virtual-node readout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5449824"/>
            <a:ext cx="51480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One learned node collects from the controlled busbars and replaces the readout entirely.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Edges point one way: it cannot send back into the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Three binary factors — the 2³ cells of Screen 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864E6C1A-749F-4DEC-B655-385E2D2134C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What the encoder can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Message-passing operator, capacity, and readout — the three knobs settled by Screens A, B and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4737F"/>
                </a:solidFill>
                <a:latin typeface="Arial"/>
              </a:rPr>
              <a:t>OPERATOR</a:t>
            </a:r>
            <a:r>
              <a:rPr sz="1150" b="0" i="0">
                <a:solidFill>
                  <a:srgbClr val="9B9795"/>
                </a:solidFill>
                <a:latin typeface="Arial"/>
              </a:rPr>
              <a:t>     screen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67127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31343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37F"/>
                </a:solidFill>
                <a:latin typeface="Arial"/>
              </a:rPr>
              <a:t>GINE</a:t>
            </a:r>
            <a:r>
              <a:rPr sz="1400" b="0" i="0">
                <a:solidFill>
                  <a:srgbClr val="7A7674"/>
                </a:solidFill>
                <a:latin typeface="Arial"/>
              </a:rPr>
              <a:t>   vs   </a:t>
            </a:r>
            <a:r>
              <a:rPr sz="1700" b="1" i="0">
                <a:solidFill>
                  <a:srgbClr val="7A7674"/>
                </a:solidFill>
                <a:latin typeface="Arial"/>
              </a:rPr>
              <a:t>GAT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7523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413C3A"/>
                </a:solidFill>
                <a:latin typeface="Arial"/>
              </a:rPr>
              <a:t>m</a:t>
            </a:r>
            <a:r>
              <a:rPr sz="1500" b="0" i="0" baseline="-25000">
                <a:solidFill>
                  <a:srgbClr val="413C3A"/>
                </a:solidFill>
                <a:latin typeface="Arial"/>
              </a:rPr>
              <a:t>u→v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= ReLU( h</a:t>
            </a:r>
            <a:r>
              <a:rPr sz="1500" b="0" i="1" baseline="-25000">
                <a:solidFill>
                  <a:srgbClr val="413C3A"/>
                </a:solidFill>
                <a:latin typeface="Arial"/>
              </a:rPr>
              <a:t>u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+ W</a:t>
            </a:r>
            <a:r>
              <a:rPr sz="1500" b="0" i="1" baseline="-25000">
                <a:solidFill>
                  <a:srgbClr val="413C3A"/>
                </a:solidFill>
                <a:latin typeface="Arial"/>
              </a:rPr>
              <a:t>e</a:t>
            </a:r>
            <a:r>
              <a:rPr sz="1500" b="0" i="1">
                <a:solidFill>
                  <a:srgbClr val="413C3A"/>
                </a:solidFill>
                <a:latin typeface="Arial"/>
              </a:rPr>
              <a:t>e</a:t>
            </a:r>
            <a:r>
              <a:rPr sz="1500" b="0" i="0" baseline="-25000">
                <a:solidFill>
                  <a:srgbClr val="413C3A"/>
                </a:solidFill>
                <a:latin typeface="Arial"/>
              </a:rPr>
              <a:t>uv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209544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Edge features enter every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F8FCC"/>
                </a:solidFill>
                <a:latin typeface="Arial"/>
              </a:rPr>
              <a:t>CAPACITY</a:t>
            </a:r>
            <a:r>
              <a:rPr sz="1150" b="0" i="0">
                <a:solidFill>
                  <a:srgbClr val="9B9795"/>
                </a:solidFill>
                <a:latin typeface="Arial"/>
              </a:rPr>
              <a:t>     screen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167127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642615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K=1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7" y="2624327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51575" y="2624327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9944" y="2624327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68312" y="2624327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3026663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K=2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3207" y="3008375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51575" y="3008375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3008375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68312" y="3008375"/>
            <a:ext cx="566928" cy="292608"/>
          </a:xfrm>
          <a:prstGeom prst="roundRect">
            <a:avLst>
              <a:gd name="adj" fmla="val 6000"/>
            </a:avLst>
          </a:prstGeom>
          <a:solidFill>
            <a:srgbClr val="247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3410711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K=3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3207" y="3392423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51575" y="3392423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3392423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68312" y="3392423"/>
            <a:ext cx="566928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93207" y="235000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1575" y="235000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35000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35000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7A7674"/>
                </a:solidFill>
                <a:latin typeface="Arial"/>
              </a:rPr>
              <a:t>128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99592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7A7674"/>
                </a:solidFill>
                <a:latin typeface="Arial"/>
              </a:rPr>
              <a:t>layers × width</a:t>
            </a:r>
            <a:r>
              <a:rPr sz="1250" b="1" i="0">
                <a:solidFill>
                  <a:srgbClr val="24737F"/>
                </a:solidFill>
                <a:latin typeface="Arial"/>
              </a:rPr>
              <a:t>     selected K = 2, width 128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9016" y="1856231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0661C"/>
                </a:solidFill>
                <a:latin typeface="Arial"/>
              </a:rPr>
              <a:t>READOUT</a:t>
            </a:r>
            <a:r>
              <a:rPr sz="1150" b="0" i="0">
                <a:solidFill>
                  <a:srgbClr val="9B9795"/>
                </a:solidFill>
                <a:latin typeface="Arial"/>
              </a:rPr>
              <a:t>     screen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2167127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311896" y="2295144"/>
          <a:ext cx="3264406" cy="1371600"/>
        </p:xfrm>
        <a:graphic>
          <a:graphicData uri="http://schemas.openxmlformats.org/drawingml/2006/table">
            <a:tbl>
              <a:tblPr firstRow="0" bandRow="0"/>
              <a:tblGrid>
                <a:gridCol w="1828068"/>
                <a:gridCol w="718169"/>
                <a:gridCol w="71816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7A7674"/>
                          </a:solidFill>
                          <a:latin typeface="Arial"/>
                        </a:rPr>
                        <a:t>which nodes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7A7674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7A7674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all visible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controlled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24737F"/>
                          </a:solidFill>
                          <a:latin typeface="Arial"/>
                        </a:rPr>
                        <a:t>energized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4737F"/>
                          </a:solidFill>
                          <a:latin typeface="Arial"/>
                        </a:rPr>
                        <a:t>•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4737F"/>
                          </a:solidFill>
                          <a:latin typeface="Arial"/>
                        </a:rPr>
                        <a:t>•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controlled ∩ energized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9B9795"/>
                          </a:solidFill>
                          <a:latin typeface="Arial"/>
                        </a:rPr>
                        <a:t>·</a:t>
                      </a:r>
                    </a:p>
                  </a:txBody>
                  <a:tcPr marL="36576" marR="36576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311896" y="399592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7A7674"/>
                </a:solidFill>
                <a:latin typeface="Arial"/>
              </a:rPr>
              <a:t>8 readouts</a:t>
            </a:r>
            <a:r>
              <a:rPr sz="1250" b="0" i="0">
                <a:solidFill>
                  <a:srgbClr val="7A7674"/>
                </a:solidFill>
                <a:latin typeface="Arial"/>
              </a:rPr>
              <a:t>     or one virtual node instead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17720"/>
            <a:ext cx="11185855" cy="1188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2473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800600"/>
            <a:ext cx="106006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1" i="0">
                <a:solidFill>
                  <a:srgbClr val="24737F"/>
                </a:solidFill>
                <a:latin typeface="Arial"/>
              </a:rPr>
              <a:t>CARRIED FORWARD INTO EVERY LATER EXPERIMENT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413C3A"/>
                </a:solidFill>
                <a:latin typeface="Arial"/>
              </a:rPr>
              <a:t>GINE  ·  K = 2 layers  ·  width 128  ·  readout over energized nodes  ·  no augmentation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Screen results on slide 14. Depth, width, readout and augmentation heatmaps in the backup slides.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AA0B43DB-9F7F-459C-9B29-69CB409B86E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Method II — score each action from the nodes it touches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The piece missing from the literature: the head stops depending on the number of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01367"/>
            <a:ext cx="5486400" cy="859536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929384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>
                <a:solidFill>
                  <a:srgbClr val="7A7674"/>
                </a:solidFill>
                <a:latin typeface="Arial"/>
              </a:rPr>
              <a:t>DEFAULT HEAD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1">
                <a:solidFill>
                  <a:srgbClr val="413C3A"/>
                </a:solidFill>
                <a:latin typeface="Arial"/>
              </a:rPr>
              <a:t>ℓ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a</a:t>
            </a:r>
            <a:r>
              <a:rPr sz="1700" b="0" i="0">
                <a:solidFill>
                  <a:srgbClr val="413C3A"/>
                </a:solidFill>
                <a:latin typeface="Arial"/>
              </a:rPr>
              <a:t> = MLP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a</a:t>
            </a:r>
            <a:r>
              <a:rPr sz="1700" b="0" i="0">
                <a:solidFill>
                  <a:srgbClr val="413C3A"/>
                </a:solidFill>
                <a:latin typeface="Arial"/>
              </a:rPr>
              <a:t>(z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a</a:t>
            </a:r>
            <a:r>
              <a:rPr sz="1700" b="0" i="0">
                <a:solidFill>
                  <a:srgbClr val="413C3A"/>
                </a:solidFill>
                <a:latin typeface="Arial"/>
              </a:rPr>
              <a:t>)</a:t>
            </a:r>
            <a:r>
              <a:rPr sz="1300" b="0" i="1">
                <a:solidFill>
                  <a:srgbClr val="B51F1F"/>
                </a:solidFill>
                <a:latin typeface="Arial"/>
              </a:rPr>
              <a:t>     one row per action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01367"/>
            <a:ext cx="5440680" cy="859536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929384"/>
            <a:ext cx="4983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>
                <a:solidFill>
                  <a:srgbClr val="24737F"/>
                </a:solidFill>
                <a:latin typeface="Arial"/>
              </a:rPr>
              <a:t>CANDIDATE SCORING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1">
                <a:solidFill>
                  <a:srgbClr val="413C3A"/>
                </a:solidFill>
                <a:latin typeface="Arial"/>
              </a:rPr>
              <a:t>ℓ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a,j</a:t>
            </a:r>
            <a:r>
              <a:rPr sz="1700" b="0" i="0">
                <a:solidFill>
                  <a:srgbClr val="413C3A"/>
                </a:solidFill>
                <a:latin typeface="Arial"/>
              </a:rPr>
              <a:t> = score(z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a</a:t>
            </a:r>
            <a:r>
              <a:rPr sz="1700" b="0" i="0">
                <a:solidFill>
                  <a:srgbClr val="413C3A"/>
                </a:solidFill>
                <a:latin typeface="Arial"/>
              </a:rPr>
              <a:t>, c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j</a:t>
            </a:r>
            <a:r>
              <a:rPr sz="1700" b="0" i="0">
                <a:solidFill>
                  <a:srgbClr val="413C3A"/>
                </a:solidFill>
                <a:latin typeface="Arial"/>
              </a:rPr>
              <a:t>, φ</a:t>
            </a:r>
            <a:r>
              <a:rPr sz="1700" b="0" i="1" baseline="-25000">
                <a:solidFill>
                  <a:srgbClr val="413C3A"/>
                </a:solidFill>
                <a:latin typeface="Arial"/>
              </a:rPr>
              <a:t>j</a:t>
            </a:r>
            <a:r>
              <a:rPr sz="1700" b="0" i="0">
                <a:solidFill>
                  <a:srgbClr val="413C3A"/>
                </a:solidFill>
                <a:latin typeface="Arial"/>
              </a:rPr>
              <a:t>)</a:t>
            </a:r>
            <a:r>
              <a:rPr sz="1300" b="0" i="1">
                <a:solidFill>
                  <a:srgbClr val="00A79F"/>
                </a:solidFill>
                <a:latin typeface="Arial"/>
              </a:rPr>
              <a:t>     one shared scorer</a:t>
            </a:r>
          </a:p>
        </p:txBody>
      </p:sp>
      <p:pic>
        <p:nvPicPr>
          <p:cNvPr id="9" name="Picture 8" descr="candidate_action_scor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369" y="2788920"/>
            <a:ext cx="6708956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303520"/>
            <a:ext cx="5742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Why it transfers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32704"/>
            <a:ext cx="5742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Parameters do not grow with |A|. Actions are compared through the graph nodes they affect.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303520"/>
            <a:ext cx="5742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4F8FCC"/>
                </a:solidFill>
                <a:latin typeface="Arial"/>
              </a:rPr>
              <a:t>Three choices → 8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632704"/>
            <a:ext cx="5742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Pooling: joint or typed mean · descriptor on / off · idle action: shared or dedicated head.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6C09689F-0374-48C9-BF2F-0BE9DEE4873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Making a feature mean the same number on both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A shared encoder is worthless if a channel learned on bus14 arrives on a different scale or reference.</a:t>
            </a:r>
          </a:p>
        </p:txBody>
      </p:sp>
      <p:pic>
        <p:nvPicPr>
          <p:cNvPr id="5" name="Picture 4" descr="wcci_feature_offse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93320"/>
            <a:ext cx="6903720" cy="2678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54296"/>
            <a:ext cx="6903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Offset against scale ratio, per node feature. Bottom-left is compatible. 426k bus14 and 1.24M WCCI node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02352"/>
            <a:ext cx="6903720" cy="114300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28523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NL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original inputs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NLS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power ÷ largest generator, absolute angles → Δθ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837943"/>
            <a:ext cx="4050791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ρ already transfers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130932"/>
            <a:ext cx="4050791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Ratio 1.05 — divided by its own thermal limit.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49270"/>
            <a:ext cx="4050791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Angles were the worst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842259"/>
            <a:ext cx="4050791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Offset +1.86 SD, KS 0.678 — different slack buses.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459480"/>
            <a:ext cx="4050791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Fix: line-angle difference Δθ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752469"/>
            <a:ext cx="4050791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No reference bus.  KS 0.678 → 0.230.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70806"/>
            <a:ext cx="4050791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D0661C"/>
                </a:solidFill>
                <a:latin typeface="Arial"/>
              </a:rPr>
              <a:t>Power is a real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463795"/>
            <a:ext cx="4050791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Spread 2.54 → 0.89, but KS 0.201 → 0.511.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82133"/>
            <a:ext cx="4050791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7A7674"/>
                </a:solidFill>
                <a:latin typeface="Arial"/>
              </a:rPr>
              <a:t>Standardization cannot align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175122"/>
            <a:ext cx="4050791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Frozen source statistics leave KS unchanged.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247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D4EFFA6B-B07E-4D41-A376-89EDBCC9D225}" type="slidenum">
              <a:rPr sz="1700" b="1">
                <a:solidFill>
                  <a:srgbClr val="FFFFFF"/>
                </a:solidFill>
                <a:latin typeface="Arial"/>
              </a:rPr>
              <a:t>0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8FC6CB"/>
                </a:solidFill>
                <a:latin typeface="Arial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Does it cross grids?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CFE6E9"/>
                </a:solidFill>
                <a:latin typeface="Arial"/>
              </a:rPr>
              <a:t>One source grid, one target grid, one fixed evaluation protocol — and four ways of getting a policy onto the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2395728"/>
            <a:ext cx="25603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1.  The problem and the 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2.  Designing a policy that can move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3.  Does it cross grids?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250" b="0" i="0">
                <a:solidFill>
                  <a:srgbClr val="86B4BC"/>
                </a:solidFill>
                <a:latin typeface="Arial"/>
              </a:rPr>
              <a:t>4.  What it means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2297BB94-DBE4-4069-A5DE-F9BF1E239C37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The experimental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Overall survival hides the cases that matter. The evidence is the 24 chronics where doing nothing already fails.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56231"/>
          <a:ext cx="6537959" cy="2560320"/>
        </p:xfrm>
        <a:graphic>
          <a:graphicData uri="http://schemas.openxmlformats.org/drawingml/2006/table">
            <a:tbl>
              <a:tblPr firstRow="0" bandRow="0"/>
              <a:tblGrid>
                <a:gridCol w="2419045"/>
                <a:gridCol w="1569110"/>
                <a:gridCol w="2549804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4737F"/>
                          </a:solidFill>
                          <a:latin typeface="Arial"/>
                        </a:rPr>
                        <a:t>bus14  source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B51F1F"/>
                          </a:solidFill>
                          <a:latin typeface="Arial"/>
                        </a:rPr>
                        <a:t>WCCI36  target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Substations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Transmission lines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Decentralized agents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4   (5, 5, 9, 17 substations)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Chronics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1,004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2,880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Unitary actions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66,965  →  capped at k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rgbClr val="7A7674"/>
                          </a:solidFill>
                          <a:latin typeface="Arial"/>
                        </a:rPr>
                        <a:t>Maintenance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disabled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45152"/>
            <a:ext cx="6537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7A7674"/>
                </a:solidFill>
                <a:latin typeface="Arial"/>
              </a:rPr>
              <a:t>Maintenance is off so a transferred policy is not tested on a hazard absent from its source grid: do-nothing survival moves 27.3% → 57.3%.</a:t>
            </a:r>
          </a:p>
        </p:txBody>
      </p:sp>
      <p:pic>
        <p:nvPicPr>
          <p:cNvPr id="7" name="Picture 6" descr="graph_heterogeneous_line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221224"/>
            <a:ext cx="333298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9080" y="5742431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The line-node graph used for transfer.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74519"/>
            <a:ext cx="43251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Mean survival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67508"/>
            <a:ext cx="4325112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Survived steps ÷ maximum episode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640711"/>
            <a:ext cx="43251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50 fixed WCCI chronics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933699"/>
            <a:ext cx="432511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Do nothing completes 26 — easy. The other 24 are the difficult cohort.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605784"/>
            <a:ext cx="432511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4737F"/>
                </a:solidFill>
                <a:latin typeface="Arial"/>
              </a:rPr>
              <a:t>Greedy is a reference, not a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898773"/>
            <a:ext cx="4325112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It queries the simulator at every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846320"/>
            <a:ext cx="4325112" cy="123444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5010912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600" b="1" i="0">
                <a:solidFill>
                  <a:srgbClr val="7A7674"/>
                </a:solidFill>
                <a:latin typeface="Arial"/>
              </a:rPr>
              <a:t>56.0%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7674"/>
                </a:solidFill>
                <a:latin typeface="Arial"/>
              </a:rPr>
              <a:t>do nothing, all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010912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600" b="1" i="0">
                <a:solidFill>
                  <a:srgbClr val="B51F1F"/>
                </a:solidFill>
                <a:latin typeface="Arial"/>
              </a:rPr>
              <a:t>8.34%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7674"/>
                </a:solidFill>
                <a:latin typeface="Arial"/>
              </a:rPr>
              <a:t>do nothing, 24 difficult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6172200"/>
            <a:ext cx="4325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B51F1F"/>
                </a:solidFill>
                <a:latin typeface="Arial"/>
              </a:rPr>
              <a:t>The number every controller here is trying to beat.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633C314B-7CA5-4F3F-9441-61CF92E9CE16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On the source grid, the design questions are settled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Six controlled screens on bus14. The best actors — including the transferable one — exceed 99% mean survival.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37943"/>
          <a:ext cx="11185852" cy="3520440"/>
        </p:xfrm>
        <a:graphic>
          <a:graphicData uri="http://schemas.openxmlformats.org/drawingml/2006/table">
            <a:tbl>
              <a:tblPr firstRow="0" bandRow="0"/>
              <a:tblGrid>
                <a:gridCol w="391504"/>
                <a:gridCol w="3243897"/>
                <a:gridCol w="4921776"/>
                <a:gridCol w="262867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Screened factor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Carried forward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Message-passing operator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GINE 94.72  vs  GAT 91.06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GINE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Depth × width  (3 × 4)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No monotone rule; mp2_h128 converges first and holds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K = 2, width 128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Readout scope × reducer  (4 × 2)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Energized nodes lead: 99.39 max, 98.93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energized / 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Structural augmentations  (2³)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None earns its cost; virtual readout collapses to 18–77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unaugmented e0n0v0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Asset message direction  (3 × 3)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gen a2b + load b2a 99.12;  bidirectional 99.02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both kept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24737F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Candidate head  (2³)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6 of 8 cells ≥ 98.2, best 99.52; no factor dominates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i="0">
                          <a:solidFill>
                            <a:srgbClr val="413C3A"/>
                          </a:solidFill>
                          <a:latin typeface="Arial"/>
                        </a:rPr>
                        <a:t>all 8 kept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607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Two branches leave this chapter.  </a:t>
            </a:r>
            <a:r>
              <a:rPr sz="1500" b="0" i="0">
                <a:solidFill>
                  <a:srgbClr val="413C3A"/>
                </a:solidFill>
                <a:latin typeface="Arial"/>
              </a:rPr>
              <a:t>A–E keep a fixed-index head → only the </a:t>
            </a:r>
            <a:r>
              <a:rPr sz="1500" b="1" i="0">
                <a:solidFill>
                  <a:srgbClr val="413C3A"/>
                </a:solidFill>
                <a:latin typeface="Arial"/>
              </a:rPr>
              <a:t>encoder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transfers. F keeps the whole interface → the </a:t>
            </a:r>
            <a:r>
              <a:rPr sz="1500" b="1" i="0">
                <a:solidFill>
                  <a:srgbClr val="413C3A"/>
                </a:solidFill>
                <a:latin typeface="Arial"/>
              </a:rPr>
              <a:t>complete policy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crosses grids, at no source-grid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One seed per cell; best checkpoint scored on all 201 held-out bus14 chronics.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F0EB278-76D0-4843-894E-7C1E57B8D47E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…and the controller can learn to act rarely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A policy that reconfigures at every opportunity is unusable in a control room. Sparsity can be learned, not imposed.</a:t>
            </a:r>
          </a:p>
        </p:txBody>
      </p:sp>
      <p:pic>
        <p:nvPicPr>
          <p:cNvPr id="5" name="Picture 4" descr="sparse_control_fulltes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97" y="1801367"/>
            <a:ext cx="6280484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70448"/>
            <a:ext cx="6949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Mean survival against the fraction of do-nothing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56231"/>
            <a:ext cx="4005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4737F"/>
                </a:solidFill>
                <a:latin typeface="Arial"/>
              </a:rPr>
              <a:t>FIVE MECHANISMS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5144"/>
            <a:ext cx="400507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5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Evaluation-time ρ overrides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5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Learned intervention gate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5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Fixed non-idle penalty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5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Adaptive intervention budget (AIB)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5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Behavioural cloning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462272"/>
            <a:ext cx="40050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Local-safe AIB wins on both axes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Each agent adapts its own penalty from the loading it can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44068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900" b="1" i="0">
                <a:solidFill>
                  <a:srgbClr val="00A79F"/>
                </a:solidFill>
                <a:latin typeface="Arial"/>
              </a:rPr>
              <a:t>93.7 → 98.4%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7674"/>
                </a:solidFill>
                <a:latin typeface="Arial"/>
              </a:rPr>
              <a:t>mean survival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5440680"/>
            <a:ext cx="2011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900" b="1" i="0">
                <a:solidFill>
                  <a:srgbClr val="D0661C"/>
                </a:solidFill>
                <a:latin typeface="Arial"/>
              </a:rPr>
              <a:t>56.6 → 2.1%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7A7674"/>
                </a:solidFill>
                <a:latin typeface="Arial"/>
              </a:rPr>
              <a:t>non-idle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6309360"/>
            <a:ext cx="4005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B51F1F"/>
                </a:solidFill>
                <a:latin typeface="Arial"/>
              </a:rPr>
              <a:t>The same local-ρ idea returns at transfer time as a safety gate.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F15915C-690C-41D6-8616-DBD1486CEA40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First surprise: retraining on the target does not solve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Every model family retrained directly on WCCI stays below do-nothing overall — including the graph actors.</a:t>
            </a:r>
          </a:p>
        </p:txBody>
      </p:sp>
      <p:pic>
        <p:nvPicPr>
          <p:cNvPr id="5" name="Picture 4" descr="wcci_target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0247"/>
            <a:ext cx="7863840" cy="3234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193792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Matched controls trained from scratch at k = 64. Bars are family means, whiskers min–max.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50992"/>
            <a:ext cx="7863840" cy="804672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815584"/>
            <a:ext cx="7360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B51F1F"/>
                </a:solidFill>
                <a:latin typeface="Arial"/>
              </a:rPr>
              <a:t>Overall survival is the wrong headline.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It is dominated by the 26 easy chronics do-nothing already completes.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37943"/>
            <a:ext cx="3136392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200" b="1" i="0">
                <a:solidFill>
                  <a:srgbClr val="7A7674"/>
                </a:solidFill>
                <a:latin typeface="Arial"/>
              </a:rPr>
              <a:t>ALL 50 CHRONICS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Flat MLP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7A7674"/>
                </a:solidFill>
                <a:latin typeface="Arial"/>
              </a:rPr>
              <a:t>32.6%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GNN + fixed head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7A7674"/>
                </a:solidFill>
                <a:latin typeface="Arial"/>
              </a:rPr>
              <a:t>38.4%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GNN + action scorer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7A7674"/>
                </a:solidFill>
                <a:latin typeface="Arial"/>
              </a:rPr>
              <a:t>47.2%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Do nothing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56.0%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413C3A"/>
                </a:solidFill>
                <a:latin typeface="Arial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200" b="1" i="0">
                <a:solidFill>
                  <a:srgbClr val="B51F1F"/>
                </a:solidFill>
                <a:latin typeface="Arial"/>
              </a:rPr>
              <a:t>THE 24 DIFFICULT CHRONICS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GNN + fixed head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7A7674"/>
                </a:solidFill>
                <a:latin typeface="Arial"/>
              </a:rPr>
              <a:t>5.3%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Do nothing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8.34%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Flat MLP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7A7674"/>
                </a:solidFill>
                <a:latin typeface="Arial"/>
              </a:rPr>
              <a:t>8.8%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GNN + action scorer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00A79F"/>
                </a:solidFill>
                <a:latin typeface="Arial"/>
              </a:rPr>
              <a:t>10.5%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   its best cell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     </a:t>
            </a:r>
            <a:r>
              <a:rPr sz="1400" b="1" i="0">
                <a:solidFill>
                  <a:srgbClr val="00A79F"/>
                </a:solidFill>
                <a:latin typeface="Arial"/>
              </a:rPr>
              <a:t>18.5%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532120"/>
            <a:ext cx="313639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0A79F"/>
                </a:solidFill>
                <a:latin typeface="Arial"/>
              </a:rPr>
              <a:t>The ordering flips.</a:t>
            </a:r>
            <a:r>
              <a:rPr sz="1400" b="0" i="0">
                <a:solidFill>
                  <a:srgbClr val="413C3A"/>
                </a:solidFill>
                <a:latin typeface="Arial"/>
              </a:rPr>
              <a:t> Only the candidate scorer is clearly above do nothing 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459DEB75-47E1-4420-A110-4A594CA80A69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Zero-shot: the bus14 actor does control WCCI — conditionally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It works with a small action set and a local safety gate. More actions make the policy worse, not better.</a:t>
            </a:r>
          </a:p>
        </p:txBody>
      </p:sp>
      <p:pic>
        <p:nvPicPr>
          <p:cNvPr id="5" name="Picture 4" descr="wcci_zero_shot_determin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7" y="1801367"/>
            <a:ext cx="6495184" cy="4224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2039112"/>
            <a:ext cx="35478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Gated, k =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332101"/>
            <a:ext cx="354787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62.5% overall, 21.9% difficult — 54.6% of the gain greedy makes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004185"/>
            <a:ext cx="35478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Then it collapses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97173"/>
            <a:ext cx="354787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5.8 · 5.2 · 2.9% recovered at k = 64, 128, 256 — while greedy climbs 68 → 98%.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969258"/>
            <a:ext cx="35478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7A7674"/>
                </a:solidFill>
                <a:latin typeface="Arial"/>
              </a:rPr>
              <a:t>Ungated stays below do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262247"/>
            <a:ext cx="3547872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At every action-space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735449"/>
            <a:ext cx="35478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Selection is the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028438"/>
            <a:ext cx="354787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Not availability. A longer list is harder to rank.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9B9795"/>
                </a:solidFill>
                <a:latin typeface="Arial"/>
              </a:rPr>
              <a:t>16 architecture cells per box. Green stars: greedy at the same k. Dashed: do nothing. Gate blocks an agent while its own maximum loading is below 0.95.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F148BF26-0CCF-44CF-8587-7A2BC5ED9FA2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What actually survives the change of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One architectural choice transfers clearly: keeping the physical roles of the touched nodes separate.</a:t>
            </a:r>
          </a:p>
        </p:txBody>
      </p:sp>
      <p:pic>
        <p:nvPicPr>
          <p:cNvPr id="5" name="Picture 4" descr="wcci_zero_shot_architectur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72" y="1783079"/>
            <a:ext cx="6978055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956048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Matched change in difficult-cohort survival, one factor at a time. Bars are bootstrap intervals over 32 matched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947672"/>
            <a:ext cx="37764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Typed-mean pooling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240661"/>
            <a:ext cx="377647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+5.4 pts ungated, +8.7 gated. Bus, line, load and generator averaged separately.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949321"/>
            <a:ext cx="37764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413C3A"/>
                </a:solidFill>
                <a:latin typeface="Arial"/>
              </a:rPr>
              <a:t>Physical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242310"/>
            <a:ext cx="3776472" cy="47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≈ +1 pt — less than the input analysis promised.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950970"/>
            <a:ext cx="3776472" cy="292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7A7674"/>
                </a:solidFill>
                <a:latin typeface="Arial"/>
              </a:rPr>
              <a:t>Descriptor ≈ 0, idle head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243959"/>
            <a:ext cx="3776472" cy="272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−2.7 pts ungated, neutral gated.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21808"/>
            <a:ext cx="11185855" cy="1078992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50" b="1" i="0">
                <a:solidFill>
                  <a:srgbClr val="24737F"/>
                </a:solidFill>
                <a:latin typeface="Arial"/>
              </a:rPr>
              <a:t>DECISION-TIME CHANGES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Gmax-delta +4.6 pts · adaptive budget +6.0 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486400"/>
            <a:ext cx="56509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50" b="1" i="0">
                <a:solidFill>
                  <a:srgbClr val="B51F1F"/>
                </a:solidFill>
                <a:latin typeface="Arial"/>
              </a:rPr>
              <a:t>THE GATE IS NOT A UNIVERSAL SAFETY LAYER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413C3A"/>
                </a:solidFill>
                <a:latin typeface="Arial"/>
              </a:rPr>
              <a:t>+7.2 pts zero-shot, but −2.2 on the scratch scorer and −2.8 on the flat MLP. Validate per policy.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EA5154C3-2E4E-437E-A425-D40FC7977011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Source initialization is worth more than target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Fine-tuning beats zero-shot in 8 of 8 cells and scratch in 7 of 8 — on a third of the budget.</a:t>
            </a:r>
          </a:p>
        </p:txBody>
      </p:sp>
      <p:pic>
        <p:nvPicPr>
          <p:cNvPr id="5" name="Picture 4" descr="wcci_adapt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09" y="1764791"/>
            <a:ext cx="9151532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4737F"/>
                </a:solidFill>
                <a:latin typeface="Arial"/>
              </a:rPr>
              <a:t>Median difficult-cohort survival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0"/>
            <a:ext cx="3630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5.7% zero-shot → 9.6% scratch → 18.1% fine-tuned.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571500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D0661C"/>
                </a:solidFill>
                <a:latin typeface="Arial"/>
              </a:rPr>
              <a:t>Matched gains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6035040"/>
            <a:ext cx="3630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+12.0 pts over zero-shot, +7.9 over scratch. ≈5M target steps against 15M.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6" y="571500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B51F1F"/>
                </a:solidFill>
                <a:latin typeface="Arial"/>
              </a:rPr>
              <a:t>The trade-off that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6" y="6035040"/>
            <a:ext cx="3630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Upper-right corner: rescue difficult chronics without losing easy 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26F3F094-1D68-4ED4-B5F2-C72D4B8BFFAC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Still open: does the encoder alone carry the transfer?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The complete-policy branch is done; the encoder-only branch is still running.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56231"/>
            <a:ext cx="5760720" cy="416052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93976"/>
            <a:ext cx="5175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4737F"/>
                </a:solidFill>
                <a:latin typeface="Arial"/>
              </a:rPr>
              <a:t>THE DESIGN IS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69463"/>
            <a:ext cx="5175504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450" b="0" i="0">
                <a:solidFill>
                  <a:srgbClr val="413C3A"/>
                </a:solidFill>
                <a:latin typeface="Arial"/>
              </a:rPr>
              <a:t>Freeze the bus14 encoder, discard its action heads, learn new WCCI heads. Four representations × four routes: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Target scratch — </a:t>
            </a:r>
            <a:r>
              <a:rPr sz="1400" b="0" i="0">
                <a:solidFill>
                  <a:srgbClr val="7A7674"/>
                </a:solidFill>
                <a:latin typeface="Arial"/>
              </a:rPr>
              <a:t>random encoder, all trainable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Random frozen — </a:t>
            </a:r>
            <a:r>
              <a:rPr sz="1400" b="0" i="0">
                <a:solidFill>
                  <a:srgbClr val="7A7674"/>
                </a:solidFill>
                <a:latin typeface="Arial"/>
              </a:rPr>
              <a:t>random encoder, heads only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NL frozen — </a:t>
            </a:r>
            <a:r>
              <a:rPr sz="1400" b="0" i="0">
                <a:solidFill>
                  <a:srgbClr val="7A7674"/>
                </a:solidFill>
                <a:latin typeface="Arial"/>
              </a:rPr>
              <a:t>bus14 checkpoint, original inputs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i="0">
                <a:solidFill>
                  <a:srgbClr val="413C3A"/>
                </a:solidFill>
                <a:latin typeface="Arial"/>
              </a:rPr>
              <a:t>—  </a:t>
            </a:r>
            <a:r>
              <a:rPr sz="1400" b="1" i="0">
                <a:solidFill>
                  <a:srgbClr val="413C3A"/>
                </a:solidFill>
                <a:latin typeface="Arial"/>
              </a:rPr>
              <a:t>NLS frozen — </a:t>
            </a:r>
            <a:r>
              <a:rPr sz="1400" b="0" i="0">
                <a:solidFill>
                  <a:srgbClr val="7A7674"/>
                </a:solidFill>
                <a:latin typeface="Arial"/>
              </a:rPr>
              <a:t>bus14 checkpoint, scaled inputs + Δθ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413C3A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B51F1F"/>
                </a:solidFill>
                <a:latin typeface="Arial"/>
              </a:rPr>
              <a:t>Random-frozen is the control.  </a:t>
            </a:r>
            <a:r>
              <a:rPr sz="1450" b="0" i="0">
                <a:solidFill>
                  <a:srgbClr val="413C3A"/>
                </a:solidFill>
                <a:latin typeface="Arial"/>
              </a:rPr>
              <a:t>New heads can learn even from arbitrary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56231"/>
            <a:ext cx="5239512" cy="4160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B5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93976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B51F1F"/>
                </a:solidFill>
                <a:latin typeface="Arial"/>
              </a:rPr>
              <a:t>REQUIRED BEFORE THE DEFENCE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32887"/>
            <a:ext cx="46908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Outputs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Matched learning curves, four routes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4 × 4 difficult-cohort endpoint table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Overall survival, rescues, easy chronics kept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413C3A"/>
                </a:solidFill>
                <a:latin typeface="Arial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Protocol fields still pending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Action cap and dataset path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Target training budget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Seed set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Head optimizer and learning rate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Checkpoint-selection score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□  </a:t>
            </a:r>
            <a:r>
              <a:rPr sz="1350" b="0" i="0">
                <a:solidFill>
                  <a:srgbClr val="413C3A"/>
                </a:solidFill>
                <a:latin typeface="Arial"/>
              </a:rPr>
              <a:t>Gate condition at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1">
                <a:solidFill>
                  <a:srgbClr val="9B9795"/>
                </a:solidFill>
                <a:latin typeface="Arial"/>
              </a:rPr>
              <a:t>The interpretation rules are already fixed in the chapter, so the conclusion cannot be chosen after seeing the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128F8976-6197-4E34-B780-DB04D8302FAF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What crosses, and what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Transfer is incomplete — but about three times do-nothing, and better than retraining the same actor from scratch.</a:t>
            </a:r>
          </a:p>
        </p:txBody>
      </p:sp>
      <p:pic>
        <p:nvPicPr>
          <p:cNvPr id="5" name="Picture 4" descr="transfer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68" y="1801367"/>
            <a:ext cx="8266414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074920"/>
            <a:ext cx="3630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00A79F"/>
                </a:solidFill>
                <a:latin typeface="Arial"/>
              </a:rPr>
              <a:t>What transferred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22392"/>
            <a:ext cx="363016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The candidate-action interface. 21.9% on the difficult cohort at k = 32 with the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5074920"/>
            <a:ext cx="3630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What did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5422392"/>
            <a:ext cx="363016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Ranking large action sets: 55% of feasible gain at k = 32, 3% at k = 256.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9016" y="5074920"/>
            <a:ext cx="3630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7A7674"/>
                </a:solidFill>
                <a:latin typeface="Arial"/>
              </a:rPr>
              <a:t>What is still uncertain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6" y="5422392"/>
            <a:ext cx="363016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413C3A"/>
                </a:solidFill>
                <a:latin typeface="Arial"/>
              </a:rPr>
              <a:t>One seed, 50 chronics. Matched differences hold; small cross-block gaps do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9B9795"/>
                </a:solidFill>
                <a:latin typeface="Arial"/>
              </a:rPr>
              <a:t>Compiled from Chapters 7 and 10. Medians across the eight NLS candidate-scorer architectures at k = 64.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9C7087EB-1CAA-4E49-BE50-E4B161FAB134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413C3A"/>
                </a:solidFill>
                <a:latin typeface="Arial"/>
              </a:rPr>
              <a:t>Limitations and where this goes next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81912"/>
          <a:ext cx="11185854" cy="3566160"/>
        </p:xfrm>
        <a:graphic>
          <a:graphicData uri="http://schemas.openxmlformats.org/drawingml/2006/table">
            <a:tbl>
              <a:tblPr firstRow="0" bandRow="0"/>
              <a:tblGrid>
                <a:gridCol w="2684605"/>
                <a:gridCol w="4362483"/>
                <a:gridCol w="4138766"/>
              </a:tblGrid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413C3A"/>
                          </a:solidFill>
                          <a:latin typeface="Arial"/>
                        </a:rPr>
                        <a:t>What it means for the claims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>
                          <a:solidFill>
                            <a:srgbClr val="24737F"/>
                          </a:solidFill>
                          <a:latin typeface="Arial"/>
                        </a:rPr>
                        <a:t>Next step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One seed per cell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Intervals describe architecture spread, not training runs.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Repeat the transfer block over seeds.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Two grids, one direction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Nothing tests the reverse direction or a third topology.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Add a third grid; is the k = 32 advantage general?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Unequal training budgets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Comparisons hold inside a block, not across blocks.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Re-run cross-block comparisons at one budget.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413C3A"/>
                          </a:solidFill>
                          <a:latin typeface="Arial"/>
                        </a:rPr>
                        <a:t>Static offline action reduction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7A7674"/>
                          </a:solidFill>
                          <a:latin typeface="Arial"/>
                        </a:rPr>
                        <a:t>Candidates ranked once; the policy never revisits the list.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 i="0">
                          <a:solidFill>
                            <a:srgbClr val="413C3A"/>
                          </a:solidFill>
                          <a:latin typeface="Arial"/>
                        </a:rPr>
                        <a:t>Curriculum or state-dependent candidate sets.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57784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5760720"/>
            <a:ext cx="106006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B51F1F"/>
                </a:solidFill>
                <a:latin typeface="Arial"/>
              </a:rPr>
              <a:t>The design conclusion is more robust than any single number.  </a:t>
            </a:r>
            <a:r>
              <a:rPr sz="1500" b="0" i="0">
                <a:solidFill>
                  <a:srgbClr val="413C3A"/>
                </a:solidFill>
                <a:latin typeface="Arial"/>
              </a:rPr>
              <a:t>Portable interface, separate node roles, per-policy gate, conservative fine-tuning.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3B3D3EF-7798-4EDB-8C0F-EBD2BF0CBC32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413C3A"/>
                </a:solidFill>
                <a:latin typeface="Arial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999232"/>
            <a:ext cx="1417320" cy="41148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310128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700" b="0" i="0">
                <a:solidFill>
                  <a:srgbClr val="7A7674"/>
                </a:solidFill>
                <a:latin typeface="Arial"/>
              </a:rPr>
              <a:t>Questions welcome — supplementary slides follow.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7A7674"/>
                </a:solidFill>
                <a:latin typeface="Arial"/>
              </a:rPr>
              <a:t>Supervisors: Prof. Fink · Prof. Peng · Dr. Nejjar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783080"/>
            <a:ext cx="4233672" cy="384048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44968" y="2011680"/>
            <a:ext cx="3657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50" b="1" i="0">
                <a:solidFill>
                  <a:srgbClr val="24737F"/>
                </a:solidFill>
                <a:latin typeface="Arial"/>
              </a:rPr>
              <a:t>NUMBERS TO HAVE READY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Do nothing, 24 difficult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8.34%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Best bus14 actor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99.5%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Scratch on WCCI, difficult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9.6%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Zero-shot median, difficult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5.7%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Fine-tuned median, difficult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18.1%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Best transferred + gate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25.8%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Greedy at k = 64, difficult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67.9%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Typed-mean pooling effect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+8.7 pts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Local gate on zero-shot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+7.2 pts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50" b="0" i="0">
                <a:solidFill>
                  <a:srgbClr val="413C3A"/>
                </a:solidFill>
                <a:latin typeface="Arial"/>
              </a:rPr>
              <a:t>Angle KS, raw → Δθ</a:t>
            </a:r>
            <a:r>
              <a:rPr sz="15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250" b="1" i="0">
                <a:solidFill>
                  <a:srgbClr val="B51F1F"/>
                </a:solidFill>
                <a:latin typeface="Arial"/>
              </a:rPr>
              <a:t>0.678 → 0.230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3A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87FD3FC9-0CFD-4FE5-8849-FCD2F3058DCB}" type="slidenum">
              <a:rPr sz="1700" b="1">
                <a:solidFill>
                  <a:srgbClr val="FFFFFF"/>
                </a:solidFill>
                <a:latin typeface="Arial"/>
              </a:rPr>
              <a:t>0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B0ACAA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Supplementary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CBC7C5"/>
                </a:solidFill>
                <a:latin typeface="Arial"/>
              </a:rPr>
              <a:t>Protocols · complete screening results · feature-shift analysis · full transfer matrices · reproducibility.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D881E223-0AEF-4EB5-930D-33D312AB606C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Evaluation protocol and checkpoint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Every reported endpoint is a checkpoint selected on training-split rollouts, then scored once on a held-out set.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56231"/>
          <a:ext cx="11185853" cy="3931920"/>
        </p:xfrm>
        <a:graphic>
          <a:graphicData uri="http://schemas.openxmlformats.org/drawingml/2006/table">
            <a:tbl>
              <a:tblPr firstRow="0" bandRow="0"/>
              <a:tblGrid>
                <a:gridCol w="1901595"/>
                <a:gridCol w="2796463"/>
                <a:gridCol w="4026907"/>
                <a:gridCol w="2460888"/>
              </a:tblGrid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Environment and budget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Checkpoint selection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Statistical scope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Stable MLP baseline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bus14; 15M steps; 20 parallel envs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Periodic deterministic 20-chronic training-split rollouts; keep the highest rollout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80/20 chronic split; multi-seed core comparisons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Screens B–F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bus14; 15M steps; 72 envs, 576 rollout steps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Evaluation every 82,944 steps on a changing 20-chronic training rollout; the selected checkpoint is then scored on all 201 held-out chronics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One seed per factorial cell (seed 0)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Input-distribution study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bus14 and WCCI; 6,000 do-nothing steps; 300-step cap per chronic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learned checkpoint; every visible local-graph node is recorded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426,000 and 1,236,000 node observations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WCCI transfer and adaptation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bus36_wcci_nomaint; zero-shot, 15M-step scratch, or ≈5M-step fine-tuning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Zero-shot uses the selected source checkpoint; WCCI-trained actors use their final checkpoint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Seed 0; the same 50 chronics — 26 easy, 24 difficult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521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413C3A"/>
                </a:solidFill>
                <a:latin typeface="Arial"/>
              </a:rPr>
              <a:t>Mean survival</a:t>
            </a:r>
            <a:r>
              <a:rPr sz="1350" b="0" i="0">
                <a:solidFill>
                  <a:srgbClr val="413C3A"/>
                </a:solidFill>
                <a:latin typeface="Arial"/>
              </a:rPr>
              <a:t> for one chronic is the number of survived time steps divided by that chronic's maximum episode length; the reported value is the unweighted mean over the evaluated chronics.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7308A0ED-E300-4D0B-A3C5-6121538C955E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Shared MAPPO settings and the tuned MLP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Screens B–F share one optimization recipe so each factorial changes only the named architectural choice.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56231"/>
          <a:ext cx="5577839" cy="3401568"/>
        </p:xfrm>
        <a:graphic>
          <a:graphicData uri="http://schemas.openxmlformats.org/drawingml/2006/table">
            <a:tbl>
              <a:tblPr firstRow="0" bandRow="0"/>
              <a:tblGrid>
                <a:gridCol w="1784908"/>
                <a:gridCol w="3792931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Fixed setting (Screens B–F)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Optimization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10 update epochs, 16 minibatches, LR 1e-4 with linear decay, max gradient norm 1.0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Returns and PPO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γ = 0.9, GAE λ = 0.95, clip ratio 0.2, target KL 0.02, entropy coefficient 0.01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Actor and critic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Shared graph encoder with two 128-unit action-head layers; centralized 3 × 256 MLP critic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Preprocessing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Normalized flat observations and rewards; graph physical scaling and sparse control disabled during the screens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Exploration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initial do-nothing prior, no action-0 logit bonus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856231"/>
          <a:ext cx="5193792" cy="3127248"/>
        </p:xfrm>
        <a:graphic>
          <a:graphicData uri="http://schemas.openxmlformats.org/drawingml/2006/table">
            <a:tbl>
              <a:tblPr firstRow="0" bandRow="0"/>
              <a:tblGrid>
                <a:gridCol w="2596896"/>
                <a:gridCol w="1298448"/>
                <a:gridCol w="1298448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Hyperparameter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Tuned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MARL2Grid paper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Parallel environments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Total environment steps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15,000,000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25,000,000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Actor learning rate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1e-4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3e-5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Critic learning rate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1e-4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3e-5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Discount γ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Update epochs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Minibatches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413C3A"/>
                          </a:solidFill>
                          <a:latin typeface="Arial"/>
                        </a:rPr>
                        <a:t>Max gradient norm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>
                          <a:solidFill>
                            <a:srgbClr val="7A7674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5166360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Reward normalization and one critic update per batch (instead of one per agent) are the other two changes; together they take the flat MLP baseline to 93.4% final / 98.6% peak mean survival on bus14.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67F876F1-E865-4AB5-9FF7-C40B007D6550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Flat MLP baseline: core ablations and do-nothing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The reference is chosen for its convergence trajectory, not for the largest isolated endpoint.</a:t>
            </a:r>
          </a:p>
        </p:txBody>
      </p:sp>
      <p:pic>
        <p:nvPicPr>
          <p:cNvPr id="6" name="Picture 5" descr="rerun_a0_core_al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10" y="1856231"/>
            <a:ext cx="5408098" cy="3017520"/>
          </a:xfrm>
          <a:prstGeom prst="rect">
            <a:avLst/>
          </a:prstGeom>
        </p:spPr>
      </p:pic>
      <p:pic>
        <p:nvPicPr>
          <p:cNvPr id="7" name="Picture 6" descr="rerun_a0_bia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44402"/>
            <a:ext cx="5440680" cy="2841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946904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All core MLP baseline rerun survival curves on one axis.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946904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Optimized baseline against initial do-nothing bias 50% and 70%.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5230368"/>
          <a:ext cx="6035039" cy="1376172"/>
        </p:xfrm>
        <a:graphic>
          <a:graphicData uri="http://schemas.openxmlformats.org/drawingml/2006/table">
            <a:tbl>
              <a:tblPr firstRow="0" bandRow="0"/>
              <a:tblGrid>
                <a:gridCol w="3500323"/>
                <a:gridCol w="1267358"/>
                <a:gridCol w="1267358"/>
              </a:tblGrid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Final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Peak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Optimized MLP baseline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93.4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98.6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Disable optimized critic update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93.1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95.8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Smaller MLP actor/critic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93.7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Disable reward normalization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81.8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97.1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Initial bias 50%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50.8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70.2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Initial bias 70%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99.3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100.0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6560" y="5285232"/>
            <a:ext cx="49194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13C3A"/>
                </a:solidFill>
                <a:latin typeface="Arial"/>
              </a:rPr>
              <a:t>A 70% do-nothing bias finishes highest but learns slowly; a 50% bias is unstable. The zero-bias actor reaches the high-survival regime earliest and holds it, so it is the reference used downstream.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556D3848-A3E7-4D07-9539-8F05ADCE4D12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Sparse intervention: the five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Each mechanism acts at a different point — training objective, action factorization, or evaluation-time override.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56231"/>
          <a:ext cx="11185853" cy="3392424"/>
        </p:xfrm>
        <a:graphic>
          <a:graphicData uri="http://schemas.openxmlformats.org/drawingml/2006/table">
            <a:tbl>
              <a:tblPr firstRow="0" bandRow="0"/>
              <a:tblGrid>
                <a:gridCol w="1901595"/>
                <a:gridCol w="3243897"/>
                <a:gridCol w="2908322"/>
                <a:gridCol w="3132039"/>
              </a:tblGrid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Training effect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Evaluation effect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413C3A"/>
                          </a:solidFill>
                          <a:latin typeface="Arial"/>
                        </a:rPr>
                        <a:t>Main risk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Samples from the flat policy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Greedy argmax by default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explicit mechanism favouring sparse control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ρ heuristic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training change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Hard no-op override in safe states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Evaluation is manually changed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Intervention gate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Changes the action factorization and sampling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Final-action MAP or hierarchical greedy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Gate collapse can starve non-idle exploration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Fixed penalty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Fixed reward penalty on non-idle actions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action override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The penalty coefficient must be tuned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AIB local-safe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Adaptive state-dependent reward penalty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action override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Depends on the local-ρ safety-weight design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>
                          <a:solidFill>
                            <a:srgbClr val="24737F"/>
                          </a:solidFill>
                          <a:latin typeface="Arial"/>
                        </a:rPr>
                        <a:t>Behavioural cloning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Distils the heuristic into actor weights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No action override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Struggles with extreme action-0 class imbalance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Selected endpoints on bus14.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Baseline 93.67% survival at a 0.44 action-0 fraction · fixed penalty λ = 0.010 → 97.44% at 0.905 · local-safe AIB d = 0.10 and 0.20 → ≈98.4% at ≈0.98 · evaluation-time ρ heuristics 97–98% at 0.94–0.97, but imposed after the policy acts.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AIB update.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λ</a:t>
            </a:r>
            <a:r>
              <a:rPr sz="1300" b="0" i="0" baseline="-25000">
                <a:solidFill>
                  <a:srgbClr val="413C3A"/>
                </a:solidFill>
                <a:latin typeface="Arial"/>
              </a:rPr>
              <a:t>i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← clip( λ</a:t>
            </a:r>
            <a:r>
              <a:rPr sz="1300" b="0" i="0" baseline="-25000">
                <a:solidFill>
                  <a:srgbClr val="413C3A"/>
                </a:solidFill>
                <a:latin typeface="Arial"/>
              </a:rPr>
              <a:t>i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+ η(Ĉ</a:t>
            </a:r>
            <a:r>
              <a:rPr sz="1300" b="0" i="0" baseline="-25000">
                <a:solidFill>
                  <a:srgbClr val="413C3A"/>
                </a:solidFill>
                <a:latin typeface="Arial"/>
              </a:rPr>
              <a:t>i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− d), 0, λ</a:t>
            </a:r>
            <a:r>
              <a:rPr sz="1300" b="0" i="0" baseline="-25000">
                <a:solidFill>
                  <a:srgbClr val="413C3A"/>
                </a:solidFill>
                <a:latin typeface="Arial"/>
              </a:rPr>
              <a:t>max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) after every rollout, with cost weighted by σ(k(ρ_safe − ρ_local)).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D6184C06-007E-4CEA-875D-E49E47B36E77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Sparse control: the early WCCI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4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This pilot changes grid, action space and maintenance at the same time — it motivates the graph actor but isolates nothing.</a:t>
            </a:r>
          </a:p>
        </p:txBody>
      </p:sp>
      <p:pic>
        <p:nvPicPr>
          <p:cNvPr id="6" name="Picture 5" descr="sparse_control_wcci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1003"/>
            <a:ext cx="6675120" cy="39023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879592"/>
            <a:ext cx="6675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Action-0 / mean-survival trade-off for the maintenance-enabled WCCI pilot. Fixed-width MLP actors, trained from scratch.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856231"/>
          <a:ext cx="4370830" cy="2688336"/>
        </p:xfrm>
        <a:graphic>
          <a:graphicData uri="http://schemas.openxmlformats.org/drawingml/2006/table">
            <a:tbl>
              <a:tblPr firstRow="0" bandRow="0"/>
              <a:tblGrid>
                <a:gridCol w="2272832"/>
                <a:gridCol w="1311249"/>
                <a:gridCol w="78674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Mean survival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Action-0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Matched MLP baseline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23.75 ± 7.70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0.168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Global ρ heuristic, ρ = 0.90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28.35 ± 11.06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0.974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Local ρ heuristic, ρ = 0.90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9.46 ± 3.54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Intervention gate, final-action MAP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25.92 ± 10.69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0.400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Flat fixed penalty λ = 0.010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27.00 ± 12.13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0.489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Flat local-safe AIB, d = 0.20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21.65 ± 2.21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0.927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4736592"/>
            <a:ext cx="43708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13C3A"/>
                </a:solidFill>
                <a:latin typeface="Arial"/>
              </a:rPr>
              <a:t>Three seeds, 60M steps, maintenance enabled, no bus14 weights transferred. Values are the final deterministic test evaluation over ten held-out episodes per seed — not full-test estimates. Mechanisms move the intervention frequency but none reliably improves survival, and the differences are small relative to seed variation.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A81ECDCF-36AC-4698-8210-8FED843C0148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Screen B: encoder depth and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No monotone rule in depth or width. mp2_h128 is selected on convergence, not on its single best checkpoint.</a:t>
            </a:r>
          </a:p>
        </p:txBody>
      </p:sp>
      <p:pic>
        <p:nvPicPr>
          <p:cNvPr id="6" name="Picture 5" descr="nl_s3dw_depth_widt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37952"/>
            <a:ext cx="5943600" cy="36599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1031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Full-test mean survival of each run's best checkpoint, seed 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810511"/>
          <a:ext cx="5010909" cy="3922776"/>
        </p:xfrm>
        <a:graphic>
          <a:graphicData uri="http://schemas.openxmlformats.org/drawingml/2006/table">
            <a:tbl>
              <a:tblPr firstRow="0" bandRow="0"/>
              <a:tblGrid>
                <a:gridCol w="1503273"/>
                <a:gridCol w="1152509"/>
                <a:gridCol w="1202618"/>
                <a:gridCol w="1152509"/>
              </a:tblGrid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To 90% (M)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Curve mean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Final-20 mean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mp2_h128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6.22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71.40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94.04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mp1_h16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6.88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70.92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84.93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mp3_h32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7.88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69.63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91.28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mp2_h16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8.79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69.16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88.21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mp1_h128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11.03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68.50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91.11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mp1_h32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6.64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63.13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93.77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mp3_h128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58.58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80.20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mp1_h64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51.60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63.37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mp3_h64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49.80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67.58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mp3_h16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48.82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60.00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mp2_h32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13.69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46.51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91.08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mp2_h64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45.00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53.41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5806440"/>
            <a:ext cx="5010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Convergence measured from the complete training curves. mp3_h32 has the best single checkpoint (97.80%) but a slower, less stable trajectory. Screen A: GINE 94.72% vs GAT 91.06% under a matched busbar/mean-readout setting.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5AF83AAF-0913-4053-AD23-986F47BC22D4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Screen C: graph-readout scope and reducer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Restricting readout to energized nodes is the single largest source-grid gain in the screens.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56231"/>
          <a:ext cx="4663438" cy="1645919"/>
        </p:xfrm>
        <a:graphic>
          <a:graphicData uri="http://schemas.openxmlformats.org/drawingml/2006/table">
            <a:tbl>
              <a:tblPr firstRow="0" bandRow="0"/>
              <a:tblGrid>
                <a:gridCol w="2424988"/>
                <a:gridCol w="1119225"/>
                <a:gridCol w="1119225"/>
              </a:tblGrid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413C3A"/>
                          </a:solidFill>
                          <a:latin typeface="Arial"/>
                        </a:rPr>
                        <a:t>Readout scope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413C3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413C3A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All visible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94.72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96.31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Controlled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94.60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94.79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24737F"/>
                          </a:solidFill>
                          <a:latin typeface="Arial"/>
                        </a:rPr>
                        <a:t>Energized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24737F"/>
                          </a:solidFill>
                          <a:latin typeface="Arial"/>
                        </a:rPr>
                        <a:t>98.93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24737F"/>
                          </a:solidFill>
                          <a:latin typeface="Arial"/>
                        </a:rPr>
                        <a:t>99.39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7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413C3A"/>
                          </a:solidFill>
                          <a:latin typeface="Arial"/>
                        </a:rPr>
                        <a:t>Controlled ∩ energized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91.45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7A7674"/>
                          </a:solidFill>
                          <a:latin typeface="Arial"/>
                        </a:rPr>
                        <a:t>96.47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6674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Full-test mean survival (%) by scope and reducer, seed 0. The all-visible/mean cell is inherited from Screen B.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50791"/>
          <a:ext cx="4663437" cy="2386584"/>
        </p:xfrm>
        <a:graphic>
          <a:graphicData uri="http://schemas.openxmlformats.org/drawingml/2006/table">
            <a:tbl>
              <a:tblPr firstRow="0" bandRow="0"/>
              <a:tblGrid>
                <a:gridCol w="1585569"/>
                <a:gridCol w="792784"/>
                <a:gridCol w="792784"/>
                <a:gridCol w="792784"/>
                <a:gridCol w="699516"/>
              </a:tblGrid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413C3A"/>
                          </a:solidFill>
                          <a:latin typeface="Arial"/>
                        </a:rPr>
                        <a:t>Scope / reducer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413C3A"/>
                          </a:solidFill>
                          <a:latin typeface="Arial"/>
                        </a:rPr>
                        <a:t>To 90% (M)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413C3A"/>
                          </a:solidFill>
                          <a:latin typeface="Arial"/>
                        </a:rPr>
                        <a:t>Curve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413C3A"/>
                          </a:solidFill>
                          <a:latin typeface="Arial"/>
                        </a:rPr>
                        <a:t>Final-20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413C3A"/>
                          </a:solidFill>
                          <a:latin typeface="Arial"/>
                        </a:rPr>
                        <a:t>Final-20 std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4737F"/>
                          </a:solidFill>
                          <a:latin typeface="Arial"/>
                        </a:rPr>
                        <a:t>Energized / 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4737F"/>
                          </a:solidFill>
                          <a:latin typeface="Arial"/>
                        </a:rPr>
                        <a:t>3.40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4737F"/>
                          </a:solidFill>
                          <a:latin typeface="Arial"/>
                        </a:rPr>
                        <a:t>79.26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4737F"/>
                          </a:solidFill>
                          <a:latin typeface="Arial"/>
                        </a:rPr>
                        <a:t>97.79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24737F"/>
                          </a:solidFill>
                          <a:latin typeface="Arial"/>
                        </a:rPr>
                        <a:t>4.12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Energized /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8.71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73.59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98.01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2.90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Ctrl ∩ energized /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5.97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72.97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91.18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8.59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All visible /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6.22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71.40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94.04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5.29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Controlled / 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6.47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70.94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91.21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6.08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Ctrl ∩ energized / 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8.88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68.65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86.31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8.80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All visible / 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4.73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68.38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88.57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8.08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Controlled / 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10.87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68.27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90.67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6.81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" name="Picture 8" descr="nl_s3ep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64160"/>
            <a:ext cx="6336792" cy="40989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6062471"/>
            <a:ext cx="6336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Smoothed training survival by readout scope and reducer.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F176F063-FFD2-4CCA-A83E-993FA1671D8B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Screens D and E: augmentations and asset message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Structural augmentations do not pay for themselves; asset direction is a coin-flip at one seed.</a:t>
            </a:r>
          </a:p>
        </p:txBody>
      </p:sp>
      <p:pic>
        <p:nvPicPr>
          <p:cNvPr id="6" name="Picture 5" descr="gs_s2_structu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34" y="1856231"/>
            <a:ext cx="4536491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30952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Screen D. Full 2³ factorial over same-substation edges (e), substation-summary nodes (n) and virtual-node readout (v). Baseline e0n0v0 highlighted.</a:t>
            </a:r>
          </a:p>
        </p:txBody>
      </p:sp>
      <p:pic>
        <p:nvPicPr>
          <p:cNvPr id="8" name="Picture 7" descr="gs_hmd_direction_see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55" y="1856231"/>
            <a:ext cx="4548721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330952"/>
            <a:ext cx="5513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Screen E. Full-test survival by generator direction (rows) and load direction (columns) on the disaggregated graph. Best cell gen a2b / load b2a at 99.12%; bi/bi at 99.02%.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Why virtual-node readout collapses (18–77%).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Stacking several aggregation hubs restricts information flow inside a two-layer encoder: the summary and virtual nodes consume hops that the busbars need for physical message passing.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8DE989F-650E-4848-9421-7FE7A9EE3FAF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Screen F: the candidate-action head on bus14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Six of eight cells clear 98.2%. No single factor separates the design, so all eight are carried into transfer.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56231"/>
          <a:ext cx="5806438" cy="3456432"/>
        </p:xfrm>
        <a:graphic>
          <a:graphicData uri="http://schemas.openxmlformats.org/drawingml/2006/table">
            <a:tbl>
              <a:tblPr firstRow="0" bandRow="0"/>
              <a:tblGrid>
                <a:gridCol w="1567738"/>
                <a:gridCol w="870966"/>
                <a:gridCol w="870966"/>
                <a:gridCol w="1277416"/>
                <a:gridCol w="121935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Candidate pooling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Descriptor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Idle head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Mean survival (%)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413C3A"/>
                          </a:solidFill>
                          <a:latin typeface="Arial"/>
                        </a:rPr>
                        <a:t>Best checkpoint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99.52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14,929,920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typed_mean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99.50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14,929,920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99.18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14,929,920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98.66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14,929,920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98.32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14,846,976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typed_mean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24737F"/>
                          </a:solidFill>
                          <a:latin typeface="Arial"/>
                        </a:rPr>
                        <a:t>98.17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14,764,032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typed_mean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B51F1F"/>
                          </a:solidFill>
                          <a:latin typeface="Arial"/>
                        </a:rPr>
                        <a:t>92.50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12,358,656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typed_mean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413C3A"/>
                          </a:solidFill>
                          <a:latin typeface="Arial"/>
                        </a:rPr>
                        <a:t>a0h1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>
                          <a:solidFill>
                            <a:srgbClr val="B51F1F"/>
                          </a:solidFill>
                          <a:latin typeface="Arial"/>
                        </a:rPr>
                        <a:t>57.84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>
                          <a:solidFill>
                            <a:srgbClr val="7A7674"/>
                          </a:solidFill>
                          <a:latin typeface="Arial"/>
                        </a:rPr>
                        <a:t>11,612,160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76672"/>
            <a:ext cx="5806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Full-test mean survival on 201 held-out bus14 chronics, one seed per cell.</a:t>
            </a:r>
          </a:p>
        </p:txBody>
      </p:sp>
      <p:pic>
        <p:nvPicPr>
          <p:cNvPr id="8" name="Picture 7" descr="nl_cas_h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90109"/>
            <a:ext cx="5285232" cy="26984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513831"/>
            <a:ext cx="5285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Training survival for the eight candidate-head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Reading it honestly.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The apparent marginal gaps — mean 98.9% against typed_mean 87.0%, f0 97.3% against f1 88.6% — are driven by two low interaction cells. Removing the single 57.84% failure brings the pooling gap to about one point. Typed-mean only shows its value after the grid change.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E638133C-6C58-41DF-9F93-4A1EC1170856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Cross-grid feature shift: the complete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Structural zeros hide the mismatch. Only the applicable-row view compares the physical measurements.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30551"/>
          <a:ext cx="6857994" cy="3291839"/>
        </p:xfrm>
        <a:graphic>
          <a:graphicData uri="http://schemas.openxmlformats.org/drawingml/2006/table">
            <a:tbl>
              <a:tblPr firstRow="0" bandRow="0"/>
              <a:tblGrid>
                <a:gridCol w="1679510"/>
                <a:gridCol w="699795"/>
                <a:gridCol w="699795"/>
                <a:gridCol w="699795"/>
                <a:gridCol w="559836"/>
                <a:gridCol w="629816"/>
                <a:gridCol w="699795"/>
                <a:gridCol w="559836"/>
                <a:gridCol w="629816"/>
              </a:tblGrid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zeros bus14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zeros WCCI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>
                          <a:solidFill>
                            <a:srgbClr val="413C3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theta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77.5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73.8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+0.653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0.157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+1.864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1.43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0.678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77.8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76.7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−0.037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2.14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0.042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−0.158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2.54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1" i="0">
                          <a:solidFill>
                            <a:srgbClr val="B51F1F"/>
                          </a:solidFill>
                          <a:latin typeface="Arial"/>
                        </a:rPr>
                        <a:t>0.201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rho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−0.088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0.053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−0.260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1.05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0.141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line_status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−0.005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constant at one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timestep_overflow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−0.002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−0.004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is_busbar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65.0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−0.093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0.045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is_generator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91.5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89.3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+0.076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1.11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0.022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is_load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84.5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82.0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+0.066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1.06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29192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413C3A"/>
                          </a:solidFill>
                          <a:latin typeface="Arial"/>
                        </a:rPr>
                        <a:t>is_transmission_line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63.6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−0.004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85416" y="1819655"/>
            <a:ext cx="1399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7A7674"/>
                </a:solidFill>
                <a:latin typeface="Arial"/>
              </a:rPr>
              <a:t>zeros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819655"/>
            <a:ext cx="18928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7A7674"/>
                </a:solidFill>
                <a:latin typeface="Arial"/>
              </a:rPr>
              <a:t>all sampled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7256" y="1819655"/>
            <a:ext cx="1883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B51F1F"/>
                </a:solidFill>
                <a:latin typeface="Arial"/>
              </a:rPr>
              <a:t>applicable rows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68112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Offset in pooled standard deviations; ratio is WCCI ÷ bus14; KS is the maximum ECDF gap. Cooldown channels are constant under do-nothing and omitted from the right block.</a:t>
            </a:r>
          </a:p>
        </p:txBody>
      </p:sp>
      <p:pic>
        <p:nvPicPr>
          <p:cNvPr id="11" name="Picture 10" descr="wcci_feature_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243357"/>
            <a:ext cx="4187952" cy="13288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79" y="4050791"/>
            <a:ext cx="4187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Full range of the two asset channels on a log density scale: WCCI carries a negative net-injection tail absent from bus14.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79" y="4736592"/>
          <a:ext cx="4187949" cy="1554480"/>
        </p:xfrm>
        <a:graphic>
          <a:graphicData uri="http://schemas.openxmlformats.org/drawingml/2006/table">
            <a:tbl>
              <a:tblPr firstRow="0" bandRow="0"/>
              <a:tblGrid>
                <a:gridCol w="1758939"/>
                <a:gridCol w="795710"/>
                <a:gridCol w="837590"/>
                <a:gridCol w="79571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Divisor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bus14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WCCI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p ratio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Maximum P_max  (used)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Total P_max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2,450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0.56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Generator count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Median P_max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3.04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98079" y="6291071"/>
            <a:ext cx="4187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Candidate power normalizers. A ratio of 1.00 is ideal; unscaled it is 2.54.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FF47F4D6-A367-40A0-9796-4700581128B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Feature distributions before and after the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The angle difference behaves like ρ. Power gains a matched spread but a worse centre.</a:t>
            </a:r>
          </a:p>
        </p:txBody>
      </p:sp>
      <p:pic>
        <p:nvPicPr>
          <p:cNvPr id="6" name="Picture 5" descr="wcci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87" y="1801367"/>
            <a:ext cx="5328744" cy="2971800"/>
          </a:xfrm>
          <a:prstGeom prst="rect">
            <a:avLst/>
          </a:prstGeom>
        </p:spPr>
      </p:pic>
      <p:pic>
        <p:nvPicPr>
          <p:cNvPr id="7" name="Picture 6" descr="wcci_feature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13378"/>
            <a:ext cx="5440680" cy="1547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846320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Raw inputs on the rows where each channel is 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846320"/>
            <a:ext cx="5440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After gnn_angle_representation = edge_diff and gnn_physical_scaling = true.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08960" y="5321808"/>
          <a:ext cx="6035035" cy="1074419"/>
        </p:xfrm>
        <a:graphic>
          <a:graphicData uri="http://schemas.openxmlformats.org/drawingml/2006/table">
            <a:tbl>
              <a:tblPr firstRow="0" bandRow="0"/>
              <a:tblGrid>
                <a:gridCol w="1327708"/>
                <a:gridCol w="844905"/>
                <a:gridCol w="724204"/>
                <a:gridCol w="724204"/>
                <a:gridCol w="844905"/>
                <a:gridCol w="724204"/>
                <a:gridCol w="844905"/>
              </a:tblGrid>
              <a:tr h="2148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offset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413C3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2148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theta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+1.864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1.43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0.678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replaced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148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theta_diff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−0.383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1.15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0.230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14883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−0.158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2.54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0.201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−0.808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0.511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14887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413C3A"/>
                          </a:solidFill>
                          <a:latin typeface="Arial"/>
                        </a:rPr>
                        <a:t>rho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−0.260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1.05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0" i="0">
                          <a:solidFill>
                            <a:srgbClr val="7A7674"/>
                          </a:solidFill>
                          <a:latin typeface="Arial"/>
                        </a:rPr>
                        <a:t>0.141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−0.260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1.05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i="0">
                          <a:solidFill>
                            <a:srgbClr val="24737F"/>
                          </a:solidFill>
                          <a:latin typeface="Arial"/>
                        </a:rPr>
                        <a:t>0.141</a:t>
                      </a:r>
                    </a:p>
                  </a:txBody>
                  <a:tcPr marL="50292" marR="50292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80560" y="5120640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7A7674"/>
                </a:solidFill>
                <a:latin typeface="Arial"/>
              </a:rPr>
              <a:t>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120640"/>
            <a:ext cx="1965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4737F"/>
                </a:solidFill>
                <a:latin typeface="Arial"/>
              </a:rPr>
              <a:t>transformed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37EDFF0F-D2A6-4688-9F63-79307F5D6637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The Gmax-delta 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Same shared scorer, different information: maximum readout plus an explicit encoding of each object modification.</a:t>
            </a:r>
          </a:p>
        </p:txBody>
      </p:sp>
      <p:pic>
        <p:nvPicPr>
          <p:cNvPr id="6" name="Picture 5" descr="candidate_action_gmax_del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63" y="1856231"/>
            <a:ext cx="709036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34924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Global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50992"/>
            <a:ext cx="3630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13C3A"/>
                </a:solidFill>
                <a:latin typeface="Arial"/>
              </a:rPr>
              <a:t>z uses a component-wise maximum over energized nodes instead of a mean, so a single stressed node is not averaged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534924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Action delta 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5650992"/>
            <a:ext cx="3630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13C3A"/>
                </a:solidFill>
                <a:latin typeface="Arial"/>
              </a:rPr>
              <a:t>Every exact modification is encoded from the object changed, the mean embedding of its substation busbars, the target busbar, the target-minus-source difference, and static operation flags.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9016" y="534924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Effect after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6" y="5650992"/>
            <a:ext cx="36301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13C3A"/>
                </a:solidFill>
                <a:latin typeface="Arial"/>
              </a:rPr>
              <a:t>+4.6 matched points on the difficult cohort without the gate; median falls from 19.1% at k = 32 to 5.1% at k = 256, so it does not fix the ranking problem either.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62304F94-DEE4-424C-A50C-7DABCA4C41C3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Decision-time changes and the local gate,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The gate is worth more than either policy change — but only for the transferred actor.</a:t>
            </a:r>
          </a:p>
        </p:txBody>
      </p:sp>
      <p:pic>
        <p:nvPicPr>
          <p:cNvPr id="6" name="Picture 5" descr="wcci_intervention_gat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2227"/>
            <a:ext cx="5532120" cy="221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650992"/>
            <a:ext cx="5532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Matched changes on the difficult cohort. Gmax-delta and the adaptive budget are compared against the same plain zero-shot architectures.</a:t>
            </a:r>
          </a:p>
        </p:txBody>
      </p:sp>
      <p:pic>
        <p:nvPicPr>
          <p:cNvPr id="8" name="Picture 7" descr="wcci_policy_change_absolute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14768"/>
            <a:ext cx="5513832" cy="35862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650992"/>
            <a:ext cx="5513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Absolute performance at each action-space size: two policy changes × gated and ungated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53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413C3A"/>
                </a:solidFill>
                <a:latin typeface="Arial"/>
              </a:rPr>
              <a:t>Block sizes.  </a:t>
            </a:r>
            <a:r>
              <a:rPr sz="1250" b="0" i="0">
                <a:solidFill>
                  <a:srgbClr val="413C3A"/>
                </a:solidFill>
                <a:latin typeface="Arial"/>
              </a:rPr>
              <a:t>The plain block contains all 64 matched architecture–k pairs; Gmax-delta and the adaptive budget contain 60 each, because their complete designs use 15 architectures rather than 16. The gate improves 58 of 64 plain cells (+7.2 pts) but costs the scratch-trained scorer 2.2 pts and the flat MLP up to 2.8.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CDD4AA69-5355-48F4-8385-0E4BA3B6DE9B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Zero-shot result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10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Difficult-cohort survival across input condition, candidate pooling, descriptor, idle head and action-space size.</a:t>
            </a:r>
          </a:p>
        </p:txBody>
      </p:sp>
      <p:pic>
        <p:nvPicPr>
          <p:cNvPr id="6" name="Picture 5" descr="wcci_appendix_zero_sh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79"/>
            <a:ext cx="574238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Plain zero-shot actors, all 16 architectures × 4 action-space caps.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19655"/>
            <a:ext cx="4233672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50" b="1" i="0">
                <a:solidFill>
                  <a:srgbClr val="24737F"/>
                </a:solidFill>
                <a:latin typeface="Arial"/>
              </a:rPr>
              <a:t>HOW TO READ IT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Rows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are architectures, named input · pooling · descriptor · idle head. The coloured strip on the left marks the input condition: blue = raw inputs, orange = physical scaling.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Columns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are the four reduced action spaces, given twice — ungated on the left, local-ρ = 0.95 on the right.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The right-hand bars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give the gate effect in points, averaged over caps on matched cells only. Every bar is positive: the gate helps every transferred architecture, though by very different amounts.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Top bars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are column means; the dashed line is do nothing at 8.3%.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7A7674"/>
                </a:solidFill>
                <a:latin typeface="Arial"/>
              </a:rPr>
              <a:t>Companion matrices for the adaptive intervention budget and the Gmax-delta feature use the same layout and are in the report appendix.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1EBF4A1E-185D-4297-B4C0-A9EACF568DC4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Target-trained controls,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7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The complete board behind the three family means on the scratch-training slide.</a:t>
            </a:r>
          </a:p>
        </p:txBody>
      </p:sp>
      <p:pic>
        <p:nvPicPr>
          <p:cNvPr id="6" name="Picture 5" descr="wcci_appendix_target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44" y="1856231"/>
            <a:ext cx="6462711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856231"/>
            <a:ext cx="3273552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00" b="1" i="0">
                <a:solidFill>
                  <a:srgbClr val="24737F"/>
                </a:solidFill>
                <a:latin typeface="Arial"/>
              </a:rPr>
              <a:t>PER-AGENT ACTION COUNTS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0" y="2148839"/>
          <a:ext cx="3273547" cy="1755648"/>
        </p:xfrm>
        <a:graphic>
          <a:graphicData uri="http://schemas.openxmlformats.org/drawingml/2006/table">
            <a:tbl>
              <a:tblPr firstRow="0" bandRow="0"/>
              <a:tblGrid>
                <a:gridCol w="635641"/>
                <a:gridCol w="349602"/>
                <a:gridCol w="540294"/>
                <a:gridCol w="349602"/>
                <a:gridCol w="413166"/>
                <a:gridCol w="476730"/>
                <a:gridCol w="50851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Space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a0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a1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a2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413C3A"/>
                      </a:solidFill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65,642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1,119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66,965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24737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k=32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24737F"/>
                          </a:solidFill>
                          <a:latin typeface="Arial"/>
                        </a:rPr>
                        <a:t>33.1%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k=64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24737F"/>
                          </a:solidFill>
                          <a:latin typeface="Arial"/>
                        </a:rPr>
                        <a:t>67.9%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k=128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24737F"/>
                          </a:solidFill>
                          <a:latin typeface="Arial"/>
                        </a:rPr>
                        <a:t>68.2%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9525" cap="flat" cmpd="sng" algn="ctr">
                      <a:solidFill>
                        <a:srgbClr val="D8D5D3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413C3A"/>
                          </a:solidFill>
                          <a:latin typeface="Arial"/>
                        </a:rPr>
                        <a:t>k=256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>
                          <a:solidFill>
                            <a:srgbClr val="7A7674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>
                          <a:solidFill>
                            <a:srgbClr val="24737F"/>
                          </a:solidFill>
                          <a:latin typeface="Arial"/>
                        </a:rPr>
                        <a:t>94.9%</a:t>
                      </a:r>
                    </a:p>
                  </a:txBody>
                  <a:tcPr marL="22860" marR="22860" marT="27432" marB="27432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413C3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4005072"/>
            <a:ext cx="3273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 i="0">
                <a:solidFill>
                  <a:srgbClr val="413C3A"/>
                </a:solidFill>
                <a:latin typeface="Arial"/>
              </a:rPr>
              <a:t>Greedy is measured on the 24 difficult chronics</a:t>
            </a:r>
            <a:r>
              <a:rPr sz="1200" b="0" i="0">
                <a:solidFill>
                  <a:srgbClr val="413C3A"/>
                </a:solidFill>
                <a:latin typeface="Arial"/>
              </a:rPr>
              <a:t> of the fixed 50-chronic set, not on the full 576-chronic WCCI test split.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200" b="1" i="0">
                <a:solidFill>
                  <a:srgbClr val="413C3A"/>
                </a:solidFill>
                <a:latin typeface="Arial"/>
              </a:rPr>
              <a:t>k is a cap, not a fixed size.</a:t>
            </a:r>
            <a:r>
              <a:rPr sz="1200" b="0" i="0">
                <a:solidFill>
                  <a:srgbClr val="413C3A"/>
                </a:solidFill>
                <a:latin typeface="Arial"/>
              </a:rPr>
              <a:t> Agents with fewer valid actions keep their complete list, which is why agent 0 stays at 77 and agent 2 at 127.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413C3A"/>
                </a:solidFill>
                <a:latin typeface="Arial"/>
              </a:rPr>
              <a:t>Actions are ranked offline</a:t>
            </a:r>
            <a:r>
              <a:rPr sz="1200" b="0" i="0">
                <a:solidFill>
                  <a:srgbClr val="413C3A"/>
                </a:solidFill>
                <a:latin typeface="Arial"/>
              </a:rPr>
              <a:t> before training: states are collected whenever ρ_max &gt; 0.95, each candidate is simulated one step, and an action scores by the fraction of states in which it lowers post-action loading by more than 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5509781D-7C23-4F65-82AC-277370127936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Per-chronic diagnostic on the difficult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CHAPTER 10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858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4737F"/>
                </a:solidFill>
                <a:latin typeface="Arial"/>
              </a:rPr>
              <a:t>Averages hide which specific scenarios a policy rescues and which it breaks.</a:t>
            </a:r>
          </a:p>
        </p:txBody>
      </p:sp>
      <p:pic>
        <p:nvPicPr>
          <p:cNvPr id="6" name="Picture 5" descr="wcci_appendix_chron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79"/>
            <a:ext cx="7254918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7A7674"/>
                </a:solidFill>
                <a:latin typeface="Arial"/>
              </a:rPr>
              <a:t>The five strongest runs in the corpus, chronic by chronic, against the greedy oracle at each run's own action cap.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19655"/>
            <a:ext cx="3456432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150" b="1" i="0">
                <a:solidFill>
                  <a:srgbClr val="24737F"/>
                </a:solidFill>
                <a:latin typeface="Arial"/>
              </a:rPr>
              <a:t>HOW TO READ IT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300" b="1" i="0">
                <a:solidFill>
                  <a:srgbClr val="413C3A"/>
                </a:solidFill>
                <a:latin typeface="Arial"/>
              </a:rPr>
              <a:t>Wide grey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is the greedy oracle at that run's own action cap; the narrow coloured bars are the runs; the black segment is do nothing on that chronic.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What it shows.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A handful of chronics are solved by almost every policy, and a handful by none. The mean is therefore driven by the middle group, where policies genuinely differ — which is why matched comparisons on the same cohort are more informative than absolute means.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63656" y="-9144"/>
            <a:ext cx="685800" cy="8778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EECF4E7D-F47A-4BCE-8A2F-C0498869EB20}" type="slidenum">
              <a:rPr sz="1700" b="1">
                <a:solidFill>
                  <a:srgbClr val="FF0000"/>
                </a:solidFill>
                <a:latin typeface="Arial"/>
              </a:rPr>
              <a:t>0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02870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413C3A"/>
                </a:solidFill>
                <a:latin typeface="Arial"/>
              </a:rPr>
              <a:t>Definitions and likely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30175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9B9795"/>
                </a:solidFill>
                <a:latin typeface="Arial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01367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Chronic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One load and generation time series — a scenario. Episode length is up to 8,064 steps.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Mean survival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Survived steps ÷ maximum episode length, averaged over the evaluated chronics.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Easy / difficult cohort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Of the fixed 50 WCCI chronics, the 26 that do nothing completes and the 24 it does not.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Rescues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The number of difficult chronics a policy completes.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ρ (rho)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Line loading divided by that line's own thermal limit. Already grid-relative, which is why it transfers.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801367"/>
            <a:ext cx="5440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k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Cap on the number of actions per agent after offline reduction. Agents with fewer valid actions keep their full list.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NL / NLS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Original inputs / physical scaling plus line-angle differences.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Typed-mean pooling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One mean per node type (bus, line, load, generator), concatenated — width 4·d_h instead of d_h.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Local-ρ gate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Block an agent's action while the maximum loading on its own lines is below 0.95.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sz="1300" b="1" i="0">
                <a:solidFill>
                  <a:srgbClr val="24737F"/>
                </a:solidFill>
                <a:latin typeface="Arial"/>
              </a:rPr>
              <a:t>Greedy progress</a:t>
            </a:r>
            <a:r>
              <a:rPr sz="1300" b="0" i="0">
                <a:solidFill>
                  <a:srgbClr val="413C3A"/>
                </a:solidFill>
                <a:latin typeface="Arial"/>
              </a:rPr>
              <a:t> 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100 · (S_π − S_DN) / (S_greedy,k − S_DN): 0% is do nothing, 100% is greedy at the same 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623560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4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790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B51F1F"/>
                </a:solidFill>
                <a:latin typeface="Arial"/>
              </a:rPr>
              <a:t>Why difficult-cohort survival and not overall survival?  </a:t>
            </a:r>
            <a:r>
              <a:rPr sz="1300" b="0" i="0">
                <a:solidFill>
                  <a:srgbClr val="413C3A"/>
                </a:solidFill>
                <a:latin typeface="Arial"/>
              </a:rPr>
              <a:t>Do nothing already completes 26 of the 50 chronics, so overall survival mostly measures how little damage a policy does to cases that never needed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2025">
      <a:dk1>
        <a:srgbClr val="413C3A"/>
      </a:dk1>
      <a:lt1>
        <a:srgbClr val="FFFFFF"/>
      </a:lt1>
      <a:dk2>
        <a:srgbClr val="FF0000"/>
      </a:dk2>
      <a:lt2>
        <a:srgbClr val="CAC7C7"/>
      </a:lt2>
      <a:accent1>
        <a:srgbClr val="00A79F"/>
      </a:accent1>
      <a:accent2>
        <a:srgbClr val="24737F"/>
      </a:accent2>
      <a:accent3>
        <a:srgbClr val="512880"/>
      </a:accent3>
      <a:accent4>
        <a:srgbClr val="4F8FCC"/>
      </a:accent4>
      <a:accent5>
        <a:srgbClr val="D0661C"/>
      </a:accent5>
      <a:accent6>
        <a:srgbClr val="B51F1F"/>
      </a:accent6>
      <a:hlink>
        <a:srgbClr val="ED6E9C"/>
      </a:hlink>
      <a:folHlink>
        <a:srgbClr val="4F8FC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5BC292F7-4B02-4D43-A0BB-BE2625981E9E}" vid="{96C7C49B-BFB2-E946-B85D-B207A9E17A7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34471</TotalTime>
  <Words>3931</Words>
  <Application>Microsoft Office PowerPoint</Application>
  <PresentationFormat>Widescreen</PresentationFormat>
  <Paragraphs>953</Paragraphs>
  <Slides>73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Thème Office</vt:lpstr>
      <vt:lpstr>Welcome to EPFL</vt:lpstr>
      <vt:lpstr>OUTLINE</vt:lpstr>
      <vt:lpstr>Our vision of EPFL</vt:lpstr>
      <vt:lpstr>OUR AMBITION</vt:lpstr>
      <vt:lpstr>EPFL at glance</vt:lpstr>
      <vt:lpstr>Operating Revenue</vt:lpstr>
      <vt:lpstr>From Architecture,  to Mathematics,  to Chemistry, Life Sciences and Computer Science</vt:lpstr>
      <vt:lpstr>EPFL’S THREE MISSIONS ACCORDING TO THE FEDERAL ACT ON THE FEDERAL INSTITUTES OF TECHNOLOGY</vt:lpstr>
      <vt:lpstr>Associated campuses</vt:lpstr>
      <vt:lpstr>Management team 2026</vt:lpstr>
      <vt:lpstr>Swiss Education System</vt:lpstr>
      <vt:lpstr>ETH Domain</vt:lpstr>
      <vt:lpstr>PRIORITIES  FOR THE NEXT 4 YEARS</vt:lpstr>
      <vt:lpstr>OUTLINE</vt:lpstr>
      <vt:lpstr>Education in 2025</vt:lpstr>
      <vt:lpstr>Students</vt:lpstr>
      <vt:lpstr>RECENT MASTERS</vt:lpstr>
      <vt:lpstr>The education of the future</vt:lpstr>
      <vt:lpstr>World Rankings</vt:lpstr>
      <vt:lpstr>Diploma delivered in 2025 </vt:lpstr>
      <vt:lpstr>Doctoral school</vt:lpstr>
      <vt:lpstr>LEARN Center for Learning Sciences</vt:lpstr>
      <vt:lpstr>SPOT</vt:lpstr>
      <vt:lpstr>MAKE! USEFUL.CREATIVE.SUTAINABLE</vt:lpstr>
      <vt:lpstr>EPFL Xplore wins 1st place at the 2025 European Rover Challenge</vt:lpstr>
      <vt:lpstr>Double Deck Coupole</vt:lpstr>
      <vt:lpstr>A bridge between Private and Public:  Professors of Practice</vt:lpstr>
      <vt:lpstr>OUTLINE</vt:lpstr>
      <vt:lpstr>Research in 2025</vt:lpstr>
      <vt:lpstr>Winner of the Marcel Benoist Swiss Science Prize 2025 Prof. Tobias J. Kippenberg </vt:lpstr>
      <vt:lpstr>Prix Zonta 2025 PROF. ZOË HOLMES</vt:lpstr>
      <vt:lpstr>RETURNING TO EUROPE IN FULL FORCE ERC GRANT IN 2025</vt:lpstr>
      <vt:lpstr>Rise of Arc Lémanique PUBLICATIONS 2018-2022</vt:lpstr>
      <vt:lpstr>STRATEGIC INITIATIVES @ EPFL </vt:lpstr>
      <vt:lpstr>New Chairs in Green Energy in Valais</vt:lpstr>
      <vt:lpstr>Research A DEMONSTRATOR IN VALAIS (24.11.25)</vt:lpstr>
      <vt:lpstr>Research NEURO</vt:lpstr>
      <vt:lpstr>AI Center</vt:lpstr>
      <vt:lpstr>Research Initiatives </vt:lpstr>
      <vt:lpstr>SwissCardIA</vt:lpstr>
      <vt:lpstr>The Swiss LLM was released on September 2nd</vt:lpstr>
      <vt:lpstr>Advanced Science Building </vt:lpstr>
      <vt:lpstr>OUTLINE</vt:lpstr>
      <vt:lpstr>Innovation in 2025</vt:lpstr>
      <vt:lpstr>EPFL Innovation Park A rich variety of industries and a large business community – the first of its kind in Switzerland</vt:lpstr>
      <vt:lpstr>Partner companies in Innovation Park</vt:lpstr>
      <vt:lpstr>Startup NEURAL CONCEPT</vt:lpstr>
      <vt:lpstr>Startup CSKY.AI</vt:lpstr>
      <vt:lpstr>Venture Capitals 2024</vt:lpstr>
      <vt:lpstr>Success TOP 100 Swiss Startup Award 2025</vt:lpstr>
      <vt:lpstr>The European University  Spinout Ranking</vt:lpstr>
      <vt:lpstr>EPFL is an inspiring continuous engine for disruptive innovation</vt:lpstr>
      <vt:lpstr>M&amp;A and IPOs  of EPFL startups</vt:lpstr>
      <vt:lpstr>EPF’s as a Source of Disruptive Tech and Science Research</vt:lpstr>
      <vt:lpstr>Western Switzerland Innovation ecosystem</vt:lpstr>
      <vt:lpstr>Unlocking ecosystems synergies</vt:lpstr>
      <vt:lpstr>Sport Science and Technology</vt:lpstr>
      <vt:lpstr>TECH4DEV INTERNATIONAL COOPERATION  ACCELERATION PROGRAM FOR INNOVATION &amp; IMPACT</vt:lpstr>
      <vt:lpstr>Impact: a renewed commitment in three core pillars</vt:lpstr>
      <vt:lpstr>Science Outreach Department</vt:lpstr>
      <vt:lpstr>OUTLINE</vt:lpstr>
      <vt:lpstr>Collaborations throughout Switzerland</vt:lpstr>
      <vt:lpstr>Swiss National AI Institute  A SWISS ECOSYSTEM FOR AI</vt:lpstr>
      <vt:lpstr>NAIPO  NATIONAL AI INITIATIVE FOR PRECISION ONCOLOGY </vt:lpstr>
      <vt:lpstr>SDSC NATIONAL RESEARCH INFRASTRUCTURE</vt:lpstr>
      <vt:lpstr>Collaboration on quantitative Life Sciences in Arc Lémanique</vt:lpstr>
      <vt:lpstr>OUTLINE</vt:lpstr>
      <vt:lpstr>EPFL…  an incredible school, campus and talent factory </vt:lpstr>
      <vt:lpstr>The community</vt:lpstr>
      <vt:lpstr>You are our best ambassadors in Switzerland and around the world.</vt:lpstr>
      <vt:lpstr>By 2030 OUR COMMUNITY WILL REACH +55K TALENTS!</vt:lpstr>
      <vt:lpstr>Important to stay connected &amp; support EPFL!</vt:lpstr>
      <vt:lpstr>Thank you for your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Savicev</dc:creator>
  <cp:lastModifiedBy>Ivan Savicev</cp:lastModifiedBy>
  <cp:revision>575</cp:revision>
  <dcterms:created xsi:type="dcterms:W3CDTF">2024-12-08T15:22:47Z</dcterms:created>
  <dcterms:modified xsi:type="dcterms:W3CDTF">2026-01-27T06:40:09Z</dcterms:modified>
</cp:coreProperties>
</file>