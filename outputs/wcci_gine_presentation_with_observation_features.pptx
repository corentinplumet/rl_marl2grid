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38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">
            <a:extLst>
              <a:ext uri="{FF2B5EF4-FFF2-40B4-BE49-F238E27FC236}">
                <a16:creationId xmlns:a16="http://schemas.microsoft.com/office/drawing/2014/main" id="{72F9A187-5B48-4597-A3C0-A2CA0A5599BF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277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Four local GINE actors choose topology actions; one global critic guides MAPPO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DF1DEC7-A147-4283-B2BE-5F875931DDC0}"/>
              </a:ext>
            </a:extLst>
          </p:cNvPr>
          <p:cNvSpPr>
            <a:spLocks noGrp="1"/>
          </p:cNvSpPr>
          <p:nvPr/>
        </p:nvSpPr>
        <p:spPr>
          <a:xfrm>
            <a:off x="476250" y="762000"/>
            <a:ext cx="885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Current WCCI-36 configuration · decentralized execution · centralized training</a:t>
            </a:r>
          </a:p>
        </p:txBody>
      </p:sp>
      <p:sp>
        <p:nvSpPr>
          <p:cNvPr id="3" name="actor-band">
            <a:extLst>
              <a:ext uri="{FF2B5EF4-FFF2-40B4-BE49-F238E27FC236}">
                <a16:creationId xmlns:a16="http://schemas.microsoft.com/office/drawing/2014/main" id="{1D65B7A7-A3A8-49F4-9143-B223C74840BF}"/>
              </a:ext>
            </a:extLst>
          </p:cNvPr>
          <p:cNvSpPr>
            <a:spLocks noGrp="1"/>
          </p:cNvSpPr>
          <p:nvPr/>
        </p:nvSpPr>
        <p:spPr>
          <a:xfrm>
            <a:off x="304800" y="1143000"/>
            <a:ext cx="11582400" cy="3000375"/>
          </a:xfrm>
          <a:prstGeom prst="roundRect">
            <a:avLst>
              <a:gd name="adj" fmla="val 4444"/>
            </a:avLst>
          </a:prstGeom>
          <a:solidFill>
            <a:srgbClr val="F7FA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ctor-label">
            <a:extLst>
              <a:ext uri="{FF2B5EF4-FFF2-40B4-BE49-F238E27FC236}">
                <a16:creationId xmlns:a16="http://schemas.microsoft.com/office/drawing/2014/main" id="{B6067241-DCBD-464F-80E1-AC13B0FF873E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DECENTRALIZED ACTOR  πᵢ</a:t>
            </a:r>
          </a:p>
        </p:txBody>
      </p:sp>
      <p:sp>
        <p:nvSpPr>
          <p:cNvPr id="5" name="actor-repeat">
            <a:extLst>
              <a:ext uri="{FF2B5EF4-FFF2-40B4-BE49-F238E27FC236}">
                <a16:creationId xmlns:a16="http://schemas.microsoft.com/office/drawing/2014/main" id="{B668E5F1-F103-477C-AC00-4F0A756C02EB}"/>
              </a:ext>
            </a:extLst>
          </p:cNvPr>
          <p:cNvSpPr>
            <a:spLocks noGrp="1"/>
          </p:cNvSpPr>
          <p:nvPr/>
        </p:nvSpPr>
        <p:spPr>
          <a:xfrm>
            <a:off x="8039100" y="1209675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× 4 agents  ·  same architecture  ·  weights not shared</a:t>
            </a:r>
          </a:p>
        </p:txBody>
      </p:sp>
      <p:sp>
        <p:nvSpPr>
          <p:cNvPr id="6" name="local-graph">
            <a:extLst>
              <a:ext uri="{FF2B5EF4-FFF2-40B4-BE49-F238E27FC236}">
                <a16:creationId xmlns:a16="http://schemas.microsoft.com/office/drawing/2014/main" id="{80592817-2A0D-4E94-987D-2126C803CA66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1619250" cy="1409700"/>
          </a:xfrm>
          <a:prstGeom prst="roundRect">
            <a:avLst>
              <a:gd name="adj" fmla="val 8108"/>
            </a:avLst>
          </a:prstGeom>
          <a:solidFill>
            <a:srgbClr val="EAF3FA"/>
          </a:solidFill>
          <a:ln w="14288">
            <a:solidFill>
              <a:srgbClr val="78A5C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local-graph-accent">
            <a:extLst>
              <a:ext uri="{FF2B5EF4-FFF2-40B4-BE49-F238E27FC236}">
                <a16:creationId xmlns:a16="http://schemas.microsoft.com/office/drawing/2014/main" id="{C38C0B76-2D65-4B0F-8EE1-0FF992D52557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66675" cy="1409700"/>
          </a:xfrm>
          <a:prstGeom prst="roundRect">
            <a:avLst>
              <a:gd name="adj" fmla="val 50000"/>
            </a:avLst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local-graph-title">
            <a:extLst>
              <a:ext uri="{FF2B5EF4-FFF2-40B4-BE49-F238E27FC236}">
                <a16:creationId xmlns:a16="http://schemas.microsoft.com/office/drawing/2014/main" id="{5E91CE0A-E929-4A63-9738-EAE2400D465A}"/>
              </a:ext>
            </a:extLst>
          </p:cNvPr>
          <p:cNvSpPr>
            <a:spLocks noGrp="1"/>
          </p:cNvSpPr>
          <p:nvPr/>
        </p:nvSpPr>
        <p:spPr>
          <a:xfrm>
            <a:off x="638175" y="1847850"/>
            <a:ext cx="1371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Local busbar graph  Gᵢ</a:t>
            </a:r>
          </a:p>
        </p:txBody>
      </p:sp>
      <p:sp>
        <p:nvSpPr>
          <p:cNvPr id="9" name="local-graph-body">
            <a:extLst>
              <a:ext uri="{FF2B5EF4-FFF2-40B4-BE49-F238E27FC236}">
                <a16:creationId xmlns:a16="http://schemas.microsoft.com/office/drawing/2014/main" id="{308A063C-9873-4ABA-9E0F-9B1AF8D30377}"/>
              </a:ext>
            </a:extLst>
          </p:cNvPr>
          <p:cNvSpPr>
            <a:spLocks noGrp="1"/>
          </p:cNvSpPr>
          <p:nvPr/>
        </p:nvSpPr>
        <p:spPr>
          <a:xfrm>
            <a:off x="638175" y="2114550"/>
            <a:ext cx="13620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Nodes: local busbars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Edges: feasible line connections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Topology: active-edge mask</a:t>
            </a:r>
          </a:p>
        </p:txBody>
      </p:sp>
      <p:sp>
        <p:nvSpPr>
          <p:cNvPr id="10" name="node-tensor">
            <a:extLst>
              <a:ext uri="{FF2B5EF4-FFF2-40B4-BE49-F238E27FC236}">
                <a16:creationId xmlns:a16="http://schemas.microsoft.com/office/drawing/2014/main" id="{10C7F0B5-C981-4120-A180-30228B8568C6}"/>
              </a:ext>
            </a:extLst>
          </p:cNvPr>
          <p:cNvSpPr>
            <a:spLocks noGrp="1"/>
          </p:cNvSpPr>
          <p:nvPr/>
        </p:nvSpPr>
        <p:spPr>
          <a:xfrm>
            <a:off x="2447925" y="1571625"/>
            <a:ext cx="1562100" cy="1171575"/>
          </a:xfrm>
          <a:prstGeom prst="roundRect">
            <a:avLst>
              <a:gd name="adj" fmla="val 9756"/>
            </a:avLst>
          </a:prstGeom>
          <a:solidFill>
            <a:srgbClr val="F0F6FB"/>
          </a:solidFill>
          <a:ln w="14288">
            <a:solidFill>
              <a:srgbClr val="8F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1" name="node-tensor-accent">
            <a:extLst>
              <a:ext uri="{FF2B5EF4-FFF2-40B4-BE49-F238E27FC236}">
                <a16:creationId xmlns:a16="http://schemas.microsoft.com/office/drawing/2014/main" id="{048CB948-5938-4498-A4DF-9E163C030F73}"/>
              </a:ext>
            </a:extLst>
          </p:cNvPr>
          <p:cNvSpPr>
            <a:spLocks noGrp="1"/>
          </p:cNvSpPr>
          <p:nvPr/>
        </p:nvSpPr>
        <p:spPr>
          <a:xfrm>
            <a:off x="2447925" y="1571625"/>
            <a:ext cx="66675" cy="1171575"/>
          </a:xfrm>
          <a:prstGeom prst="roundRect">
            <a:avLst>
              <a:gd name="adj" fmla="val 50000"/>
            </a:avLst>
          </a:prstGeom>
          <a:solidFill>
            <a:srgbClr val="4384AA"/>
          </a:solidFill>
          <a:ln w="0">
            <a:solidFill>
              <a:srgbClr val="43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ode-tensor-title">
            <a:extLst>
              <a:ext uri="{FF2B5EF4-FFF2-40B4-BE49-F238E27FC236}">
                <a16:creationId xmlns:a16="http://schemas.microsoft.com/office/drawing/2014/main" id="{2B136E8F-DC65-4638-BA1C-486E6953454A}"/>
              </a:ext>
            </a:extLst>
          </p:cNvPr>
          <p:cNvSpPr>
            <a:spLocks noGrp="1"/>
          </p:cNvSpPr>
          <p:nvPr/>
        </p:nvSpPr>
        <p:spPr>
          <a:xfrm>
            <a:off x="2609850" y="165735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Node tensor</a:t>
            </a:r>
          </a:p>
        </p:txBody>
      </p:sp>
      <p:sp>
        <p:nvSpPr>
          <p:cNvPr id="13" name="node-tensor-body">
            <a:extLst>
              <a:ext uri="{FF2B5EF4-FFF2-40B4-BE49-F238E27FC236}">
                <a16:creationId xmlns:a16="http://schemas.microsoft.com/office/drawing/2014/main" id="{C724DB06-53B1-4635-851A-FA12BFDE038A}"/>
              </a:ext>
            </a:extLst>
          </p:cNvPr>
          <p:cNvSpPr>
            <a:spLocks noGrp="1"/>
          </p:cNvSpPr>
          <p:nvPr/>
        </p:nvSpPr>
        <p:spPr>
          <a:xfrm>
            <a:off x="2609850" y="1924050"/>
            <a:ext cx="13049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physical features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substation ID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+ 8-D busbar ID</a:t>
            </a:r>
          </a:p>
          <a:p>
            <a:endParaRPr sz="900" b="0">
              <a:solidFill>
                <a:srgbClr val="415466"/>
              </a:solidFill>
            </a:endParaRP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22 features / node</a:t>
            </a:r>
          </a:p>
        </p:txBody>
      </p:sp>
      <p:sp>
        <p:nvSpPr>
          <p:cNvPr id="14" name="edge-tensor">
            <a:extLst>
              <a:ext uri="{FF2B5EF4-FFF2-40B4-BE49-F238E27FC236}">
                <a16:creationId xmlns:a16="http://schemas.microsoft.com/office/drawing/2014/main" id="{FA73328B-6040-4FF3-97B5-A480E7F6EBC8}"/>
              </a:ext>
            </a:extLst>
          </p:cNvPr>
          <p:cNvSpPr>
            <a:spLocks noGrp="1"/>
          </p:cNvSpPr>
          <p:nvPr/>
        </p:nvSpPr>
        <p:spPr>
          <a:xfrm>
            <a:off x="2447925" y="2886075"/>
            <a:ext cx="1562100" cy="971550"/>
          </a:xfrm>
          <a:prstGeom prst="roundRect">
            <a:avLst>
              <a:gd name="adj" fmla="val 11765"/>
            </a:avLst>
          </a:prstGeom>
          <a:solidFill>
            <a:srgbClr val="F0F6FB"/>
          </a:solidFill>
          <a:ln w="14288">
            <a:solidFill>
              <a:srgbClr val="8FB3C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5" name="edge-tensor-accent">
            <a:extLst>
              <a:ext uri="{FF2B5EF4-FFF2-40B4-BE49-F238E27FC236}">
                <a16:creationId xmlns:a16="http://schemas.microsoft.com/office/drawing/2014/main" id="{E662FCD7-6772-4C48-B0AE-6D696DE488FB}"/>
              </a:ext>
            </a:extLst>
          </p:cNvPr>
          <p:cNvSpPr>
            <a:spLocks noGrp="1"/>
          </p:cNvSpPr>
          <p:nvPr/>
        </p:nvSpPr>
        <p:spPr>
          <a:xfrm>
            <a:off x="2447925" y="2886075"/>
            <a:ext cx="66675" cy="971550"/>
          </a:xfrm>
          <a:prstGeom prst="roundRect">
            <a:avLst>
              <a:gd name="adj" fmla="val 50000"/>
            </a:avLst>
          </a:prstGeom>
          <a:solidFill>
            <a:srgbClr val="4384AA"/>
          </a:solidFill>
          <a:ln w="0">
            <a:solidFill>
              <a:srgbClr val="438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dge-tensor-title">
            <a:extLst>
              <a:ext uri="{FF2B5EF4-FFF2-40B4-BE49-F238E27FC236}">
                <a16:creationId xmlns:a16="http://schemas.microsoft.com/office/drawing/2014/main" id="{A3023238-68C5-4CC1-B968-0E36EDE749F6}"/>
              </a:ext>
            </a:extLst>
          </p:cNvPr>
          <p:cNvSpPr>
            <a:spLocks noGrp="1"/>
          </p:cNvSpPr>
          <p:nvPr/>
        </p:nvSpPr>
        <p:spPr>
          <a:xfrm>
            <a:off x="2609850" y="2971800"/>
            <a:ext cx="1314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Edge tensor</a:t>
            </a:r>
          </a:p>
        </p:txBody>
      </p:sp>
      <p:sp>
        <p:nvSpPr>
          <p:cNvPr id="17" name="edge-tensor-body">
            <a:extLst>
              <a:ext uri="{FF2B5EF4-FFF2-40B4-BE49-F238E27FC236}">
                <a16:creationId xmlns:a16="http://schemas.microsoft.com/office/drawing/2014/main" id="{11E132BE-F0D5-4932-976B-12F463BD0324}"/>
              </a:ext>
            </a:extLst>
          </p:cNvPr>
          <p:cNvSpPr>
            <a:spLocks noGrp="1"/>
          </p:cNvSpPr>
          <p:nvPr/>
        </p:nvSpPr>
        <p:spPr>
          <a:xfrm>
            <a:off x="2609850" y="3238500"/>
            <a:ext cx="13049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6 line features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status · ρ · overload</a:t>
            </a:r>
          </a:p>
          <a:p>
            <a:pPr algn="l">
              <a:defRPr sz="900" b="0">
                <a:solidFill>
                  <a:srgbClr val="415466"/>
                </a:solidFill>
              </a:defRPr>
            </a:pPr>
            <a:r>
              <a:rPr sz="900" b="0">
                <a:solidFill>
                  <a:srgbClr val="415466"/>
                </a:solidFill>
              </a:rPr>
              <a:t>cooldown · maintenance</a:t>
            </a:r>
          </a:p>
        </p:txBody>
      </p:sp>
      <p:sp>
        <p:nvSpPr>
          <p:cNvPr id="18" name="gine-encoder">
            <a:extLst>
              <a:ext uri="{FF2B5EF4-FFF2-40B4-BE49-F238E27FC236}">
                <a16:creationId xmlns:a16="http://schemas.microsoft.com/office/drawing/2014/main" id="{489E5EFA-9676-4C20-BCD8-B1827E1B8D21}"/>
              </a:ext>
            </a:extLst>
          </p:cNvPr>
          <p:cNvSpPr>
            <a:spLocks noGrp="1"/>
          </p:cNvSpPr>
          <p:nvPr/>
        </p:nvSpPr>
        <p:spPr>
          <a:xfrm>
            <a:off x="4400550" y="1724025"/>
            <a:ext cx="1809750" cy="1609725"/>
          </a:xfrm>
          <a:prstGeom prst="roundRect">
            <a:avLst>
              <a:gd name="adj" fmla="val 7101"/>
            </a:avLst>
          </a:prstGeom>
          <a:solidFill>
            <a:srgbClr val="E3F0F8"/>
          </a:solidFill>
          <a:ln w="14288">
            <a:solidFill>
              <a:srgbClr val="5E99B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19" name="gine-encoder-accent">
            <a:extLst>
              <a:ext uri="{FF2B5EF4-FFF2-40B4-BE49-F238E27FC236}">
                <a16:creationId xmlns:a16="http://schemas.microsoft.com/office/drawing/2014/main" id="{23DD4831-BD87-41BC-B090-8E69E2DDC4CF}"/>
              </a:ext>
            </a:extLst>
          </p:cNvPr>
          <p:cNvSpPr>
            <a:spLocks noGrp="1"/>
          </p:cNvSpPr>
          <p:nvPr/>
        </p:nvSpPr>
        <p:spPr>
          <a:xfrm>
            <a:off x="4400550" y="1724025"/>
            <a:ext cx="66675" cy="1609725"/>
          </a:xfrm>
          <a:prstGeom prst="roundRect">
            <a:avLst>
              <a:gd name="adj" fmla="val 50000"/>
            </a:avLst>
          </a:prstGeom>
          <a:solidFill>
            <a:srgbClr val="1E6F9E"/>
          </a:solidFill>
          <a:ln w="0">
            <a:solidFill>
              <a:srgbClr val="1E6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gine-encoder-title">
            <a:extLst>
              <a:ext uri="{FF2B5EF4-FFF2-40B4-BE49-F238E27FC236}">
                <a16:creationId xmlns:a16="http://schemas.microsoft.com/office/drawing/2014/main" id="{07CB8F3C-A0F6-476A-8E28-912FA6BFAD86}"/>
              </a:ext>
            </a:extLst>
          </p:cNvPr>
          <p:cNvSpPr>
            <a:spLocks noGrp="1"/>
          </p:cNvSpPr>
          <p:nvPr/>
        </p:nvSpPr>
        <p:spPr>
          <a:xfrm>
            <a:off x="4562475" y="1809750"/>
            <a:ext cx="1562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GINE graph encoder</a:t>
            </a:r>
          </a:p>
        </p:txBody>
      </p:sp>
      <p:sp>
        <p:nvSpPr>
          <p:cNvPr id="21" name="gine-encoder-body">
            <a:extLst>
              <a:ext uri="{FF2B5EF4-FFF2-40B4-BE49-F238E27FC236}">
                <a16:creationId xmlns:a16="http://schemas.microsoft.com/office/drawing/2014/main" id="{9AE22421-429E-4DF7-A735-212376CE1063}"/>
              </a:ext>
            </a:extLst>
          </p:cNvPr>
          <p:cNvSpPr>
            <a:spLocks noGrp="1"/>
          </p:cNvSpPr>
          <p:nvPr/>
        </p:nvSpPr>
        <p:spPr>
          <a:xfrm>
            <a:off x="4562475" y="2076450"/>
            <a:ext cx="1552575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Node MLP: 22 → 64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· LayerNorm</a:t>
            </a:r>
          </a:p>
          <a:p>
            <a:endParaRPr sz="975" b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1 edge-aware message-passing layer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hidden dimension: 64</a:t>
            </a:r>
          </a:p>
        </p:txBody>
      </p:sp>
      <p:sp>
        <p:nvSpPr>
          <p:cNvPr id="22" name="pool-readout">
            <a:extLst>
              <a:ext uri="{FF2B5EF4-FFF2-40B4-BE49-F238E27FC236}">
                <a16:creationId xmlns:a16="http://schemas.microsoft.com/office/drawing/2014/main" id="{E27BA936-445D-436B-BD57-E7C818BBD22C}"/>
              </a:ext>
            </a:extLst>
          </p:cNvPr>
          <p:cNvSpPr>
            <a:spLocks noGrp="1"/>
          </p:cNvSpPr>
          <p:nvPr/>
        </p:nvSpPr>
        <p:spPr>
          <a:xfrm>
            <a:off x="6600825" y="1857375"/>
            <a:ext cx="1495425" cy="1333500"/>
          </a:xfrm>
          <a:prstGeom prst="roundRect">
            <a:avLst>
              <a:gd name="adj" fmla="val 8571"/>
            </a:avLst>
          </a:prstGeom>
          <a:solidFill>
            <a:srgbClr val="EAF3FA"/>
          </a:solidFill>
          <a:ln w="14288">
            <a:solidFill>
              <a:srgbClr val="78A5C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3" name="pool-readout-accent">
            <a:extLst>
              <a:ext uri="{FF2B5EF4-FFF2-40B4-BE49-F238E27FC236}">
                <a16:creationId xmlns:a16="http://schemas.microsoft.com/office/drawing/2014/main" id="{7F2BBDC0-8455-4680-B325-F1F900E45729}"/>
              </a:ext>
            </a:extLst>
          </p:cNvPr>
          <p:cNvSpPr>
            <a:spLocks noGrp="1"/>
          </p:cNvSpPr>
          <p:nvPr/>
        </p:nvSpPr>
        <p:spPr>
          <a:xfrm>
            <a:off x="6600825" y="1857375"/>
            <a:ext cx="66675" cy="1333500"/>
          </a:xfrm>
          <a:prstGeom prst="roundRect">
            <a:avLst>
              <a:gd name="adj" fmla="val 50000"/>
            </a:avLst>
          </a:prstGeom>
          <a:solidFill>
            <a:srgbClr val="2F7CA8"/>
          </a:solidFill>
          <a:ln w="0">
            <a:solidFill>
              <a:srgbClr val="2F7C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pool-readout-title">
            <a:extLst>
              <a:ext uri="{FF2B5EF4-FFF2-40B4-BE49-F238E27FC236}">
                <a16:creationId xmlns:a16="http://schemas.microsoft.com/office/drawing/2014/main" id="{03B08EDA-A8D3-4C54-AD04-0FF43180B013}"/>
              </a:ext>
            </a:extLst>
          </p:cNvPr>
          <p:cNvSpPr>
            <a:spLocks noGrp="1"/>
          </p:cNvSpPr>
          <p:nvPr/>
        </p:nvSpPr>
        <p:spPr>
          <a:xfrm>
            <a:off x="6762750" y="1943100"/>
            <a:ext cx="12477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Graph readout</a:t>
            </a:r>
          </a:p>
        </p:txBody>
      </p:sp>
      <p:sp>
        <p:nvSpPr>
          <p:cNvPr id="25" name="pool-readout-body">
            <a:extLst>
              <a:ext uri="{FF2B5EF4-FFF2-40B4-BE49-F238E27FC236}">
                <a16:creationId xmlns:a16="http://schemas.microsoft.com/office/drawing/2014/main" id="{20DAC3C2-E804-4308-8484-8E5EECA5A0D1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12382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Mean pooling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over local nodes</a:t>
            </a:r>
          </a:p>
          <a:p>
            <a:endParaRPr sz="975" b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Linear 64 → 64 · ReLU</a:t>
            </a:r>
          </a:p>
        </p:txBody>
      </p:sp>
      <p:sp>
        <p:nvSpPr>
          <p:cNvPr id="26" name="actor-mlp">
            <a:extLst>
              <a:ext uri="{FF2B5EF4-FFF2-40B4-BE49-F238E27FC236}">
                <a16:creationId xmlns:a16="http://schemas.microsoft.com/office/drawing/2014/main" id="{E26BEA68-7658-46BD-89F7-EFC1F944FE32}"/>
              </a:ext>
            </a:extLst>
          </p:cNvPr>
          <p:cNvSpPr>
            <a:spLocks noGrp="1"/>
          </p:cNvSpPr>
          <p:nvPr/>
        </p:nvSpPr>
        <p:spPr>
          <a:xfrm>
            <a:off x="8486775" y="2009775"/>
            <a:ext cx="1323975" cy="1028700"/>
          </a:xfrm>
          <a:prstGeom prst="roundRect">
            <a:avLst>
              <a:gd name="adj" fmla="val 11111"/>
            </a:avLst>
          </a:prstGeom>
          <a:solidFill>
            <a:srgbClr val="E6EEF9"/>
          </a:solidFill>
          <a:ln w="14288">
            <a:solidFill>
              <a:srgbClr val="788FB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7" name="actor-mlp-accent">
            <a:extLst>
              <a:ext uri="{FF2B5EF4-FFF2-40B4-BE49-F238E27FC236}">
                <a16:creationId xmlns:a16="http://schemas.microsoft.com/office/drawing/2014/main" id="{665989F3-2960-4280-BEEE-453D0E662925}"/>
              </a:ext>
            </a:extLst>
          </p:cNvPr>
          <p:cNvSpPr>
            <a:spLocks noGrp="1"/>
          </p:cNvSpPr>
          <p:nvPr/>
        </p:nvSpPr>
        <p:spPr>
          <a:xfrm>
            <a:off x="8486775" y="2009775"/>
            <a:ext cx="66675" cy="1028700"/>
          </a:xfrm>
          <a:prstGeom prst="roundRect">
            <a:avLst>
              <a:gd name="adj" fmla="val 50000"/>
            </a:avLst>
          </a:prstGeom>
          <a:solidFill>
            <a:srgbClr val="4A69A3"/>
          </a:solidFill>
          <a:ln w="0">
            <a:solidFill>
              <a:srgbClr val="4A6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actor-mlp-title">
            <a:extLst>
              <a:ext uri="{FF2B5EF4-FFF2-40B4-BE49-F238E27FC236}">
                <a16:creationId xmlns:a16="http://schemas.microsoft.com/office/drawing/2014/main" id="{7924ECB3-C651-4349-A9DE-8946FB5FC113}"/>
              </a:ext>
            </a:extLst>
          </p:cNvPr>
          <p:cNvSpPr>
            <a:spLocks noGrp="1"/>
          </p:cNvSpPr>
          <p:nvPr/>
        </p:nvSpPr>
        <p:spPr>
          <a:xfrm>
            <a:off x="8648700" y="2095500"/>
            <a:ext cx="10763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22230"/>
                </a:solidFill>
              </a:defRPr>
            </a:pPr>
            <a:r>
              <a:rPr sz="1350" b="1">
                <a:solidFill>
                  <a:srgbClr val="122230"/>
                </a:solidFill>
              </a:rPr>
              <a:t>Actor MLP</a:t>
            </a:r>
          </a:p>
        </p:txBody>
      </p:sp>
      <p:sp>
        <p:nvSpPr>
          <p:cNvPr id="29" name="actor-mlp-body">
            <a:extLst>
              <a:ext uri="{FF2B5EF4-FFF2-40B4-BE49-F238E27FC236}">
                <a16:creationId xmlns:a16="http://schemas.microsoft.com/office/drawing/2014/main" id="{6663C9E1-8B2F-4779-9E8C-5057A47894DE}"/>
              </a:ext>
            </a:extLst>
          </p:cNvPr>
          <p:cNvSpPr>
            <a:spLocks noGrp="1"/>
          </p:cNvSpPr>
          <p:nvPr/>
        </p:nvSpPr>
        <p:spPr>
          <a:xfrm>
            <a:off x="8648700" y="2362200"/>
            <a:ext cx="10668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64 → 128 → 128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30" name="policy-head">
            <a:extLst>
              <a:ext uri="{FF2B5EF4-FFF2-40B4-BE49-F238E27FC236}">
                <a16:creationId xmlns:a16="http://schemas.microsoft.com/office/drawing/2014/main" id="{F84B37A6-8874-484A-9A38-80062D941AB1}"/>
              </a:ext>
            </a:extLst>
          </p:cNvPr>
          <p:cNvSpPr>
            <a:spLocks noGrp="1"/>
          </p:cNvSpPr>
          <p:nvPr/>
        </p:nvSpPr>
        <p:spPr>
          <a:xfrm>
            <a:off x="10182225" y="1809750"/>
            <a:ext cx="1504950" cy="1428750"/>
          </a:xfrm>
          <a:prstGeom prst="roundRect">
            <a:avLst>
              <a:gd name="adj" fmla="val 8000"/>
            </a:avLst>
          </a:prstGeom>
          <a:solidFill>
            <a:srgbClr val="E8EAF7"/>
          </a:solidFill>
          <a:ln w="14288">
            <a:solidFill>
              <a:srgbClr val="8888B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policy-head-accent">
            <a:extLst>
              <a:ext uri="{FF2B5EF4-FFF2-40B4-BE49-F238E27FC236}">
                <a16:creationId xmlns:a16="http://schemas.microsoft.com/office/drawing/2014/main" id="{7A3D4D66-D42F-4462-AF21-72F232534922}"/>
              </a:ext>
            </a:extLst>
          </p:cNvPr>
          <p:cNvSpPr>
            <a:spLocks noGrp="1"/>
          </p:cNvSpPr>
          <p:nvPr/>
        </p:nvSpPr>
        <p:spPr>
          <a:xfrm>
            <a:off x="10182225" y="1809750"/>
            <a:ext cx="66675" cy="1428750"/>
          </a:xfrm>
          <a:prstGeom prst="roundRect">
            <a:avLst>
              <a:gd name="adj" fmla="val 50000"/>
            </a:avLst>
          </a:prstGeom>
          <a:solidFill>
            <a:srgbClr val="6262A5"/>
          </a:solidFill>
          <a:ln w="0">
            <a:solidFill>
              <a:srgbClr val="6262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policy-head-title">
            <a:extLst>
              <a:ext uri="{FF2B5EF4-FFF2-40B4-BE49-F238E27FC236}">
                <a16:creationId xmlns:a16="http://schemas.microsoft.com/office/drawing/2014/main" id="{B8D3CA72-720E-47E3-9FE2-6CCE1836E1B0}"/>
              </a:ext>
            </a:extLst>
          </p:cNvPr>
          <p:cNvSpPr>
            <a:spLocks noGrp="1"/>
          </p:cNvSpPr>
          <p:nvPr/>
        </p:nvSpPr>
        <p:spPr>
          <a:xfrm>
            <a:off x="10344150" y="1895475"/>
            <a:ext cx="1257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Categorical policy</a:t>
            </a:r>
          </a:p>
        </p:txBody>
      </p:sp>
      <p:sp>
        <p:nvSpPr>
          <p:cNvPr id="33" name="policy-head-body">
            <a:extLst>
              <a:ext uri="{FF2B5EF4-FFF2-40B4-BE49-F238E27FC236}">
                <a16:creationId xmlns:a16="http://schemas.microsoft.com/office/drawing/2014/main" id="{969F5107-D9A5-4D9B-9E70-8ABAE6201D6F}"/>
              </a:ext>
            </a:extLst>
          </p:cNvPr>
          <p:cNvSpPr>
            <a:spLocks noGrp="1"/>
          </p:cNvSpPr>
          <p:nvPr/>
        </p:nvSpPr>
        <p:spPr>
          <a:xfrm>
            <a:off x="10344150" y="2162175"/>
            <a:ext cx="1247775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128 → Kᵢ action logits</a:t>
            </a:r>
          </a:p>
          <a:p>
            <a:endParaRPr sz="975" b="0">
              <a:solidFill>
                <a:srgbClr val="415466"/>
              </a:solidFill>
            </a:endParaRP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train: sample aᵢ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eval: argmax aᵢ</a:t>
            </a:r>
          </a:p>
        </p:txBody>
      </p:sp>
      <p:cxnSp>
        <p:nvCxnSpPr>
          <p:cNvPr id="106" name="Connecteur en angle 105"/>
          <p:cNvCxnSpPr>
            <a:stCxn id="6" idx="3"/>
            <a:endCxn id="10" idx="1"/>
          </p:cNvCxnSpPr>
          <p:nvPr/>
        </p:nvCxnSpPr>
        <p:spPr>
          <a:xfrm flipV="1">
            <a:off x="2095500" y="2157413"/>
            <a:ext cx="352425" cy="309563"/>
          </a:xfrm>
          <a:prstGeom prst="bentConnector3">
            <a:avLst>
              <a:gd name="adj1" fmla="val 50000"/>
            </a:avLst>
          </a:prstGeom>
          <a:ln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7" name="Connecteur en angle 106"/>
          <p:cNvCxnSpPr>
            <a:stCxn id="6" idx="3"/>
            <a:endCxn id="14" idx="1"/>
          </p:cNvCxnSpPr>
          <p:nvPr/>
        </p:nvCxnSpPr>
        <p:spPr>
          <a:xfrm>
            <a:off x="2095500" y="2466975"/>
            <a:ext cx="352425" cy="904875"/>
          </a:xfrm>
          <a:prstGeom prst="bentConnector3">
            <a:avLst>
              <a:gd name="adj1" fmla="val 50000"/>
            </a:avLst>
          </a:prstGeom>
          <a:ln w="19050">
            <a:solidFill>
              <a:srgbClr val="6C8799"/>
            </a:solidFill>
            <a:prstDash val="solid"/>
            <a:tailEnd type="triangle" w="sm" len="sm"/>
          </a:ln>
        </p:spPr>
      </p:cxnSp>
      <p:cxnSp>
        <p:nvCxnSpPr>
          <p:cNvPr id="108" name="Connecteur droit avec flèche 107"/>
          <p:cNvCxnSpPr>
            <a:stCxn id="10" idx="3"/>
            <a:endCxn id="18" idx="1"/>
          </p:cNvCxnSpPr>
          <p:nvPr/>
        </p:nvCxnSpPr>
        <p:spPr>
          <a:xfrm>
            <a:off x="4010025" y="2157413"/>
            <a:ext cx="390525" cy="371475"/>
          </a:xfrm>
          <a:prstGeom prst="straightConnector1">
            <a:avLst/>
          </a:prstGeom>
          <a:ln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09" name="Connecteur droit avec flèche 108"/>
          <p:cNvCxnSpPr>
            <a:stCxn id="14" idx="3"/>
            <a:endCxn id="18" idx="1"/>
          </p:cNvCxnSpPr>
          <p:nvPr/>
        </p:nvCxnSpPr>
        <p:spPr>
          <a:xfrm flipV="1">
            <a:off x="4010025" y="2528888"/>
            <a:ext cx="390525" cy="842963"/>
          </a:xfrm>
          <a:prstGeom prst="straightConnector1">
            <a:avLst/>
          </a:prstGeom>
          <a:ln w="19050">
            <a:solidFill>
              <a:srgbClr val="4B7792"/>
            </a:solidFill>
            <a:prstDash val="solid"/>
            <a:tailEnd type="triangle" w="sm" len="sm"/>
          </a:ln>
        </p:spPr>
      </p:cxnSp>
      <p:cxnSp>
        <p:nvCxnSpPr>
          <p:cNvPr id="110" name="Connecteur droit avec flèche 109"/>
          <p:cNvCxnSpPr>
            <a:stCxn id="18" idx="3"/>
            <a:endCxn id="22" idx="1"/>
          </p:cNvCxnSpPr>
          <p:nvPr/>
        </p:nvCxnSpPr>
        <p:spPr>
          <a:xfrm flipV="1">
            <a:off x="6210300" y="2524125"/>
            <a:ext cx="390525" cy="4763"/>
          </a:xfrm>
          <a:prstGeom prst="straightConnector1">
            <a:avLst/>
          </a:prstGeom>
          <a:ln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1" name="Connecteur droit avec flèche 110"/>
          <p:cNvCxnSpPr>
            <a:stCxn id="22" idx="3"/>
            <a:endCxn id="26" idx="1"/>
          </p:cNvCxnSpPr>
          <p:nvPr/>
        </p:nvCxnSpPr>
        <p:spPr>
          <a:xfrm>
            <a:off x="8096250" y="2524125"/>
            <a:ext cx="390525" cy="0"/>
          </a:xfrm>
          <a:prstGeom prst="straightConnector1">
            <a:avLst/>
          </a:prstGeom>
          <a:ln w="19050">
            <a:solidFill>
              <a:srgbClr val="3C718F"/>
            </a:solidFill>
            <a:prstDash val="solid"/>
            <a:tailEnd type="triangle" w="sm" len="sm"/>
          </a:ln>
        </p:spPr>
      </p:cxnSp>
      <p:cxnSp>
        <p:nvCxnSpPr>
          <p:cNvPr id="112" name="Connecteur droit avec flèche 111"/>
          <p:cNvCxnSpPr>
            <a:stCxn id="26" idx="3"/>
            <a:endCxn id="30" idx="1"/>
          </p:cNvCxnSpPr>
          <p:nvPr/>
        </p:nvCxnSpPr>
        <p:spPr>
          <a:xfrm>
            <a:off x="9810750" y="2524125"/>
            <a:ext cx="371475" cy="0"/>
          </a:xfrm>
          <a:prstGeom prst="straightConnector1">
            <a:avLst/>
          </a:prstGeom>
          <a:ln w="19050">
            <a:solidFill>
              <a:srgbClr val="536A98"/>
            </a:solidFill>
            <a:prstDash val="solid"/>
            <a:tailEnd type="triangle" w="sm" len="sm"/>
          </a:ln>
        </p:spPr>
      </p:cxnSp>
      <p:sp>
        <p:nvSpPr>
          <p:cNvPr id="41" name="graph-dim-note">
            <a:extLst>
              <a:ext uri="{FF2B5EF4-FFF2-40B4-BE49-F238E27FC236}">
                <a16:creationId xmlns:a16="http://schemas.microsoft.com/office/drawing/2014/main" id="{CF757DBB-26A0-443E-9B92-7EBBA50088A3}"/>
              </a:ext>
            </a:extLst>
          </p:cNvPr>
          <p:cNvSpPr>
            <a:spLocks noGrp="1"/>
          </p:cNvSpPr>
          <p:nvPr/>
        </p:nvSpPr>
        <p:spPr>
          <a:xfrm>
            <a:off x="457200" y="3324225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57684"/>
                </a:solidFill>
              </a:defRPr>
            </a:pPr>
            <a:r>
              <a:rPr sz="825" b="0">
                <a:solidFill>
                  <a:srgbClr val="657684"/>
                </a:solidFill>
              </a:rPr>
              <a:t>nᵢ = 2 × controlled substations</a:t>
            </a:r>
          </a:p>
        </p:txBody>
      </p:sp>
      <p:sp>
        <p:nvSpPr>
          <p:cNvPr id="42" name="training-band">
            <a:extLst>
              <a:ext uri="{FF2B5EF4-FFF2-40B4-BE49-F238E27FC236}">
                <a16:creationId xmlns:a16="http://schemas.microsoft.com/office/drawing/2014/main" id="{21C92F87-E8E0-461F-B3C2-E018E8D28427}"/>
              </a:ext>
            </a:extLst>
          </p:cNvPr>
          <p:cNvSpPr>
            <a:spLocks noGrp="1"/>
          </p:cNvSpPr>
          <p:nvPr/>
        </p:nvSpPr>
        <p:spPr>
          <a:xfrm>
            <a:off x="304800" y="4362450"/>
            <a:ext cx="11582400" cy="2095500"/>
          </a:xfrm>
          <a:prstGeom prst="roundRect">
            <a:avLst>
              <a:gd name="adj" fmla="val 6364"/>
            </a:avLst>
          </a:prstGeom>
          <a:solidFill>
            <a:srgbClr val="FCFAF7"/>
          </a:solidFill>
          <a:ln w="9525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critic-label">
            <a:extLst>
              <a:ext uri="{FF2B5EF4-FFF2-40B4-BE49-F238E27FC236}">
                <a16:creationId xmlns:a16="http://schemas.microsoft.com/office/drawing/2014/main" id="{52A9CA98-855C-4392-AE76-CAE00A1A37F2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0642A"/>
                </a:solidFill>
              </a:defRPr>
            </a:pPr>
            <a:r>
              <a:rPr sz="975" b="1">
                <a:solidFill>
                  <a:srgbClr val="A0642A"/>
                </a:solidFill>
              </a:rPr>
              <a:t>CENTRALIZED TRAINING</a:t>
            </a:r>
          </a:p>
        </p:txBody>
      </p:sp>
      <p:sp>
        <p:nvSpPr>
          <p:cNvPr id="44" name="joint-observation">
            <a:extLst>
              <a:ext uri="{FF2B5EF4-FFF2-40B4-BE49-F238E27FC236}">
                <a16:creationId xmlns:a16="http://schemas.microsoft.com/office/drawing/2014/main" id="{6D1D0F82-65C6-4069-A649-2B56182CCB55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762125" cy="1104900"/>
          </a:xfrm>
          <a:prstGeom prst="roundRect">
            <a:avLst>
              <a:gd name="adj" fmla="val 10345"/>
            </a:avLst>
          </a:prstGeom>
          <a:solidFill>
            <a:srgbClr val="FFF4E7"/>
          </a:solidFill>
          <a:ln w="14288">
            <a:solidFill>
              <a:srgbClr val="D2A26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5" name="joint-observation-accent">
            <a:extLst>
              <a:ext uri="{FF2B5EF4-FFF2-40B4-BE49-F238E27FC236}">
                <a16:creationId xmlns:a16="http://schemas.microsoft.com/office/drawing/2014/main" id="{B38CAFA3-C87F-4633-B14E-316F29EAA48C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66675" cy="1104900"/>
          </a:xfrm>
          <a:prstGeom prst="roundRect">
            <a:avLst>
              <a:gd name="adj" fmla="val 50000"/>
            </a:avLst>
          </a:prstGeom>
          <a:solidFill>
            <a:srgbClr val="C07A2E"/>
          </a:solidFill>
          <a:ln w="0">
            <a:solidFill>
              <a:srgbClr val="C07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joint-observation-title">
            <a:extLst>
              <a:ext uri="{FF2B5EF4-FFF2-40B4-BE49-F238E27FC236}">
                <a16:creationId xmlns:a16="http://schemas.microsoft.com/office/drawing/2014/main" id="{6419F25D-987E-43DC-A810-F650E0489A0A}"/>
              </a:ext>
            </a:extLst>
          </p:cNvPr>
          <p:cNvSpPr>
            <a:spLocks noGrp="1"/>
          </p:cNvSpPr>
          <p:nvPr/>
        </p:nvSpPr>
        <p:spPr>
          <a:xfrm>
            <a:off x="657225" y="5038725"/>
            <a:ext cx="15144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22230"/>
                </a:solidFill>
              </a:defRPr>
            </a:pPr>
            <a:r>
              <a:rPr sz="1200" b="1">
                <a:solidFill>
                  <a:srgbClr val="122230"/>
                </a:solidFill>
              </a:rPr>
              <a:t>Joint flat observation</a:t>
            </a:r>
          </a:p>
        </p:txBody>
      </p:sp>
      <p:sp>
        <p:nvSpPr>
          <p:cNvPr id="47" name="joint-observation-body">
            <a:extLst>
              <a:ext uri="{FF2B5EF4-FFF2-40B4-BE49-F238E27FC236}">
                <a16:creationId xmlns:a16="http://schemas.microsoft.com/office/drawing/2014/main" id="{691664DD-99A0-4D99-8346-0E1FB96BAE5D}"/>
              </a:ext>
            </a:extLst>
          </p:cNvPr>
          <p:cNvSpPr>
            <a:spLocks noGrp="1"/>
          </p:cNvSpPr>
          <p:nvPr/>
        </p:nvSpPr>
        <p:spPr>
          <a:xfrm>
            <a:off x="657225" y="5305425"/>
            <a:ext cx="15049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[o₀ ∥ o₁ ∥ o₂ ∥ o₃]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77 + 150 + 139 + 377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= 743 features</a:t>
            </a:r>
          </a:p>
        </p:txBody>
      </p:sp>
      <p:sp>
        <p:nvSpPr>
          <p:cNvPr id="48" name="critic-mlp">
            <a:extLst>
              <a:ext uri="{FF2B5EF4-FFF2-40B4-BE49-F238E27FC236}">
                <a16:creationId xmlns:a16="http://schemas.microsoft.com/office/drawing/2014/main" id="{2B07C613-ED90-4C45-9F67-786CB73AA548}"/>
              </a:ext>
            </a:extLst>
          </p:cNvPr>
          <p:cNvSpPr>
            <a:spLocks noGrp="1"/>
          </p:cNvSpPr>
          <p:nvPr/>
        </p:nvSpPr>
        <p:spPr>
          <a:xfrm>
            <a:off x="2724150" y="5029200"/>
            <a:ext cx="1933575" cy="952500"/>
          </a:xfrm>
          <a:prstGeom prst="roundRect">
            <a:avLst>
              <a:gd name="adj" fmla="val 12000"/>
            </a:avLst>
          </a:prstGeom>
          <a:solidFill>
            <a:srgbClr val="FFF0DF"/>
          </a:solidFill>
          <a:ln w="14288">
            <a:solidFill>
              <a:srgbClr val="CE955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9" name="critic-mlp-accent">
            <a:extLst>
              <a:ext uri="{FF2B5EF4-FFF2-40B4-BE49-F238E27FC236}">
                <a16:creationId xmlns:a16="http://schemas.microsoft.com/office/drawing/2014/main" id="{C83A2702-BFA4-484E-91D5-E3CD1621B9E2}"/>
              </a:ext>
            </a:extLst>
          </p:cNvPr>
          <p:cNvSpPr>
            <a:spLocks noGrp="1"/>
          </p:cNvSpPr>
          <p:nvPr/>
        </p:nvSpPr>
        <p:spPr>
          <a:xfrm>
            <a:off x="2724150" y="5029200"/>
            <a:ext cx="66675" cy="952500"/>
          </a:xfrm>
          <a:prstGeom prst="roundRect">
            <a:avLst>
              <a:gd name="adj" fmla="val 50000"/>
            </a:avLst>
          </a:prstGeom>
          <a:solidFill>
            <a:srgbClr val="B66D23"/>
          </a:solidFill>
          <a:ln w="0">
            <a:solidFill>
              <a:srgbClr val="B66D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critic-mlp-title">
            <a:extLst>
              <a:ext uri="{FF2B5EF4-FFF2-40B4-BE49-F238E27FC236}">
                <a16:creationId xmlns:a16="http://schemas.microsoft.com/office/drawing/2014/main" id="{37D7C6A3-6F82-4B19-9015-D63546A640BE}"/>
              </a:ext>
            </a:extLst>
          </p:cNvPr>
          <p:cNvSpPr>
            <a:spLocks noGrp="1"/>
          </p:cNvSpPr>
          <p:nvPr/>
        </p:nvSpPr>
        <p:spPr>
          <a:xfrm>
            <a:off x="2886075" y="5114925"/>
            <a:ext cx="16859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Centralized critic</a:t>
            </a:r>
          </a:p>
        </p:txBody>
      </p:sp>
      <p:sp>
        <p:nvSpPr>
          <p:cNvPr id="51" name="critic-mlp-body">
            <a:extLst>
              <a:ext uri="{FF2B5EF4-FFF2-40B4-BE49-F238E27FC236}">
                <a16:creationId xmlns:a16="http://schemas.microsoft.com/office/drawing/2014/main" id="{E8A4F44E-9F4C-4F10-8963-BEABFE88EBD5}"/>
              </a:ext>
            </a:extLst>
          </p:cNvPr>
          <p:cNvSpPr>
            <a:spLocks noGrp="1"/>
          </p:cNvSpPr>
          <p:nvPr/>
        </p:nvSpPr>
        <p:spPr>
          <a:xfrm>
            <a:off x="2886075" y="5381625"/>
            <a:ext cx="16764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MLP 743 → 128 → 128 → 1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ReLU activations</a:t>
            </a:r>
          </a:p>
        </p:txBody>
      </p:sp>
      <p:sp>
        <p:nvSpPr>
          <p:cNvPr id="52" name="state-value">
            <a:extLst>
              <a:ext uri="{FF2B5EF4-FFF2-40B4-BE49-F238E27FC236}">
                <a16:creationId xmlns:a16="http://schemas.microsoft.com/office/drawing/2014/main" id="{97DB5AEB-9803-4F81-AD48-A2EB2968CA81}"/>
              </a:ext>
            </a:extLst>
          </p:cNvPr>
          <p:cNvSpPr>
            <a:spLocks noGrp="1"/>
          </p:cNvSpPr>
          <p:nvPr/>
        </p:nvSpPr>
        <p:spPr>
          <a:xfrm>
            <a:off x="5124450" y="5095875"/>
            <a:ext cx="1514475" cy="809625"/>
          </a:xfrm>
          <a:prstGeom prst="roundRect">
            <a:avLst>
              <a:gd name="adj" fmla="val 14118"/>
            </a:avLst>
          </a:prstGeom>
          <a:solidFill>
            <a:srgbClr val="FFF4E9"/>
          </a:solidFill>
          <a:ln w="14288">
            <a:solidFill>
              <a:srgbClr val="D3A3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3" name="state-value-accent">
            <a:extLst>
              <a:ext uri="{FF2B5EF4-FFF2-40B4-BE49-F238E27FC236}">
                <a16:creationId xmlns:a16="http://schemas.microsoft.com/office/drawing/2014/main" id="{BD0A3311-25F2-41EC-9CBC-40D297CA741F}"/>
              </a:ext>
            </a:extLst>
          </p:cNvPr>
          <p:cNvSpPr>
            <a:spLocks noGrp="1"/>
          </p:cNvSpPr>
          <p:nvPr/>
        </p:nvSpPr>
        <p:spPr>
          <a:xfrm>
            <a:off x="5124450" y="5095875"/>
            <a:ext cx="66675" cy="809625"/>
          </a:xfrm>
          <a:prstGeom prst="roundRect">
            <a:avLst>
              <a:gd name="adj" fmla="val 50000"/>
            </a:avLst>
          </a:prstGeom>
          <a:solidFill>
            <a:srgbClr val="BD762C"/>
          </a:solidFill>
          <a:ln w="0">
            <a:solidFill>
              <a:srgbClr val="BD7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tate-value-title">
            <a:extLst>
              <a:ext uri="{FF2B5EF4-FFF2-40B4-BE49-F238E27FC236}">
                <a16:creationId xmlns:a16="http://schemas.microsoft.com/office/drawing/2014/main" id="{DFA5726A-7A37-4ED7-BAFF-0625833F9B67}"/>
              </a:ext>
            </a:extLst>
          </p:cNvPr>
          <p:cNvSpPr>
            <a:spLocks noGrp="1"/>
          </p:cNvSpPr>
          <p:nvPr/>
        </p:nvSpPr>
        <p:spPr>
          <a:xfrm>
            <a:off x="5286375" y="5181600"/>
            <a:ext cx="12668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State value  V(s)</a:t>
            </a:r>
          </a:p>
        </p:txBody>
      </p:sp>
      <p:sp>
        <p:nvSpPr>
          <p:cNvPr id="55" name="state-value-body">
            <a:extLst>
              <a:ext uri="{FF2B5EF4-FFF2-40B4-BE49-F238E27FC236}">
                <a16:creationId xmlns:a16="http://schemas.microsoft.com/office/drawing/2014/main" id="{46885510-CC76-4BCA-823D-2D98E4533A41}"/>
              </a:ext>
            </a:extLst>
          </p:cNvPr>
          <p:cNvSpPr>
            <a:spLocks noGrp="1"/>
          </p:cNvSpPr>
          <p:nvPr/>
        </p:nvSpPr>
        <p:spPr>
          <a:xfrm>
            <a:off x="5286375" y="544830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Single scalar estimate</a:t>
            </a:r>
          </a:p>
        </p:txBody>
      </p:sp>
      <p:sp>
        <p:nvSpPr>
          <p:cNvPr id="56" name="mappo-update">
            <a:extLst>
              <a:ext uri="{FF2B5EF4-FFF2-40B4-BE49-F238E27FC236}">
                <a16:creationId xmlns:a16="http://schemas.microsoft.com/office/drawing/2014/main" id="{38C74164-F576-4885-A23C-E59BFEFC15DA}"/>
              </a:ext>
            </a:extLst>
          </p:cNvPr>
          <p:cNvSpPr>
            <a:spLocks noGrp="1"/>
          </p:cNvSpPr>
          <p:nvPr/>
        </p:nvSpPr>
        <p:spPr>
          <a:xfrm>
            <a:off x="7239000" y="4914900"/>
            <a:ext cx="1971675" cy="1181100"/>
          </a:xfrm>
          <a:prstGeom prst="roundRect">
            <a:avLst>
              <a:gd name="adj" fmla="val 9677"/>
            </a:avLst>
          </a:prstGeom>
          <a:solidFill>
            <a:srgbClr val="F2EAF8"/>
          </a:solidFill>
          <a:ln w="14288">
            <a:solidFill>
              <a:srgbClr val="A68AB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57" name="mappo-update-accent">
            <a:extLst>
              <a:ext uri="{FF2B5EF4-FFF2-40B4-BE49-F238E27FC236}">
                <a16:creationId xmlns:a16="http://schemas.microsoft.com/office/drawing/2014/main" id="{96983197-F5EF-46DC-944E-580BD464B84D}"/>
              </a:ext>
            </a:extLst>
          </p:cNvPr>
          <p:cNvSpPr>
            <a:spLocks noGrp="1"/>
          </p:cNvSpPr>
          <p:nvPr/>
        </p:nvSpPr>
        <p:spPr>
          <a:xfrm>
            <a:off x="7239000" y="4914900"/>
            <a:ext cx="66675" cy="1181100"/>
          </a:xfrm>
          <a:prstGeom prst="roundRect">
            <a:avLst>
              <a:gd name="adj" fmla="val 50000"/>
            </a:avLst>
          </a:prstGeom>
          <a:solidFill>
            <a:srgbClr val="80579E"/>
          </a:solidFill>
          <a:ln w="0">
            <a:solidFill>
              <a:srgbClr val="805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mappo-update-title">
            <a:extLst>
              <a:ext uri="{FF2B5EF4-FFF2-40B4-BE49-F238E27FC236}">
                <a16:creationId xmlns:a16="http://schemas.microsoft.com/office/drawing/2014/main" id="{9220D84B-2B0E-459F-8640-D3A5285394F6}"/>
              </a:ext>
            </a:extLst>
          </p:cNvPr>
          <p:cNvSpPr>
            <a:spLocks noGrp="1"/>
          </p:cNvSpPr>
          <p:nvPr/>
        </p:nvSpPr>
        <p:spPr>
          <a:xfrm>
            <a:off x="7400925" y="5000625"/>
            <a:ext cx="17240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MAPPO update</a:t>
            </a:r>
          </a:p>
        </p:txBody>
      </p:sp>
      <p:sp>
        <p:nvSpPr>
          <p:cNvPr id="59" name="mappo-update-body">
            <a:extLst>
              <a:ext uri="{FF2B5EF4-FFF2-40B4-BE49-F238E27FC236}">
                <a16:creationId xmlns:a16="http://schemas.microsoft.com/office/drawing/2014/main" id="{C384323D-7993-4662-8A98-6B22F012F1AB}"/>
              </a:ext>
            </a:extLst>
          </p:cNvPr>
          <p:cNvSpPr>
            <a:spLocks noGrp="1"/>
          </p:cNvSpPr>
          <p:nvPr/>
        </p:nvSpPr>
        <p:spPr>
          <a:xfrm>
            <a:off x="7400925" y="5267325"/>
            <a:ext cx="171450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GAE advantages + returns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Clipped policy loss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Entropy bonus + value loss</a:t>
            </a:r>
          </a:p>
        </p:txBody>
      </p:sp>
      <p:sp>
        <p:nvSpPr>
          <p:cNvPr id="60" name="grid-environment">
            <a:extLst>
              <a:ext uri="{FF2B5EF4-FFF2-40B4-BE49-F238E27FC236}">
                <a16:creationId xmlns:a16="http://schemas.microsoft.com/office/drawing/2014/main" id="{588C4078-2C9E-4551-A678-4829ACA147B6}"/>
              </a:ext>
            </a:extLst>
          </p:cNvPr>
          <p:cNvSpPr>
            <a:spLocks noGrp="1"/>
          </p:cNvSpPr>
          <p:nvPr/>
        </p:nvSpPr>
        <p:spPr>
          <a:xfrm>
            <a:off x="9858375" y="4857750"/>
            <a:ext cx="1790700" cy="1285875"/>
          </a:xfrm>
          <a:prstGeom prst="roundRect">
            <a:avLst>
              <a:gd name="adj" fmla="val 8889"/>
            </a:avLst>
          </a:prstGeom>
          <a:solidFill>
            <a:srgbClr val="EAF5EC"/>
          </a:solidFill>
          <a:ln w="14288">
            <a:solidFill>
              <a:srgbClr val="79A88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1" name="grid-environment-accent">
            <a:extLst>
              <a:ext uri="{FF2B5EF4-FFF2-40B4-BE49-F238E27FC236}">
                <a16:creationId xmlns:a16="http://schemas.microsoft.com/office/drawing/2014/main" id="{96EE32D6-4819-45F1-86BD-034F1029D20B}"/>
              </a:ext>
            </a:extLst>
          </p:cNvPr>
          <p:cNvSpPr>
            <a:spLocks noGrp="1"/>
          </p:cNvSpPr>
          <p:nvPr/>
        </p:nvSpPr>
        <p:spPr>
          <a:xfrm>
            <a:off x="9858375" y="4857750"/>
            <a:ext cx="66675" cy="1285875"/>
          </a:xfrm>
          <a:prstGeom prst="roundRect">
            <a:avLst>
              <a:gd name="adj" fmla="val 50000"/>
            </a:avLst>
          </a:prstGeom>
          <a:solidFill>
            <a:srgbClr val="3E8250"/>
          </a:solidFill>
          <a:ln w="0">
            <a:solidFill>
              <a:srgbClr val="3E82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grid-environment-title">
            <a:extLst>
              <a:ext uri="{FF2B5EF4-FFF2-40B4-BE49-F238E27FC236}">
                <a16:creationId xmlns:a16="http://schemas.microsoft.com/office/drawing/2014/main" id="{F7A47EEB-8128-40E5-8393-14D28EA30389}"/>
              </a:ext>
            </a:extLst>
          </p:cNvPr>
          <p:cNvSpPr>
            <a:spLocks noGrp="1"/>
          </p:cNvSpPr>
          <p:nvPr/>
        </p:nvSpPr>
        <p:spPr>
          <a:xfrm>
            <a:off x="10020300" y="4943475"/>
            <a:ext cx="1543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22230"/>
                </a:solidFill>
              </a:defRPr>
            </a:pPr>
            <a:r>
              <a:rPr sz="1275" b="1">
                <a:solidFill>
                  <a:srgbClr val="122230"/>
                </a:solidFill>
              </a:rPr>
              <a:t>WCCI-36 environment</a:t>
            </a:r>
          </a:p>
        </p:txBody>
      </p:sp>
      <p:sp>
        <p:nvSpPr>
          <p:cNvPr id="63" name="grid-environment-body">
            <a:extLst>
              <a:ext uri="{FF2B5EF4-FFF2-40B4-BE49-F238E27FC236}">
                <a16:creationId xmlns:a16="http://schemas.microsoft.com/office/drawing/2014/main" id="{A234D968-F253-46E6-B308-3E388733BFE1}"/>
              </a:ext>
            </a:extLst>
          </p:cNvPr>
          <p:cNvSpPr>
            <a:spLocks noGrp="1"/>
          </p:cNvSpPr>
          <p:nvPr/>
        </p:nvSpPr>
        <p:spPr>
          <a:xfrm>
            <a:off x="10020300" y="5210175"/>
            <a:ext cx="15335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Joint action (a₀…a₃)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AC power flow</a:t>
            </a:r>
          </a:p>
          <a:p>
            <a:pPr algn="l">
              <a:defRPr sz="975" b="0">
                <a:solidFill>
                  <a:srgbClr val="415466"/>
                </a:solidFill>
              </a:defRPr>
            </a:pPr>
            <a:r>
              <a:rPr sz="975" b="0">
                <a:solidFill>
                  <a:srgbClr val="415466"/>
                </a:solidFill>
              </a:rPr>
              <a:t>reward · next state</a:t>
            </a:r>
          </a:p>
        </p:txBody>
      </p:sp>
      <p:cxnSp>
        <p:nvCxnSpPr>
          <p:cNvPr id="136" name="Connecteur droit avec flèche 135"/>
          <p:cNvCxnSpPr>
            <a:stCxn id="44" idx="3"/>
            <a:endCxn id="48" idx="1"/>
          </p:cNvCxnSpPr>
          <p:nvPr/>
        </p:nvCxnSpPr>
        <p:spPr>
          <a:xfrm>
            <a:off x="2257425" y="5505450"/>
            <a:ext cx="466725" cy="0"/>
          </a:xfrm>
          <a:prstGeom prst="straightConnector1">
            <a:avLst/>
          </a:prstGeom>
          <a:ln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7" name="Connecteur droit avec flèche 136"/>
          <p:cNvCxnSpPr>
            <a:stCxn id="48" idx="3"/>
            <a:endCxn id="52" idx="1"/>
          </p:cNvCxnSpPr>
          <p:nvPr/>
        </p:nvCxnSpPr>
        <p:spPr>
          <a:xfrm flipV="1">
            <a:off x="4657725" y="5500688"/>
            <a:ext cx="466725" cy="4763"/>
          </a:xfrm>
          <a:prstGeom prst="straightConnector1">
            <a:avLst/>
          </a:prstGeom>
          <a:ln w="19050">
            <a:solidFill>
              <a:srgbClr val="A87843"/>
            </a:solidFill>
            <a:prstDash val="solid"/>
            <a:tailEnd type="triangle" w="sm" len="sm"/>
          </a:ln>
        </p:spPr>
      </p:cxnSp>
      <p:cxnSp>
        <p:nvCxnSpPr>
          <p:cNvPr id="138" name="Connecteur droit avec flèche 137"/>
          <p:cNvCxnSpPr>
            <a:stCxn id="52" idx="3"/>
            <a:endCxn id="56" idx="1"/>
          </p:cNvCxnSpPr>
          <p:nvPr/>
        </p:nvCxnSpPr>
        <p:spPr>
          <a:xfrm>
            <a:off x="6638925" y="5500688"/>
            <a:ext cx="600075" cy="4763"/>
          </a:xfrm>
          <a:prstGeom prst="straightConnector1">
            <a:avLst/>
          </a:prstGeom>
          <a:ln w="19050">
            <a:solidFill>
              <a:srgbClr val="987348"/>
            </a:solidFill>
            <a:prstDash val="solid"/>
            <a:tailEnd type="triangle" w="sm" len="sm"/>
          </a:ln>
        </p:spPr>
      </p:cxnSp>
      <p:cxnSp>
        <p:nvCxnSpPr>
          <p:cNvPr id="139" name="Connecteur en angle 138"/>
          <p:cNvCxnSpPr>
            <a:stCxn id="56" idx="2"/>
            <a:endCxn id="48" idx="2"/>
          </p:cNvCxnSpPr>
          <p:nvPr/>
        </p:nvCxnSpPr>
        <p:spPr>
          <a:xfrm flipH="1" flipV="1">
            <a:off x="3690938" y="5981700"/>
            <a:ext cx="4533900" cy="114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95E9E"/>
            </a:solidFill>
            <a:prstDash val="dash"/>
            <a:tailEnd type="triangle" w="sm" len="sm"/>
          </a:ln>
        </p:spPr>
      </p:cxnSp>
      <p:cxnSp>
        <p:nvCxnSpPr>
          <p:cNvPr id="140" name="Connecteur en angle 139"/>
          <p:cNvCxnSpPr>
            <a:stCxn id="30" idx="2"/>
            <a:endCxn id="60" idx="0"/>
          </p:cNvCxnSpPr>
          <p:nvPr/>
        </p:nvCxnSpPr>
        <p:spPr>
          <a:xfrm flipH="1">
            <a:off x="10753725" y="3238500"/>
            <a:ext cx="180975" cy="1619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46A92"/>
            </a:solidFill>
            <a:prstDash val="solid"/>
            <a:tailEnd type="triangle" w="sm" len="sm"/>
          </a:ln>
        </p:spPr>
      </p:cxnSp>
      <p:cxnSp>
        <p:nvCxnSpPr>
          <p:cNvPr id="141" name="Connecteur droit avec flèche 140"/>
          <p:cNvCxnSpPr>
            <a:stCxn id="60" idx="1"/>
            <a:endCxn id="56" idx="3"/>
          </p:cNvCxnSpPr>
          <p:nvPr/>
        </p:nvCxnSpPr>
        <p:spPr>
          <a:xfrm flipH="1">
            <a:off x="9210675" y="5500688"/>
            <a:ext cx="647700" cy="4763"/>
          </a:xfrm>
          <a:prstGeom prst="straightConnector1">
            <a:avLst/>
          </a:prstGeom>
          <a:ln w="19050">
            <a:solidFill>
              <a:srgbClr val="638A6C"/>
            </a:solidFill>
            <a:prstDash val="solid"/>
            <a:tailEnd type="triangle" w="sm" len="sm"/>
          </a:ln>
        </p:spPr>
      </p:cxnSp>
      <p:cxnSp>
        <p:nvCxnSpPr>
          <p:cNvPr id="142" name="Connecteur en angle 141"/>
          <p:cNvCxnSpPr>
            <a:stCxn id="56" idx="0"/>
            <a:endCxn id="26" idx="2"/>
          </p:cNvCxnSpPr>
          <p:nvPr/>
        </p:nvCxnSpPr>
        <p:spPr>
          <a:xfrm flipV="1">
            <a:off x="8224838" y="3038475"/>
            <a:ext cx="923925" cy="18764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80579E"/>
            </a:solidFill>
            <a:prstDash val="dash"/>
            <a:tailEnd type="triangle" w="sm" len="sm"/>
          </a:ln>
        </p:spPr>
      </p:cxnSp>
      <p:sp>
        <p:nvSpPr>
          <p:cNvPr id="71" name="actor-update-label">
            <a:extLst>
              <a:ext uri="{FF2B5EF4-FFF2-40B4-BE49-F238E27FC236}">
                <a16:creationId xmlns:a16="http://schemas.microsoft.com/office/drawing/2014/main" id="{5D1FF13F-F344-4E4E-9D0D-71046A3A2A62}"/>
              </a:ext>
            </a:extLst>
          </p:cNvPr>
          <p:cNvSpPr>
            <a:spLocks noGrp="1"/>
          </p:cNvSpPr>
          <p:nvPr/>
        </p:nvSpPr>
        <p:spPr>
          <a:xfrm>
            <a:off x="8039100" y="4191000"/>
            <a:ext cx="1066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80579E"/>
                </a:solidFill>
              </a:defRPr>
            </a:pPr>
            <a:r>
              <a:rPr sz="825" b="1">
                <a:solidFill>
                  <a:srgbClr val="80579E"/>
                </a:solidFill>
              </a:rPr>
              <a:t>policy gradients</a:t>
            </a:r>
          </a:p>
        </p:txBody>
      </p:sp>
      <p:sp>
        <p:nvSpPr>
          <p:cNvPr id="72" name="critic-update-label">
            <a:extLst>
              <a:ext uri="{FF2B5EF4-FFF2-40B4-BE49-F238E27FC236}">
                <a16:creationId xmlns:a16="http://schemas.microsoft.com/office/drawing/2014/main" id="{8EDA8884-06C9-4007-A5E4-1C7EE24EF869}"/>
              </a:ext>
            </a:extLst>
          </p:cNvPr>
          <p:cNvSpPr>
            <a:spLocks noGrp="1"/>
          </p:cNvSpPr>
          <p:nvPr/>
        </p:nvSpPr>
        <p:spPr>
          <a:xfrm>
            <a:off x="2857500" y="6143625"/>
            <a:ext cx="1123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80579E"/>
                </a:solidFill>
              </a:defRPr>
            </a:pPr>
            <a:r>
              <a:rPr sz="825" b="1">
                <a:solidFill>
                  <a:srgbClr val="80579E"/>
                </a:solidFill>
              </a:rPr>
              <a:t>value gradients</a:t>
            </a:r>
          </a:p>
        </p:txBody>
      </p:sp>
    </p:spTree>
    <p:extLst>
      <p:ext uri="{BB962C8B-B14F-4D97-AF65-F5344CB8AC3E}">
        <p14:creationId xmlns:p14="http://schemas.microsoft.com/office/powerpoint/2010/main" val="460214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2-title">
            <a:extLst>
              <a:ext uri="{FF2B5EF4-FFF2-40B4-BE49-F238E27FC236}">
                <a16:creationId xmlns:a16="http://schemas.microsoft.com/office/drawing/2014/main" id="{B0F44903-A369-42AC-849F-B42D0F24C274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A fixed chronic split separates policy learning from model selection</a:t>
            </a:r>
          </a:p>
        </p:txBody>
      </p:sp>
      <p:sp>
        <p:nvSpPr>
          <p:cNvPr id="2" name="slide2-subtitle">
            <a:extLst>
              <a:ext uri="{FF2B5EF4-FFF2-40B4-BE49-F238E27FC236}">
                <a16:creationId xmlns:a16="http://schemas.microsoft.com/office/drawing/2014/main" id="{C1C1D7D9-7E4F-49BE-98AC-53402AF67EE0}"/>
              </a:ext>
            </a:extLst>
          </p:cNvPr>
          <p:cNvSpPr>
            <a:spLocks noGrp="1"/>
          </p:cNvSpPr>
          <p:nvPr/>
        </p:nvSpPr>
        <p:spPr>
          <a:xfrm>
            <a:off x="476250" y="752475"/>
            <a:ext cx="971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Agents act every five simulated minutes; held-out chronics never enter MAPPO training</a:t>
            </a:r>
          </a:p>
        </p:txBody>
      </p:sp>
      <p:sp>
        <p:nvSpPr>
          <p:cNvPr id="3" name="action-space-band">
            <a:extLst>
              <a:ext uri="{FF2B5EF4-FFF2-40B4-BE49-F238E27FC236}">
                <a16:creationId xmlns:a16="http://schemas.microsoft.com/office/drawing/2014/main" id="{7804531A-0DF6-4B39-BF49-25765AE29477}"/>
              </a:ext>
            </a:extLst>
          </p:cNvPr>
          <p:cNvSpPr>
            <a:spLocks noGrp="1"/>
          </p:cNvSpPr>
          <p:nvPr/>
        </p:nvSpPr>
        <p:spPr>
          <a:xfrm>
            <a:off x="304800" y="1143000"/>
            <a:ext cx="3448050" cy="5219700"/>
          </a:xfrm>
          <a:prstGeom prst="roundRect">
            <a:avLst>
              <a:gd name="adj" fmla="val 3867"/>
            </a:avLst>
          </a:prstGeom>
          <a:solidFill>
            <a:srgbClr val="F7FA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hronic-split-band">
            <a:extLst>
              <a:ext uri="{FF2B5EF4-FFF2-40B4-BE49-F238E27FC236}">
                <a16:creationId xmlns:a16="http://schemas.microsoft.com/office/drawing/2014/main" id="{BE845E56-0A91-4E46-819C-BA3AF8DEFE1F}"/>
              </a:ext>
            </a:extLst>
          </p:cNvPr>
          <p:cNvSpPr>
            <a:spLocks noGrp="1"/>
          </p:cNvSpPr>
          <p:nvPr/>
        </p:nvSpPr>
        <p:spPr>
          <a:xfrm>
            <a:off x="3943350" y="1143000"/>
            <a:ext cx="7943850" cy="5219700"/>
          </a:xfrm>
          <a:prstGeom prst="roundRect">
            <a:avLst>
              <a:gd name="adj" fmla="val 2555"/>
            </a:avLst>
          </a:prstGeom>
          <a:solidFill>
            <a:srgbClr val="FCFCFB"/>
          </a:solidFill>
          <a:ln w="9525">
            <a:solidFill>
              <a:srgbClr val="E3E5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action-space-label">
            <a:extLst>
              <a:ext uri="{FF2B5EF4-FFF2-40B4-BE49-F238E27FC236}">
                <a16:creationId xmlns:a16="http://schemas.microsoft.com/office/drawing/2014/main" id="{AB714477-5BF1-458A-9905-56B28DBBB934}"/>
              </a:ext>
            </a:extLst>
          </p:cNvPr>
          <p:cNvSpPr>
            <a:spLocks noGrp="1"/>
          </p:cNvSpPr>
          <p:nvPr/>
        </p:nvSpPr>
        <p:spPr>
          <a:xfrm>
            <a:off x="495300" y="12668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B6F9C"/>
                </a:solidFill>
              </a:defRPr>
            </a:pPr>
            <a:r>
              <a:rPr sz="975" b="1">
                <a:solidFill>
                  <a:srgbClr val="2B6F9C"/>
                </a:solidFill>
              </a:rPr>
              <a:t>TOPOLOGY ACTION SPACE</a:t>
            </a:r>
          </a:p>
        </p:txBody>
      </p:sp>
      <p:sp>
        <p:nvSpPr>
          <p:cNvPr id="6" name="action-space-heading">
            <a:extLst>
              <a:ext uri="{FF2B5EF4-FFF2-40B4-BE49-F238E27FC236}">
                <a16:creationId xmlns:a16="http://schemas.microsoft.com/office/drawing/2014/main" id="{CC234CE2-1008-4B7B-8244-178ECBAEE43C}"/>
              </a:ext>
            </a:extLst>
          </p:cNvPr>
          <p:cNvSpPr>
            <a:spLocks noGrp="1"/>
          </p:cNvSpPr>
          <p:nvPr/>
        </p:nvSpPr>
        <p:spPr>
          <a:xfrm>
            <a:off x="495300" y="1581150"/>
            <a:ext cx="2914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172735"/>
                </a:solidFill>
              </a:defRPr>
            </a:pPr>
            <a:r>
              <a:rPr sz="1725" b="1">
                <a:solidFill>
                  <a:srgbClr val="172735"/>
                </a:solidFill>
              </a:rPr>
              <a:t>Each agent selects one local action</a:t>
            </a:r>
          </a:p>
        </p:txBody>
      </p:sp>
      <p:sp>
        <p:nvSpPr>
          <p:cNvPr id="7" name="action-space-caption">
            <a:extLst>
              <a:ext uri="{FF2B5EF4-FFF2-40B4-BE49-F238E27FC236}">
                <a16:creationId xmlns:a16="http://schemas.microsoft.com/office/drawing/2014/main" id="{CFBFB1FC-1E98-4A19-98E0-D14FE76BC76C}"/>
              </a:ext>
            </a:extLst>
          </p:cNvPr>
          <p:cNvSpPr>
            <a:spLocks noGrp="1"/>
          </p:cNvSpPr>
          <p:nvPr/>
        </p:nvSpPr>
        <p:spPr>
          <a:xfrm>
            <a:off x="495300" y="2105025"/>
            <a:ext cx="2876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607080"/>
                </a:solidFill>
              </a:defRPr>
            </a:pPr>
            <a:r>
              <a:rPr sz="1050" b="0">
                <a:solidFill>
                  <a:srgbClr val="607080"/>
                </a:solidFill>
              </a:rPr>
              <a:t>The four agents’ selections are combined into one joint grid-control decision.</a:t>
            </a:r>
          </a:p>
        </p:txBody>
      </p:sp>
      <p:sp>
        <p:nvSpPr>
          <p:cNvPr id="8" name="noop-action-marker">
            <a:extLst>
              <a:ext uri="{FF2B5EF4-FFF2-40B4-BE49-F238E27FC236}">
                <a16:creationId xmlns:a16="http://schemas.microsoft.com/office/drawing/2014/main" id="{B571A92D-4DCC-4E5F-80C5-14D990914EF8}"/>
              </a:ext>
            </a:extLst>
          </p:cNvPr>
          <p:cNvSpPr>
            <a:spLocks noGrp="1"/>
          </p:cNvSpPr>
          <p:nvPr/>
        </p:nvSpPr>
        <p:spPr>
          <a:xfrm>
            <a:off x="523875" y="2828925"/>
            <a:ext cx="438150" cy="438150"/>
          </a:xfrm>
          <a:prstGeom prst="ellipse">
            <a:avLst/>
          </a:prstGeom>
          <a:solidFill>
            <a:srgbClr val="E7F1F8"/>
          </a:solidFill>
          <a:ln w="14288">
            <a:solidFill>
              <a:srgbClr val="6F9EB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76F9A"/>
                </a:solidFill>
              </a:defRPr>
            </a:pPr>
            <a:r>
              <a:rPr sz="1425" b="1">
                <a:solidFill>
                  <a:srgbClr val="276F9A"/>
                </a:solidFill>
              </a:rPr>
              <a:t>0</a:t>
            </a:r>
          </a:p>
        </p:txBody>
      </p:sp>
      <p:sp>
        <p:nvSpPr>
          <p:cNvPr id="9" name="noop-action-title">
            <a:extLst>
              <a:ext uri="{FF2B5EF4-FFF2-40B4-BE49-F238E27FC236}">
                <a16:creationId xmlns:a16="http://schemas.microsoft.com/office/drawing/2014/main" id="{7746EB63-3163-4B83-9C16-4E885EB66A14}"/>
              </a:ext>
            </a:extLst>
          </p:cNvPr>
          <p:cNvSpPr>
            <a:spLocks noGrp="1"/>
          </p:cNvSpPr>
          <p:nvPr/>
        </p:nvSpPr>
        <p:spPr>
          <a:xfrm>
            <a:off x="1133475" y="27622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Do nothing</a:t>
            </a:r>
          </a:p>
        </p:txBody>
      </p:sp>
      <p:sp>
        <p:nvSpPr>
          <p:cNvPr id="10" name="noop-action-body">
            <a:extLst>
              <a:ext uri="{FF2B5EF4-FFF2-40B4-BE49-F238E27FC236}">
                <a16:creationId xmlns:a16="http://schemas.microsoft.com/office/drawing/2014/main" id="{1A778F0A-4678-4DCE-A938-68458F5C1052}"/>
              </a:ext>
            </a:extLst>
          </p:cNvPr>
          <p:cNvSpPr>
            <a:spLocks noGrp="1"/>
          </p:cNvSpPr>
          <p:nvPr/>
        </p:nvSpPr>
        <p:spPr>
          <a:xfrm>
            <a:off x="1133475" y="3057525"/>
            <a:ext cx="21717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Preserve the current topology</a:t>
            </a:r>
          </a:p>
        </p:txBody>
      </p:sp>
      <p:sp>
        <p:nvSpPr>
          <p:cNvPr id="11" name="line-action-marker">
            <a:extLst>
              <a:ext uri="{FF2B5EF4-FFF2-40B4-BE49-F238E27FC236}">
                <a16:creationId xmlns:a16="http://schemas.microsoft.com/office/drawing/2014/main" id="{94375D54-7973-49A8-9BCA-86E8ED827BF6}"/>
              </a:ext>
            </a:extLst>
          </p:cNvPr>
          <p:cNvSpPr>
            <a:spLocks noGrp="1"/>
          </p:cNvSpPr>
          <p:nvPr/>
        </p:nvSpPr>
        <p:spPr>
          <a:xfrm>
            <a:off x="523875" y="3705225"/>
            <a:ext cx="438150" cy="438150"/>
          </a:xfrm>
          <a:prstGeom prst="ellipse">
            <a:avLst/>
          </a:prstGeom>
          <a:solidFill>
            <a:srgbClr val="E7F1F8"/>
          </a:solidFill>
          <a:ln w="14288">
            <a:solidFill>
              <a:srgbClr val="6F9EBB"/>
            </a:solidFill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276F9A"/>
                </a:solidFill>
              </a:defRPr>
            </a:pPr>
            <a:r>
              <a:rPr sz="1425" b="1">
                <a:solidFill>
                  <a:srgbClr val="276F9A"/>
                </a:solidFill>
              </a:rPr>
              <a:t>↔</a:t>
            </a:r>
          </a:p>
        </p:txBody>
      </p:sp>
      <p:sp>
        <p:nvSpPr>
          <p:cNvPr id="12" name="line-action-title">
            <a:extLst>
              <a:ext uri="{FF2B5EF4-FFF2-40B4-BE49-F238E27FC236}">
                <a16:creationId xmlns:a16="http://schemas.microsoft.com/office/drawing/2014/main" id="{1201F89F-3FB9-433A-A1E1-7DC50C0DD881}"/>
              </a:ext>
            </a:extLst>
          </p:cNvPr>
          <p:cNvSpPr>
            <a:spLocks noGrp="1"/>
          </p:cNvSpPr>
          <p:nvPr/>
        </p:nvSpPr>
        <p:spPr>
          <a:xfrm>
            <a:off x="1133475" y="36385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Switch a transmission line</a:t>
            </a:r>
          </a:p>
        </p:txBody>
      </p:sp>
      <p:sp>
        <p:nvSpPr>
          <p:cNvPr id="13" name="line-action-body">
            <a:extLst>
              <a:ext uri="{FF2B5EF4-FFF2-40B4-BE49-F238E27FC236}">
                <a16:creationId xmlns:a16="http://schemas.microsoft.com/office/drawing/2014/main" id="{3FEBC138-E079-4482-B0E0-6FF7A05E04F9}"/>
              </a:ext>
            </a:extLst>
          </p:cNvPr>
          <p:cNvSpPr>
            <a:spLocks noGrp="1"/>
          </p:cNvSpPr>
          <p:nvPr/>
        </p:nvSpPr>
        <p:spPr>
          <a:xfrm>
            <a:off x="1133475" y="3933825"/>
            <a:ext cx="21717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Connect or disconnect a line</a:t>
            </a:r>
          </a:p>
        </p:txBody>
      </p:sp>
      <p:sp>
        <p:nvSpPr>
          <p:cNvPr id="14" name="busbar-action-marker">
            <a:extLst>
              <a:ext uri="{FF2B5EF4-FFF2-40B4-BE49-F238E27FC236}">
                <a16:creationId xmlns:a16="http://schemas.microsoft.com/office/drawing/2014/main" id="{5F4BA705-FD02-46FB-AFD6-6CBD0AF0DB56}"/>
              </a:ext>
            </a:extLst>
          </p:cNvPr>
          <p:cNvSpPr>
            <a:spLocks noGrp="1"/>
          </p:cNvSpPr>
          <p:nvPr/>
        </p:nvSpPr>
        <p:spPr>
          <a:xfrm>
            <a:off x="523875" y="4581525"/>
            <a:ext cx="438150" cy="438150"/>
          </a:xfrm>
          <a:prstGeom prst="ellipse">
            <a:avLst/>
          </a:prstGeom>
          <a:solidFill>
            <a:srgbClr val="E7F1F8"/>
          </a:solidFill>
          <a:ln w="14288">
            <a:solidFill>
              <a:srgbClr val="6F9EBB"/>
            </a:solidFill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76F9A"/>
                </a:solidFill>
              </a:defRPr>
            </a:pPr>
            <a:r>
              <a:rPr sz="975" b="1">
                <a:solidFill>
                  <a:srgbClr val="276F9A"/>
                </a:solidFill>
              </a:rPr>
              <a:t>1|2</a:t>
            </a:r>
          </a:p>
        </p:txBody>
      </p:sp>
      <p:sp>
        <p:nvSpPr>
          <p:cNvPr id="15" name="busbar-action-title">
            <a:extLst>
              <a:ext uri="{FF2B5EF4-FFF2-40B4-BE49-F238E27FC236}">
                <a16:creationId xmlns:a16="http://schemas.microsoft.com/office/drawing/2014/main" id="{0A8569D3-F871-4D34-A4F5-59729F7F200E}"/>
              </a:ext>
            </a:extLst>
          </p:cNvPr>
          <p:cNvSpPr>
            <a:spLocks noGrp="1"/>
          </p:cNvSpPr>
          <p:nvPr/>
        </p:nvSpPr>
        <p:spPr>
          <a:xfrm>
            <a:off x="1133475" y="45148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B2C39"/>
                </a:solidFill>
              </a:defRPr>
            </a:pPr>
            <a:r>
              <a:rPr sz="1275" b="1">
                <a:solidFill>
                  <a:srgbClr val="1B2C39"/>
                </a:solidFill>
              </a:rPr>
              <a:t>Reassign substation elements</a:t>
            </a:r>
          </a:p>
        </p:txBody>
      </p:sp>
      <p:sp>
        <p:nvSpPr>
          <p:cNvPr id="16" name="busbar-action-body">
            <a:extLst>
              <a:ext uri="{FF2B5EF4-FFF2-40B4-BE49-F238E27FC236}">
                <a16:creationId xmlns:a16="http://schemas.microsoft.com/office/drawing/2014/main" id="{418EE1C6-8EC3-4A3B-AAB4-5D298F3B5CBB}"/>
              </a:ext>
            </a:extLst>
          </p:cNvPr>
          <p:cNvSpPr>
            <a:spLocks noGrp="1"/>
          </p:cNvSpPr>
          <p:nvPr/>
        </p:nvSpPr>
        <p:spPr>
          <a:xfrm>
            <a:off x="1133475" y="4810125"/>
            <a:ext cx="21717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Move components between busbars</a:t>
            </a:r>
          </a:p>
        </p:txBody>
      </p:sp>
      <p:sp>
        <p:nvSpPr>
          <p:cNvPr id="17" name="decision-cadence">
            <a:extLst>
              <a:ext uri="{FF2B5EF4-FFF2-40B4-BE49-F238E27FC236}">
                <a16:creationId xmlns:a16="http://schemas.microsoft.com/office/drawing/2014/main" id="{C6C3F37B-886C-4D9B-8E33-952F3E63D682}"/>
              </a:ext>
            </a:extLst>
          </p:cNvPr>
          <p:cNvSpPr>
            <a:spLocks noGrp="1"/>
          </p:cNvSpPr>
          <p:nvPr/>
        </p:nvSpPr>
        <p:spPr>
          <a:xfrm>
            <a:off x="495300" y="5524500"/>
            <a:ext cx="2914650" cy="590550"/>
          </a:xfrm>
          <a:prstGeom prst="roundRect">
            <a:avLst>
              <a:gd name="adj" fmla="val 16129"/>
            </a:avLst>
          </a:prstGeom>
          <a:solidFill>
            <a:srgbClr val="EAF3FA"/>
          </a:solidFill>
          <a:ln w="9525">
            <a:solidFill>
              <a:srgbClr val="91B4CA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85F7F"/>
                </a:solidFill>
              </a:defRPr>
            </a:pPr>
            <a:r>
              <a:rPr sz="1125" b="1">
                <a:solidFill>
                  <a:srgbClr val="285F7F"/>
                </a:solidFill>
              </a:rPr>
              <a:t>Every 5 minutes  ·  shared grid-level reward</a:t>
            </a:r>
          </a:p>
        </p:txBody>
      </p:sp>
      <p:sp>
        <p:nvSpPr>
          <p:cNvPr id="18" name="chronic-split-label">
            <a:extLst>
              <a:ext uri="{FF2B5EF4-FFF2-40B4-BE49-F238E27FC236}">
                <a16:creationId xmlns:a16="http://schemas.microsoft.com/office/drawing/2014/main" id="{B08682F7-20EA-46B7-A8C9-FF392697AD39}"/>
              </a:ext>
            </a:extLst>
          </p:cNvPr>
          <p:cNvSpPr>
            <a:spLocks noGrp="1"/>
          </p:cNvSpPr>
          <p:nvPr/>
        </p:nvSpPr>
        <p:spPr>
          <a:xfrm>
            <a:off x="4143375" y="12668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4F5F6A"/>
                </a:solidFill>
              </a:defRPr>
            </a:pPr>
            <a:r>
              <a:rPr sz="975" b="1">
                <a:solidFill>
                  <a:srgbClr val="4F5F6A"/>
                </a:solidFill>
              </a:rPr>
              <a:t>CHRONIC SPLIT &amp; EVALUATION</a:t>
            </a:r>
          </a:p>
        </p:txBody>
      </p:sp>
      <p:sp>
        <p:nvSpPr>
          <p:cNvPr id="19" name="available-chronics">
            <a:extLst>
              <a:ext uri="{FF2B5EF4-FFF2-40B4-BE49-F238E27FC236}">
                <a16:creationId xmlns:a16="http://schemas.microsoft.com/office/drawing/2014/main" id="{26EEF129-4FE6-4365-B893-C2C88949B371}"/>
              </a:ext>
            </a:extLst>
          </p:cNvPr>
          <p:cNvSpPr>
            <a:spLocks noGrp="1"/>
          </p:cNvSpPr>
          <p:nvPr/>
        </p:nvSpPr>
        <p:spPr>
          <a:xfrm>
            <a:off x="6429375" y="1504950"/>
            <a:ext cx="2952750" cy="685800"/>
          </a:xfrm>
          <a:prstGeom prst="roundRect">
            <a:avLst>
              <a:gd name="adj" fmla="val 15278"/>
            </a:avLst>
          </a:prstGeom>
          <a:solidFill>
            <a:srgbClr val="F4F6F7"/>
          </a:solidFill>
          <a:ln w="14288">
            <a:solidFill>
              <a:srgbClr val="9CA8A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0" name="available-chronics-title">
            <a:extLst>
              <a:ext uri="{FF2B5EF4-FFF2-40B4-BE49-F238E27FC236}">
                <a16:creationId xmlns:a16="http://schemas.microsoft.com/office/drawing/2014/main" id="{634C03A2-5A63-4C80-BEB0-E8DD52AB2F0B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63641"/>
                </a:solidFill>
              </a:defRPr>
            </a:pPr>
            <a:r>
              <a:rPr sz="1275" b="1">
                <a:solidFill>
                  <a:srgbClr val="263641"/>
                </a:solidFill>
              </a:rPr>
              <a:t>Available chronics</a:t>
            </a:r>
          </a:p>
        </p:txBody>
      </p:sp>
      <p:sp>
        <p:nvSpPr>
          <p:cNvPr id="21" name="available-chronics-body">
            <a:extLst>
              <a:ext uri="{FF2B5EF4-FFF2-40B4-BE49-F238E27FC236}">
                <a16:creationId xmlns:a16="http://schemas.microsoft.com/office/drawing/2014/main" id="{F8DAF61A-C468-439F-8EA3-16DEABB8089B}"/>
              </a:ext>
            </a:extLst>
          </p:cNvPr>
          <p:cNvSpPr>
            <a:spLocks noGrp="1"/>
          </p:cNvSpPr>
          <p:nvPr/>
        </p:nvSpPr>
        <p:spPr>
          <a:xfrm>
            <a:off x="6562725" y="1847850"/>
            <a:ext cx="26860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fixed shuffle · split seed 0</a:t>
            </a:r>
          </a:p>
        </p:txBody>
      </p:sp>
      <p:sp>
        <p:nvSpPr>
          <p:cNvPr id="22" name="train-column-label">
            <a:extLst>
              <a:ext uri="{FF2B5EF4-FFF2-40B4-BE49-F238E27FC236}">
                <a16:creationId xmlns:a16="http://schemas.microsoft.com/office/drawing/2014/main" id="{A8D5A2B7-3C16-4E6D-A298-B6791AD05464}"/>
              </a:ext>
            </a:extLst>
          </p:cNvPr>
          <p:cNvSpPr>
            <a:spLocks noGrp="1"/>
          </p:cNvSpPr>
          <p:nvPr/>
        </p:nvSpPr>
        <p:spPr>
          <a:xfrm>
            <a:off x="4638675" y="239077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BA6B2E"/>
                </a:solidFill>
              </a:defRPr>
            </a:pPr>
            <a:r>
              <a:rPr sz="900" b="1">
                <a:solidFill>
                  <a:srgbClr val="BA6B2E"/>
                </a:solidFill>
              </a:rPr>
              <a:t>LEARNING</a:t>
            </a:r>
          </a:p>
        </p:txBody>
      </p:sp>
      <p:sp>
        <p:nvSpPr>
          <p:cNvPr id="23" name="test-column-label">
            <a:extLst>
              <a:ext uri="{FF2B5EF4-FFF2-40B4-BE49-F238E27FC236}">
                <a16:creationId xmlns:a16="http://schemas.microsoft.com/office/drawing/2014/main" id="{06170443-AA44-4848-9E78-F1F74BA00E51}"/>
              </a:ext>
            </a:extLst>
          </p:cNvPr>
          <p:cNvSpPr>
            <a:spLocks noGrp="1"/>
          </p:cNvSpPr>
          <p:nvPr/>
        </p:nvSpPr>
        <p:spPr>
          <a:xfrm>
            <a:off x="9448800" y="239077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16837F"/>
                </a:solidFill>
              </a:defRPr>
            </a:pPr>
            <a:r>
              <a:rPr sz="900" b="1">
                <a:solidFill>
                  <a:srgbClr val="16837F"/>
                </a:solidFill>
              </a:rPr>
              <a:t>MODEL SELECTION</a:t>
            </a:r>
          </a:p>
        </p:txBody>
      </p:sp>
      <p:sp>
        <p:nvSpPr>
          <p:cNvPr id="24" name="train-split">
            <a:extLst>
              <a:ext uri="{FF2B5EF4-FFF2-40B4-BE49-F238E27FC236}">
                <a16:creationId xmlns:a16="http://schemas.microsoft.com/office/drawing/2014/main" id="{303B56DE-4066-4EF2-8FE5-6027EEACCCEE}"/>
              </a:ext>
            </a:extLst>
          </p:cNvPr>
          <p:cNvSpPr>
            <a:spLocks noGrp="1"/>
          </p:cNvSpPr>
          <p:nvPr/>
        </p:nvSpPr>
        <p:spPr>
          <a:xfrm>
            <a:off x="4343400" y="2647950"/>
            <a:ext cx="2571750" cy="723900"/>
          </a:xfrm>
          <a:prstGeom prst="roundRect">
            <a:avLst>
              <a:gd name="adj" fmla="val 14474"/>
            </a:avLst>
          </a:prstGeom>
          <a:solidFill>
            <a:srgbClr val="FFF2E8"/>
          </a:solidFill>
          <a:ln w="14288">
            <a:solidFill>
              <a:srgbClr val="E9A1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train-split-title">
            <a:extLst>
              <a:ext uri="{FF2B5EF4-FFF2-40B4-BE49-F238E27FC236}">
                <a16:creationId xmlns:a16="http://schemas.microsoft.com/office/drawing/2014/main" id="{9B70BCF0-A872-4335-A968-0E5015413187}"/>
              </a:ext>
            </a:extLst>
          </p:cNvPr>
          <p:cNvSpPr>
            <a:spLocks noGrp="1"/>
          </p:cNvSpPr>
          <p:nvPr/>
        </p:nvSpPr>
        <p:spPr>
          <a:xfrm>
            <a:off x="4486275" y="27241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80% training chronics</a:t>
            </a:r>
          </a:p>
        </p:txBody>
      </p:sp>
      <p:sp>
        <p:nvSpPr>
          <p:cNvPr id="26" name="train-split-body">
            <a:extLst>
              <a:ext uri="{FF2B5EF4-FFF2-40B4-BE49-F238E27FC236}">
                <a16:creationId xmlns:a16="http://schemas.microsoft.com/office/drawing/2014/main" id="{F74B2560-718C-4AC7-8572-D4CFB1CABB29}"/>
              </a:ext>
            </a:extLst>
          </p:cNvPr>
          <p:cNvSpPr>
            <a:spLocks noGrp="1"/>
          </p:cNvSpPr>
          <p:nvPr/>
        </p:nvSpPr>
        <p:spPr>
          <a:xfrm>
            <a:off x="4476750" y="2990850"/>
            <a:ext cx="2305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Only these chronics generate policy updates</a:t>
            </a:r>
          </a:p>
        </p:txBody>
      </p:sp>
      <p:sp>
        <p:nvSpPr>
          <p:cNvPr id="27" name="mappo-learning">
            <a:extLst>
              <a:ext uri="{FF2B5EF4-FFF2-40B4-BE49-F238E27FC236}">
                <a16:creationId xmlns:a16="http://schemas.microsoft.com/office/drawing/2014/main" id="{8D73D7B0-3417-4983-A0D4-4FF2A836AE4D}"/>
              </a:ext>
            </a:extLst>
          </p:cNvPr>
          <p:cNvSpPr>
            <a:spLocks noGrp="1"/>
          </p:cNvSpPr>
          <p:nvPr/>
        </p:nvSpPr>
        <p:spPr>
          <a:xfrm>
            <a:off x="4343400" y="3676650"/>
            <a:ext cx="2571750" cy="781050"/>
          </a:xfrm>
          <a:prstGeom prst="roundRect">
            <a:avLst>
              <a:gd name="adj" fmla="val 13415"/>
            </a:avLst>
          </a:prstGeom>
          <a:solidFill>
            <a:srgbClr val="FFF5ED"/>
          </a:solidFill>
          <a:ln w="14288">
            <a:solidFill>
              <a:srgbClr val="E9A16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8" name="mappo-learning-title">
            <a:extLst>
              <a:ext uri="{FF2B5EF4-FFF2-40B4-BE49-F238E27FC236}">
                <a16:creationId xmlns:a16="http://schemas.microsoft.com/office/drawing/2014/main" id="{BF988DE0-0F8B-4346-8A80-3B63A210163B}"/>
              </a:ext>
            </a:extLst>
          </p:cNvPr>
          <p:cNvSpPr>
            <a:spLocks noGrp="1"/>
          </p:cNvSpPr>
          <p:nvPr/>
        </p:nvSpPr>
        <p:spPr>
          <a:xfrm>
            <a:off x="4486275" y="37528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MAPPO rollouts &amp; updates</a:t>
            </a:r>
          </a:p>
        </p:txBody>
      </p:sp>
      <p:sp>
        <p:nvSpPr>
          <p:cNvPr id="29" name="mappo-learning-body">
            <a:extLst>
              <a:ext uri="{FF2B5EF4-FFF2-40B4-BE49-F238E27FC236}">
                <a16:creationId xmlns:a16="http://schemas.microsoft.com/office/drawing/2014/main" id="{F0555A00-1C59-4709-90FD-D961E5452A1A}"/>
              </a:ext>
            </a:extLst>
          </p:cNvPr>
          <p:cNvSpPr>
            <a:spLocks noGrp="1"/>
          </p:cNvSpPr>
          <p:nvPr/>
        </p:nvSpPr>
        <p:spPr>
          <a:xfrm>
            <a:off x="4476750" y="4019550"/>
            <a:ext cx="2305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72 parallel environments in the current WCCI runs</a:t>
            </a:r>
          </a:p>
        </p:txBody>
      </p:sp>
      <p:sp>
        <p:nvSpPr>
          <p:cNvPr id="30" name="train-diagnostic">
            <a:extLst>
              <a:ext uri="{FF2B5EF4-FFF2-40B4-BE49-F238E27FC236}">
                <a16:creationId xmlns:a16="http://schemas.microsoft.com/office/drawing/2014/main" id="{F0C8BDFB-8596-4708-B5EF-00627D2F85CE}"/>
              </a:ext>
            </a:extLst>
          </p:cNvPr>
          <p:cNvSpPr>
            <a:spLocks noGrp="1"/>
          </p:cNvSpPr>
          <p:nvPr/>
        </p:nvSpPr>
        <p:spPr>
          <a:xfrm>
            <a:off x="4343400" y="4819650"/>
            <a:ext cx="2571750" cy="781050"/>
          </a:xfrm>
          <a:prstGeom prst="roundRect">
            <a:avLst>
              <a:gd name="adj" fmla="val 13415"/>
            </a:avLst>
          </a:prstGeom>
          <a:solidFill>
            <a:srgbClr val="FFF9F4"/>
          </a:solidFill>
          <a:ln w="14288">
            <a:solidFill>
              <a:srgbClr val="EAB28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1" name="train-diagnostic-title">
            <a:extLst>
              <a:ext uri="{FF2B5EF4-FFF2-40B4-BE49-F238E27FC236}">
                <a16:creationId xmlns:a16="http://schemas.microsoft.com/office/drawing/2014/main" id="{BA9DD8C1-D550-48AA-AAD3-AD8D90084B22}"/>
              </a:ext>
            </a:extLst>
          </p:cNvPr>
          <p:cNvSpPr>
            <a:spLocks noGrp="1"/>
          </p:cNvSpPr>
          <p:nvPr/>
        </p:nvSpPr>
        <p:spPr>
          <a:xfrm>
            <a:off x="4486275" y="48958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A75A24"/>
                </a:solidFill>
              </a:defRPr>
            </a:pPr>
            <a:r>
              <a:rPr sz="1275" b="1">
                <a:solidFill>
                  <a:srgbClr val="A75A24"/>
                </a:solidFill>
              </a:rPr>
              <a:t>Train-split evaluation</a:t>
            </a:r>
          </a:p>
        </p:txBody>
      </p:sp>
      <p:sp>
        <p:nvSpPr>
          <p:cNvPr id="32" name="train-diagnostic-body">
            <a:extLst>
              <a:ext uri="{FF2B5EF4-FFF2-40B4-BE49-F238E27FC236}">
                <a16:creationId xmlns:a16="http://schemas.microsoft.com/office/drawing/2014/main" id="{9BC6EA69-D537-4B39-9906-CA1FEF394DAD}"/>
              </a:ext>
            </a:extLst>
          </p:cNvPr>
          <p:cNvSpPr>
            <a:spLocks noGrp="1"/>
          </p:cNvSpPr>
          <p:nvPr/>
        </p:nvSpPr>
        <p:spPr>
          <a:xfrm>
            <a:off x="4476750" y="5162550"/>
            <a:ext cx="23050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Diagnostic only · does not choose the checkpoint</a:t>
            </a:r>
          </a:p>
        </p:txBody>
      </p:sp>
      <p:sp>
        <p:nvSpPr>
          <p:cNvPr id="33" name="test-split">
            <a:extLst>
              <a:ext uri="{FF2B5EF4-FFF2-40B4-BE49-F238E27FC236}">
                <a16:creationId xmlns:a16="http://schemas.microsoft.com/office/drawing/2014/main" id="{F2ED9F8C-0266-4C38-BA00-89DFD9E2023A}"/>
              </a:ext>
            </a:extLst>
          </p:cNvPr>
          <p:cNvSpPr>
            <a:spLocks noGrp="1"/>
          </p:cNvSpPr>
          <p:nvPr/>
        </p:nvSpPr>
        <p:spPr>
          <a:xfrm>
            <a:off x="8458200" y="264795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AF8F7"/>
          </a:solidFill>
          <a:ln w="14288">
            <a:solidFill>
              <a:srgbClr val="49A8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4" name="test-split-title">
            <a:extLst>
              <a:ext uri="{FF2B5EF4-FFF2-40B4-BE49-F238E27FC236}">
                <a16:creationId xmlns:a16="http://schemas.microsoft.com/office/drawing/2014/main" id="{9004A257-2D01-4FD8-9C04-DCFAB71315A9}"/>
              </a:ext>
            </a:extLst>
          </p:cNvPr>
          <p:cNvSpPr>
            <a:spLocks noGrp="1"/>
          </p:cNvSpPr>
          <p:nvPr/>
        </p:nvSpPr>
        <p:spPr>
          <a:xfrm>
            <a:off x="8601075" y="272415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20% held-out test chronics</a:t>
            </a:r>
          </a:p>
        </p:txBody>
      </p:sp>
      <p:sp>
        <p:nvSpPr>
          <p:cNvPr id="35" name="test-split-body">
            <a:extLst>
              <a:ext uri="{FF2B5EF4-FFF2-40B4-BE49-F238E27FC236}">
                <a16:creationId xmlns:a16="http://schemas.microsoft.com/office/drawing/2014/main" id="{793292A3-CAB1-422C-8D68-D2AE8BF4D1F8}"/>
              </a:ext>
            </a:extLst>
          </p:cNvPr>
          <p:cNvSpPr>
            <a:spLocks noGrp="1"/>
          </p:cNvSpPr>
          <p:nvPr/>
        </p:nvSpPr>
        <p:spPr>
          <a:xfrm>
            <a:off x="8591550" y="299085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Never used for gradient updates</a:t>
            </a:r>
          </a:p>
        </p:txBody>
      </p:sp>
      <p:sp>
        <p:nvSpPr>
          <p:cNvPr id="36" name="periodic-test-eval">
            <a:extLst>
              <a:ext uri="{FF2B5EF4-FFF2-40B4-BE49-F238E27FC236}">
                <a16:creationId xmlns:a16="http://schemas.microsoft.com/office/drawing/2014/main" id="{73DF4E0F-C623-4CBC-81C4-9659C2B9359F}"/>
              </a:ext>
            </a:extLst>
          </p:cNvPr>
          <p:cNvSpPr>
            <a:spLocks noGrp="1"/>
          </p:cNvSpPr>
          <p:nvPr/>
        </p:nvSpPr>
        <p:spPr>
          <a:xfrm>
            <a:off x="8458200" y="358140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FF9F8"/>
          </a:solidFill>
          <a:ln w="14288">
            <a:solidFill>
              <a:srgbClr val="49A8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37" name="periodic-test-eval-title">
            <a:extLst>
              <a:ext uri="{FF2B5EF4-FFF2-40B4-BE49-F238E27FC236}">
                <a16:creationId xmlns:a16="http://schemas.microsoft.com/office/drawing/2014/main" id="{3870A5CD-2BE2-4F47-98AC-D4C020A3267D}"/>
              </a:ext>
            </a:extLst>
          </p:cNvPr>
          <p:cNvSpPr>
            <a:spLocks noGrp="1"/>
          </p:cNvSpPr>
          <p:nvPr/>
        </p:nvSpPr>
        <p:spPr>
          <a:xfrm>
            <a:off x="8601075" y="365760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Deterministic test evaluation</a:t>
            </a:r>
          </a:p>
        </p:txBody>
      </p:sp>
      <p:sp>
        <p:nvSpPr>
          <p:cNvPr id="38" name="periodic-test-eval-body">
            <a:extLst>
              <a:ext uri="{FF2B5EF4-FFF2-40B4-BE49-F238E27FC236}">
                <a16:creationId xmlns:a16="http://schemas.microsoft.com/office/drawing/2014/main" id="{7C725E0A-CE45-4D3C-9910-EE4989247B2D}"/>
              </a:ext>
            </a:extLst>
          </p:cNvPr>
          <p:cNvSpPr>
            <a:spLocks noGrp="1"/>
          </p:cNvSpPr>
          <p:nvPr/>
        </p:nvSpPr>
        <p:spPr>
          <a:xfrm>
            <a:off x="8591550" y="392430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lang="fr-CH" sz="900" b="0" dirty="0">
                <a:solidFill>
                  <a:srgbClr val="566573"/>
                </a:solidFill>
              </a:rPr>
              <a:t>Deterministic eval </a:t>
            </a:r>
            <a:r>
              <a:rPr sz="900" b="0" dirty="0">
                <a:solidFill>
                  <a:srgbClr val="566573"/>
                </a:solidFill>
              </a:rPr>
              <a:t>on a held-out subset during training</a:t>
            </a:r>
          </a:p>
        </p:txBody>
      </p:sp>
      <p:sp>
        <p:nvSpPr>
          <p:cNvPr id="39" name="checkpoint-selection">
            <a:extLst>
              <a:ext uri="{FF2B5EF4-FFF2-40B4-BE49-F238E27FC236}">
                <a16:creationId xmlns:a16="http://schemas.microsoft.com/office/drawing/2014/main" id="{8AF2E528-9B3E-4293-82A8-08496A2A6A23}"/>
              </a:ext>
            </a:extLst>
          </p:cNvPr>
          <p:cNvSpPr>
            <a:spLocks noGrp="1"/>
          </p:cNvSpPr>
          <p:nvPr/>
        </p:nvSpPr>
        <p:spPr>
          <a:xfrm>
            <a:off x="8458200" y="451485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AF8F7"/>
          </a:solidFill>
          <a:ln w="14288">
            <a:solidFill>
              <a:srgbClr val="49A8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0" name="checkpoint-selection-title">
            <a:extLst>
              <a:ext uri="{FF2B5EF4-FFF2-40B4-BE49-F238E27FC236}">
                <a16:creationId xmlns:a16="http://schemas.microsoft.com/office/drawing/2014/main" id="{F0BA97F1-F0C5-4D25-8030-C4C554FE8D68}"/>
              </a:ext>
            </a:extLst>
          </p:cNvPr>
          <p:cNvSpPr>
            <a:spLocks noGrp="1"/>
          </p:cNvSpPr>
          <p:nvPr/>
        </p:nvSpPr>
        <p:spPr>
          <a:xfrm>
            <a:off x="8601075" y="459105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46E6B"/>
                </a:solidFill>
              </a:defRPr>
            </a:pPr>
            <a:r>
              <a:rPr sz="1275" b="1">
                <a:solidFill>
                  <a:srgbClr val="146E6B"/>
                </a:solidFill>
              </a:rPr>
              <a:t>Best checkpoint</a:t>
            </a:r>
          </a:p>
        </p:txBody>
      </p:sp>
      <p:sp>
        <p:nvSpPr>
          <p:cNvPr id="41" name="checkpoint-selection-body">
            <a:extLst>
              <a:ext uri="{FF2B5EF4-FFF2-40B4-BE49-F238E27FC236}">
                <a16:creationId xmlns:a16="http://schemas.microsoft.com/office/drawing/2014/main" id="{BB57033E-46F6-4038-A652-4EBFB50445E6}"/>
              </a:ext>
            </a:extLst>
          </p:cNvPr>
          <p:cNvSpPr>
            <a:spLocks noGrp="1"/>
          </p:cNvSpPr>
          <p:nvPr/>
        </p:nvSpPr>
        <p:spPr>
          <a:xfrm>
            <a:off x="8591550" y="485775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Selected by mean held-out test survival</a:t>
            </a:r>
          </a:p>
        </p:txBody>
      </p:sp>
      <p:sp>
        <p:nvSpPr>
          <p:cNvPr id="42" name="final-test-eval">
            <a:extLst>
              <a:ext uri="{FF2B5EF4-FFF2-40B4-BE49-F238E27FC236}">
                <a16:creationId xmlns:a16="http://schemas.microsoft.com/office/drawing/2014/main" id="{53A4F5C4-3161-4557-83CD-18CCB47DE131}"/>
              </a:ext>
            </a:extLst>
          </p:cNvPr>
          <p:cNvSpPr>
            <a:spLocks noGrp="1"/>
          </p:cNvSpPr>
          <p:nvPr/>
        </p:nvSpPr>
        <p:spPr>
          <a:xfrm>
            <a:off x="8458200" y="5448300"/>
            <a:ext cx="3009900" cy="723900"/>
          </a:xfrm>
          <a:prstGeom prst="roundRect">
            <a:avLst>
              <a:gd name="adj" fmla="val 14474"/>
            </a:avLst>
          </a:prstGeom>
          <a:solidFill>
            <a:srgbClr val="E4F5F3"/>
          </a:solidFill>
          <a:ln w="14288">
            <a:solidFill>
              <a:srgbClr val="31989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43" name="final-test-eval-title">
            <a:extLst>
              <a:ext uri="{FF2B5EF4-FFF2-40B4-BE49-F238E27FC236}">
                <a16:creationId xmlns:a16="http://schemas.microsoft.com/office/drawing/2014/main" id="{C9E3FFAE-32BE-4AEA-A3CD-50CF91BA8600}"/>
              </a:ext>
            </a:extLst>
          </p:cNvPr>
          <p:cNvSpPr>
            <a:spLocks noGrp="1"/>
          </p:cNvSpPr>
          <p:nvPr/>
        </p:nvSpPr>
        <p:spPr>
          <a:xfrm>
            <a:off x="8601075" y="5524500"/>
            <a:ext cx="2724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05F5C"/>
                </a:solidFill>
              </a:defRPr>
            </a:pPr>
            <a:r>
              <a:rPr sz="1275" b="1">
                <a:solidFill>
                  <a:srgbClr val="105F5C"/>
                </a:solidFill>
              </a:rPr>
              <a:t>Final full-split evaluation</a:t>
            </a:r>
          </a:p>
        </p:txBody>
      </p:sp>
      <p:sp>
        <p:nvSpPr>
          <p:cNvPr id="44" name="final-test-eval-body">
            <a:extLst>
              <a:ext uri="{FF2B5EF4-FFF2-40B4-BE49-F238E27FC236}">
                <a16:creationId xmlns:a16="http://schemas.microsoft.com/office/drawing/2014/main" id="{2FD3E760-4910-466C-A6EF-8C562AAE3806}"/>
              </a:ext>
            </a:extLst>
          </p:cNvPr>
          <p:cNvSpPr>
            <a:spLocks noGrp="1"/>
          </p:cNvSpPr>
          <p:nvPr/>
        </p:nvSpPr>
        <p:spPr>
          <a:xfrm>
            <a:off x="8591550" y="5791200"/>
            <a:ext cx="27432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0">
                <a:solidFill>
                  <a:srgbClr val="566573"/>
                </a:solidFill>
              </a:defRPr>
            </a:pPr>
            <a:r>
              <a:rPr sz="900" b="0">
                <a:solidFill>
                  <a:srgbClr val="566573"/>
                </a:solidFill>
              </a:rPr>
              <a:t>Every chronic in the complete held-out test split</a:t>
            </a:r>
          </a:p>
        </p:txBody>
      </p:sp>
      <p:cxnSp>
        <p:nvCxnSpPr>
          <p:cNvPr id="96" name="Connecteur en angle 95"/>
          <p:cNvCxnSpPr>
            <a:stCxn id="19" idx="2"/>
            <a:endCxn id="24" idx="0"/>
          </p:cNvCxnSpPr>
          <p:nvPr/>
        </p:nvCxnSpPr>
        <p:spPr>
          <a:xfrm flipH="1">
            <a:off x="5629275" y="2190750"/>
            <a:ext cx="2276475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97" name="Connecteur en angle 96"/>
          <p:cNvCxnSpPr>
            <a:stCxn id="19" idx="2"/>
            <a:endCxn id="33" idx="0"/>
          </p:cNvCxnSpPr>
          <p:nvPr/>
        </p:nvCxnSpPr>
        <p:spPr>
          <a:xfrm>
            <a:off x="7905750" y="2190750"/>
            <a:ext cx="20574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98" name="Connecteur droit avec flèche 97"/>
          <p:cNvCxnSpPr>
            <a:stCxn id="24" idx="2"/>
            <a:endCxn id="27" idx="0"/>
          </p:cNvCxnSpPr>
          <p:nvPr/>
        </p:nvCxnSpPr>
        <p:spPr>
          <a:xfrm>
            <a:off x="5629275" y="3371850"/>
            <a:ext cx="0" cy="304800"/>
          </a:xfrm>
          <a:prstGeom prst="straightConnector1">
            <a:avLst/>
          </a:prstGeom>
          <a:ln w="19050">
            <a:solidFill>
              <a:srgbClr val="D6874D"/>
            </a:solidFill>
            <a:prstDash val="solid"/>
            <a:tailEnd type="triangle" w="sm" len="sm"/>
          </a:ln>
        </p:spPr>
      </p:cxnSp>
      <p:cxnSp>
        <p:nvCxnSpPr>
          <p:cNvPr id="99" name="Connecteur droit avec flèche 98"/>
          <p:cNvCxnSpPr>
            <a:stCxn id="27" idx="2"/>
            <a:endCxn id="30" idx="0"/>
          </p:cNvCxnSpPr>
          <p:nvPr/>
        </p:nvCxnSpPr>
        <p:spPr>
          <a:xfrm>
            <a:off x="5629275" y="4457700"/>
            <a:ext cx="0" cy="361950"/>
          </a:xfrm>
          <a:prstGeom prst="straightConnector1">
            <a:avLst/>
          </a:prstGeom>
          <a:ln w="19050">
            <a:solidFill>
              <a:srgbClr val="D6874D"/>
            </a:solidFill>
            <a:prstDash val="dash"/>
            <a:tailEnd type="triangle" w="sm" len="sm"/>
          </a:ln>
        </p:spPr>
      </p:cxnSp>
      <p:cxnSp>
        <p:nvCxnSpPr>
          <p:cNvPr id="100" name="Connecteur droit avec flèche 99"/>
          <p:cNvCxnSpPr>
            <a:stCxn id="33" idx="2"/>
            <a:endCxn id="36" idx="0"/>
          </p:cNvCxnSpPr>
          <p:nvPr/>
        </p:nvCxnSpPr>
        <p:spPr>
          <a:xfrm>
            <a:off x="9963150" y="3371850"/>
            <a:ext cx="0" cy="209550"/>
          </a:xfrm>
          <a:prstGeom prst="straightConnector1">
            <a:avLst/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1" name="Connecteur droit avec flèche 100"/>
          <p:cNvCxnSpPr>
            <a:stCxn id="36" idx="2"/>
            <a:endCxn id="39" idx="0"/>
          </p:cNvCxnSpPr>
          <p:nvPr/>
        </p:nvCxnSpPr>
        <p:spPr>
          <a:xfrm>
            <a:off x="9963150" y="4305300"/>
            <a:ext cx="0" cy="209550"/>
          </a:xfrm>
          <a:prstGeom prst="straightConnector1">
            <a:avLst/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  <p:cxnSp>
        <p:nvCxnSpPr>
          <p:cNvPr id="102" name="Connecteur droit avec flèche 101"/>
          <p:cNvCxnSpPr>
            <a:stCxn id="39" idx="2"/>
            <a:endCxn id="42" idx="0"/>
          </p:cNvCxnSpPr>
          <p:nvPr/>
        </p:nvCxnSpPr>
        <p:spPr>
          <a:xfrm>
            <a:off x="9963150" y="5238750"/>
            <a:ext cx="0" cy="209550"/>
          </a:xfrm>
          <a:prstGeom prst="straightConnector1">
            <a:avLst/>
          </a:prstGeom>
          <a:ln w="19050">
            <a:solidFill>
              <a:srgbClr val="288F8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3500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3-title">
            <a:extLst>
              <a:ext uri="{FF2B5EF4-FFF2-40B4-BE49-F238E27FC236}">
                <a16:creationId xmlns:a16="http://schemas.microsoft.com/office/drawing/2014/main" id="{2174D013-7B79-4051-9B65-B062D98D3B4C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The IEEE-14 reference baseline trains for 25M steps with 80 PPO epochs</a:t>
            </a:r>
          </a:p>
        </p:txBody>
      </p:sp>
      <p:sp>
        <p:nvSpPr>
          <p:cNvPr id="2" name="slide3-subtitle">
            <a:extLst>
              <a:ext uri="{FF2B5EF4-FFF2-40B4-BE49-F238E27FC236}">
                <a16:creationId xmlns:a16="http://schemas.microsoft.com/office/drawing/2014/main" id="{24EF6E26-8026-4F6C-9356-10E53E2326BC}"/>
              </a:ext>
            </a:extLst>
          </p:cNvPr>
          <p:cNvSpPr>
            <a:spLocks noGrp="1"/>
          </p:cNvSpPr>
          <p:nvPr/>
        </p:nvSpPr>
        <p:spPr>
          <a:xfrm>
            <a:off x="476250" y="752475"/>
            <a:ext cx="952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Original MAPPO hyperparameters reproduced before architectural changes</a:t>
            </a:r>
          </a:p>
        </p:txBody>
      </p:sp>
      <p:sp>
        <p:nvSpPr>
          <p:cNvPr id="3" name="training-network-table-frame">
            <a:extLst>
              <a:ext uri="{FF2B5EF4-FFF2-40B4-BE49-F238E27FC236}">
                <a16:creationId xmlns:a16="http://schemas.microsoft.com/office/drawing/2014/main" id="{F9E777BE-43D1-43FB-A798-BEC283505B0A}"/>
              </a:ext>
            </a:extLst>
          </p:cNvPr>
          <p:cNvSpPr>
            <a:spLocks noGrp="1"/>
          </p:cNvSpPr>
          <p:nvPr/>
        </p:nvSpPr>
        <p:spPr>
          <a:xfrm>
            <a:off x="381000" y="1200150"/>
            <a:ext cx="5276850" cy="4933950"/>
          </a:xfrm>
          <a:prstGeom prst="roundRect">
            <a:avLst>
              <a:gd name="adj" fmla="val 2703"/>
            </a:avLst>
          </a:prstGeom>
          <a:solidFill>
            <a:srgbClr val="FBFCFD"/>
          </a:solidFill>
          <a:ln w="9525">
            <a:solidFill>
              <a:srgbClr val="DD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ppo-table-frame">
            <a:extLst>
              <a:ext uri="{FF2B5EF4-FFF2-40B4-BE49-F238E27FC236}">
                <a16:creationId xmlns:a16="http://schemas.microsoft.com/office/drawing/2014/main" id="{8C020E30-ED96-42D7-9755-132535AC4549}"/>
              </a:ext>
            </a:extLst>
          </p:cNvPr>
          <p:cNvSpPr>
            <a:spLocks noGrp="1"/>
          </p:cNvSpPr>
          <p:nvPr/>
        </p:nvSpPr>
        <p:spPr>
          <a:xfrm>
            <a:off x="5829300" y="1200150"/>
            <a:ext cx="5981700" cy="4933950"/>
          </a:xfrm>
          <a:prstGeom prst="roundRect">
            <a:avLst>
              <a:gd name="adj" fmla="val 2703"/>
            </a:avLst>
          </a:prstGeom>
          <a:solidFill>
            <a:srgbClr val="FBFCFD"/>
          </a:solidFill>
          <a:ln w="9525">
            <a:solidFill>
              <a:srgbClr val="DD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au 11"/>
          <p:cNvGraphicFramePr/>
          <p:nvPr/>
        </p:nvGraphicFramePr>
        <p:xfrm>
          <a:off x="533400" y="1362075"/>
          <a:ext cx="4972050" cy="4552950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Hyperparameter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A75A24"/>
                          </a:solidFill>
                        </a:rPr>
                        <a:t>TRAINING</a:t>
                      </a:r>
                    </a:p>
                  </a:txBody>
                  <a:tcPr>
                    <a:solidFill>
                      <a:srgbClr val="FFF2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Total timesteps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A75A24"/>
                          </a:solidFill>
                        </a:rPr>
                        <a:t>25M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Rollout steps per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Total rollout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A75A24"/>
                          </a:solidFill>
                        </a:rPr>
                        <a:t>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Evaluation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295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76F9A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Actor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MLP · 256 ×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Critic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MLP · 256 ×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3" name="Tableau 12"/>
          <p:cNvGraphicFramePr/>
          <p:nvPr/>
        </p:nvGraphicFramePr>
        <p:xfrm>
          <a:off x="5981700" y="1362075"/>
          <a:ext cx="5676900" cy="4552950"/>
        </p:xfrm>
        <a:graphic>
          <a:graphicData uri="http://schemas.openxmlformats.org/drawingml/2006/table">
            <a:tbl>
              <a:tblPr/>
              <a:tblGrid>
                <a:gridCol w="363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21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Hyperparameter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6364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11">
                <a:tc gridSpan="2"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80579E"/>
                          </a:solidFill>
                        </a:rPr>
                        <a:t>PPO OPTIMIZATION</a:t>
                      </a:r>
                    </a:p>
                  </a:txBody>
                  <a:tcPr>
                    <a:solidFill>
                      <a:srgbClr val="F2EA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Actor 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3 × 10⁻⁵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Critic learning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3 × 10⁻⁵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Learning-rate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Linear 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Discount factor  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GAE parameter  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Update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80579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Minibatches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Clip coefficient  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Target KL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Maximum gradient 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Entropy coefficient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211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Value-loss coefficient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415466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slide3-source">
            <a:extLst>
              <a:ext uri="{FF2B5EF4-FFF2-40B4-BE49-F238E27FC236}">
                <a16:creationId xmlns:a16="http://schemas.microsoft.com/office/drawing/2014/main" id="{0ADD4B9E-C549-478E-8CFB-5B58AE1FF04B}"/>
              </a:ext>
            </a:extLst>
          </p:cNvPr>
          <p:cNvSpPr>
            <a:spLocks noGrp="1"/>
          </p:cNvSpPr>
          <p:nvPr/>
        </p:nvSpPr>
        <p:spPr>
          <a:xfrm>
            <a:off x="476250" y="6267450"/>
            <a:ext cx="6667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77838C"/>
                </a:solidFill>
              </a:defRPr>
            </a:pPr>
            <a:r>
              <a:rPr sz="825" b="0">
                <a:solidFill>
                  <a:srgbClr val="77838C"/>
                </a:solidFill>
              </a:rPr>
              <a:t>Source: original IEEE-14 MAPPO baseline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547585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4-title">
            <a:extLst>
              <a:ext uri="{FF2B5EF4-FFF2-40B4-BE49-F238E27FC236}">
                <a16:creationId xmlns:a16="http://schemas.microsoft.com/office/drawing/2014/main" id="{B8103467-2C08-4C45-9CC4-934FFCCB702A}"/>
              </a:ext>
            </a:extLst>
          </p:cNvPr>
          <p:cNvSpPr>
            <a:spLocks noGrp="1"/>
          </p:cNvSpPr>
          <p:nvPr/>
        </p:nvSpPr>
        <p:spPr>
          <a:xfrm>
            <a:off x="457200" y="257175"/>
            <a:ext cx="112776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820"/>
                </a:solidFill>
              </a:defRPr>
            </a:pPr>
            <a:r>
              <a:rPr sz="2250" b="1">
                <a:solidFill>
                  <a:srgbClr val="111820"/>
                </a:solidFill>
              </a:rPr>
              <a:t>The graph encoder maps injections to nodes and line conditions to edges</a:t>
            </a:r>
          </a:p>
        </p:txBody>
      </p:sp>
      <p:sp>
        <p:nvSpPr>
          <p:cNvPr id="2" name="slide4-subtitle">
            <a:extLst>
              <a:ext uri="{FF2B5EF4-FFF2-40B4-BE49-F238E27FC236}">
                <a16:creationId xmlns:a16="http://schemas.microsoft.com/office/drawing/2014/main" id="{BD360752-EAD6-448D-887A-E65F4BAF980F}"/>
              </a:ext>
            </a:extLst>
          </p:cNvPr>
          <p:cNvSpPr>
            <a:spLocks noGrp="1"/>
          </p:cNvSpPr>
          <p:nvPr/>
        </p:nvSpPr>
        <p:spPr>
          <a:xfrm>
            <a:off x="476250" y="762000"/>
            <a:ext cx="1104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A6875"/>
                </a:solidFill>
              </a:defRPr>
            </a:pPr>
            <a:r>
              <a:rPr sz="1125" b="0">
                <a:solidFill>
                  <a:srgbClr val="5A6875"/>
                </a:solidFill>
              </a:rPr>
              <a:t>WCCI-36 adds maintenance information on edges; redispatch and curtailment stay outside the core graph</a:t>
            </a:r>
          </a:p>
        </p:txBody>
      </p:sp>
      <p:sp>
        <p:nvSpPr>
          <p:cNvPr id="3" name="feature-table-frame">
            <a:extLst>
              <a:ext uri="{FF2B5EF4-FFF2-40B4-BE49-F238E27FC236}">
                <a16:creationId xmlns:a16="http://schemas.microsoft.com/office/drawing/2014/main" id="{08E36698-14F4-4D2B-8389-6523953EBC5C}"/>
              </a:ext>
            </a:extLst>
          </p:cNvPr>
          <p:cNvSpPr>
            <a:spLocks noGrp="1"/>
          </p:cNvSpPr>
          <p:nvPr/>
        </p:nvSpPr>
        <p:spPr>
          <a:xfrm>
            <a:off x="304800" y="1162050"/>
            <a:ext cx="11582400" cy="5010150"/>
          </a:xfrm>
          <a:prstGeom prst="roundRect">
            <a:avLst>
              <a:gd name="adj" fmla="val 2662"/>
            </a:avLst>
          </a:prstGeom>
          <a:solidFill>
            <a:srgbClr val="FBFCFD"/>
          </a:solidFill>
          <a:ln w="9525">
            <a:solidFill>
              <a:srgbClr val="D7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au 8"/>
          <p:cNvGraphicFramePr/>
          <p:nvPr/>
        </p:nvGraphicFramePr>
        <p:xfrm>
          <a:off x="457200" y="1314450"/>
          <a:ext cx="11277600" cy="47053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3641"/>
                          </a:solidFill>
                        </a:rPr>
                        <a:t>Feature category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3641"/>
                          </a:solidFill>
                        </a:rPr>
                        <a:t>Observation variables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3641"/>
                          </a:solidFill>
                        </a:rPr>
                        <a:t>Graph role</a:t>
                      </a:r>
                    </a:p>
                  </a:txBody>
                  <a:tcPr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gen_p, gen_theta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76F9A"/>
                          </a:solidFill>
                        </a:rPr>
                        <a:t>Node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load_p, load_theta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76F9A"/>
                          </a:solidFill>
                        </a:rPr>
                        <a:t>Node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Line 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rho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46E6B"/>
                          </a:solidFill>
                        </a:rPr>
                        <a:t>Edge</a:t>
                      </a:r>
                    </a:p>
                  </a:txBody>
                  <a:tcP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Line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line_status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80579E"/>
                          </a:solidFill>
                        </a:rPr>
                        <a:t>Edge + active mask</a:t>
                      </a:r>
                    </a:p>
                  </a:txBody>
                  <a:tcPr>
                    <a:solidFill>
                      <a:srgbClr val="F2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Overload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timestep_overflow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46E6B"/>
                          </a:solidFill>
                        </a:rPr>
                        <a:t>Edge</a:t>
                      </a:r>
                    </a:p>
                  </a:txBody>
                  <a:tcP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Line cooldown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time_before_cooldown_line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46E6B"/>
                          </a:solidFill>
                        </a:rPr>
                        <a:t>Edge</a:t>
                      </a:r>
                    </a:p>
                  </a:txBody>
                  <a:tcP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Substation cooldown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time_before_cooldown_sub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76F9A"/>
                          </a:solidFill>
                        </a:rPr>
                        <a:t>Node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topo_vect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80579E"/>
                          </a:solidFill>
                        </a:rPr>
                        <a:t>Busbar nodes + edge mask</a:t>
                      </a:r>
                    </a:p>
                  </a:txBody>
                  <a:tcPr>
                    <a:solidFill>
                      <a:srgbClr val="F2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Maintenance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time_next_maintenance, duration_next_maintenance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146E6B"/>
                          </a:solidFill>
                        </a:rPr>
                        <a:t>Edge · WCCI-36 only</a:t>
                      </a:r>
                    </a:p>
                  </a:txBody>
                  <a:tcPr>
                    <a:solidFill>
                      <a:srgbClr val="EA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Redispatch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target_dispatch, actual_dispatch, gen_margin_up/down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A75A24"/>
                          </a:solidFill>
                        </a:rPr>
                        <a:t>Outside core graph</a:t>
                      </a:r>
                    </a:p>
                  </a:txBody>
                  <a:tcPr>
                    <a:solidFill>
                      <a:srgbClr val="FF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Curtailment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gen_p_before_curtail, curtailment, curtailment_limit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A75A24"/>
                          </a:solidFill>
                        </a:rPr>
                        <a:t>Outside core graph</a:t>
                      </a:r>
                    </a:p>
                  </a:txBody>
                  <a:tcPr>
                    <a:solidFill>
                      <a:srgbClr val="FF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63641"/>
                          </a:solidFill>
                        </a:rPr>
                        <a:t>Controlled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0">
                          <a:solidFill>
                            <a:srgbClr val="415466"/>
                          </a:solidFill>
                        </a:rPr>
                        <a:t>Agent's assigned substations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8" b="1">
                          <a:solidFill>
                            <a:srgbClr val="276F9A"/>
                          </a:solidFill>
                        </a:rPr>
                        <a:t>Node · domain_mask</a:t>
                      </a:r>
                    </a:p>
                  </a:txBody>
                  <a:tcPr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lide4-source">
            <a:extLst>
              <a:ext uri="{FF2B5EF4-FFF2-40B4-BE49-F238E27FC236}">
                <a16:creationId xmlns:a16="http://schemas.microsoft.com/office/drawing/2014/main" id="{38B109DA-24BC-41D5-B7CF-1F993B7D849F}"/>
              </a:ext>
            </a:extLst>
          </p:cNvPr>
          <p:cNvSpPr>
            <a:spLocks noGrp="1"/>
          </p:cNvSpPr>
          <p:nvPr/>
        </p:nvSpPr>
        <p:spPr>
          <a:xfrm>
            <a:off x="476250" y="6267450"/>
            <a:ext cx="66675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77838C"/>
                </a:solidFill>
              </a:defRPr>
            </a:pPr>
            <a:r>
              <a:rPr sz="825" b="0">
                <a:solidFill>
                  <a:srgbClr val="77838C"/>
                </a:solidFill>
              </a:rPr>
              <a:t>Source: observation schema implemented in GridGraphBuilder</a:t>
            </a:r>
          </a:p>
        </p:txBody>
      </p:sp>
    </p:spTree>
    <p:extLst>
      <p:ext uri="{BB962C8B-B14F-4D97-AF65-F5344CB8AC3E}">
        <p14:creationId xmlns:p14="http://schemas.microsoft.com/office/powerpoint/2010/main" val="10798040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</Words>
  <Application>Microsoft Macintosh PowerPoint</Application>
  <DocSecurity>0</DocSecurity>
  <PresentationFormat>Grand écran</PresentationFormat>
  <Paragraphs>182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6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Corentin Stéphane Marin Plumet</cp:lastModifiedBy>
  <cp:revision>1</cp:revision>
  <dcterms:created xsi:type="dcterms:W3CDTF">2026-07-19T09:40:38Z</dcterms:created>
  <dcterms:modified xsi:type="dcterms:W3CDTF">2026-07-21T07:57:32Z</dcterms:modified>
</cp:coreProperties>
</file>