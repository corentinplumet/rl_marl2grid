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57" r:id="rId4"/>
    <p:sldId id="262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23"/>
  </p:normalViewPr>
  <p:slideViewPr>
    <p:cSldViewPr snapToGrid="0">
      <p:cViewPr>
        <p:scale>
          <a:sx n="120" d="100"/>
          <a:sy n="120" d="100"/>
        </p:scale>
        <p:origin x="44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98451-52BC-174A-C73F-D42070E7C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8DCCCC-DD55-B88D-DC32-9CCCB53D81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32F84B-2547-7ADB-54A2-C57A52320F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0DF45-D74B-ACD2-0ECC-D202E6556DA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53395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89523-6439-4920-1FF6-1C813711D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68725F-ED8D-EE87-69DC-E5F88905CC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9394CF-5267-D2E8-C8F5-BC259039F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1CA06A-C8B5-18F5-2FB0-D2233745B8C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0863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">
            <a:extLst>
              <a:ext uri="{FF2B5EF4-FFF2-40B4-BE49-F238E27FC236}">
                <a16:creationId xmlns:a16="http://schemas.microsoft.com/office/drawing/2014/main" id="{59475DA8-9783-4FD8-9FA0-0E4C16AB7392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112776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111820"/>
                </a:solidFill>
              </a:defRPr>
            </a:pPr>
            <a:r>
              <a:rPr sz="2250" b="1">
                <a:solidFill>
                  <a:srgbClr val="111820"/>
                </a:solidFill>
              </a:rPr>
              <a:t>Four local GINE actors choose topology actions; one global critic guides MAPPO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12534F3-7629-46C8-B76D-CB285A970EFD}"/>
              </a:ext>
            </a:extLst>
          </p:cNvPr>
          <p:cNvSpPr>
            <a:spLocks noGrp="1"/>
          </p:cNvSpPr>
          <p:nvPr/>
        </p:nvSpPr>
        <p:spPr>
          <a:xfrm>
            <a:off x="476250" y="762000"/>
            <a:ext cx="885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5A6875"/>
                </a:solidFill>
              </a:defRPr>
            </a:pPr>
            <a:r>
              <a:rPr sz="1125" b="0">
                <a:solidFill>
                  <a:srgbClr val="5A6875"/>
                </a:solidFill>
              </a:rPr>
              <a:t>Current WCCI-36 configuration · decentralized execution · centralized training</a:t>
            </a:r>
          </a:p>
        </p:txBody>
      </p:sp>
      <p:sp>
        <p:nvSpPr>
          <p:cNvPr id="3" name="actor-band">
            <a:extLst>
              <a:ext uri="{FF2B5EF4-FFF2-40B4-BE49-F238E27FC236}">
                <a16:creationId xmlns:a16="http://schemas.microsoft.com/office/drawing/2014/main" id="{D1D59CE8-8DE1-47C0-8B55-03EE82FB5E41}"/>
              </a:ext>
            </a:extLst>
          </p:cNvPr>
          <p:cNvSpPr>
            <a:spLocks noGrp="1"/>
          </p:cNvSpPr>
          <p:nvPr/>
        </p:nvSpPr>
        <p:spPr>
          <a:xfrm>
            <a:off x="304800" y="1143000"/>
            <a:ext cx="11582400" cy="3000375"/>
          </a:xfrm>
          <a:prstGeom prst="roundRect">
            <a:avLst>
              <a:gd name="adj" fmla="val 4444"/>
            </a:avLst>
          </a:prstGeom>
          <a:solidFill>
            <a:srgbClr val="F7FAFD"/>
          </a:solidFill>
          <a:ln w="9525">
            <a:solidFill>
              <a:srgbClr val="D7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actor-label">
            <a:extLst>
              <a:ext uri="{FF2B5EF4-FFF2-40B4-BE49-F238E27FC236}">
                <a16:creationId xmlns:a16="http://schemas.microsoft.com/office/drawing/2014/main" id="{70278FA3-FDEE-4B8C-8AA1-0190B9DA6B06}"/>
              </a:ext>
            </a:extLst>
          </p:cNvPr>
          <p:cNvSpPr>
            <a:spLocks noGrp="1"/>
          </p:cNvSpPr>
          <p:nvPr/>
        </p:nvSpPr>
        <p:spPr>
          <a:xfrm>
            <a:off x="457200" y="1219200"/>
            <a:ext cx="247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B6F9C"/>
                </a:solidFill>
              </a:defRPr>
            </a:pPr>
            <a:r>
              <a:rPr sz="975" b="1">
                <a:solidFill>
                  <a:srgbClr val="2B6F9C"/>
                </a:solidFill>
              </a:rPr>
              <a:t>DECENTRALIZED ACTOR  πᵢ</a:t>
            </a:r>
          </a:p>
        </p:txBody>
      </p:sp>
      <p:sp>
        <p:nvSpPr>
          <p:cNvPr id="6" name="local-graph">
            <a:extLst>
              <a:ext uri="{FF2B5EF4-FFF2-40B4-BE49-F238E27FC236}">
                <a16:creationId xmlns:a16="http://schemas.microsoft.com/office/drawing/2014/main" id="{92932229-C732-401F-994D-6E2DF6EA56FC}"/>
              </a:ext>
            </a:extLst>
          </p:cNvPr>
          <p:cNvSpPr>
            <a:spLocks noGrp="1"/>
          </p:cNvSpPr>
          <p:nvPr/>
        </p:nvSpPr>
        <p:spPr>
          <a:xfrm>
            <a:off x="476250" y="1762125"/>
            <a:ext cx="1619250" cy="1409700"/>
          </a:xfrm>
          <a:prstGeom prst="roundRect">
            <a:avLst>
              <a:gd name="adj" fmla="val 8108"/>
            </a:avLst>
          </a:prstGeom>
          <a:solidFill>
            <a:srgbClr val="EAF3FA"/>
          </a:solidFill>
          <a:ln w="14288">
            <a:solidFill>
              <a:srgbClr val="78A5C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local-graph-accent">
            <a:extLst>
              <a:ext uri="{FF2B5EF4-FFF2-40B4-BE49-F238E27FC236}">
                <a16:creationId xmlns:a16="http://schemas.microsoft.com/office/drawing/2014/main" id="{44A42A8D-99CB-4676-B2CE-129788725DF4}"/>
              </a:ext>
            </a:extLst>
          </p:cNvPr>
          <p:cNvSpPr>
            <a:spLocks noGrp="1"/>
          </p:cNvSpPr>
          <p:nvPr/>
        </p:nvSpPr>
        <p:spPr>
          <a:xfrm>
            <a:off x="476250" y="1762125"/>
            <a:ext cx="66675" cy="1409700"/>
          </a:xfrm>
          <a:prstGeom prst="roundRect">
            <a:avLst>
              <a:gd name="adj" fmla="val 50000"/>
            </a:avLst>
          </a:prstGeom>
          <a:solidFill>
            <a:srgbClr val="2F7CA8"/>
          </a:solidFill>
          <a:ln w="0">
            <a:solidFill>
              <a:srgbClr val="2F7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local-graph-title">
            <a:extLst>
              <a:ext uri="{FF2B5EF4-FFF2-40B4-BE49-F238E27FC236}">
                <a16:creationId xmlns:a16="http://schemas.microsoft.com/office/drawing/2014/main" id="{C74557DD-3277-40AF-9098-8FFD2DE85333}"/>
              </a:ext>
            </a:extLst>
          </p:cNvPr>
          <p:cNvSpPr>
            <a:spLocks noGrp="1"/>
          </p:cNvSpPr>
          <p:nvPr/>
        </p:nvSpPr>
        <p:spPr>
          <a:xfrm>
            <a:off x="638175" y="1847850"/>
            <a:ext cx="13716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Local busbar graph  Gᵢ</a:t>
            </a:r>
          </a:p>
        </p:txBody>
      </p:sp>
      <p:sp>
        <p:nvSpPr>
          <p:cNvPr id="9" name="local-graph-body">
            <a:extLst>
              <a:ext uri="{FF2B5EF4-FFF2-40B4-BE49-F238E27FC236}">
                <a16:creationId xmlns:a16="http://schemas.microsoft.com/office/drawing/2014/main" id="{4BFE55B8-9563-4271-ABE7-1054DAC76160}"/>
              </a:ext>
            </a:extLst>
          </p:cNvPr>
          <p:cNvSpPr>
            <a:spLocks noGrp="1"/>
          </p:cNvSpPr>
          <p:nvPr/>
        </p:nvSpPr>
        <p:spPr>
          <a:xfrm>
            <a:off x="638175" y="2238375"/>
            <a:ext cx="13620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 dirty="0">
                <a:solidFill>
                  <a:srgbClr val="415466"/>
                </a:solidFill>
              </a:rPr>
              <a:t>Nodes: local busbars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 dirty="0">
                <a:solidFill>
                  <a:srgbClr val="415466"/>
                </a:solidFill>
              </a:rPr>
              <a:t>Edges: feasible line connections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 dirty="0">
                <a:solidFill>
                  <a:srgbClr val="415466"/>
                </a:solidFill>
              </a:rPr>
              <a:t>Topology: active-edge mask</a:t>
            </a:r>
          </a:p>
        </p:txBody>
      </p:sp>
      <p:sp>
        <p:nvSpPr>
          <p:cNvPr id="10" name="node-tensor">
            <a:extLst>
              <a:ext uri="{FF2B5EF4-FFF2-40B4-BE49-F238E27FC236}">
                <a16:creationId xmlns:a16="http://schemas.microsoft.com/office/drawing/2014/main" id="{E353ABE5-9C40-4872-9ED7-E5A2678A1105}"/>
              </a:ext>
            </a:extLst>
          </p:cNvPr>
          <p:cNvSpPr>
            <a:spLocks noGrp="1"/>
          </p:cNvSpPr>
          <p:nvPr/>
        </p:nvSpPr>
        <p:spPr>
          <a:xfrm>
            <a:off x="2447925" y="1571625"/>
            <a:ext cx="1562100" cy="1171575"/>
          </a:xfrm>
          <a:prstGeom prst="roundRect">
            <a:avLst>
              <a:gd name="adj" fmla="val 9756"/>
            </a:avLst>
          </a:prstGeom>
          <a:solidFill>
            <a:srgbClr val="F0F6FB"/>
          </a:solidFill>
          <a:ln w="14288">
            <a:solidFill>
              <a:srgbClr val="8FB3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1" name="node-tensor-accent">
            <a:extLst>
              <a:ext uri="{FF2B5EF4-FFF2-40B4-BE49-F238E27FC236}">
                <a16:creationId xmlns:a16="http://schemas.microsoft.com/office/drawing/2014/main" id="{ED55F560-CE56-41D8-A024-60C5C9090548}"/>
              </a:ext>
            </a:extLst>
          </p:cNvPr>
          <p:cNvSpPr>
            <a:spLocks noGrp="1"/>
          </p:cNvSpPr>
          <p:nvPr/>
        </p:nvSpPr>
        <p:spPr>
          <a:xfrm>
            <a:off x="2447925" y="1571625"/>
            <a:ext cx="66675" cy="1171575"/>
          </a:xfrm>
          <a:prstGeom prst="roundRect">
            <a:avLst>
              <a:gd name="adj" fmla="val 50000"/>
            </a:avLst>
          </a:prstGeom>
          <a:solidFill>
            <a:srgbClr val="4384AA"/>
          </a:solidFill>
          <a:ln w="0">
            <a:solidFill>
              <a:srgbClr val="438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node-tensor-title">
            <a:extLst>
              <a:ext uri="{FF2B5EF4-FFF2-40B4-BE49-F238E27FC236}">
                <a16:creationId xmlns:a16="http://schemas.microsoft.com/office/drawing/2014/main" id="{BD532A86-4DC6-4B50-8C93-E6FA5C9C6800}"/>
              </a:ext>
            </a:extLst>
          </p:cNvPr>
          <p:cNvSpPr>
            <a:spLocks noGrp="1"/>
          </p:cNvSpPr>
          <p:nvPr/>
        </p:nvSpPr>
        <p:spPr>
          <a:xfrm>
            <a:off x="2609850" y="1657350"/>
            <a:ext cx="1314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22230"/>
                </a:solidFill>
              </a:defRPr>
            </a:pPr>
            <a:r>
              <a:rPr sz="1200" b="1">
                <a:solidFill>
                  <a:srgbClr val="122230"/>
                </a:solidFill>
              </a:rPr>
              <a:t>Node tensor</a:t>
            </a:r>
          </a:p>
        </p:txBody>
      </p:sp>
      <p:sp>
        <p:nvSpPr>
          <p:cNvPr id="13" name="node-tensor-body">
            <a:extLst>
              <a:ext uri="{FF2B5EF4-FFF2-40B4-BE49-F238E27FC236}">
                <a16:creationId xmlns:a16="http://schemas.microsoft.com/office/drawing/2014/main" id="{5C672487-1405-4455-8616-853CF3997FAE}"/>
              </a:ext>
            </a:extLst>
          </p:cNvPr>
          <p:cNvSpPr>
            <a:spLocks noGrp="1"/>
          </p:cNvSpPr>
          <p:nvPr/>
        </p:nvSpPr>
        <p:spPr>
          <a:xfrm>
            <a:off x="2609850" y="1924050"/>
            <a:ext cx="13049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6 physical features</a:t>
            </a:r>
          </a:p>
          <a:p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+ 8-D substation ID</a:t>
            </a:r>
          </a:p>
          <a:p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+ 8-D busbar ID</a:t>
            </a:r>
          </a:p>
          <a:p>
            <a:endParaRPr sz="900" b="0">
              <a:solidFill>
                <a:srgbClr val="415466"/>
              </a:solidFill>
            </a:endParaRPr>
          </a:p>
          <a:p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22 features / node</a:t>
            </a:r>
          </a:p>
        </p:txBody>
      </p:sp>
      <p:sp>
        <p:nvSpPr>
          <p:cNvPr id="14" name="edge-tensor">
            <a:extLst>
              <a:ext uri="{FF2B5EF4-FFF2-40B4-BE49-F238E27FC236}">
                <a16:creationId xmlns:a16="http://schemas.microsoft.com/office/drawing/2014/main" id="{5E3B68C5-A510-4ADE-AD58-FCB8CF90CE4A}"/>
              </a:ext>
            </a:extLst>
          </p:cNvPr>
          <p:cNvSpPr>
            <a:spLocks noGrp="1"/>
          </p:cNvSpPr>
          <p:nvPr/>
        </p:nvSpPr>
        <p:spPr>
          <a:xfrm>
            <a:off x="2447925" y="2886075"/>
            <a:ext cx="1562100" cy="971550"/>
          </a:xfrm>
          <a:prstGeom prst="roundRect">
            <a:avLst>
              <a:gd name="adj" fmla="val 11765"/>
            </a:avLst>
          </a:prstGeom>
          <a:solidFill>
            <a:srgbClr val="F0F6FB"/>
          </a:solidFill>
          <a:ln w="14288">
            <a:solidFill>
              <a:srgbClr val="8FB3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5" name="edge-tensor-accent">
            <a:extLst>
              <a:ext uri="{FF2B5EF4-FFF2-40B4-BE49-F238E27FC236}">
                <a16:creationId xmlns:a16="http://schemas.microsoft.com/office/drawing/2014/main" id="{EAE29DB4-F62F-49F0-8520-A5AD84DC0643}"/>
              </a:ext>
            </a:extLst>
          </p:cNvPr>
          <p:cNvSpPr>
            <a:spLocks noGrp="1"/>
          </p:cNvSpPr>
          <p:nvPr/>
        </p:nvSpPr>
        <p:spPr>
          <a:xfrm>
            <a:off x="2447925" y="2886075"/>
            <a:ext cx="66675" cy="971550"/>
          </a:xfrm>
          <a:prstGeom prst="roundRect">
            <a:avLst>
              <a:gd name="adj" fmla="val 50000"/>
            </a:avLst>
          </a:prstGeom>
          <a:solidFill>
            <a:srgbClr val="4384AA"/>
          </a:solidFill>
          <a:ln w="0">
            <a:solidFill>
              <a:srgbClr val="438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edge-tensor-title">
            <a:extLst>
              <a:ext uri="{FF2B5EF4-FFF2-40B4-BE49-F238E27FC236}">
                <a16:creationId xmlns:a16="http://schemas.microsoft.com/office/drawing/2014/main" id="{B0E51AAD-797C-4144-9131-F748A5973653}"/>
              </a:ext>
            </a:extLst>
          </p:cNvPr>
          <p:cNvSpPr>
            <a:spLocks noGrp="1"/>
          </p:cNvSpPr>
          <p:nvPr/>
        </p:nvSpPr>
        <p:spPr>
          <a:xfrm>
            <a:off x="2609850" y="2971800"/>
            <a:ext cx="1314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22230"/>
                </a:solidFill>
              </a:defRPr>
            </a:pPr>
            <a:r>
              <a:rPr sz="1200" b="1">
                <a:solidFill>
                  <a:srgbClr val="122230"/>
                </a:solidFill>
              </a:rPr>
              <a:t>Edge tensor</a:t>
            </a:r>
          </a:p>
        </p:txBody>
      </p:sp>
      <p:sp>
        <p:nvSpPr>
          <p:cNvPr id="17" name="edge-tensor-body">
            <a:extLst>
              <a:ext uri="{FF2B5EF4-FFF2-40B4-BE49-F238E27FC236}">
                <a16:creationId xmlns:a16="http://schemas.microsoft.com/office/drawing/2014/main" id="{B8933400-1778-42BB-AAC7-98596D9FEAC2}"/>
              </a:ext>
            </a:extLst>
          </p:cNvPr>
          <p:cNvSpPr>
            <a:spLocks noGrp="1"/>
          </p:cNvSpPr>
          <p:nvPr/>
        </p:nvSpPr>
        <p:spPr>
          <a:xfrm>
            <a:off x="2609850" y="3186112"/>
            <a:ext cx="130492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415466"/>
                </a:solidFill>
              </a:defRPr>
            </a:pPr>
            <a:r>
              <a:rPr sz="900" b="0" dirty="0">
                <a:solidFill>
                  <a:srgbClr val="415466"/>
                </a:solidFill>
              </a:rPr>
              <a:t>6 line features</a:t>
            </a:r>
          </a:p>
          <a:p>
            <a:pPr algn="l">
              <a:defRPr sz="900" b="0">
                <a:solidFill>
                  <a:srgbClr val="415466"/>
                </a:solidFill>
              </a:defRPr>
            </a:pPr>
            <a:r>
              <a:rPr sz="900" b="0" dirty="0">
                <a:solidFill>
                  <a:srgbClr val="415466"/>
                </a:solidFill>
              </a:rPr>
              <a:t>status · </a:t>
            </a:r>
            <a:r>
              <a:rPr sz="900" b="0" dirty="0" err="1">
                <a:solidFill>
                  <a:srgbClr val="415466"/>
                </a:solidFill>
              </a:rPr>
              <a:t>ρ</a:t>
            </a:r>
            <a:r>
              <a:rPr sz="900" b="0" dirty="0">
                <a:solidFill>
                  <a:srgbClr val="415466"/>
                </a:solidFill>
              </a:rPr>
              <a:t> · overload</a:t>
            </a:r>
          </a:p>
          <a:p>
            <a:pPr algn="l">
              <a:defRPr sz="900" b="0">
                <a:solidFill>
                  <a:srgbClr val="415466"/>
                </a:solidFill>
              </a:defRPr>
            </a:pPr>
            <a:r>
              <a:rPr sz="900" b="0" dirty="0">
                <a:solidFill>
                  <a:srgbClr val="415466"/>
                </a:solidFill>
              </a:rPr>
              <a:t>cooldown · maintenance</a:t>
            </a:r>
          </a:p>
        </p:txBody>
      </p:sp>
      <p:sp>
        <p:nvSpPr>
          <p:cNvPr id="18" name="gine-encoder">
            <a:extLst>
              <a:ext uri="{FF2B5EF4-FFF2-40B4-BE49-F238E27FC236}">
                <a16:creationId xmlns:a16="http://schemas.microsoft.com/office/drawing/2014/main" id="{F950FC8E-67B9-4E86-BDA0-CCCC663A854F}"/>
              </a:ext>
            </a:extLst>
          </p:cNvPr>
          <p:cNvSpPr>
            <a:spLocks noGrp="1"/>
          </p:cNvSpPr>
          <p:nvPr/>
        </p:nvSpPr>
        <p:spPr>
          <a:xfrm>
            <a:off x="4400550" y="1724025"/>
            <a:ext cx="1809750" cy="1609725"/>
          </a:xfrm>
          <a:prstGeom prst="roundRect">
            <a:avLst>
              <a:gd name="adj" fmla="val 7101"/>
            </a:avLst>
          </a:prstGeom>
          <a:solidFill>
            <a:srgbClr val="E3F0F8"/>
          </a:solidFill>
          <a:ln w="14288">
            <a:solidFill>
              <a:srgbClr val="5E99B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9" name="gine-encoder-accent">
            <a:extLst>
              <a:ext uri="{FF2B5EF4-FFF2-40B4-BE49-F238E27FC236}">
                <a16:creationId xmlns:a16="http://schemas.microsoft.com/office/drawing/2014/main" id="{C274E757-03B3-4CDB-A961-7F2825BDE4F7}"/>
              </a:ext>
            </a:extLst>
          </p:cNvPr>
          <p:cNvSpPr>
            <a:spLocks noGrp="1"/>
          </p:cNvSpPr>
          <p:nvPr/>
        </p:nvSpPr>
        <p:spPr>
          <a:xfrm>
            <a:off x="4400550" y="1724025"/>
            <a:ext cx="66675" cy="1609725"/>
          </a:xfrm>
          <a:prstGeom prst="roundRect">
            <a:avLst>
              <a:gd name="adj" fmla="val 50000"/>
            </a:avLst>
          </a:prstGeom>
          <a:solidFill>
            <a:srgbClr val="1E6F9E"/>
          </a:solidFill>
          <a:ln w="0">
            <a:solidFill>
              <a:srgbClr val="1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gine-encoder-title">
            <a:extLst>
              <a:ext uri="{FF2B5EF4-FFF2-40B4-BE49-F238E27FC236}">
                <a16:creationId xmlns:a16="http://schemas.microsoft.com/office/drawing/2014/main" id="{C3CA5245-9A73-4E76-8AB7-B8F8B6DAD8C9}"/>
              </a:ext>
            </a:extLst>
          </p:cNvPr>
          <p:cNvSpPr>
            <a:spLocks noGrp="1"/>
          </p:cNvSpPr>
          <p:nvPr/>
        </p:nvSpPr>
        <p:spPr>
          <a:xfrm>
            <a:off x="4562475" y="1809750"/>
            <a:ext cx="15621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22230"/>
                </a:solidFill>
              </a:defRPr>
            </a:pPr>
            <a:r>
              <a:rPr sz="1350" b="1">
                <a:solidFill>
                  <a:srgbClr val="122230"/>
                </a:solidFill>
              </a:rPr>
              <a:t>GINE graph encoder</a:t>
            </a:r>
          </a:p>
        </p:txBody>
      </p:sp>
      <p:sp>
        <p:nvSpPr>
          <p:cNvPr id="21" name="gine-encoder-body">
            <a:extLst>
              <a:ext uri="{FF2B5EF4-FFF2-40B4-BE49-F238E27FC236}">
                <a16:creationId xmlns:a16="http://schemas.microsoft.com/office/drawing/2014/main" id="{D8BC2179-7037-44DA-9D2A-DE6F8707B450}"/>
              </a:ext>
            </a:extLst>
          </p:cNvPr>
          <p:cNvSpPr>
            <a:spLocks noGrp="1"/>
          </p:cNvSpPr>
          <p:nvPr/>
        </p:nvSpPr>
        <p:spPr>
          <a:xfrm>
            <a:off x="4562475" y="2183993"/>
            <a:ext cx="1552575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 dirty="0">
                <a:solidFill>
                  <a:srgbClr val="415466"/>
                </a:solidFill>
              </a:rPr>
              <a:t>Node MLP: 22 → 64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 dirty="0" err="1">
                <a:solidFill>
                  <a:srgbClr val="415466"/>
                </a:solidFill>
              </a:rPr>
              <a:t>ReLU</a:t>
            </a:r>
            <a:r>
              <a:rPr sz="975" b="0" dirty="0">
                <a:solidFill>
                  <a:srgbClr val="415466"/>
                </a:solidFill>
              </a:rPr>
              <a:t> · </a:t>
            </a:r>
            <a:r>
              <a:rPr sz="975" b="0" dirty="0" err="1">
                <a:solidFill>
                  <a:srgbClr val="415466"/>
                </a:solidFill>
              </a:rPr>
              <a:t>LayerNorm</a:t>
            </a:r>
            <a:endParaRPr sz="975" b="0" dirty="0">
              <a:solidFill>
                <a:srgbClr val="415466"/>
              </a:solidFill>
            </a:endParaRPr>
          </a:p>
          <a:p>
            <a:endParaRPr sz="975" b="0" dirty="0">
              <a:solidFill>
                <a:srgbClr val="415466"/>
              </a:solidFill>
            </a:endParaRP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 dirty="0">
                <a:solidFill>
                  <a:srgbClr val="415466"/>
                </a:solidFill>
              </a:rPr>
              <a:t>1 edge-aware message-passing layer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 dirty="0">
                <a:solidFill>
                  <a:srgbClr val="415466"/>
                </a:solidFill>
              </a:rPr>
              <a:t>hidden dimension: 64</a:t>
            </a:r>
          </a:p>
        </p:txBody>
      </p:sp>
      <p:sp>
        <p:nvSpPr>
          <p:cNvPr id="22" name="pool-readout">
            <a:extLst>
              <a:ext uri="{FF2B5EF4-FFF2-40B4-BE49-F238E27FC236}">
                <a16:creationId xmlns:a16="http://schemas.microsoft.com/office/drawing/2014/main" id="{D840F217-1A1A-4FE8-B2C8-8777BCE47A7C}"/>
              </a:ext>
            </a:extLst>
          </p:cNvPr>
          <p:cNvSpPr>
            <a:spLocks noGrp="1"/>
          </p:cNvSpPr>
          <p:nvPr/>
        </p:nvSpPr>
        <p:spPr>
          <a:xfrm>
            <a:off x="6600825" y="1857375"/>
            <a:ext cx="1495425" cy="1333500"/>
          </a:xfrm>
          <a:prstGeom prst="roundRect">
            <a:avLst>
              <a:gd name="adj" fmla="val 8571"/>
            </a:avLst>
          </a:prstGeom>
          <a:solidFill>
            <a:srgbClr val="EAF3FA"/>
          </a:solidFill>
          <a:ln w="14288">
            <a:solidFill>
              <a:srgbClr val="78A5C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3" name="pool-readout-accent">
            <a:extLst>
              <a:ext uri="{FF2B5EF4-FFF2-40B4-BE49-F238E27FC236}">
                <a16:creationId xmlns:a16="http://schemas.microsoft.com/office/drawing/2014/main" id="{7A64EA4B-3E2D-4A06-95D6-EC259AC79D0C}"/>
              </a:ext>
            </a:extLst>
          </p:cNvPr>
          <p:cNvSpPr>
            <a:spLocks noGrp="1"/>
          </p:cNvSpPr>
          <p:nvPr/>
        </p:nvSpPr>
        <p:spPr>
          <a:xfrm>
            <a:off x="6600825" y="1857375"/>
            <a:ext cx="66675" cy="1333500"/>
          </a:xfrm>
          <a:prstGeom prst="roundRect">
            <a:avLst>
              <a:gd name="adj" fmla="val 50000"/>
            </a:avLst>
          </a:prstGeom>
          <a:solidFill>
            <a:srgbClr val="2F7CA8"/>
          </a:solidFill>
          <a:ln w="0">
            <a:solidFill>
              <a:srgbClr val="2F7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pool-readout-title">
            <a:extLst>
              <a:ext uri="{FF2B5EF4-FFF2-40B4-BE49-F238E27FC236}">
                <a16:creationId xmlns:a16="http://schemas.microsoft.com/office/drawing/2014/main" id="{D7F58309-2F06-4F99-923F-10DEBDFFF113}"/>
              </a:ext>
            </a:extLst>
          </p:cNvPr>
          <p:cNvSpPr>
            <a:spLocks noGrp="1"/>
          </p:cNvSpPr>
          <p:nvPr/>
        </p:nvSpPr>
        <p:spPr>
          <a:xfrm>
            <a:off x="6762750" y="1943100"/>
            <a:ext cx="12477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Graph readout</a:t>
            </a:r>
          </a:p>
        </p:txBody>
      </p:sp>
      <p:sp>
        <p:nvSpPr>
          <p:cNvPr id="25" name="pool-readout-body">
            <a:extLst>
              <a:ext uri="{FF2B5EF4-FFF2-40B4-BE49-F238E27FC236}">
                <a16:creationId xmlns:a16="http://schemas.microsoft.com/office/drawing/2014/main" id="{AF402FCF-D7D6-458D-835D-314215A4C1FB}"/>
              </a:ext>
            </a:extLst>
          </p:cNvPr>
          <p:cNvSpPr>
            <a:spLocks noGrp="1"/>
          </p:cNvSpPr>
          <p:nvPr/>
        </p:nvSpPr>
        <p:spPr>
          <a:xfrm>
            <a:off x="6762750" y="2209800"/>
            <a:ext cx="1238250" cy="923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Mean pooling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over local nodes</a:t>
            </a:r>
          </a:p>
          <a:p>
            <a:endParaRPr sz="975" b="0">
              <a:solidFill>
                <a:srgbClr val="415466"/>
              </a:solidFill>
            </a:endParaRP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Linear 64 → 64 · ReLU</a:t>
            </a:r>
          </a:p>
        </p:txBody>
      </p:sp>
      <p:sp>
        <p:nvSpPr>
          <p:cNvPr id="26" name="actor-mlp">
            <a:extLst>
              <a:ext uri="{FF2B5EF4-FFF2-40B4-BE49-F238E27FC236}">
                <a16:creationId xmlns:a16="http://schemas.microsoft.com/office/drawing/2014/main" id="{4D1605D3-9E1A-4002-B900-66F99FEFBFDB}"/>
              </a:ext>
            </a:extLst>
          </p:cNvPr>
          <p:cNvSpPr>
            <a:spLocks noGrp="1"/>
          </p:cNvSpPr>
          <p:nvPr/>
        </p:nvSpPr>
        <p:spPr>
          <a:xfrm>
            <a:off x="8486775" y="2009775"/>
            <a:ext cx="1323975" cy="1028700"/>
          </a:xfrm>
          <a:prstGeom prst="roundRect">
            <a:avLst>
              <a:gd name="adj" fmla="val 11111"/>
            </a:avLst>
          </a:prstGeom>
          <a:solidFill>
            <a:srgbClr val="E6EEF9"/>
          </a:solidFill>
          <a:ln w="14288">
            <a:solidFill>
              <a:srgbClr val="788F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7" name="actor-mlp-accent">
            <a:extLst>
              <a:ext uri="{FF2B5EF4-FFF2-40B4-BE49-F238E27FC236}">
                <a16:creationId xmlns:a16="http://schemas.microsoft.com/office/drawing/2014/main" id="{B179D044-BD58-4184-BDB2-671F9FE733D5}"/>
              </a:ext>
            </a:extLst>
          </p:cNvPr>
          <p:cNvSpPr>
            <a:spLocks noGrp="1"/>
          </p:cNvSpPr>
          <p:nvPr/>
        </p:nvSpPr>
        <p:spPr>
          <a:xfrm>
            <a:off x="8486775" y="2009775"/>
            <a:ext cx="66675" cy="1028700"/>
          </a:xfrm>
          <a:prstGeom prst="roundRect">
            <a:avLst>
              <a:gd name="adj" fmla="val 50000"/>
            </a:avLst>
          </a:prstGeom>
          <a:solidFill>
            <a:srgbClr val="4A69A3"/>
          </a:solidFill>
          <a:ln w="0">
            <a:solidFill>
              <a:srgbClr val="4A6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actor-mlp-title">
            <a:extLst>
              <a:ext uri="{FF2B5EF4-FFF2-40B4-BE49-F238E27FC236}">
                <a16:creationId xmlns:a16="http://schemas.microsoft.com/office/drawing/2014/main" id="{7FAACC48-DD6C-43D6-B4C0-97B23A09CF6C}"/>
              </a:ext>
            </a:extLst>
          </p:cNvPr>
          <p:cNvSpPr>
            <a:spLocks noGrp="1"/>
          </p:cNvSpPr>
          <p:nvPr/>
        </p:nvSpPr>
        <p:spPr>
          <a:xfrm>
            <a:off x="8648700" y="2095500"/>
            <a:ext cx="10763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22230"/>
                </a:solidFill>
              </a:defRPr>
            </a:pPr>
            <a:r>
              <a:rPr sz="1350" b="1">
                <a:solidFill>
                  <a:srgbClr val="122230"/>
                </a:solidFill>
              </a:rPr>
              <a:t>Actor MLP</a:t>
            </a:r>
          </a:p>
        </p:txBody>
      </p:sp>
      <p:sp>
        <p:nvSpPr>
          <p:cNvPr id="29" name="actor-mlp-body">
            <a:extLst>
              <a:ext uri="{FF2B5EF4-FFF2-40B4-BE49-F238E27FC236}">
                <a16:creationId xmlns:a16="http://schemas.microsoft.com/office/drawing/2014/main" id="{6C69A0DA-91BA-4362-B00C-652446EF4099}"/>
              </a:ext>
            </a:extLst>
          </p:cNvPr>
          <p:cNvSpPr>
            <a:spLocks noGrp="1"/>
          </p:cNvSpPr>
          <p:nvPr/>
        </p:nvSpPr>
        <p:spPr>
          <a:xfrm>
            <a:off x="8648700" y="2362200"/>
            <a:ext cx="10668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64 → 128 → 128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ReLU activations</a:t>
            </a:r>
          </a:p>
        </p:txBody>
      </p:sp>
      <p:sp>
        <p:nvSpPr>
          <p:cNvPr id="30" name="policy-head">
            <a:extLst>
              <a:ext uri="{FF2B5EF4-FFF2-40B4-BE49-F238E27FC236}">
                <a16:creationId xmlns:a16="http://schemas.microsoft.com/office/drawing/2014/main" id="{C2A76D87-4145-42A5-8DFB-839B9F72FB25}"/>
              </a:ext>
            </a:extLst>
          </p:cNvPr>
          <p:cNvSpPr>
            <a:spLocks noGrp="1"/>
          </p:cNvSpPr>
          <p:nvPr/>
        </p:nvSpPr>
        <p:spPr>
          <a:xfrm>
            <a:off x="10182225" y="1809750"/>
            <a:ext cx="1504950" cy="1428750"/>
          </a:xfrm>
          <a:prstGeom prst="roundRect">
            <a:avLst>
              <a:gd name="adj" fmla="val 8000"/>
            </a:avLst>
          </a:prstGeom>
          <a:solidFill>
            <a:srgbClr val="E8EAF7"/>
          </a:solidFill>
          <a:ln w="14288">
            <a:solidFill>
              <a:srgbClr val="8888B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1" name="policy-head-accent">
            <a:extLst>
              <a:ext uri="{FF2B5EF4-FFF2-40B4-BE49-F238E27FC236}">
                <a16:creationId xmlns:a16="http://schemas.microsoft.com/office/drawing/2014/main" id="{4BEA79E8-AE9D-4E75-819A-7E364EC3AC0F}"/>
              </a:ext>
            </a:extLst>
          </p:cNvPr>
          <p:cNvSpPr>
            <a:spLocks noGrp="1"/>
          </p:cNvSpPr>
          <p:nvPr/>
        </p:nvSpPr>
        <p:spPr>
          <a:xfrm>
            <a:off x="10182225" y="1809750"/>
            <a:ext cx="66675" cy="1428750"/>
          </a:xfrm>
          <a:prstGeom prst="roundRect">
            <a:avLst>
              <a:gd name="adj" fmla="val 50000"/>
            </a:avLst>
          </a:prstGeom>
          <a:solidFill>
            <a:srgbClr val="6262A5"/>
          </a:solidFill>
          <a:ln w="0">
            <a:solidFill>
              <a:srgbClr val="6262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policy-head-title">
            <a:extLst>
              <a:ext uri="{FF2B5EF4-FFF2-40B4-BE49-F238E27FC236}">
                <a16:creationId xmlns:a16="http://schemas.microsoft.com/office/drawing/2014/main" id="{54ABF3C4-6CA7-4370-8A87-4AD7A4345E42}"/>
              </a:ext>
            </a:extLst>
          </p:cNvPr>
          <p:cNvSpPr>
            <a:spLocks noGrp="1"/>
          </p:cNvSpPr>
          <p:nvPr/>
        </p:nvSpPr>
        <p:spPr>
          <a:xfrm>
            <a:off x="10344150" y="1895475"/>
            <a:ext cx="1257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Categorical policy</a:t>
            </a:r>
          </a:p>
        </p:txBody>
      </p:sp>
      <p:sp>
        <p:nvSpPr>
          <p:cNvPr id="33" name="policy-head-body">
            <a:extLst>
              <a:ext uri="{FF2B5EF4-FFF2-40B4-BE49-F238E27FC236}">
                <a16:creationId xmlns:a16="http://schemas.microsoft.com/office/drawing/2014/main" id="{BBCC305E-6E97-47D1-838B-CC402A577C07}"/>
              </a:ext>
            </a:extLst>
          </p:cNvPr>
          <p:cNvSpPr>
            <a:spLocks noGrp="1"/>
          </p:cNvSpPr>
          <p:nvPr/>
        </p:nvSpPr>
        <p:spPr>
          <a:xfrm>
            <a:off x="10353675" y="2257535"/>
            <a:ext cx="1247775" cy="1019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 dirty="0">
                <a:solidFill>
                  <a:srgbClr val="415466"/>
                </a:solidFill>
              </a:rPr>
              <a:t>128 → Kᵢ action logits</a:t>
            </a:r>
          </a:p>
          <a:p>
            <a:endParaRPr sz="975" b="0" dirty="0">
              <a:solidFill>
                <a:srgbClr val="415466"/>
              </a:solidFill>
            </a:endParaRP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 dirty="0">
                <a:solidFill>
                  <a:srgbClr val="415466"/>
                </a:solidFill>
              </a:rPr>
              <a:t>train: sample aᵢ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 dirty="0">
                <a:solidFill>
                  <a:srgbClr val="415466"/>
                </a:solidFill>
              </a:rPr>
              <a:t>eval: argmax aᵢ</a:t>
            </a:r>
          </a:p>
        </p:txBody>
      </p:sp>
      <p:cxnSp>
        <p:nvCxnSpPr>
          <p:cNvPr id="106" name="Connecteur en angle 105"/>
          <p:cNvCxnSpPr>
            <a:stCxn id="6" idx="3"/>
            <a:endCxn id="10" idx="1"/>
          </p:cNvCxnSpPr>
          <p:nvPr/>
        </p:nvCxnSpPr>
        <p:spPr>
          <a:xfrm flipV="1">
            <a:off x="2095500" y="2157413"/>
            <a:ext cx="352425" cy="309563"/>
          </a:xfrm>
          <a:prstGeom prst="bentConnector3">
            <a:avLst>
              <a:gd name="adj1" fmla="val 50000"/>
            </a:avLst>
          </a:prstGeom>
          <a:ln w="19050">
            <a:solidFill>
              <a:srgbClr val="6C8799"/>
            </a:solidFill>
            <a:prstDash val="solid"/>
            <a:tailEnd type="triangle" w="sm" len="sm"/>
          </a:ln>
        </p:spPr>
      </p:cxnSp>
      <p:cxnSp>
        <p:nvCxnSpPr>
          <p:cNvPr id="107" name="Connecteur en angle 106"/>
          <p:cNvCxnSpPr>
            <a:stCxn id="6" idx="3"/>
            <a:endCxn id="14" idx="1"/>
          </p:cNvCxnSpPr>
          <p:nvPr/>
        </p:nvCxnSpPr>
        <p:spPr>
          <a:xfrm>
            <a:off x="2095500" y="2466975"/>
            <a:ext cx="352425" cy="904875"/>
          </a:xfrm>
          <a:prstGeom prst="bentConnector3">
            <a:avLst>
              <a:gd name="adj1" fmla="val 50000"/>
            </a:avLst>
          </a:prstGeom>
          <a:ln w="19050">
            <a:solidFill>
              <a:srgbClr val="6C8799"/>
            </a:solidFill>
            <a:prstDash val="solid"/>
            <a:tailEnd type="triangle" w="sm" len="sm"/>
          </a:ln>
        </p:spPr>
      </p:cxnSp>
      <p:cxnSp>
        <p:nvCxnSpPr>
          <p:cNvPr id="108" name="Connecteur droit avec flèche 107"/>
          <p:cNvCxnSpPr>
            <a:stCxn id="10" idx="3"/>
            <a:endCxn id="18" idx="1"/>
          </p:cNvCxnSpPr>
          <p:nvPr/>
        </p:nvCxnSpPr>
        <p:spPr>
          <a:xfrm>
            <a:off x="4010025" y="2157413"/>
            <a:ext cx="390525" cy="371475"/>
          </a:xfrm>
          <a:prstGeom prst="straightConnector1">
            <a:avLst/>
          </a:prstGeom>
          <a:ln w="19050">
            <a:solidFill>
              <a:srgbClr val="4B7792"/>
            </a:solidFill>
            <a:prstDash val="solid"/>
            <a:tailEnd type="triangle" w="sm" len="sm"/>
          </a:ln>
        </p:spPr>
      </p:cxnSp>
      <p:cxnSp>
        <p:nvCxnSpPr>
          <p:cNvPr id="109" name="Connecteur droit avec flèche 108"/>
          <p:cNvCxnSpPr>
            <a:stCxn id="14" idx="3"/>
            <a:endCxn id="18" idx="1"/>
          </p:cNvCxnSpPr>
          <p:nvPr/>
        </p:nvCxnSpPr>
        <p:spPr>
          <a:xfrm flipV="1">
            <a:off x="4010025" y="2528888"/>
            <a:ext cx="390525" cy="842963"/>
          </a:xfrm>
          <a:prstGeom prst="straightConnector1">
            <a:avLst/>
          </a:prstGeom>
          <a:ln w="19050">
            <a:solidFill>
              <a:srgbClr val="4B7792"/>
            </a:solidFill>
            <a:prstDash val="solid"/>
            <a:tailEnd type="triangle" w="sm" len="sm"/>
          </a:ln>
        </p:spPr>
      </p:cxnSp>
      <p:cxnSp>
        <p:nvCxnSpPr>
          <p:cNvPr id="110" name="Connecteur droit avec flèche 109"/>
          <p:cNvCxnSpPr>
            <a:stCxn id="18" idx="3"/>
            <a:endCxn id="22" idx="1"/>
          </p:cNvCxnSpPr>
          <p:nvPr/>
        </p:nvCxnSpPr>
        <p:spPr>
          <a:xfrm flipV="1">
            <a:off x="6210300" y="2524125"/>
            <a:ext cx="390525" cy="4763"/>
          </a:xfrm>
          <a:prstGeom prst="straightConnector1">
            <a:avLst/>
          </a:prstGeom>
          <a:ln w="19050">
            <a:solidFill>
              <a:srgbClr val="3C718F"/>
            </a:solidFill>
            <a:prstDash val="solid"/>
            <a:tailEnd type="triangle" w="sm" len="sm"/>
          </a:ln>
        </p:spPr>
      </p:cxnSp>
      <p:cxnSp>
        <p:nvCxnSpPr>
          <p:cNvPr id="111" name="Connecteur droit avec flèche 110"/>
          <p:cNvCxnSpPr>
            <a:stCxn id="22" idx="3"/>
            <a:endCxn id="26" idx="1"/>
          </p:cNvCxnSpPr>
          <p:nvPr/>
        </p:nvCxnSpPr>
        <p:spPr>
          <a:xfrm>
            <a:off x="8096250" y="2524125"/>
            <a:ext cx="390525" cy="0"/>
          </a:xfrm>
          <a:prstGeom prst="straightConnector1">
            <a:avLst/>
          </a:prstGeom>
          <a:ln w="19050">
            <a:solidFill>
              <a:srgbClr val="3C718F"/>
            </a:solidFill>
            <a:prstDash val="solid"/>
            <a:tailEnd type="triangle" w="sm" len="sm"/>
          </a:ln>
        </p:spPr>
      </p:cxnSp>
      <p:cxnSp>
        <p:nvCxnSpPr>
          <p:cNvPr id="112" name="Connecteur droit avec flèche 111"/>
          <p:cNvCxnSpPr>
            <a:stCxn id="26" idx="3"/>
            <a:endCxn id="30" idx="1"/>
          </p:cNvCxnSpPr>
          <p:nvPr/>
        </p:nvCxnSpPr>
        <p:spPr>
          <a:xfrm>
            <a:off x="9810750" y="2524125"/>
            <a:ext cx="371475" cy="0"/>
          </a:xfrm>
          <a:prstGeom prst="straightConnector1">
            <a:avLst/>
          </a:prstGeom>
          <a:ln w="19050">
            <a:solidFill>
              <a:srgbClr val="536A98"/>
            </a:solidFill>
            <a:prstDash val="solid"/>
            <a:tailEnd type="triangle" w="sm" len="sm"/>
          </a:ln>
        </p:spPr>
      </p:cxnSp>
      <p:sp>
        <p:nvSpPr>
          <p:cNvPr id="41" name="graph-dim-note">
            <a:extLst>
              <a:ext uri="{FF2B5EF4-FFF2-40B4-BE49-F238E27FC236}">
                <a16:creationId xmlns:a16="http://schemas.microsoft.com/office/drawing/2014/main" id="{20ADBA02-F3BE-4809-96F5-521CF011B727}"/>
              </a:ext>
            </a:extLst>
          </p:cNvPr>
          <p:cNvSpPr>
            <a:spLocks noGrp="1"/>
          </p:cNvSpPr>
          <p:nvPr/>
        </p:nvSpPr>
        <p:spPr>
          <a:xfrm>
            <a:off x="457200" y="332422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657684"/>
                </a:solidFill>
              </a:defRPr>
            </a:pPr>
            <a:r>
              <a:rPr sz="825" b="0">
                <a:solidFill>
                  <a:srgbClr val="657684"/>
                </a:solidFill>
              </a:rPr>
              <a:t>nᵢ = 2 × controlled substations</a:t>
            </a:r>
          </a:p>
        </p:txBody>
      </p:sp>
      <p:sp>
        <p:nvSpPr>
          <p:cNvPr id="42" name="training-band">
            <a:extLst>
              <a:ext uri="{FF2B5EF4-FFF2-40B4-BE49-F238E27FC236}">
                <a16:creationId xmlns:a16="http://schemas.microsoft.com/office/drawing/2014/main" id="{76E367C4-7FB8-41B8-B614-AABEE3DFFD5D}"/>
              </a:ext>
            </a:extLst>
          </p:cNvPr>
          <p:cNvSpPr>
            <a:spLocks noGrp="1"/>
          </p:cNvSpPr>
          <p:nvPr/>
        </p:nvSpPr>
        <p:spPr>
          <a:xfrm>
            <a:off x="304800" y="4362450"/>
            <a:ext cx="11582400" cy="2095500"/>
          </a:xfrm>
          <a:prstGeom prst="roundRect">
            <a:avLst>
              <a:gd name="adj" fmla="val 6364"/>
            </a:avLst>
          </a:prstGeom>
          <a:solidFill>
            <a:srgbClr val="FCFAF7"/>
          </a:solidFill>
          <a:ln w="9525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critic-label">
            <a:extLst>
              <a:ext uri="{FF2B5EF4-FFF2-40B4-BE49-F238E27FC236}">
                <a16:creationId xmlns:a16="http://schemas.microsoft.com/office/drawing/2014/main" id="{B7663FD2-C944-499F-917B-85ECDEACAFA2}"/>
              </a:ext>
            </a:extLst>
          </p:cNvPr>
          <p:cNvSpPr>
            <a:spLocks noGrp="1"/>
          </p:cNvSpPr>
          <p:nvPr/>
        </p:nvSpPr>
        <p:spPr>
          <a:xfrm>
            <a:off x="457200" y="4438650"/>
            <a:ext cx="247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A0642A"/>
                </a:solidFill>
              </a:defRPr>
            </a:pPr>
            <a:r>
              <a:rPr sz="975" b="1">
                <a:solidFill>
                  <a:srgbClr val="A0642A"/>
                </a:solidFill>
              </a:rPr>
              <a:t>CENTRALIZED TRAINING</a:t>
            </a:r>
          </a:p>
        </p:txBody>
      </p:sp>
      <p:sp>
        <p:nvSpPr>
          <p:cNvPr id="44" name="joint-observation">
            <a:extLst>
              <a:ext uri="{FF2B5EF4-FFF2-40B4-BE49-F238E27FC236}">
                <a16:creationId xmlns:a16="http://schemas.microsoft.com/office/drawing/2014/main" id="{5FB4AA60-751A-49E6-82C8-351A59AA84D7}"/>
              </a:ext>
            </a:extLst>
          </p:cNvPr>
          <p:cNvSpPr>
            <a:spLocks noGrp="1"/>
          </p:cNvSpPr>
          <p:nvPr/>
        </p:nvSpPr>
        <p:spPr>
          <a:xfrm>
            <a:off x="495300" y="4953000"/>
            <a:ext cx="1762125" cy="1104900"/>
          </a:xfrm>
          <a:prstGeom prst="roundRect">
            <a:avLst>
              <a:gd name="adj" fmla="val 10345"/>
            </a:avLst>
          </a:prstGeom>
          <a:solidFill>
            <a:srgbClr val="FFF4E7"/>
          </a:solidFill>
          <a:ln w="14288">
            <a:solidFill>
              <a:srgbClr val="D2A26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5" name="joint-observation-accent">
            <a:extLst>
              <a:ext uri="{FF2B5EF4-FFF2-40B4-BE49-F238E27FC236}">
                <a16:creationId xmlns:a16="http://schemas.microsoft.com/office/drawing/2014/main" id="{44C7DEAB-5726-4223-AF77-B2C407675FBC}"/>
              </a:ext>
            </a:extLst>
          </p:cNvPr>
          <p:cNvSpPr>
            <a:spLocks noGrp="1"/>
          </p:cNvSpPr>
          <p:nvPr/>
        </p:nvSpPr>
        <p:spPr>
          <a:xfrm>
            <a:off x="495300" y="4953000"/>
            <a:ext cx="66675" cy="1104900"/>
          </a:xfrm>
          <a:prstGeom prst="roundRect">
            <a:avLst>
              <a:gd name="adj" fmla="val 50000"/>
            </a:avLst>
          </a:prstGeom>
          <a:solidFill>
            <a:srgbClr val="C07A2E"/>
          </a:solidFill>
          <a:ln w="0">
            <a:solidFill>
              <a:srgbClr val="C07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joint-observation-title">
            <a:extLst>
              <a:ext uri="{FF2B5EF4-FFF2-40B4-BE49-F238E27FC236}">
                <a16:creationId xmlns:a16="http://schemas.microsoft.com/office/drawing/2014/main" id="{E02DA526-2A39-4AA8-ABE2-3B72CC96D293}"/>
              </a:ext>
            </a:extLst>
          </p:cNvPr>
          <p:cNvSpPr>
            <a:spLocks noGrp="1"/>
          </p:cNvSpPr>
          <p:nvPr/>
        </p:nvSpPr>
        <p:spPr>
          <a:xfrm>
            <a:off x="657225" y="5038725"/>
            <a:ext cx="15144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22230"/>
                </a:solidFill>
              </a:defRPr>
            </a:pPr>
            <a:r>
              <a:rPr sz="1200" b="1">
                <a:solidFill>
                  <a:srgbClr val="122230"/>
                </a:solidFill>
              </a:rPr>
              <a:t>Joint flat observation</a:t>
            </a:r>
          </a:p>
        </p:txBody>
      </p:sp>
      <p:sp>
        <p:nvSpPr>
          <p:cNvPr id="47" name="joint-observation-body">
            <a:extLst>
              <a:ext uri="{FF2B5EF4-FFF2-40B4-BE49-F238E27FC236}">
                <a16:creationId xmlns:a16="http://schemas.microsoft.com/office/drawing/2014/main" id="{4CC1292C-49AB-42DA-B01E-3AB8A4756016}"/>
              </a:ext>
            </a:extLst>
          </p:cNvPr>
          <p:cNvSpPr>
            <a:spLocks noGrp="1"/>
          </p:cNvSpPr>
          <p:nvPr/>
        </p:nvSpPr>
        <p:spPr>
          <a:xfrm>
            <a:off x="657225" y="5305425"/>
            <a:ext cx="15049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[o₀ ∥ o₁ ∥ o₂ ∥ o₃]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77 + 150 + 139 + 377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= 743 features</a:t>
            </a:r>
          </a:p>
        </p:txBody>
      </p:sp>
      <p:sp>
        <p:nvSpPr>
          <p:cNvPr id="48" name="critic-mlp">
            <a:extLst>
              <a:ext uri="{FF2B5EF4-FFF2-40B4-BE49-F238E27FC236}">
                <a16:creationId xmlns:a16="http://schemas.microsoft.com/office/drawing/2014/main" id="{42098DB8-0AF7-448F-AF03-0B766CE91A77}"/>
              </a:ext>
            </a:extLst>
          </p:cNvPr>
          <p:cNvSpPr>
            <a:spLocks noGrp="1"/>
          </p:cNvSpPr>
          <p:nvPr/>
        </p:nvSpPr>
        <p:spPr>
          <a:xfrm>
            <a:off x="2724150" y="5029200"/>
            <a:ext cx="1933575" cy="952500"/>
          </a:xfrm>
          <a:prstGeom prst="roundRect">
            <a:avLst>
              <a:gd name="adj" fmla="val 12000"/>
            </a:avLst>
          </a:prstGeom>
          <a:solidFill>
            <a:srgbClr val="FFF0DF"/>
          </a:solidFill>
          <a:ln w="14288">
            <a:solidFill>
              <a:srgbClr val="CE955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9" name="critic-mlp-accent">
            <a:extLst>
              <a:ext uri="{FF2B5EF4-FFF2-40B4-BE49-F238E27FC236}">
                <a16:creationId xmlns:a16="http://schemas.microsoft.com/office/drawing/2014/main" id="{FDB3204A-D6AB-46FF-A5D1-78EAF8A4120E}"/>
              </a:ext>
            </a:extLst>
          </p:cNvPr>
          <p:cNvSpPr>
            <a:spLocks noGrp="1"/>
          </p:cNvSpPr>
          <p:nvPr/>
        </p:nvSpPr>
        <p:spPr>
          <a:xfrm>
            <a:off x="2724150" y="5029200"/>
            <a:ext cx="66675" cy="952500"/>
          </a:xfrm>
          <a:prstGeom prst="roundRect">
            <a:avLst>
              <a:gd name="adj" fmla="val 50000"/>
            </a:avLst>
          </a:prstGeom>
          <a:solidFill>
            <a:srgbClr val="B66D23"/>
          </a:solidFill>
          <a:ln w="0">
            <a:solidFill>
              <a:srgbClr val="B66D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critic-mlp-title">
            <a:extLst>
              <a:ext uri="{FF2B5EF4-FFF2-40B4-BE49-F238E27FC236}">
                <a16:creationId xmlns:a16="http://schemas.microsoft.com/office/drawing/2014/main" id="{FDFBD5DE-95AF-4B07-9655-CBEA0B025A9C}"/>
              </a:ext>
            </a:extLst>
          </p:cNvPr>
          <p:cNvSpPr>
            <a:spLocks noGrp="1"/>
          </p:cNvSpPr>
          <p:nvPr/>
        </p:nvSpPr>
        <p:spPr>
          <a:xfrm>
            <a:off x="2886075" y="5114925"/>
            <a:ext cx="16859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Centralized critic</a:t>
            </a:r>
          </a:p>
        </p:txBody>
      </p:sp>
      <p:sp>
        <p:nvSpPr>
          <p:cNvPr id="51" name="critic-mlp-body">
            <a:extLst>
              <a:ext uri="{FF2B5EF4-FFF2-40B4-BE49-F238E27FC236}">
                <a16:creationId xmlns:a16="http://schemas.microsoft.com/office/drawing/2014/main" id="{F0DD4F5A-3D4C-4A30-8735-92510011E4E2}"/>
              </a:ext>
            </a:extLst>
          </p:cNvPr>
          <p:cNvSpPr>
            <a:spLocks noGrp="1"/>
          </p:cNvSpPr>
          <p:nvPr/>
        </p:nvSpPr>
        <p:spPr>
          <a:xfrm>
            <a:off x="2886075" y="5381625"/>
            <a:ext cx="16764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 dirty="0">
                <a:solidFill>
                  <a:srgbClr val="415466"/>
                </a:solidFill>
              </a:rPr>
              <a:t>MLP 743 → 128 → 128 → 1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 dirty="0" err="1">
                <a:solidFill>
                  <a:srgbClr val="415466"/>
                </a:solidFill>
              </a:rPr>
              <a:t>ReLU</a:t>
            </a:r>
            <a:r>
              <a:rPr sz="975" b="0" dirty="0">
                <a:solidFill>
                  <a:srgbClr val="415466"/>
                </a:solidFill>
              </a:rPr>
              <a:t> activations</a:t>
            </a:r>
          </a:p>
        </p:txBody>
      </p:sp>
      <p:sp>
        <p:nvSpPr>
          <p:cNvPr id="52" name="state-value">
            <a:extLst>
              <a:ext uri="{FF2B5EF4-FFF2-40B4-BE49-F238E27FC236}">
                <a16:creationId xmlns:a16="http://schemas.microsoft.com/office/drawing/2014/main" id="{FECFF362-AB78-429B-839F-A114CCCB5180}"/>
              </a:ext>
            </a:extLst>
          </p:cNvPr>
          <p:cNvSpPr>
            <a:spLocks noGrp="1"/>
          </p:cNvSpPr>
          <p:nvPr/>
        </p:nvSpPr>
        <p:spPr>
          <a:xfrm>
            <a:off x="5124450" y="5095875"/>
            <a:ext cx="1514475" cy="809625"/>
          </a:xfrm>
          <a:prstGeom prst="roundRect">
            <a:avLst>
              <a:gd name="adj" fmla="val 14118"/>
            </a:avLst>
          </a:prstGeom>
          <a:solidFill>
            <a:srgbClr val="FFF4E9"/>
          </a:solidFill>
          <a:ln w="14288">
            <a:solidFill>
              <a:srgbClr val="D3A36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53" name="state-value-accent">
            <a:extLst>
              <a:ext uri="{FF2B5EF4-FFF2-40B4-BE49-F238E27FC236}">
                <a16:creationId xmlns:a16="http://schemas.microsoft.com/office/drawing/2014/main" id="{B635F3D0-526F-4DBC-B50A-B3CAB5310B7C}"/>
              </a:ext>
            </a:extLst>
          </p:cNvPr>
          <p:cNvSpPr>
            <a:spLocks noGrp="1"/>
          </p:cNvSpPr>
          <p:nvPr/>
        </p:nvSpPr>
        <p:spPr>
          <a:xfrm>
            <a:off x="5124450" y="5095875"/>
            <a:ext cx="66675" cy="809625"/>
          </a:xfrm>
          <a:prstGeom prst="roundRect">
            <a:avLst>
              <a:gd name="adj" fmla="val 50000"/>
            </a:avLst>
          </a:prstGeom>
          <a:solidFill>
            <a:srgbClr val="BD762C"/>
          </a:solidFill>
          <a:ln w="0">
            <a:solidFill>
              <a:srgbClr val="BD7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tate-value-title">
            <a:extLst>
              <a:ext uri="{FF2B5EF4-FFF2-40B4-BE49-F238E27FC236}">
                <a16:creationId xmlns:a16="http://schemas.microsoft.com/office/drawing/2014/main" id="{8410141F-C645-4D7C-B0FF-10AA9E598B59}"/>
              </a:ext>
            </a:extLst>
          </p:cNvPr>
          <p:cNvSpPr>
            <a:spLocks noGrp="1"/>
          </p:cNvSpPr>
          <p:nvPr/>
        </p:nvSpPr>
        <p:spPr>
          <a:xfrm>
            <a:off x="5286375" y="5181600"/>
            <a:ext cx="12668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State value  V(s)</a:t>
            </a:r>
          </a:p>
        </p:txBody>
      </p:sp>
      <p:sp>
        <p:nvSpPr>
          <p:cNvPr id="55" name="state-value-body">
            <a:extLst>
              <a:ext uri="{FF2B5EF4-FFF2-40B4-BE49-F238E27FC236}">
                <a16:creationId xmlns:a16="http://schemas.microsoft.com/office/drawing/2014/main" id="{6E6F6851-0ACC-4E09-A659-310CC42101E5}"/>
              </a:ext>
            </a:extLst>
          </p:cNvPr>
          <p:cNvSpPr>
            <a:spLocks noGrp="1"/>
          </p:cNvSpPr>
          <p:nvPr/>
        </p:nvSpPr>
        <p:spPr>
          <a:xfrm>
            <a:off x="5286375" y="544830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Single scalar estimate</a:t>
            </a:r>
          </a:p>
        </p:txBody>
      </p:sp>
      <p:sp>
        <p:nvSpPr>
          <p:cNvPr id="56" name="mappo-update">
            <a:extLst>
              <a:ext uri="{FF2B5EF4-FFF2-40B4-BE49-F238E27FC236}">
                <a16:creationId xmlns:a16="http://schemas.microsoft.com/office/drawing/2014/main" id="{375724A1-A48C-4C15-9A94-F610FA2BF943}"/>
              </a:ext>
            </a:extLst>
          </p:cNvPr>
          <p:cNvSpPr>
            <a:spLocks noGrp="1"/>
          </p:cNvSpPr>
          <p:nvPr/>
        </p:nvSpPr>
        <p:spPr>
          <a:xfrm>
            <a:off x="7239000" y="4914900"/>
            <a:ext cx="1971675" cy="1181100"/>
          </a:xfrm>
          <a:prstGeom prst="roundRect">
            <a:avLst>
              <a:gd name="adj" fmla="val 9677"/>
            </a:avLst>
          </a:prstGeom>
          <a:solidFill>
            <a:srgbClr val="F2EAF8"/>
          </a:solidFill>
          <a:ln w="14288">
            <a:solidFill>
              <a:srgbClr val="A68AB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57" name="mappo-update-accent">
            <a:extLst>
              <a:ext uri="{FF2B5EF4-FFF2-40B4-BE49-F238E27FC236}">
                <a16:creationId xmlns:a16="http://schemas.microsoft.com/office/drawing/2014/main" id="{B184DCF8-55EC-4AFD-BD51-C779F896DE94}"/>
              </a:ext>
            </a:extLst>
          </p:cNvPr>
          <p:cNvSpPr>
            <a:spLocks noGrp="1"/>
          </p:cNvSpPr>
          <p:nvPr/>
        </p:nvSpPr>
        <p:spPr>
          <a:xfrm>
            <a:off x="7239000" y="4914900"/>
            <a:ext cx="66675" cy="1181100"/>
          </a:xfrm>
          <a:prstGeom prst="roundRect">
            <a:avLst>
              <a:gd name="adj" fmla="val 50000"/>
            </a:avLst>
          </a:prstGeom>
          <a:solidFill>
            <a:srgbClr val="80579E"/>
          </a:solidFill>
          <a:ln w="0">
            <a:solidFill>
              <a:srgbClr val="8057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mappo-update-title">
            <a:extLst>
              <a:ext uri="{FF2B5EF4-FFF2-40B4-BE49-F238E27FC236}">
                <a16:creationId xmlns:a16="http://schemas.microsoft.com/office/drawing/2014/main" id="{48CD2980-C9E0-4B9D-B5AF-62BBBE0DAA4A}"/>
              </a:ext>
            </a:extLst>
          </p:cNvPr>
          <p:cNvSpPr>
            <a:spLocks noGrp="1"/>
          </p:cNvSpPr>
          <p:nvPr/>
        </p:nvSpPr>
        <p:spPr>
          <a:xfrm>
            <a:off x="7400925" y="5000625"/>
            <a:ext cx="17240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MAPPO update</a:t>
            </a:r>
          </a:p>
        </p:txBody>
      </p:sp>
      <p:sp>
        <p:nvSpPr>
          <p:cNvPr id="59" name="mappo-update-body">
            <a:extLst>
              <a:ext uri="{FF2B5EF4-FFF2-40B4-BE49-F238E27FC236}">
                <a16:creationId xmlns:a16="http://schemas.microsoft.com/office/drawing/2014/main" id="{89D19D47-A767-4F00-8DB1-C3CCBF9895BC}"/>
              </a:ext>
            </a:extLst>
          </p:cNvPr>
          <p:cNvSpPr>
            <a:spLocks noGrp="1"/>
          </p:cNvSpPr>
          <p:nvPr/>
        </p:nvSpPr>
        <p:spPr>
          <a:xfrm>
            <a:off x="7400925" y="5267325"/>
            <a:ext cx="171450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GAE advantages + returns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Clipped policy loss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Entropy bonus + value loss</a:t>
            </a:r>
          </a:p>
        </p:txBody>
      </p:sp>
      <p:sp>
        <p:nvSpPr>
          <p:cNvPr id="60" name="grid-environment">
            <a:extLst>
              <a:ext uri="{FF2B5EF4-FFF2-40B4-BE49-F238E27FC236}">
                <a16:creationId xmlns:a16="http://schemas.microsoft.com/office/drawing/2014/main" id="{9E6D671C-C863-41AD-B048-72EE533F37AA}"/>
              </a:ext>
            </a:extLst>
          </p:cNvPr>
          <p:cNvSpPr>
            <a:spLocks noGrp="1"/>
          </p:cNvSpPr>
          <p:nvPr/>
        </p:nvSpPr>
        <p:spPr>
          <a:xfrm>
            <a:off x="9858375" y="4857750"/>
            <a:ext cx="1790700" cy="1285875"/>
          </a:xfrm>
          <a:prstGeom prst="roundRect">
            <a:avLst>
              <a:gd name="adj" fmla="val 8889"/>
            </a:avLst>
          </a:prstGeom>
          <a:solidFill>
            <a:srgbClr val="EAF5EC"/>
          </a:solidFill>
          <a:ln w="14288">
            <a:solidFill>
              <a:srgbClr val="79A88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61" name="grid-environment-accent">
            <a:extLst>
              <a:ext uri="{FF2B5EF4-FFF2-40B4-BE49-F238E27FC236}">
                <a16:creationId xmlns:a16="http://schemas.microsoft.com/office/drawing/2014/main" id="{BAF15364-08B4-48CF-98A1-C20FF9BAE5D9}"/>
              </a:ext>
            </a:extLst>
          </p:cNvPr>
          <p:cNvSpPr>
            <a:spLocks noGrp="1"/>
          </p:cNvSpPr>
          <p:nvPr/>
        </p:nvSpPr>
        <p:spPr>
          <a:xfrm>
            <a:off x="9858375" y="4857750"/>
            <a:ext cx="66675" cy="1285875"/>
          </a:xfrm>
          <a:prstGeom prst="roundRect">
            <a:avLst>
              <a:gd name="adj" fmla="val 50000"/>
            </a:avLst>
          </a:prstGeom>
          <a:solidFill>
            <a:srgbClr val="3E8250"/>
          </a:solidFill>
          <a:ln w="0">
            <a:solidFill>
              <a:srgbClr val="3E82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grid-environment-title">
            <a:extLst>
              <a:ext uri="{FF2B5EF4-FFF2-40B4-BE49-F238E27FC236}">
                <a16:creationId xmlns:a16="http://schemas.microsoft.com/office/drawing/2014/main" id="{C986457D-74E1-40EB-810E-E756FCE4C0D7}"/>
              </a:ext>
            </a:extLst>
          </p:cNvPr>
          <p:cNvSpPr>
            <a:spLocks noGrp="1"/>
          </p:cNvSpPr>
          <p:nvPr/>
        </p:nvSpPr>
        <p:spPr>
          <a:xfrm>
            <a:off x="10020300" y="4943475"/>
            <a:ext cx="1543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WCCI-36 environment</a:t>
            </a:r>
          </a:p>
        </p:txBody>
      </p:sp>
      <p:sp>
        <p:nvSpPr>
          <p:cNvPr id="63" name="grid-environment-body">
            <a:extLst>
              <a:ext uri="{FF2B5EF4-FFF2-40B4-BE49-F238E27FC236}">
                <a16:creationId xmlns:a16="http://schemas.microsoft.com/office/drawing/2014/main" id="{A2055C94-FDF9-48C3-ACC2-EC6D7AEA12C2}"/>
              </a:ext>
            </a:extLst>
          </p:cNvPr>
          <p:cNvSpPr>
            <a:spLocks noGrp="1"/>
          </p:cNvSpPr>
          <p:nvPr/>
        </p:nvSpPr>
        <p:spPr>
          <a:xfrm>
            <a:off x="10020300" y="5305425"/>
            <a:ext cx="15335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 dirty="0">
                <a:solidFill>
                  <a:srgbClr val="415466"/>
                </a:solidFill>
              </a:rPr>
              <a:t>Joint action (a₀…a₃)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 dirty="0">
                <a:solidFill>
                  <a:srgbClr val="415466"/>
                </a:solidFill>
              </a:rPr>
              <a:t>AC power flow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 dirty="0">
                <a:solidFill>
                  <a:srgbClr val="415466"/>
                </a:solidFill>
              </a:rPr>
              <a:t>reward · next state</a:t>
            </a:r>
          </a:p>
        </p:txBody>
      </p:sp>
      <p:cxnSp>
        <p:nvCxnSpPr>
          <p:cNvPr id="136" name="Connecteur droit avec flèche 135"/>
          <p:cNvCxnSpPr>
            <a:stCxn id="44" idx="3"/>
            <a:endCxn id="48" idx="1"/>
          </p:cNvCxnSpPr>
          <p:nvPr/>
        </p:nvCxnSpPr>
        <p:spPr>
          <a:xfrm>
            <a:off x="2257425" y="5505450"/>
            <a:ext cx="466725" cy="0"/>
          </a:xfrm>
          <a:prstGeom prst="straightConnector1">
            <a:avLst/>
          </a:prstGeom>
          <a:ln w="19050">
            <a:solidFill>
              <a:srgbClr val="A87843"/>
            </a:solidFill>
            <a:prstDash val="solid"/>
            <a:tailEnd type="triangle" w="sm" len="sm"/>
          </a:ln>
        </p:spPr>
      </p:cxnSp>
      <p:cxnSp>
        <p:nvCxnSpPr>
          <p:cNvPr id="137" name="Connecteur droit avec flèche 136"/>
          <p:cNvCxnSpPr>
            <a:stCxn id="48" idx="3"/>
            <a:endCxn id="52" idx="1"/>
          </p:cNvCxnSpPr>
          <p:nvPr/>
        </p:nvCxnSpPr>
        <p:spPr>
          <a:xfrm flipV="1">
            <a:off x="4657725" y="5500688"/>
            <a:ext cx="466725" cy="4763"/>
          </a:xfrm>
          <a:prstGeom prst="straightConnector1">
            <a:avLst/>
          </a:prstGeom>
          <a:ln w="19050">
            <a:solidFill>
              <a:srgbClr val="A87843"/>
            </a:solidFill>
            <a:prstDash val="solid"/>
            <a:tailEnd type="triangle" w="sm" len="sm"/>
          </a:ln>
        </p:spPr>
      </p:cxnSp>
      <p:cxnSp>
        <p:nvCxnSpPr>
          <p:cNvPr id="138" name="Connecteur droit avec flèche 137"/>
          <p:cNvCxnSpPr>
            <a:stCxn id="52" idx="3"/>
            <a:endCxn id="56" idx="1"/>
          </p:cNvCxnSpPr>
          <p:nvPr/>
        </p:nvCxnSpPr>
        <p:spPr>
          <a:xfrm>
            <a:off x="6638925" y="5500688"/>
            <a:ext cx="600075" cy="4763"/>
          </a:xfrm>
          <a:prstGeom prst="straightConnector1">
            <a:avLst/>
          </a:prstGeom>
          <a:ln w="19050">
            <a:solidFill>
              <a:srgbClr val="987348"/>
            </a:solidFill>
            <a:prstDash val="solid"/>
            <a:tailEnd type="triangle" w="sm" len="sm"/>
          </a:ln>
        </p:spPr>
      </p:cxnSp>
      <p:cxnSp>
        <p:nvCxnSpPr>
          <p:cNvPr id="139" name="Connecteur en angle 138"/>
          <p:cNvCxnSpPr>
            <a:stCxn id="56" idx="2"/>
            <a:endCxn id="48" idx="2"/>
          </p:cNvCxnSpPr>
          <p:nvPr/>
        </p:nvCxnSpPr>
        <p:spPr>
          <a:xfrm flipH="1" flipV="1">
            <a:off x="3690938" y="5981700"/>
            <a:ext cx="4533900" cy="114300"/>
          </a:xfrm>
          <a:prstGeom prst="bentConnector4">
            <a:avLst>
              <a:gd name="adj1" fmla="val 0"/>
              <a:gd name="adj2" fmla="val -154651"/>
            </a:avLst>
          </a:prstGeom>
          <a:ln w="19050">
            <a:solidFill>
              <a:srgbClr val="895E9E"/>
            </a:solidFill>
            <a:prstDash val="dash"/>
            <a:tailEnd type="triangle" w="sm" len="sm"/>
          </a:ln>
        </p:spPr>
      </p:cxnSp>
      <p:cxnSp>
        <p:nvCxnSpPr>
          <p:cNvPr id="140" name="Connecteur en angle 139"/>
          <p:cNvCxnSpPr>
            <a:stCxn id="30" idx="2"/>
            <a:endCxn id="60" idx="0"/>
          </p:cNvCxnSpPr>
          <p:nvPr/>
        </p:nvCxnSpPr>
        <p:spPr>
          <a:xfrm flipH="1">
            <a:off x="10753725" y="3238500"/>
            <a:ext cx="180975" cy="16192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546A92"/>
            </a:solidFill>
            <a:prstDash val="solid"/>
            <a:tailEnd type="triangle" w="sm" len="sm"/>
          </a:ln>
        </p:spPr>
      </p:cxnSp>
      <p:cxnSp>
        <p:nvCxnSpPr>
          <p:cNvPr id="141" name="Connecteur droit avec flèche 140"/>
          <p:cNvCxnSpPr>
            <a:stCxn id="60" idx="1"/>
            <a:endCxn id="56" idx="3"/>
          </p:cNvCxnSpPr>
          <p:nvPr/>
        </p:nvCxnSpPr>
        <p:spPr>
          <a:xfrm flipH="1">
            <a:off x="9210675" y="5500688"/>
            <a:ext cx="647700" cy="4763"/>
          </a:xfrm>
          <a:prstGeom prst="straightConnector1">
            <a:avLst/>
          </a:prstGeom>
          <a:ln w="19050">
            <a:solidFill>
              <a:srgbClr val="638A6C"/>
            </a:solidFill>
            <a:prstDash val="solid"/>
            <a:tailEnd type="triangle" w="sm" len="sm"/>
          </a:ln>
        </p:spPr>
      </p:cxnSp>
      <p:cxnSp>
        <p:nvCxnSpPr>
          <p:cNvPr id="142" name="Connecteur en angle 141"/>
          <p:cNvCxnSpPr>
            <a:stCxn id="56" idx="0"/>
            <a:endCxn id="26" idx="2"/>
          </p:cNvCxnSpPr>
          <p:nvPr/>
        </p:nvCxnSpPr>
        <p:spPr>
          <a:xfrm flipV="1">
            <a:off x="8224838" y="3038475"/>
            <a:ext cx="923925" cy="18764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80579E"/>
            </a:solidFill>
            <a:prstDash val="dash"/>
            <a:tailEnd type="triangle" w="sm" len="sm"/>
          </a:ln>
        </p:spPr>
      </p:cxnSp>
      <p:sp>
        <p:nvSpPr>
          <p:cNvPr id="71" name="actor-update-label">
            <a:extLst>
              <a:ext uri="{FF2B5EF4-FFF2-40B4-BE49-F238E27FC236}">
                <a16:creationId xmlns:a16="http://schemas.microsoft.com/office/drawing/2014/main" id="{DD0E5D82-FB91-4309-9AC9-63F7D1488D6C}"/>
              </a:ext>
            </a:extLst>
          </p:cNvPr>
          <p:cNvSpPr>
            <a:spLocks noGrp="1"/>
          </p:cNvSpPr>
          <p:nvPr/>
        </p:nvSpPr>
        <p:spPr>
          <a:xfrm>
            <a:off x="8115300" y="417195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80579E"/>
                </a:solidFill>
              </a:defRPr>
            </a:pPr>
            <a:r>
              <a:rPr sz="825" b="1" dirty="0">
                <a:solidFill>
                  <a:srgbClr val="80579E"/>
                </a:solidFill>
              </a:rPr>
              <a:t>policy gradients</a:t>
            </a:r>
          </a:p>
        </p:txBody>
      </p:sp>
      <p:sp>
        <p:nvSpPr>
          <p:cNvPr id="72" name="critic-update-label">
            <a:extLst>
              <a:ext uri="{FF2B5EF4-FFF2-40B4-BE49-F238E27FC236}">
                <a16:creationId xmlns:a16="http://schemas.microsoft.com/office/drawing/2014/main" id="{22472F20-E494-456F-81DF-33046D7ED1EE}"/>
              </a:ext>
            </a:extLst>
          </p:cNvPr>
          <p:cNvSpPr>
            <a:spLocks noGrp="1"/>
          </p:cNvSpPr>
          <p:nvPr/>
        </p:nvSpPr>
        <p:spPr>
          <a:xfrm>
            <a:off x="3724275" y="6067424"/>
            <a:ext cx="1123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80579E"/>
                </a:solidFill>
              </a:defRPr>
            </a:pPr>
            <a:r>
              <a:rPr sz="825" b="1" dirty="0">
                <a:solidFill>
                  <a:srgbClr val="80579E"/>
                </a:solidFill>
              </a:rPr>
              <a:t>value gradients</a:t>
            </a:r>
          </a:p>
        </p:txBody>
      </p:sp>
    </p:spTree>
    <p:extLst>
      <p:ext uri="{BB962C8B-B14F-4D97-AF65-F5344CB8AC3E}">
        <p14:creationId xmlns:p14="http://schemas.microsoft.com/office/powerpoint/2010/main" val="1543092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F2FF6-5693-002C-E519-12741B7C2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">
            <a:extLst>
              <a:ext uri="{FF2B5EF4-FFF2-40B4-BE49-F238E27FC236}">
                <a16:creationId xmlns:a16="http://schemas.microsoft.com/office/drawing/2014/main" id="{6E85CE85-FA94-7E4E-2030-8AC4933D274E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112776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111820"/>
                </a:solidFill>
              </a:defRPr>
            </a:pPr>
            <a:r>
              <a:rPr sz="2250" b="1">
                <a:solidFill>
                  <a:srgbClr val="111820"/>
                </a:solidFill>
              </a:rPr>
              <a:t>Four local GINE actors choose topology actions; one global critic guides MAPPO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F6FAD3A2-0928-D119-C545-C122392673CE}"/>
              </a:ext>
            </a:extLst>
          </p:cNvPr>
          <p:cNvSpPr>
            <a:spLocks noGrp="1"/>
          </p:cNvSpPr>
          <p:nvPr/>
        </p:nvSpPr>
        <p:spPr>
          <a:xfrm>
            <a:off x="476250" y="762000"/>
            <a:ext cx="885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5A6875"/>
                </a:solidFill>
              </a:defRPr>
            </a:pPr>
            <a:r>
              <a:rPr sz="1125" b="0">
                <a:solidFill>
                  <a:srgbClr val="5A6875"/>
                </a:solidFill>
              </a:rPr>
              <a:t>Current WCCI-36 configuration · decentralized execution · centralized training</a:t>
            </a:r>
          </a:p>
        </p:txBody>
      </p:sp>
      <p:sp>
        <p:nvSpPr>
          <p:cNvPr id="3" name="actor-band">
            <a:extLst>
              <a:ext uri="{FF2B5EF4-FFF2-40B4-BE49-F238E27FC236}">
                <a16:creationId xmlns:a16="http://schemas.microsoft.com/office/drawing/2014/main" id="{8DCC3269-3859-C67A-9FA5-A9446B69792C}"/>
              </a:ext>
            </a:extLst>
          </p:cNvPr>
          <p:cNvSpPr>
            <a:spLocks noGrp="1"/>
          </p:cNvSpPr>
          <p:nvPr/>
        </p:nvSpPr>
        <p:spPr>
          <a:xfrm>
            <a:off x="304800" y="1143000"/>
            <a:ext cx="11582400" cy="3000375"/>
          </a:xfrm>
          <a:prstGeom prst="roundRect">
            <a:avLst>
              <a:gd name="adj" fmla="val 4444"/>
            </a:avLst>
          </a:prstGeom>
          <a:solidFill>
            <a:srgbClr val="F7FAFD"/>
          </a:solidFill>
          <a:ln w="9525">
            <a:solidFill>
              <a:srgbClr val="D7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actor-label">
            <a:extLst>
              <a:ext uri="{FF2B5EF4-FFF2-40B4-BE49-F238E27FC236}">
                <a16:creationId xmlns:a16="http://schemas.microsoft.com/office/drawing/2014/main" id="{64478360-D691-6B86-A918-979B51AC11A2}"/>
              </a:ext>
            </a:extLst>
          </p:cNvPr>
          <p:cNvSpPr>
            <a:spLocks noGrp="1"/>
          </p:cNvSpPr>
          <p:nvPr/>
        </p:nvSpPr>
        <p:spPr>
          <a:xfrm>
            <a:off x="457200" y="1219200"/>
            <a:ext cx="247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B6F9C"/>
                </a:solidFill>
              </a:defRPr>
            </a:pPr>
            <a:r>
              <a:rPr sz="975" b="1">
                <a:solidFill>
                  <a:srgbClr val="2B6F9C"/>
                </a:solidFill>
              </a:rPr>
              <a:t>DECENTRALIZED ACTOR  πᵢ</a:t>
            </a:r>
          </a:p>
        </p:txBody>
      </p:sp>
      <p:sp>
        <p:nvSpPr>
          <p:cNvPr id="6" name="local-graph">
            <a:extLst>
              <a:ext uri="{FF2B5EF4-FFF2-40B4-BE49-F238E27FC236}">
                <a16:creationId xmlns:a16="http://schemas.microsoft.com/office/drawing/2014/main" id="{E3546664-3882-E2B5-E19C-8002558EB34E}"/>
              </a:ext>
            </a:extLst>
          </p:cNvPr>
          <p:cNvSpPr>
            <a:spLocks noGrp="1"/>
          </p:cNvSpPr>
          <p:nvPr/>
        </p:nvSpPr>
        <p:spPr>
          <a:xfrm>
            <a:off x="476250" y="1762125"/>
            <a:ext cx="1619250" cy="1409700"/>
          </a:xfrm>
          <a:prstGeom prst="roundRect">
            <a:avLst>
              <a:gd name="adj" fmla="val 8108"/>
            </a:avLst>
          </a:prstGeom>
          <a:solidFill>
            <a:srgbClr val="EAF3FA"/>
          </a:solidFill>
          <a:ln w="14288">
            <a:solidFill>
              <a:srgbClr val="78A5C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local-graph-accent">
            <a:extLst>
              <a:ext uri="{FF2B5EF4-FFF2-40B4-BE49-F238E27FC236}">
                <a16:creationId xmlns:a16="http://schemas.microsoft.com/office/drawing/2014/main" id="{261327C2-934F-5C43-F1CB-17D2B391DAEB}"/>
              </a:ext>
            </a:extLst>
          </p:cNvPr>
          <p:cNvSpPr>
            <a:spLocks noGrp="1"/>
          </p:cNvSpPr>
          <p:nvPr/>
        </p:nvSpPr>
        <p:spPr>
          <a:xfrm>
            <a:off x="476250" y="1762125"/>
            <a:ext cx="66675" cy="1409700"/>
          </a:xfrm>
          <a:prstGeom prst="roundRect">
            <a:avLst>
              <a:gd name="adj" fmla="val 50000"/>
            </a:avLst>
          </a:prstGeom>
          <a:solidFill>
            <a:srgbClr val="2F7CA8"/>
          </a:solidFill>
          <a:ln w="0">
            <a:solidFill>
              <a:srgbClr val="2F7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local-graph-title">
            <a:extLst>
              <a:ext uri="{FF2B5EF4-FFF2-40B4-BE49-F238E27FC236}">
                <a16:creationId xmlns:a16="http://schemas.microsoft.com/office/drawing/2014/main" id="{BC9E9469-9E05-FB13-B0DE-CA03ED71450D}"/>
              </a:ext>
            </a:extLst>
          </p:cNvPr>
          <p:cNvSpPr>
            <a:spLocks noGrp="1"/>
          </p:cNvSpPr>
          <p:nvPr/>
        </p:nvSpPr>
        <p:spPr>
          <a:xfrm>
            <a:off x="638175" y="1847850"/>
            <a:ext cx="13716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Local busbar graph  Gᵢ</a:t>
            </a:r>
          </a:p>
        </p:txBody>
      </p:sp>
      <p:sp>
        <p:nvSpPr>
          <p:cNvPr id="9" name="local-graph-body">
            <a:extLst>
              <a:ext uri="{FF2B5EF4-FFF2-40B4-BE49-F238E27FC236}">
                <a16:creationId xmlns:a16="http://schemas.microsoft.com/office/drawing/2014/main" id="{E76A817E-D5C4-00E1-7357-D7A69438812A}"/>
              </a:ext>
            </a:extLst>
          </p:cNvPr>
          <p:cNvSpPr>
            <a:spLocks noGrp="1"/>
          </p:cNvSpPr>
          <p:nvPr/>
        </p:nvSpPr>
        <p:spPr>
          <a:xfrm>
            <a:off x="638175" y="2238375"/>
            <a:ext cx="13620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 dirty="0">
                <a:solidFill>
                  <a:srgbClr val="415466"/>
                </a:solidFill>
              </a:rPr>
              <a:t>Nodes: local busbars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 dirty="0">
                <a:solidFill>
                  <a:srgbClr val="415466"/>
                </a:solidFill>
              </a:rPr>
              <a:t>Edges: feasible line connections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 dirty="0">
                <a:solidFill>
                  <a:srgbClr val="415466"/>
                </a:solidFill>
              </a:rPr>
              <a:t>Topology: active-edge mask</a:t>
            </a:r>
          </a:p>
        </p:txBody>
      </p:sp>
      <p:sp>
        <p:nvSpPr>
          <p:cNvPr id="10" name="node-tensor">
            <a:extLst>
              <a:ext uri="{FF2B5EF4-FFF2-40B4-BE49-F238E27FC236}">
                <a16:creationId xmlns:a16="http://schemas.microsoft.com/office/drawing/2014/main" id="{34572360-BBD9-A907-0EB7-E5DDD181235F}"/>
              </a:ext>
            </a:extLst>
          </p:cNvPr>
          <p:cNvSpPr>
            <a:spLocks noGrp="1"/>
          </p:cNvSpPr>
          <p:nvPr/>
        </p:nvSpPr>
        <p:spPr>
          <a:xfrm>
            <a:off x="2447925" y="1571625"/>
            <a:ext cx="1562100" cy="1171575"/>
          </a:xfrm>
          <a:prstGeom prst="roundRect">
            <a:avLst>
              <a:gd name="adj" fmla="val 9756"/>
            </a:avLst>
          </a:prstGeom>
          <a:solidFill>
            <a:srgbClr val="F0F6FB"/>
          </a:solidFill>
          <a:ln w="14288">
            <a:solidFill>
              <a:srgbClr val="8FB3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1" name="node-tensor-accent">
            <a:extLst>
              <a:ext uri="{FF2B5EF4-FFF2-40B4-BE49-F238E27FC236}">
                <a16:creationId xmlns:a16="http://schemas.microsoft.com/office/drawing/2014/main" id="{C0E03F34-E049-6CDC-DFE0-01E0B0538BA0}"/>
              </a:ext>
            </a:extLst>
          </p:cNvPr>
          <p:cNvSpPr>
            <a:spLocks noGrp="1"/>
          </p:cNvSpPr>
          <p:nvPr/>
        </p:nvSpPr>
        <p:spPr>
          <a:xfrm>
            <a:off x="2447925" y="1571625"/>
            <a:ext cx="66675" cy="1171575"/>
          </a:xfrm>
          <a:prstGeom prst="roundRect">
            <a:avLst>
              <a:gd name="adj" fmla="val 50000"/>
            </a:avLst>
          </a:prstGeom>
          <a:solidFill>
            <a:srgbClr val="4384AA"/>
          </a:solidFill>
          <a:ln w="0">
            <a:solidFill>
              <a:srgbClr val="438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node-tensor-title">
            <a:extLst>
              <a:ext uri="{FF2B5EF4-FFF2-40B4-BE49-F238E27FC236}">
                <a16:creationId xmlns:a16="http://schemas.microsoft.com/office/drawing/2014/main" id="{E4256CC8-0392-0BF0-8444-C73D39848A76}"/>
              </a:ext>
            </a:extLst>
          </p:cNvPr>
          <p:cNvSpPr>
            <a:spLocks noGrp="1"/>
          </p:cNvSpPr>
          <p:nvPr/>
        </p:nvSpPr>
        <p:spPr>
          <a:xfrm>
            <a:off x="2609850" y="1657350"/>
            <a:ext cx="1314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22230"/>
                </a:solidFill>
              </a:defRPr>
            </a:pPr>
            <a:r>
              <a:rPr sz="1200" b="1">
                <a:solidFill>
                  <a:srgbClr val="122230"/>
                </a:solidFill>
              </a:rPr>
              <a:t>Node tensor</a:t>
            </a:r>
          </a:p>
        </p:txBody>
      </p:sp>
      <p:sp>
        <p:nvSpPr>
          <p:cNvPr id="13" name="node-tensor-body">
            <a:extLst>
              <a:ext uri="{FF2B5EF4-FFF2-40B4-BE49-F238E27FC236}">
                <a16:creationId xmlns:a16="http://schemas.microsoft.com/office/drawing/2014/main" id="{AC0F1998-39EF-A910-F758-CFFB4D9D4015}"/>
              </a:ext>
            </a:extLst>
          </p:cNvPr>
          <p:cNvSpPr>
            <a:spLocks noGrp="1"/>
          </p:cNvSpPr>
          <p:nvPr/>
        </p:nvSpPr>
        <p:spPr>
          <a:xfrm>
            <a:off x="2609850" y="1924050"/>
            <a:ext cx="13049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6 physical features</a:t>
            </a:r>
          </a:p>
          <a:p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+ 8-D substation ID</a:t>
            </a:r>
          </a:p>
          <a:p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+ 8-D busbar ID</a:t>
            </a:r>
          </a:p>
          <a:p>
            <a:endParaRPr sz="900" b="0">
              <a:solidFill>
                <a:srgbClr val="415466"/>
              </a:solidFill>
            </a:endParaRPr>
          </a:p>
          <a:p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22 features / node</a:t>
            </a:r>
          </a:p>
        </p:txBody>
      </p:sp>
      <p:sp>
        <p:nvSpPr>
          <p:cNvPr id="14" name="edge-tensor">
            <a:extLst>
              <a:ext uri="{FF2B5EF4-FFF2-40B4-BE49-F238E27FC236}">
                <a16:creationId xmlns:a16="http://schemas.microsoft.com/office/drawing/2014/main" id="{EC34BE6B-E847-3BC2-F01C-DB366ABA9B5F}"/>
              </a:ext>
            </a:extLst>
          </p:cNvPr>
          <p:cNvSpPr>
            <a:spLocks noGrp="1"/>
          </p:cNvSpPr>
          <p:nvPr/>
        </p:nvSpPr>
        <p:spPr>
          <a:xfrm>
            <a:off x="2447925" y="2886075"/>
            <a:ext cx="1562100" cy="971550"/>
          </a:xfrm>
          <a:prstGeom prst="roundRect">
            <a:avLst>
              <a:gd name="adj" fmla="val 11765"/>
            </a:avLst>
          </a:prstGeom>
          <a:solidFill>
            <a:srgbClr val="F0F6FB"/>
          </a:solidFill>
          <a:ln w="14288">
            <a:solidFill>
              <a:srgbClr val="8FB3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5" name="edge-tensor-accent">
            <a:extLst>
              <a:ext uri="{FF2B5EF4-FFF2-40B4-BE49-F238E27FC236}">
                <a16:creationId xmlns:a16="http://schemas.microsoft.com/office/drawing/2014/main" id="{5E0E35C4-3097-431B-E0ED-A077C42B9DD2}"/>
              </a:ext>
            </a:extLst>
          </p:cNvPr>
          <p:cNvSpPr>
            <a:spLocks noGrp="1"/>
          </p:cNvSpPr>
          <p:nvPr/>
        </p:nvSpPr>
        <p:spPr>
          <a:xfrm>
            <a:off x="2447925" y="2886075"/>
            <a:ext cx="66675" cy="971550"/>
          </a:xfrm>
          <a:prstGeom prst="roundRect">
            <a:avLst>
              <a:gd name="adj" fmla="val 50000"/>
            </a:avLst>
          </a:prstGeom>
          <a:solidFill>
            <a:srgbClr val="4384AA"/>
          </a:solidFill>
          <a:ln w="0">
            <a:solidFill>
              <a:srgbClr val="438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edge-tensor-title">
            <a:extLst>
              <a:ext uri="{FF2B5EF4-FFF2-40B4-BE49-F238E27FC236}">
                <a16:creationId xmlns:a16="http://schemas.microsoft.com/office/drawing/2014/main" id="{D34E7F06-A447-1B97-36AE-5435A3C3A42F}"/>
              </a:ext>
            </a:extLst>
          </p:cNvPr>
          <p:cNvSpPr>
            <a:spLocks noGrp="1"/>
          </p:cNvSpPr>
          <p:nvPr/>
        </p:nvSpPr>
        <p:spPr>
          <a:xfrm>
            <a:off x="2609850" y="2971800"/>
            <a:ext cx="1314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22230"/>
                </a:solidFill>
              </a:defRPr>
            </a:pPr>
            <a:r>
              <a:rPr sz="1200" b="1">
                <a:solidFill>
                  <a:srgbClr val="122230"/>
                </a:solidFill>
              </a:rPr>
              <a:t>Edge tensor</a:t>
            </a:r>
          </a:p>
        </p:txBody>
      </p:sp>
      <p:sp>
        <p:nvSpPr>
          <p:cNvPr id="17" name="edge-tensor-body">
            <a:extLst>
              <a:ext uri="{FF2B5EF4-FFF2-40B4-BE49-F238E27FC236}">
                <a16:creationId xmlns:a16="http://schemas.microsoft.com/office/drawing/2014/main" id="{FDB2C747-D7EC-62F7-07C1-707F323007FD}"/>
              </a:ext>
            </a:extLst>
          </p:cNvPr>
          <p:cNvSpPr>
            <a:spLocks noGrp="1"/>
          </p:cNvSpPr>
          <p:nvPr/>
        </p:nvSpPr>
        <p:spPr>
          <a:xfrm>
            <a:off x="2609850" y="3186112"/>
            <a:ext cx="130492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415466"/>
                </a:solidFill>
              </a:defRPr>
            </a:pPr>
            <a:r>
              <a:rPr sz="900" b="0" dirty="0">
                <a:solidFill>
                  <a:srgbClr val="415466"/>
                </a:solidFill>
              </a:rPr>
              <a:t>status · </a:t>
            </a:r>
            <a:r>
              <a:rPr sz="900" b="0" dirty="0" err="1">
                <a:solidFill>
                  <a:srgbClr val="415466"/>
                </a:solidFill>
              </a:rPr>
              <a:t>ρ</a:t>
            </a:r>
            <a:r>
              <a:rPr sz="900" b="0" dirty="0">
                <a:solidFill>
                  <a:srgbClr val="415466"/>
                </a:solidFill>
              </a:rPr>
              <a:t> · overload</a:t>
            </a:r>
          </a:p>
          <a:p>
            <a:pPr algn="l">
              <a:defRPr sz="900" b="0">
                <a:solidFill>
                  <a:srgbClr val="415466"/>
                </a:solidFill>
              </a:defRPr>
            </a:pPr>
            <a:r>
              <a:rPr sz="900" b="0" dirty="0">
                <a:solidFill>
                  <a:srgbClr val="415466"/>
                </a:solidFill>
              </a:rPr>
              <a:t>cooldown · </a:t>
            </a:r>
            <a:r>
              <a:rPr lang="fr-CH" sz="900" b="0" dirty="0">
                <a:solidFill>
                  <a:srgbClr val="415466"/>
                </a:solidFill>
              </a:rPr>
              <a:t>(</a:t>
            </a:r>
            <a:r>
              <a:rPr sz="900" b="0" dirty="0">
                <a:solidFill>
                  <a:srgbClr val="415466"/>
                </a:solidFill>
              </a:rPr>
              <a:t>maintenance</a:t>
            </a:r>
            <a:r>
              <a:rPr lang="fr-CH" sz="900" b="0" dirty="0">
                <a:solidFill>
                  <a:srgbClr val="415466"/>
                </a:solidFill>
              </a:rPr>
              <a:t> if </a:t>
            </a:r>
            <a:r>
              <a:rPr lang="fr-CH" sz="900" b="0" dirty="0" err="1">
                <a:solidFill>
                  <a:srgbClr val="415466"/>
                </a:solidFill>
              </a:rPr>
              <a:t>present</a:t>
            </a:r>
            <a:r>
              <a:rPr lang="fr-CH" sz="900" b="0" dirty="0">
                <a:solidFill>
                  <a:srgbClr val="415466"/>
                </a:solidFill>
              </a:rPr>
              <a:t>)</a:t>
            </a:r>
            <a:endParaRPr sz="900" b="0" dirty="0">
              <a:solidFill>
                <a:srgbClr val="415466"/>
              </a:solidFill>
            </a:endParaRPr>
          </a:p>
        </p:txBody>
      </p:sp>
      <p:sp>
        <p:nvSpPr>
          <p:cNvPr id="18" name="gine-encoder">
            <a:extLst>
              <a:ext uri="{FF2B5EF4-FFF2-40B4-BE49-F238E27FC236}">
                <a16:creationId xmlns:a16="http://schemas.microsoft.com/office/drawing/2014/main" id="{D5CA64FA-181B-23AC-D6F7-C04AA805042D}"/>
              </a:ext>
            </a:extLst>
          </p:cNvPr>
          <p:cNvSpPr>
            <a:spLocks noGrp="1"/>
          </p:cNvSpPr>
          <p:nvPr/>
        </p:nvSpPr>
        <p:spPr>
          <a:xfrm>
            <a:off x="4400550" y="1724025"/>
            <a:ext cx="1809750" cy="1609725"/>
          </a:xfrm>
          <a:prstGeom prst="roundRect">
            <a:avLst>
              <a:gd name="adj" fmla="val 7101"/>
            </a:avLst>
          </a:prstGeom>
          <a:solidFill>
            <a:srgbClr val="E3F0F8"/>
          </a:solidFill>
          <a:ln w="14288">
            <a:solidFill>
              <a:srgbClr val="5E99B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9" name="gine-encoder-accent">
            <a:extLst>
              <a:ext uri="{FF2B5EF4-FFF2-40B4-BE49-F238E27FC236}">
                <a16:creationId xmlns:a16="http://schemas.microsoft.com/office/drawing/2014/main" id="{E1B91970-4AC1-B021-5B83-1B88F0503870}"/>
              </a:ext>
            </a:extLst>
          </p:cNvPr>
          <p:cNvSpPr>
            <a:spLocks noGrp="1"/>
          </p:cNvSpPr>
          <p:nvPr/>
        </p:nvSpPr>
        <p:spPr>
          <a:xfrm>
            <a:off x="4400550" y="1724025"/>
            <a:ext cx="66675" cy="1609725"/>
          </a:xfrm>
          <a:prstGeom prst="roundRect">
            <a:avLst>
              <a:gd name="adj" fmla="val 50000"/>
            </a:avLst>
          </a:prstGeom>
          <a:solidFill>
            <a:srgbClr val="1E6F9E"/>
          </a:solidFill>
          <a:ln w="0">
            <a:solidFill>
              <a:srgbClr val="1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gine-encoder-title">
            <a:extLst>
              <a:ext uri="{FF2B5EF4-FFF2-40B4-BE49-F238E27FC236}">
                <a16:creationId xmlns:a16="http://schemas.microsoft.com/office/drawing/2014/main" id="{73CB42B2-6177-3D8D-5012-47822298B479}"/>
              </a:ext>
            </a:extLst>
          </p:cNvPr>
          <p:cNvSpPr>
            <a:spLocks noGrp="1"/>
          </p:cNvSpPr>
          <p:nvPr/>
        </p:nvSpPr>
        <p:spPr>
          <a:xfrm>
            <a:off x="4562475" y="1809750"/>
            <a:ext cx="15621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22230"/>
                </a:solidFill>
              </a:defRPr>
            </a:pPr>
            <a:r>
              <a:rPr sz="1350" b="1">
                <a:solidFill>
                  <a:srgbClr val="122230"/>
                </a:solidFill>
              </a:rPr>
              <a:t>GINE graph encoder</a:t>
            </a:r>
          </a:p>
        </p:txBody>
      </p:sp>
      <p:sp>
        <p:nvSpPr>
          <p:cNvPr id="21" name="gine-encoder-body">
            <a:extLst>
              <a:ext uri="{FF2B5EF4-FFF2-40B4-BE49-F238E27FC236}">
                <a16:creationId xmlns:a16="http://schemas.microsoft.com/office/drawing/2014/main" id="{3D6BA4DE-A0C5-6579-F3E9-6C042C275789}"/>
              </a:ext>
            </a:extLst>
          </p:cNvPr>
          <p:cNvSpPr>
            <a:spLocks noGrp="1"/>
          </p:cNvSpPr>
          <p:nvPr/>
        </p:nvSpPr>
        <p:spPr>
          <a:xfrm>
            <a:off x="4562475" y="2183993"/>
            <a:ext cx="1552575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 dirty="0">
                <a:solidFill>
                  <a:srgbClr val="415466"/>
                </a:solidFill>
              </a:rPr>
              <a:t>Node MLP: 22 → 64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 dirty="0" err="1">
                <a:solidFill>
                  <a:srgbClr val="415466"/>
                </a:solidFill>
              </a:rPr>
              <a:t>ReLU</a:t>
            </a:r>
            <a:r>
              <a:rPr sz="975" b="0" dirty="0">
                <a:solidFill>
                  <a:srgbClr val="415466"/>
                </a:solidFill>
              </a:rPr>
              <a:t> · </a:t>
            </a:r>
            <a:r>
              <a:rPr sz="975" b="0" dirty="0" err="1">
                <a:solidFill>
                  <a:srgbClr val="415466"/>
                </a:solidFill>
              </a:rPr>
              <a:t>LayerNorm</a:t>
            </a:r>
            <a:endParaRPr sz="975" b="0" dirty="0">
              <a:solidFill>
                <a:srgbClr val="415466"/>
              </a:solidFill>
            </a:endParaRPr>
          </a:p>
          <a:p>
            <a:endParaRPr sz="975" b="0" dirty="0">
              <a:solidFill>
                <a:srgbClr val="415466"/>
              </a:solidFill>
            </a:endParaRP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lang="fr-CH" sz="975" dirty="0">
                <a:solidFill>
                  <a:srgbClr val="415466"/>
                </a:solidFill>
              </a:rPr>
              <a:t>2</a:t>
            </a:r>
            <a:r>
              <a:rPr sz="975" b="0" dirty="0">
                <a:solidFill>
                  <a:srgbClr val="415466"/>
                </a:solidFill>
              </a:rPr>
              <a:t> edge-aware message-passing layer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 dirty="0">
                <a:solidFill>
                  <a:srgbClr val="415466"/>
                </a:solidFill>
              </a:rPr>
              <a:t>hidden dimension: 64</a:t>
            </a:r>
          </a:p>
        </p:txBody>
      </p:sp>
      <p:sp>
        <p:nvSpPr>
          <p:cNvPr id="22" name="pool-readout">
            <a:extLst>
              <a:ext uri="{FF2B5EF4-FFF2-40B4-BE49-F238E27FC236}">
                <a16:creationId xmlns:a16="http://schemas.microsoft.com/office/drawing/2014/main" id="{95EFAC04-E6A4-8376-67BA-09B0D438317F}"/>
              </a:ext>
            </a:extLst>
          </p:cNvPr>
          <p:cNvSpPr>
            <a:spLocks noGrp="1"/>
          </p:cNvSpPr>
          <p:nvPr/>
        </p:nvSpPr>
        <p:spPr>
          <a:xfrm>
            <a:off x="6600825" y="1857375"/>
            <a:ext cx="1495425" cy="1333500"/>
          </a:xfrm>
          <a:prstGeom prst="roundRect">
            <a:avLst>
              <a:gd name="adj" fmla="val 8571"/>
            </a:avLst>
          </a:prstGeom>
          <a:solidFill>
            <a:srgbClr val="EAF3FA"/>
          </a:solidFill>
          <a:ln w="14288">
            <a:solidFill>
              <a:srgbClr val="78A5C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3" name="pool-readout-accent">
            <a:extLst>
              <a:ext uri="{FF2B5EF4-FFF2-40B4-BE49-F238E27FC236}">
                <a16:creationId xmlns:a16="http://schemas.microsoft.com/office/drawing/2014/main" id="{6AF0DF60-99AE-E4FF-1920-2859AB18F9B8}"/>
              </a:ext>
            </a:extLst>
          </p:cNvPr>
          <p:cNvSpPr>
            <a:spLocks noGrp="1"/>
          </p:cNvSpPr>
          <p:nvPr/>
        </p:nvSpPr>
        <p:spPr>
          <a:xfrm>
            <a:off x="6600825" y="1857375"/>
            <a:ext cx="66675" cy="1333500"/>
          </a:xfrm>
          <a:prstGeom prst="roundRect">
            <a:avLst>
              <a:gd name="adj" fmla="val 50000"/>
            </a:avLst>
          </a:prstGeom>
          <a:solidFill>
            <a:srgbClr val="2F7CA8"/>
          </a:solidFill>
          <a:ln w="0">
            <a:solidFill>
              <a:srgbClr val="2F7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pool-readout-title">
            <a:extLst>
              <a:ext uri="{FF2B5EF4-FFF2-40B4-BE49-F238E27FC236}">
                <a16:creationId xmlns:a16="http://schemas.microsoft.com/office/drawing/2014/main" id="{E4218F81-8D2F-A71C-889E-C9EC33BECA2B}"/>
              </a:ext>
            </a:extLst>
          </p:cNvPr>
          <p:cNvSpPr>
            <a:spLocks noGrp="1"/>
          </p:cNvSpPr>
          <p:nvPr/>
        </p:nvSpPr>
        <p:spPr>
          <a:xfrm>
            <a:off x="6762750" y="1943100"/>
            <a:ext cx="12477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Graph readout</a:t>
            </a:r>
          </a:p>
        </p:txBody>
      </p:sp>
      <p:sp>
        <p:nvSpPr>
          <p:cNvPr id="25" name="pool-readout-body">
            <a:extLst>
              <a:ext uri="{FF2B5EF4-FFF2-40B4-BE49-F238E27FC236}">
                <a16:creationId xmlns:a16="http://schemas.microsoft.com/office/drawing/2014/main" id="{EF8E2E3E-F055-C1DC-A342-5F3710D4A455}"/>
              </a:ext>
            </a:extLst>
          </p:cNvPr>
          <p:cNvSpPr>
            <a:spLocks noGrp="1"/>
          </p:cNvSpPr>
          <p:nvPr/>
        </p:nvSpPr>
        <p:spPr>
          <a:xfrm>
            <a:off x="6762750" y="2209800"/>
            <a:ext cx="1238250" cy="923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Mean pooling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over local nodes</a:t>
            </a:r>
          </a:p>
          <a:p>
            <a:endParaRPr sz="975" b="0">
              <a:solidFill>
                <a:srgbClr val="415466"/>
              </a:solidFill>
            </a:endParaRP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Linear 64 → 64 · ReLU</a:t>
            </a:r>
          </a:p>
        </p:txBody>
      </p:sp>
      <p:sp>
        <p:nvSpPr>
          <p:cNvPr id="26" name="actor-mlp">
            <a:extLst>
              <a:ext uri="{FF2B5EF4-FFF2-40B4-BE49-F238E27FC236}">
                <a16:creationId xmlns:a16="http://schemas.microsoft.com/office/drawing/2014/main" id="{7ACB7CA9-CF4A-8F01-3D2A-A35856A87AE0}"/>
              </a:ext>
            </a:extLst>
          </p:cNvPr>
          <p:cNvSpPr>
            <a:spLocks noGrp="1"/>
          </p:cNvSpPr>
          <p:nvPr/>
        </p:nvSpPr>
        <p:spPr>
          <a:xfrm>
            <a:off x="8486775" y="2009775"/>
            <a:ext cx="1323975" cy="1028700"/>
          </a:xfrm>
          <a:prstGeom prst="roundRect">
            <a:avLst>
              <a:gd name="adj" fmla="val 11111"/>
            </a:avLst>
          </a:prstGeom>
          <a:solidFill>
            <a:srgbClr val="E6EEF9"/>
          </a:solidFill>
          <a:ln w="14288">
            <a:solidFill>
              <a:srgbClr val="788F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7" name="actor-mlp-accent">
            <a:extLst>
              <a:ext uri="{FF2B5EF4-FFF2-40B4-BE49-F238E27FC236}">
                <a16:creationId xmlns:a16="http://schemas.microsoft.com/office/drawing/2014/main" id="{D454DC13-0C61-7889-6858-F1EC6C3847A2}"/>
              </a:ext>
            </a:extLst>
          </p:cNvPr>
          <p:cNvSpPr>
            <a:spLocks noGrp="1"/>
          </p:cNvSpPr>
          <p:nvPr/>
        </p:nvSpPr>
        <p:spPr>
          <a:xfrm>
            <a:off x="8486775" y="2009775"/>
            <a:ext cx="66675" cy="1028700"/>
          </a:xfrm>
          <a:prstGeom prst="roundRect">
            <a:avLst>
              <a:gd name="adj" fmla="val 50000"/>
            </a:avLst>
          </a:prstGeom>
          <a:solidFill>
            <a:srgbClr val="4A69A3"/>
          </a:solidFill>
          <a:ln w="0">
            <a:solidFill>
              <a:srgbClr val="4A6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actor-mlp-title">
            <a:extLst>
              <a:ext uri="{FF2B5EF4-FFF2-40B4-BE49-F238E27FC236}">
                <a16:creationId xmlns:a16="http://schemas.microsoft.com/office/drawing/2014/main" id="{025E6D6C-03AC-D9C2-ABB4-2223DEBEFEC7}"/>
              </a:ext>
            </a:extLst>
          </p:cNvPr>
          <p:cNvSpPr>
            <a:spLocks noGrp="1"/>
          </p:cNvSpPr>
          <p:nvPr/>
        </p:nvSpPr>
        <p:spPr>
          <a:xfrm>
            <a:off x="8648700" y="2095500"/>
            <a:ext cx="10763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22230"/>
                </a:solidFill>
              </a:defRPr>
            </a:pPr>
            <a:r>
              <a:rPr sz="1350" b="1">
                <a:solidFill>
                  <a:srgbClr val="122230"/>
                </a:solidFill>
              </a:rPr>
              <a:t>Actor MLP</a:t>
            </a:r>
          </a:p>
        </p:txBody>
      </p:sp>
      <p:sp>
        <p:nvSpPr>
          <p:cNvPr id="29" name="actor-mlp-body">
            <a:extLst>
              <a:ext uri="{FF2B5EF4-FFF2-40B4-BE49-F238E27FC236}">
                <a16:creationId xmlns:a16="http://schemas.microsoft.com/office/drawing/2014/main" id="{72F31483-A8BB-28BB-59ED-16AB4D4032D7}"/>
              </a:ext>
            </a:extLst>
          </p:cNvPr>
          <p:cNvSpPr>
            <a:spLocks noGrp="1"/>
          </p:cNvSpPr>
          <p:nvPr/>
        </p:nvSpPr>
        <p:spPr>
          <a:xfrm>
            <a:off x="8648700" y="2362200"/>
            <a:ext cx="10668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64 → 128 → 128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ReLU activations</a:t>
            </a:r>
          </a:p>
        </p:txBody>
      </p:sp>
      <p:sp>
        <p:nvSpPr>
          <p:cNvPr id="30" name="policy-head">
            <a:extLst>
              <a:ext uri="{FF2B5EF4-FFF2-40B4-BE49-F238E27FC236}">
                <a16:creationId xmlns:a16="http://schemas.microsoft.com/office/drawing/2014/main" id="{87C3FDF1-C386-83AA-C6B8-F8289B68A864}"/>
              </a:ext>
            </a:extLst>
          </p:cNvPr>
          <p:cNvSpPr>
            <a:spLocks noGrp="1"/>
          </p:cNvSpPr>
          <p:nvPr/>
        </p:nvSpPr>
        <p:spPr>
          <a:xfrm>
            <a:off x="10182225" y="1809750"/>
            <a:ext cx="1504950" cy="1428750"/>
          </a:xfrm>
          <a:prstGeom prst="roundRect">
            <a:avLst>
              <a:gd name="adj" fmla="val 8000"/>
            </a:avLst>
          </a:prstGeom>
          <a:solidFill>
            <a:srgbClr val="E8EAF7"/>
          </a:solidFill>
          <a:ln w="14288">
            <a:solidFill>
              <a:srgbClr val="8888B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1" name="policy-head-accent">
            <a:extLst>
              <a:ext uri="{FF2B5EF4-FFF2-40B4-BE49-F238E27FC236}">
                <a16:creationId xmlns:a16="http://schemas.microsoft.com/office/drawing/2014/main" id="{315EC433-1922-A7EA-6884-2C128FAFD010}"/>
              </a:ext>
            </a:extLst>
          </p:cNvPr>
          <p:cNvSpPr>
            <a:spLocks noGrp="1"/>
          </p:cNvSpPr>
          <p:nvPr/>
        </p:nvSpPr>
        <p:spPr>
          <a:xfrm>
            <a:off x="10182225" y="1809750"/>
            <a:ext cx="66675" cy="1428750"/>
          </a:xfrm>
          <a:prstGeom prst="roundRect">
            <a:avLst>
              <a:gd name="adj" fmla="val 50000"/>
            </a:avLst>
          </a:prstGeom>
          <a:solidFill>
            <a:srgbClr val="6262A5"/>
          </a:solidFill>
          <a:ln w="0">
            <a:solidFill>
              <a:srgbClr val="6262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policy-head-title">
            <a:extLst>
              <a:ext uri="{FF2B5EF4-FFF2-40B4-BE49-F238E27FC236}">
                <a16:creationId xmlns:a16="http://schemas.microsoft.com/office/drawing/2014/main" id="{D12E57FE-AE9F-D5CA-A16A-5AD6671C9D78}"/>
              </a:ext>
            </a:extLst>
          </p:cNvPr>
          <p:cNvSpPr>
            <a:spLocks noGrp="1"/>
          </p:cNvSpPr>
          <p:nvPr/>
        </p:nvSpPr>
        <p:spPr>
          <a:xfrm>
            <a:off x="10344150" y="1895475"/>
            <a:ext cx="1257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Categorical policy</a:t>
            </a:r>
          </a:p>
        </p:txBody>
      </p:sp>
      <p:sp>
        <p:nvSpPr>
          <p:cNvPr id="33" name="policy-head-body">
            <a:extLst>
              <a:ext uri="{FF2B5EF4-FFF2-40B4-BE49-F238E27FC236}">
                <a16:creationId xmlns:a16="http://schemas.microsoft.com/office/drawing/2014/main" id="{04F50D33-4818-FEEC-20E0-9764CF17B181}"/>
              </a:ext>
            </a:extLst>
          </p:cNvPr>
          <p:cNvSpPr>
            <a:spLocks noGrp="1"/>
          </p:cNvSpPr>
          <p:nvPr/>
        </p:nvSpPr>
        <p:spPr>
          <a:xfrm>
            <a:off x="10353675" y="2257535"/>
            <a:ext cx="1247775" cy="1019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 dirty="0">
                <a:solidFill>
                  <a:srgbClr val="415466"/>
                </a:solidFill>
              </a:rPr>
              <a:t>128 → Kᵢ action logits</a:t>
            </a:r>
          </a:p>
          <a:p>
            <a:endParaRPr sz="975" b="0" dirty="0">
              <a:solidFill>
                <a:srgbClr val="415466"/>
              </a:solidFill>
            </a:endParaRP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 dirty="0">
                <a:solidFill>
                  <a:srgbClr val="415466"/>
                </a:solidFill>
              </a:rPr>
              <a:t>train: sample aᵢ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 dirty="0">
                <a:solidFill>
                  <a:srgbClr val="415466"/>
                </a:solidFill>
              </a:rPr>
              <a:t>eval: argmax aᵢ</a:t>
            </a:r>
          </a:p>
        </p:txBody>
      </p:sp>
      <p:cxnSp>
        <p:nvCxnSpPr>
          <p:cNvPr id="106" name="Connecteur en angle 105">
            <a:extLst>
              <a:ext uri="{FF2B5EF4-FFF2-40B4-BE49-F238E27FC236}">
                <a16:creationId xmlns:a16="http://schemas.microsoft.com/office/drawing/2014/main" id="{C6A97018-2525-517D-FEEB-0250155CD376}"/>
              </a:ext>
            </a:extLst>
          </p:cNvPr>
          <p:cNvCxnSpPr>
            <a:stCxn id="6" idx="3"/>
            <a:endCxn id="10" idx="1"/>
          </p:cNvCxnSpPr>
          <p:nvPr/>
        </p:nvCxnSpPr>
        <p:spPr>
          <a:xfrm flipV="1">
            <a:off x="2095500" y="2157413"/>
            <a:ext cx="352425" cy="309563"/>
          </a:xfrm>
          <a:prstGeom prst="bentConnector3">
            <a:avLst>
              <a:gd name="adj1" fmla="val 50000"/>
            </a:avLst>
          </a:prstGeom>
          <a:ln w="19050">
            <a:solidFill>
              <a:srgbClr val="6C8799"/>
            </a:solidFill>
            <a:prstDash val="solid"/>
            <a:tailEnd type="triangle" w="sm" len="sm"/>
          </a:ln>
        </p:spPr>
      </p:cxnSp>
      <p:cxnSp>
        <p:nvCxnSpPr>
          <p:cNvPr id="107" name="Connecteur en angle 106">
            <a:extLst>
              <a:ext uri="{FF2B5EF4-FFF2-40B4-BE49-F238E27FC236}">
                <a16:creationId xmlns:a16="http://schemas.microsoft.com/office/drawing/2014/main" id="{F4DA1AAB-B18A-B376-C930-A9C918207226}"/>
              </a:ext>
            </a:extLst>
          </p:cNvPr>
          <p:cNvCxnSpPr>
            <a:stCxn id="6" idx="3"/>
            <a:endCxn id="14" idx="1"/>
          </p:cNvCxnSpPr>
          <p:nvPr/>
        </p:nvCxnSpPr>
        <p:spPr>
          <a:xfrm>
            <a:off x="2095500" y="2466975"/>
            <a:ext cx="352425" cy="904875"/>
          </a:xfrm>
          <a:prstGeom prst="bentConnector3">
            <a:avLst>
              <a:gd name="adj1" fmla="val 50000"/>
            </a:avLst>
          </a:prstGeom>
          <a:ln w="19050">
            <a:solidFill>
              <a:srgbClr val="6C8799"/>
            </a:solidFill>
            <a:prstDash val="solid"/>
            <a:tailEnd type="triangle" w="sm" len="sm"/>
          </a:ln>
        </p:spPr>
      </p:cxnSp>
      <p:cxnSp>
        <p:nvCxnSpPr>
          <p:cNvPr id="108" name="Connecteur droit avec flèche 107">
            <a:extLst>
              <a:ext uri="{FF2B5EF4-FFF2-40B4-BE49-F238E27FC236}">
                <a16:creationId xmlns:a16="http://schemas.microsoft.com/office/drawing/2014/main" id="{00E3F96F-464B-BAED-D449-053A8DD74A27}"/>
              </a:ext>
            </a:extLst>
          </p:cNvPr>
          <p:cNvCxnSpPr>
            <a:stCxn id="10" idx="3"/>
            <a:endCxn id="18" idx="1"/>
          </p:cNvCxnSpPr>
          <p:nvPr/>
        </p:nvCxnSpPr>
        <p:spPr>
          <a:xfrm>
            <a:off x="4010025" y="2157413"/>
            <a:ext cx="390525" cy="371475"/>
          </a:xfrm>
          <a:prstGeom prst="straightConnector1">
            <a:avLst/>
          </a:prstGeom>
          <a:ln w="19050">
            <a:solidFill>
              <a:srgbClr val="4B7792"/>
            </a:solidFill>
            <a:prstDash val="solid"/>
            <a:tailEnd type="triangle" w="sm" len="sm"/>
          </a:ln>
        </p:spPr>
      </p:cxnSp>
      <p:cxnSp>
        <p:nvCxnSpPr>
          <p:cNvPr id="109" name="Connecteur droit avec flèche 108">
            <a:extLst>
              <a:ext uri="{FF2B5EF4-FFF2-40B4-BE49-F238E27FC236}">
                <a16:creationId xmlns:a16="http://schemas.microsoft.com/office/drawing/2014/main" id="{12CCC355-9C53-A3E3-DE94-9BBC52CF6B11}"/>
              </a:ext>
            </a:extLst>
          </p:cNvPr>
          <p:cNvCxnSpPr>
            <a:stCxn id="14" idx="3"/>
            <a:endCxn id="18" idx="1"/>
          </p:cNvCxnSpPr>
          <p:nvPr/>
        </p:nvCxnSpPr>
        <p:spPr>
          <a:xfrm flipV="1">
            <a:off x="4010025" y="2528888"/>
            <a:ext cx="390525" cy="842963"/>
          </a:xfrm>
          <a:prstGeom prst="straightConnector1">
            <a:avLst/>
          </a:prstGeom>
          <a:ln w="19050">
            <a:solidFill>
              <a:srgbClr val="4B7792"/>
            </a:solidFill>
            <a:prstDash val="solid"/>
            <a:tailEnd type="triangle" w="sm" len="sm"/>
          </a:ln>
        </p:spPr>
      </p:cxnSp>
      <p:cxnSp>
        <p:nvCxnSpPr>
          <p:cNvPr id="110" name="Connecteur droit avec flèche 109">
            <a:extLst>
              <a:ext uri="{FF2B5EF4-FFF2-40B4-BE49-F238E27FC236}">
                <a16:creationId xmlns:a16="http://schemas.microsoft.com/office/drawing/2014/main" id="{71F30F90-E1D8-0712-4B00-A9E39FC3E9F2}"/>
              </a:ext>
            </a:extLst>
          </p:cNvPr>
          <p:cNvCxnSpPr>
            <a:stCxn id="18" idx="3"/>
            <a:endCxn id="22" idx="1"/>
          </p:cNvCxnSpPr>
          <p:nvPr/>
        </p:nvCxnSpPr>
        <p:spPr>
          <a:xfrm flipV="1">
            <a:off x="6210300" y="2524125"/>
            <a:ext cx="390525" cy="4763"/>
          </a:xfrm>
          <a:prstGeom prst="straightConnector1">
            <a:avLst/>
          </a:prstGeom>
          <a:ln w="19050">
            <a:solidFill>
              <a:srgbClr val="3C718F"/>
            </a:solidFill>
            <a:prstDash val="solid"/>
            <a:tailEnd type="triangle" w="sm" len="sm"/>
          </a:ln>
        </p:spPr>
      </p:cxnSp>
      <p:cxnSp>
        <p:nvCxnSpPr>
          <p:cNvPr id="111" name="Connecteur droit avec flèche 110">
            <a:extLst>
              <a:ext uri="{FF2B5EF4-FFF2-40B4-BE49-F238E27FC236}">
                <a16:creationId xmlns:a16="http://schemas.microsoft.com/office/drawing/2014/main" id="{33E69F07-AB17-5F6C-00B8-E8DDDBC6185F}"/>
              </a:ext>
            </a:extLst>
          </p:cNvPr>
          <p:cNvCxnSpPr>
            <a:stCxn id="22" idx="3"/>
            <a:endCxn id="26" idx="1"/>
          </p:cNvCxnSpPr>
          <p:nvPr/>
        </p:nvCxnSpPr>
        <p:spPr>
          <a:xfrm>
            <a:off x="8096250" y="2524125"/>
            <a:ext cx="390525" cy="0"/>
          </a:xfrm>
          <a:prstGeom prst="straightConnector1">
            <a:avLst/>
          </a:prstGeom>
          <a:ln w="19050">
            <a:solidFill>
              <a:srgbClr val="3C718F"/>
            </a:solidFill>
            <a:prstDash val="solid"/>
            <a:tailEnd type="triangle" w="sm" len="sm"/>
          </a:ln>
        </p:spPr>
      </p:cxnSp>
      <p:cxnSp>
        <p:nvCxnSpPr>
          <p:cNvPr id="112" name="Connecteur droit avec flèche 111">
            <a:extLst>
              <a:ext uri="{FF2B5EF4-FFF2-40B4-BE49-F238E27FC236}">
                <a16:creationId xmlns:a16="http://schemas.microsoft.com/office/drawing/2014/main" id="{27FEB40E-6724-5547-80D8-DFF706101387}"/>
              </a:ext>
            </a:extLst>
          </p:cNvPr>
          <p:cNvCxnSpPr>
            <a:stCxn id="26" idx="3"/>
            <a:endCxn id="30" idx="1"/>
          </p:cNvCxnSpPr>
          <p:nvPr/>
        </p:nvCxnSpPr>
        <p:spPr>
          <a:xfrm>
            <a:off x="9810750" y="2524125"/>
            <a:ext cx="371475" cy="0"/>
          </a:xfrm>
          <a:prstGeom prst="straightConnector1">
            <a:avLst/>
          </a:prstGeom>
          <a:ln w="19050">
            <a:solidFill>
              <a:srgbClr val="536A98"/>
            </a:solidFill>
            <a:prstDash val="solid"/>
            <a:tailEnd type="triangle" w="sm" len="sm"/>
          </a:ln>
        </p:spPr>
      </p:cxnSp>
      <p:sp>
        <p:nvSpPr>
          <p:cNvPr id="42" name="training-band">
            <a:extLst>
              <a:ext uri="{FF2B5EF4-FFF2-40B4-BE49-F238E27FC236}">
                <a16:creationId xmlns:a16="http://schemas.microsoft.com/office/drawing/2014/main" id="{5345CAC6-6FC9-887F-4478-599B0624FFFC}"/>
              </a:ext>
            </a:extLst>
          </p:cNvPr>
          <p:cNvSpPr>
            <a:spLocks noGrp="1"/>
          </p:cNvSpPr>
          <p:nvPr/>
        </p:nvSpPr>
        <p:spPr>
          <a:xfrm>
            <a:off x="304800" y="4362450"/>
            <a:ext cx="11582400" cy="2095500"/>
          </a:xfrm>
          <a:prstGeom prst="roundRect">
            <a:avLst>
              <a:gd name="adj" fmla="val 6364"/>
            </a:avLst>
          </a:prstGeom>
          <a:solidFill>
            <a:srgbClr val="FCFAF7"/>
          </a:solidFill>
          <a:ln w="9525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critic-label">
            <a:extLst>
              <a:ext uri="{FF2B5EF4-FFF2-40B4-BE49-F238E27FC236}">
                <a16:creationId xmlns:a16="http://schemas.microsoft.com/office/drawing/2014/main" id="{2D842B76-203C-62CE-C252-326A8DE9017F}"/>
              </a:ext>
            </a:extLst>
          </p:cNvPr>
          <p:cNvSpPr>
            <a:spLocks noGrp="1"/>
          </p:cNvSpPr>
          <p:nvPr/>
        </p:nvSpPr>
        <p:spPr>
          <a:xfrm>
            <a:off x="457200" y="4438650"/>
            <a:ext cx="247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A0642A"/>
                </a:solidFill>
              </a:defRPr>
            </a:pPr>
            <a:r>
              <a:rPr sz="975" b="1">
                <a:solidFill>
                  <a:srgbClr val="A0642A"/>
                </a:solidFill>
              </a:rPr>
              <a:t>CENTRALIZED TRAINING</a:t>
            </a:r>
          </a:p>
        </p:txBody>
      </p:sp>
      <p:sp>
        <p:nvSpPr>
          <p:cNvPr id="44" name="joint-observation">
            <a:extLst>
              <a:ext uri="{FF2B5EF4-FFF2-40B4-BE49-F238E27FC236}">
                <a16:creationId xmlns:a16="http://schemas.microsoft.com/office/drawing/2014/main" id="{48EC5C0A-7AF6-79C9-3BDA-C219FAAF2774}"/>
              </a:ext>
            </a:extLst>
          </p:cNvPr>
          <p:cNvSpPr>
            <a:spLocks noGrp="1"/>
          </p:cNvSpPr>
          <p:nvPr/>
        </p:nvSpPr>
        <p:spPr>
          <a:xfrm>
            <a:off x="495300" y="4953000"/>
            <a:ext cx="1762125" cy="1104900"/>
          </a:xfrm>
          <a:prstGeom prst="roundRect">
            <a:avLst>
              <a:gd name="adj" fmla="val 10345"/>
            </a:avLst>
          </a:prstGeom>
          <a:solidFill>
            <a:srgbClr val="FFF4E7"/>
          </a:solidFill>
          <a:ln w="14288">
            <a:solidFill>
              <a:srgbClr val="D2A26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5" name="joint-observation-accent">
            <a:extLst>
              <a:ext uri="{FF2B5EF4-FFF2-40B4-BE49-F238E27FC236}">
                <a16:creationId xmlns:a16="http://schemas.microsoft.com/office/drawing/2014/main" id="{40FE799E-6456-27DA-5EE1-131AC53F7AD4}"/>
              </a:ext>
            </a:extLst>
          </p:cNvPr>
          <p:cNvSpPr>
            <a:spLocks noGrp="1"/>
          </p:cNvSpPr>
          <p:nvPr/>
        </p:nvSpPr>
        <p:spPr>
          <a:xfrm>
            <a:off x="495300" y="4953000"/>
            <a:ext cx="66675" cy="1104900"/>
          </a:xfrm>
          <a:prstGeom prst="roundRect">
            <a:avLst>
              <a:gd name="adj" fmla="val 50000"/>
            </a:avLst>
          </a:prstGeom>
          <a:solidFill>
            <a:srgbClr val="C07A2E"/>
          </a:solidFill>
          <a:ln w="0">
            <a:solidFill>
              <a:srgbClr val="C07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joint-observation-title">
            <a:extLst>
              <a:ext uri="{FF2B5EF4-FFF2-40B4-BE49-F238E27FC236}">
                <a16:creationId xmlns:a16="http://schemas.microsoft.com/office/drawing/2014/main" id="{50E53C80-1B7D-1D50-9FCC-00A78B645FE1}"/>
              </a:ext>
            </a:extLst>
          </p:cNvPr>
          <p:cNvSpPr>
            <a:spLocks noGrp="1"/>
          </p:cNvSpPr>
          <p:nvPr/>
        </p:nvSpPr>
        <p:spPr>
          <a:xfrm>
            <a:off x="657225" y="5038725"/>
            <a:ext cx="15144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22230"/>
                </a:solidFill>
              </a:defRPr>
            </a:pPr>
            <a:r>
              <a:rPr sz="1200" b="1">
                <a:solidFill>
                  <a:srgbClr val="122230"/>
                </a:solidFill>
              </a:rPr>
              <a:t>Joint flat observation</a:t>
            </a:r>
          </a:p>
        </p:txBody>
      </p:sp>
      <p:sp>
        <p:nvSpPr>
          <p:cNvPr id="47" name="joint-observation-body">
            <a:extLst>
              <a:ext uri="{FF2B5EF4-FFF2-40B4-BE49-F238E27FC236}">
                <a16:creationId xmlns:a16="http://schemas.microsoft.com/office/drawing/2014/main" id="{337B6E74-D29A-8854-806A-6F086B9715E6}"/>
              </a:ext>
            </a:extLst>
          </p:cNvPr>
          <p:cNvSpPr>
            <a:spLocks noGrp="1"/>
          </p:cNvSpPr>
          <p:nvPr/>
        </p:nvSpPr>
        <p:spPr>
          <a:xfrm>
            <a:off x="657225" y="5305425"/>
            <a:ext cx="15049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 dirty="0">
                <a:solidFill>
                  <a:srgbClr val="415466"/>
                </a:solidFill>
              </a:rPr>
              <a:t>[o₀ ∥ o₁ ∥ o₂ ∥ o₃]</a:t>
            </a:r>
            <a:r>
              <a:rPr lang="fr-CH" sz="975" b="0" dirty="0">
                <a:solidFill>
                  <a:srgbClr val="415466"/>
                </a:solidFill>
              </a:rPr>
              <a:t> size </a:t>
            </a:r>
            <a:r>
              <a:rPr lang="fr-CH" sz="975" b="0" dirty="0" err="1">
                <a:solidFill>
                  <a:srgbClr val="415466"/>
                </a:solidFill>
              </a:rPr>
              <a:t>n_o</a:t>
            </a:r>
            <a:endParaRPr sz="975" b="0" dirty="0">
              <a:solidFill>
                <a:srgbClr val="415466"/>
              </a:solidFill>
            </a:endParaRPr>
          </a:p>
        </p:txBody>
      </p:sp>
      <p:sp>
        <p:nvSpPr>
          <p:cNvPr id="48" name="critic-mlp">
            <a:extLst>
              <a:ext uri="{FF2B5EF4-FFF2-40B4-BE49-F238E27FC236}">
                <a16:creationId xmlns:a16="http://schemas.microsoft.com/office/drawing/2014/main" id="{F84121B8-8A4B-5F63-A3A9-87BBA6DC9F0E}"/>
              </a:ext>
            </a:extLst>
          </p:cNvPr>
          <p:cNvSpPr>
            <a:spLocks noGrp="1"/>
          </p:cNvSpPr>
          <p:nvPr/>
        </p:nvSpPr>
        <p:spPr>
          <a:xfrm>
            <a:off x="2724150" y="5029200"/>
            <a:ext cx="1933575" cy="952500"/>
          </a:xfrm>
          <a:prstGeom prst="roundRect">
            <a:avLst>
              <a:gd name="adj" fmla="val 12000"/>
            </a:avLst>
          </a:prstGeom>
          <a:solidFill>
            <a:srgbClr val="FFF0DF"/>
          </a:solidFill>
          <a:ln w="14288">
            <a:solidFill>
              <a:srgbClr val="CE955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9" name="critic-mlp-accent">
            <a:extLst>
              <a:ext uri="{FF2B5EF4-FFF2-40B4-BE49-F238E27FC236}">
                <a16:creationId xmlns:a16="http://schemas.microsoft.com/office/drawing/2014/main" id="{D647045A-CEA1-DF86-174C-A19A616A36E4}"/>
              </a:ext>
            </a:extLst>
          </p:cNvPr>
          <p:cNvSpPr>
            <a:spLocks noGrp="1"/>
          </p:cNvSpPr>
          <p:nvPr/>
        </p:nvSpPr>
        <p:spPr>
          <a:xfrm>
            <a:off x="2724150" y="5029200"/>
            <a:ext cx="66675" cy="952500"/>
          </a:xfrm>
          <a:prstGeom prst="roundRect">
            <a:avLst>
              <a:gd name="adj" fmla="val 50000"/>
            </a:avLst>
          </a:prstGeom>
          <a:solidFill>
            <a:srgbClr val="B66D23"/>
          </a:solidFill>
          <a:ln w="0">
            <a:solidFill>
              <a:srgbClr val="B66D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critic-mlp-title">
            <a:extLst>
              <a:ext uri="{FF2B5EF4-FFF2-40B4-BE49-F238E27FC236}">
                <a16:creationId xmlns:a16="http://schemas.microsoft.com/office/drawing/2014/main" id="{A5608CB6-588A-BC81-EC47-8497ACEFA2AB}"/>
              </a:ext>
            </a:extLst>
          </p:cNvPr>
          <p:cNvSpPr>
            <a:spLocks noGrp="1"/>
          </p:cNvSpPr>
          <p:nvPr/>
        </p:nvSpPr>
        <p:spPr>
          <a:xfrm>
            <a:off x="2886075" y="5114925"/>
            <a:ext cx="16859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Centralized critic</a:t>
            </a:r>
          </a:p>
        </p:txBody>
      </p:sp>
      <p:sp>
        <p:nvSpPr>
          <p:cNvPr id="51" name="critic-mlp-body">
            <a:extLst>
              <a:ext uri="{FF2B5EF4-FFF2-40B4-BE49-F238E27FC236}">
                <a16:creationId xmlns:a16="http://schemas.microsoft.com/office/drawing/2014/main" id="{63440A47-94AD-3802-CB4D-D8FF449E6364}"/>
              </a:ext>
            </a:extLst>
          </p:cNvPr>
          <p:cNvSpPr>
            <a:spLocks noGrp="1"/>
          </p:cNvSpPr>
          <p:nvPr/>
        </p:nvSpPr>
        <p:spPr>
          <a:xfrm>
            <a:off x="2886075" y="5381625"/>
            <a:ext cx="16764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 dirty="0">
                <a:solidFill>
                  <a:srgbClr val="415466"/>
                </a:solidFill>
              </a:rPr>
              <a:t>MLP </a:t>
            </a:r>
            <a:r>
              <a:rPr lang="fr-CH" sz="975" b="0" dirty="0" err="1">
                <a:solidFill>
                  <a:srgbClr val="415466"/>
                </a:solidFill>
              </a:rPr>
              <a:t>n_o</a:t>
            </a:r>
            <a:r>
              <a:rPr sz="975" b="0" dirty="0">
                <a:solidFill>
                  <a:srgbClr val="415466"/>
                </a:solidFill>
              </a:rPr>
              <a:t> → 128 → 128 → 1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 dirty="0" err="1">
                <a:solidFill>
                  <a:srgbClr val="415466"/>
                </a:solidFill>
              </a:rPr>
              <a:t>ReLU</a:t>
            </a:r>
            <a:r>
              <a:rPr sz="975" b="0" dirty="0">
                <a:solidFill>
                  <a:srgbClr val="415466"/>
                </a:solidFill>
              </a:rPr>
              <a:t> activations</a:t>
            </a:r>
          </a:p>
        </p:txBody>
      </p:sp>
      <p:sp>
        <p:nvSpPr>
          <p:cNvPr id="52" name="state-value">
            <a:extLst>
              <a:ext uri="{FF2B5EF4-FFF2-40B4-BE49-F238E27FC236}">
                <a16:creationId xmlns:a16="http://schemas.microsoft.com/office/drawing/2014/main" id="{E65B2EB9-2F9C-85E2-6DCF-259CB9C7F879}"/>
              </a:ext>
            </a:extLst>
          </p:cNvPr>
          <p:cNvSpPr>
            <a:spLocks noGrp="1"/>
          </p:cNvSpPr>
          <p:nvPr/>
        </p:nvSpPr>
        <p:spPr>
          <a:xfrm>
            <a:off x="5124450" y="5095875"/>
            <a:ext cx="1514475" cy="809625"/>
          </a:xfrm>
          <a:prstGeom prst="roundRect">
            <a:avLst>
              <a:gd name="adj" fmla="val 14118"/>
            </a:avLst>
          </a:prstGeom>
          <a:solidFill>
            <a:srgbClr val="FFF4E9"/>
          </a:solidFill>
          <a:ln w="14288">
            <a:solidFill>
              <a:srgbClr val="D3A36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53" name="state-value-accent">
            <a:extLst>
              <a:ext uri="{FF2B5EF4-FFF2-40B4-BE49-F238E27FC236}">
                <a16:creationId xmlns:a16="http://schemas.microsoft.com/office/drawing/2014/main" id="{341D80C0-DBA4-F62B-6129-00A9ED3E8E45}"/>
              </a:ext>
            </a:extLst>
          </p:cNvPr>
          <p:cNvSpPr>
            <a:spLocks noGrp="1"/>
          </p:cNvSpPr>
          <p:nvPr/>
        </p:nvSpPr>
        <p:spPr>
          <a:xfrm>
            <a:off x="5124450" y="5095875"/>
            <a:ext cx="66675" cy="809625"/>
          </a:xfrm>
          <a:prstGeom prst="roundRect">
            <a:avLst>
              <a:gd name="adj" fmla="val 50000"/>
            </a:avLst>
          </a:prstGeom>
          <a:solidFill>
            <a:srgbClr val="BD762C"/>
          </a:solidFill>
          <a:ln w="0">
            <a:solidFill>
              <a:srgbClr val="BD7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tate-value-title">
            <a:extLst>
              <a:ext uri="{FF2B5EF4-FFF2-40B4-BE49-F238E27FC236}">
                <a16:creationId xmlns:a16="http://schemas.microsoft.com/office/drawing/2014/main" id="{416F010C-5D82-1B20-E322-FB32789C7DDE}"/>
              </a:ext>
            </a:extLst>
          </p:cNvPr>
          <p:cNvSpPr>
            <a:spLocks noGrp="1"/>
          </p:cNvSpPr>
          <p:nvPr/>
        </p:nvSpPr>
        <p:spPr>
          <a:xfrm>
            <a:off x="5286375" y="5181600"/>
            <a:ext cx="12668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State value  V(s)</a:t>
            </a:r>
          </a:p>
        </p:txBody>
      </p:sp>
      <p:sp>
        <p:nvSpPr>
          <p:cNvPr id="55" name="state-value-body">
            <a:extLst>
              <a:ext uri="{FF2B5EF4-FFF2-40B4-BE49-F238E27FC236}">
                <a16:creationId xmlns:a16="http://schemas.microsoft.com/office/drawing/2014/main" id="{ED243C53-5CB3-7C0F-89BD-DFF8F5BB9F13}"/>
              </a:ext>
            </a:extLst>
          </p:cNvPr>
          <p:cNvSpPr>
            <a:spLocks noGrp="1"/>
          </p:cNvSpPr>
          <p:nvPr/>
        </p:nvSpPr>
        <p:spPr>
          <a:xfrm>
            <a:off x="5286375" y="544830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Single scalar estimate</a:t>
            </a:r>
          </a:p>
        </p:txBody>
      </p:sp>
      <p:sp>
        <p:nvSpPr>
          <p:cNvPr id="56" name="mappo-update">
            <a:extLst>
              <a:ext uri="{FF2B5EF4-FFF2-40B4-BE49-F238E27FC236}">
                <a16:creationId xmlns:a16="http://schemas.microsoft.com/office/drawing/2014/main" id="{746356B8-4BB5-E3F8-4C7C-5A873FE74F89}"/>
              </a:ext>
            </a:extLst>
          </p:cNvPr>
          <p:cNvSpPr>
            <a:spLocks noGrp="1"/>
          </p:cNvSpPr>
          <p:nvPr/>
        </p:nvSpPr>
        <p:spPr>
          <a:xfrm>
            <a:off x="7239000" y="4914900"/>
            <a:ext cx="1971675" cy="1181100"/>
          </a:xfrm>
          <a:prstGeom prst="roundRect">
            <a:avLst>
              <a:gd name="adj" fmla="val 9677"/>
            </a:avLst>
          </a:prstGeom>
          <a:solidFill>
            <a:srgbClr val="F2EAF8"/>
          </a:solidFill>
          <a:ln w="14288">
            <a:solidFill>
              <a:srgbClr val="A68AB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57" name="mappo-update-accent">
            <a:extLst>
              <a:ext uri="{FF2B5EF4-FFF2-40B4-BE49-F238E27FC236}">
                <a16:creationId xmlns:a16="http://schemas.microsoft.com/office/drawing/2014/main" id="{5186B9CA-47AF-C1D6-6E36-2D3863A80E74}"/>
              </a:ext>
            </a:extLst>
          </p:cNvPr>
          <p:cNvSpPr>
            <a:spLocks noGrp="1"/>
          </p:cNvSpPr>
          <p:nvPr/>
        </p:nvSpPr>
        <p:spPr>
          <a:xfrm>
            <a:off x="7239000" y="4914900"/>
            <a:ext cx="66675" cy="1181100"/>
          </a:xfrm>
          <a:prstGeom prst="roundRect">
            <a:avLst>
              <a:gd name="adj" fmla="val 50000"/>
            </a:avLst>
          </a:prstGeom>
          <a:solidFill>
            <a:srgbClr val="80579E"/>
          </a:solidFill>
          <a:ln w="0">
            <a:solidFill>
              <a:srgbClr val="8057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mappo-update-title">
            <a:extLst>
              <a:ext uri="{FF2B5EF4-FFF2-40B4-BE49-F238E27FC236}">
                <a16:creationId xmlns:a16="http://schemas.microsoft.com/office/drawing/2014/main" id="{28C13780-5DBF-9876-1F1A-560F0188CEDE}"/>
              </a:ext>
            </a:extLst>
          </p:cNvPr>
          <p:cNvSpPr>
            <a:spLocks noGrp="1"/>
          </p:cNvSpPr>
          <p:nvPr/>
        </p:nvSpPr>
        <p:spPr>
          <a:xfrm>
            <a:off x="7400925" y="5000625"/>
            <a:ext cx="17240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MAPPO update</a:t>
            </a:r>
          </a:p>
        </p:txBody>
      </p:sp>
      <p:sp>
        <p:nvSpPr>
          <p:cNvPr id="59" name="mappo-update-body">
            <a:extLst>
              <a:ext uri="{FF2B5EF4-FFF2-40B4-BE49-F238E27FC236}">
                <a16:creationId xmlns:a16="http://schemas.microsoft.com/office/drawing/2014/main" id="{13853E5E-EC94-B2D0-362D-ED9DBD25DF5C}"/>
              </a:ext>
            </a:extLst>
          </p:cNvPr>
          <p:cNvSpPr>
            <a:spLocks noGrp="1"/>
          </p:cNvSpPr>
          <p:nvPr/>
        </p:nvSpPr>
        <p:spPr>
          <a:xfrm>
            <a:off x="7400925" y="5267325"/>
            <a:ext cx="171450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GAE advantages + returns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Clipped policy loss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Entropy bonus + value loss</a:t>
            </a:r>
          </a:p>
        </p:txBody>
      </p:sp>
      <p:sp>
        <p:nvSpPr>
          <p:cNvPr id="60" name="grid-environment">
            <a:extLst>
              <a:ext uri="{FF2B5EF4-FFF2-40B4-BE49-F238E27FC236}">
                <a16:creationId xmlns:a16="http://schemas.microsoft.com/office/drawing/2014/main" id="{F00B4590-6396-FAE1-7E21-9E0ACEEB0BE7}"/>
              </a:ext>
            </a:extLst>
          </p:cNvPr>
          <p:cNvSpPr>
            <a:spLocks noGrp="1"/>
          </p:cNvSpPr>
          <p:nvPr/>
        </p:nvSpPr>
        <p:spPr>
          <a:xfrm>
            <a:off x="9858375" y="4857750"/>
            <a:ext cx="1790700" cy="1285875"/>
          </a:xfrm>
          <a:prstGeom prst="roundRect">
            <a:avLst>
              <a:gd name="adj" fmla="val 8889"/>
            </a:avLst>
          </a:prstGeom>
          <a:solidFill>
            <a:srgbClr val="EAF5EC"/>
          </a:solidFill>
          <a:ln w="14288">
            <a:solidFill>
              <a:srgbClr val="79A88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61" name="grid-environment-accent">
            <a:extLst>
              <a:ext uri="{FF2B5EF4-FFF2-40B4-BE49-F238E27FC236}">
                <a16:creationId xmlns:a16="http://schemas.microsoft.com/office/drawing/2014/main" id="{4A2564D0-9A0C-EA62-004D-F9EBE2E19DAD}"/>
              </a:ext>
            </a:extLst>
          </p:cNvPr>
          <p:cNvSpPr>
            <a:spLocks noGrp="1"/>
          </p:cNvSpPr>
          <p:nvPr/>
        </p:nvSpPr>
        <p:spPr>
          <a:xfrm>
            <a:off x="9858375" y="4857750"/>
            <a:ext cx="66675" cy="1285875"/>
          </a:xfrm>
          <a:prstGeom prst="roundRect">
            <a:avLst>
              <a:gd name="adj" fmla="val 50000"/>
            </a:avLst>
          </a:prstGeom>
          <a:solidFill>
            <a:srgbClr val="3E8250"/>
          </a:solidFill>
          <a:ln w="0">
            <a:solidFill>
              <a:srgbClr val="3E82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grid-environment-title">
            <a:extLst>
              <a:ext uri="{FF2B5EF4-FFF2-40B4-BE49-F238E27FC236}">
                <a16:creationId xmlns:a16="http://schemas.microsoft.com/office/drawing/2014/main" id="{C223BFA9-64C9-2902-9768-86F0BE16287B}"/>
              </a:ext>
            </a:extLst>
          </p:cNvPr>
          <p:cNvSpPr>
            <a:spLocks noGrp="1"/>
          </p:cNvSpPr>
          <p:nvPr/>
        </p:nvSpPr>
        <p:spPr>
          <a:xfrm>
            <a:off x="10020300" y="4943475"/>
            <a:ext cx="1543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WCCI-36 environment</a:t>
            </a:r>
          </a:p>
        </p:txBody>
      </p:sp>
      <p:sp>
        <p:nvSpPr>
          <p:cNvPr id="63" name="grid-environment-body">
            <a:extLst>
              <a:ext uri="{FF2B5EF4-FFF2-40B4-BE49-F238E27FC236}">
                <a16:creationId xmlns:a16="http://schemas.microsoft.com/office/drawing/2014/main" id="{C947BD20-D3CD-1D11-A9EF-E931A9AC2D08}"/>
              </a:ext>
            </a:extLst>
          </p:cNvPr>
          <p:cNvSpPr>
            <a:spLocks noGrp="1"/>
          </p:cNvSpPr>
          <p:nvPr/>
        </p:nvSpPr>
        <p:spPr>
          <a:xfrm>
            <a:off x="10020300" y="5305425"/>
            <a:ext cx="15335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 dirty="0">
                <a:solidFill>
                  <a:srgbClr val="415466"/>
                </a:solidFill>
              </a:rPr>
              <a:t>Joint action (a₀…a₃)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 dirty="0">
                <a:solidFill>
                  <a:srgbClr val="415466"/>
                </a:solidFill>
              </a:rPr>
              <a:t>AC power flow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 dirty="0">
                <a:solidFill>
                  <a:srgbClr val="415466"/>
                </a:solidFill>
              </a:rPr>
              <a:t>reward · next state</a:t>
            </a:r>
          </a:p>
        </p:txBody>
      </p:sp>
      <p:cxnSp>
        <p:nvCxnSpPr>
          <p:cNvPr id="136" name="Connecteur droit avec flèche 135">
            <a:extLst>
              <a:ext uri="{FF2B5EF4-FFF2-40B4-BE49-F238E27FC236}">
                <a16:creationId xmlns:a16="http://schemas.microsoft.com/office/drawing/2014/main" id="{7D8F104C-FCAF-9483-0A24-618373669CB3}"/>
              </a:ext>
            </a:extLst>
          </p:cNvPr>
          <p:cNvCxnSpPr>
            <a:stCxn id="44" idx="3"/>
            <a:endCxn id="48" idx="1"/>
          </p:cNvCxnSpPr>
          <p:nvPr/>
        </p:nvCxnSpPr>
        <p:spPr>
          <a:xfrm>
            <a:off x="2257425" y="5505450"/>
            <a:ext cx="466725" cy="0"/>
          </a:xfrm>
          <a:prstGeom prst="straightConnector1">
            <a:avLst/>
          </a:prstGeom>
          <a:ln w="19050">
            <a:solidFill>
              <a:srgbClr val="A87843"/>
            </a:solidFill>
            <a:prstDash val="solid"/>
            <a:tailEnd type="triangle" w="sm" len="sm"/>
          </a:ln>
        </p:spPr>
      </p:cxnSp>
      <p:cxnSp>
        <p:nvCxnSpPr>
          <p:cNvPr id="137" name="Connecteur droit avec flèche 136">
            <a:extLst>
              <a:ext uri="{FF2B5EF4-FFF2-40B4-BE49-F238E27FC236}">
                <a16:creationId xmlns:a16="http://schemas.microsoft.com/office/drawing/2014/main" id="{B9E62EBF-0E7E-1676-9821-D23E13F45C2B}"/>
              </a:ext>
            </a:extLst>
          </p:cNvPr>
          <p:cNvCxnSpPr>
            <a:stCxn id="48" idx="3"/>
            <a:endCxn id="52" idx="1"/>
          </p:cNvCxnSpPr>
          <p:nvPr/>
        </p:nvCxnSpPr>
        <p:spPr>
          <a:xfrm flipV="1">
            <a:off x="4657725" y="5500688"/>
            <a:ext cx="466725" cy="4763"/>
          </a:xfrm>
          <a:prstGeom prst="straightConnector1">
            <a:avLst/>
          </a:prstGeom>
          <a:ln w="19050">
            <a:solidFill>
              <a:srgbClr val="A87843"/>
            </a:solidFill>
            <a:prstDash val="solid"/>
            <a:tailEnd type="triangle" w="sm" len="sm"/>
          </a:ln>
        </p:spPr>
      </p:cxnSp>
      <p:cxnSp>
        <p:nvCxnSpPr>
          <p:cNvPr id="138" name="Connecteur droit avec flèche 137">
            <a:extLst>
              <a:ext uri="{FF2B5EF4-FFF2-40B4-BE49-F238E27FC236}">
                <a16:creationId xmlns:a16="http://schemas.microsoft.com/office/drawing/2014/main" id="{AA03D411-CE9E-A69F-563C-3360294AE7DE}"/>
              </a:ext>
            </a:extLst>
          </p:cNvPr>
          <p:cNvCxnSpPr>
            <a:stCxn id="52" idx="3"/>
            <a:endCxn id="56" idx="1"/>
          </p:cNvCxnSpPr>
          <p:nvPr/>
        </p:nvCxnSpPr>
        <p:spPr>
          <a:xfrm>
            <a:off x="6638925" y="5500688"/>
            <a:ext cx="600075" cy="4763"/>
          </a:xfrm>
          <a:prstGeom prst="straightConnector1">
            <a:avLst/>
          </a:prstGeom>
          <a:ln w="19050">
            <a:solidFill>
              <a:srgbClr val="987348"/>
            </a:solidFill>
            <a:prstDash val="solid"/>
            <a:tailEnd type="triangle" w="sm" len="sm"/>
          </a:ln>
        </p:spPr>
      </p:cxnSp>
      <p:cxnSp>
        <p:nvCxnSpPr>
          <p:cNvPr id="140" name="Connecteur en angle 139">
            <a:extLst>
              <a:ext uri="{FF2B5EF4-FFF2-40B4-BE49-F238E27FC236}">
                <a16:creationId xmlns:a16="http://schemas.microsoft.com/office/drawing/2014/main" id="{4847F05A-A076-477E-3BA1-5E78680DD528}"/>
              </a:ext>
            </a:extLst>
          </p:cNvPr>
          <p:cNvCxnSpPr>
            <a:stCxn id="30" idx="2"/>
            <a:endCxn id="60" idx="0"/>
          </p:cNvCxnSpPr>
          <p:nvPr/>
        </p:nvCxnSpPr>
        <p:spPr>
          <a:xfrm flipH="1">
            <a:off x="10753725" y="3238500"/>
            <a:ext cx="180975" cy="16192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546A92"/>
            </a:solidFill>
            <a:prstDash val="solid"/>
            <a:tailEnd type="triangle" w="sm" len="sm"/>
          </a:ln>
        </p:spPr>
      </p:cxnSp>
      <p:cxnSp>
        <p:nvCxnSpPr>
          <p:cNvPr id="141" name="Connecteur droit avec flèche 140">
            <a:extLst>
              <a:ext uri="{FF2B5EF4-FFF2-40B4-BE49-F238E27FC236}">
                <a16:creationId xmlns:a16="http://schemas.microsoft.com/office/drawing/2014/main" id="{71528B50-9D98-D4D0-F11D-8AFA4A8382C5}"/>
              </a:ext>
            </a:extLst>
          </p:cNvPr>
          <p:cNvCxnSpPr>
            <a:stCxn id="60" idx="1"/>
            <a:endCxn id="56" idx="3"/>
          </p:cNvCxnSpPr>
          <p:nvPr/>
        </p:nvCxnSpPr>
        <p:spPr>
          <a:xfrm flipH="1">
            <a:off x="9210675" y="5500688"/>
            <a:ext cx="647700" cy="4763"/>
          </a:xfrm>
          <a:prstGeom prst="straightConnector1">
            <a:avLst/>
          </a:prstGeom>
          <a:ln w="19050">
            <a:solidFill>
              <a:srgbClr val="638A6C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207461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2-title">
            <a:extLst>
              <a:ext uri="{FF2B5EF4-FFF2-40B4-BE49-F238E27FC236}">
                <a16:creationId xmlns:a16="http://schemas.microsoft.com/office/drawing/2014/main" id="{FF7B9E5F-6809-4A99-B3E0-238704F3D309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111820"/>
                </a:solidFill>
              </a:defRPr>
            </a:pPr>
            <a:r>
              <a:rPr sz="2250" b="1">
                <a:solidFill>
                  <a:srgbClr val="111820"/>
                </a:solidFill>
              </a:rPr>
              <a:t>A fixed chronic split separates policy learning from model selection</a:t>
            </a:r>
          </a:p>
        </p:txBody>
      </p:sp>
      <p:sp>
        <p:nvSpPr>
          <p:cNvPr id="2" name="slide2-subtitle">
            <a:extLst>
              <a:ext uri="{FF2B5EF4-FFF2-40B4-BE49-F238E27FC236}">
                <a16:creationId xmlns:a16="http://schemas.microsoft.com/office/drawing/2014/main" id="{B5331A28-42C3-401F-BBED-DB6135D52AF9}"/>
              </a:ext>
            </a:extLst>
          </p:cNvPr>
          <p:cNvSpPr>
            <a:spLocks noGrp="1"/>
          </p:cNvSpPr>
          <p:nvPr/>
        </p:nvSpPr>
        <p:spPr>
          <a:xfrm>
            <a:off x="476250" y="752475"/>
            <a:ext cx="971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5A6875"/>
                </a:solidFill>
              </a:defRPr>
            </a:pPr>
            <a:r>
              <a:rPr sz="1125" b="0">
                <a:solidFill>
                  <a:srgbClr val="5A6875"/>
                </a:solidFill>
              </a:rPr>
              <a:t>Agents act every five simulated minutes; held-out chronics never enter MAPPO training</a:t>
            </a:r>
          </a:p>
        </p:txBody>
      </p:sp>
      <p:sp>
        <p:nvSpPr>
          <p:cNvPr id="3" name="action-space-band">
            <a:extLst>
              <a:ext uri="{FF2B5EF4-FFF2-40B4-BE49-F238E27FC236}">
                <a16:creationId xmlns:a16="http://schemas.microsoft.com/office/drawing/2014/main" id="{1187972E-9E8B-4F94-979A-F73128448B15}"/>
              </a:ext>
            </a:extLst>
          </p:cNvPr>
          <p:cNvSpPr>
            <a:spLocks noGrp="1"/>
          </p:cNvSpPr>
          <p:nvPr/>
        </p:nvSpPr>
        <p:spPr>
          <a:xfrm>
            <a:off x="304800" y="1143000"/>
            <a:ext cx="3448050" cy="5219700"/>
          </a:xfrm>
          <a:prstGeom prst="roundRect">
            <a:avLst>
              <a:gd name="adj" fmla="val 3867"/>
            </a:avLst>
          </a:prstGeom>
          <a:solidFill>
            <a:srgbClr val="F7FAFD"/>
          </a:solidFill>
          <a:ln w="9525">
            <a:solidFill>
              <a:srgbClr val="D7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chronic-split-band">
            <a:extLst>
              <a:ext uri="{FF2B5EF4-FFF2-40B4-BE49-F238E27FC236}">
                <a16:creationId xmlns:a16="http://schemas.microsoft.com/office/drawing/2014/main" id="{9A22A58A-649E-4423-B812-FD257A41567A}"/>
              </a:ext>
            </a:extLst>
          </p:cNvPr>
          <p:cNvSpPr>
            <a:spLocks noGrp="1"/>
          </p:cNvSpPr>
          <p:nvPr/>
        </p:nvSpPr>
        <p:spPr>
          <a:xfrm>
            <a:off x="3943350" y="1143000"/>
            <a:ext cx="7943850" cy="5219700"/>
          </a:xfrm>
          <a:prstGeom prst="roundRect">
            <a:avLst>
              <a:gd name="adj" fmla="val 2555"/>
            </a:avLst>
          </a:prstGeom>
          <a:solidFill>
            <a:srgbClr val="FCFCFB"/>
          </a:solidFill>
          <a:ln w="9525">
            <a:solidFill>
              <a:srgbClr val="E3E5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action-space-label">
            <a:extLst>
              <a:ext uri="{FF2B5EF4-FFF2-40B4-BE49-F238E27FC236}">
                <a16:creationId xmlns:a16="http://schemas.microsoft.com/office/drawing/2014/main" id="{84BE03ED-792B-4F8B-B99E-CABE317D5CEE}"/>
              </a:ext>
            </a:extLst>
          </p:cNvPr>
          <p:cNvSpPr>
            <a:spLocks noGrp="1"/>
          </p:cNvSpPr>
          <p:nvPr/>
        </p:nvSpPr>
        <p:spPr>
          <a:xfrm>
            <a:off x="495300" y="1266825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B6F9C"/>
                </a:solidFill>
              </a:defRPr>
            </a:pPr>
            <a:r>
              <a:rPr sz="975" b="1">
                <a:solidFill>
                  <a:srgbClr val="2B6F9C"/>
                </a:solidFill>
              </a:rPr>
              <a:t>TOPOLOGY ACTION SPACE</a:t>
            </a:r>
          </a:p>
        </p:txBody>
      </p:sp>
      <p:sp>
        <p:nvSpPr>
          <p:cNvPr id="6" name="action-space-heading">
            <a:extLst>
              <a:ext uri="{FF2B5EF4-FFF2-40B4-BE49-F238E27FC236}">
                <a16:creationId xmlns:a16="http://schemas.microsoft.com/office/drawing/2014/main" id="{2529794D-4426-49C6-9B08-D491CC3D62AB}"/>
              </a:ext>
            </a:extLst>
          </p:cNvPr>
          <p:cNvSpPr>
            <a:spLocks noGrp="1"/>
          </p:cNvSpPr>
          <p:nvPr/>
        </p:nvSpPr>
        <p:spPr>
          <a:xfrm>
            <a:off x="495300" y="1581150"/>
            <a:ext cx="2914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72735"/>
                </a:solidFill>
              </a:defRPr>
            </a:pPr>
            <a:r>
              <a:rPr sz="1725" b="1">
                <a:solidFill>
                  <a:srgbClr val="172735"/>
                </a:solidFill>
              </a:rPr>
              <a:t>Each agent selects one local action</a:t>
            </a:r>
          </a:p>
        </p:txBody>
      </p:sp>
      <p:sp>
        <p:nvSpPr>
          <p:cNvPr id="7" name="action-space-caption">
            <a:extLst>
              <a:ext uri="{FF2B5EF4-FFF2-40B4-BE49-F238E27FC236}">
                <a16:creationId xmlns:a16="http://schemas.microsoft.com/office/drawing/2014/main" id="{73ED0D65-D320-4A06-A319-3E087903C677}"/>
              </a:ext>
            </a:extLst>
          </p:cNvPr>
          <p:cNvSpPr>
            <a:spLocks noGrp="1"/>
          </p:cNvSpPr>
          <p:nvPr/>
        </p:nvSpPr>
        <p:spPr>
          <a:xfrm>
            <a:off x="495300" y="2105025"/>
            <a:ext cx="2876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607080"/>
                </a:solidFill>
              </a:defRPr>
            </a:pPr>
            <a:r>
              <a:rPr sz="1050" b="0">
                <a:solidFill>
                  <a:srgbClr val="607080"/>
                </a:solidFill>
              </a:rPr>
              <a:t>The four agents’ selections are combined into one joint grid-control decision.</a:t>
            </a:r>
          </a:p>
        </p:txBody>
      </p:sp>
      <p:sp>
        <p:nvSpPr>
          <p:cNvPr id="8" name="noop-action-marker">
            <a:extLst>
              <a:ext uri="{FF2B5EF4-FFF2-40B4-BE49-F238E27FC236}">
                <a16:creationId xmlns:a16="http://schemas.microsoft.com/office/drawing/2014/main" id="{FDAED290-72A2-422C-89CB-F80C939DB2C2}"/>
              </a:ext>
            </a:extLst>
          </p:cNvPr>
          <p:cNvSpPr>
            <a:spLocks noGrp="1"/>
          </p:cNvSpPr>
          <p:nvPr/>
        </p:nvSpPr>
        <p:spPr>
          <a:xfrm>
            <a:off x="523875" y="2828925"/>
            <a:ext cx="438150" cy="438150"/>
          </a:xfrm>
          <a:prstGeom prst="ellipse">
            <a:avLst/>
          </a:prstGeom>
          <a:solidFill>
            <a:srgbClr val="E7F1F8"/>
          </a:solidFill>
          <a:ln w="14288">
            <a:solidFill>
              <a:srgbClr val="6F9EBB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276F9A"/>
                </a:solidFill>
              </a:defRPr>
            </a:pPr>
            <a:r>
              <a:rPr sz="1425" b="1">
                <a:solidFill>
                  <a:srgbClr val="276F9A"/>
                </a:solidFill>
              </a:rPr>
              <a:t>0</a:t>
            </a:r>
          </a:p>
        </p:txBody>
      </p:sp>
      <p:sp>
        <p:nvSpPr>
          <p:cNvPr id="9" name="noop-action-title">
            <a:extLst>
              <a:ext uri="{FF2B5EF4-FFF2-40B4-BE49-F238E27FC236}">
                <a16:creationId xmlns:a16="http://schemas.microsoft.com/office/drawing/2014/main" id="{2BD4B16D-9E95-4398-A634-33B6AEEA9D34}"/>
              </a:ext>
            </a:extLst>
          </p:cNvPr>
          <p:cNvSpPr>
            <a:spLocks noGrp="1"/>
          </p:cNvSpPr>
          <p:nvPr/>
        </p:nvSpPr>
        <p:spPr>
          <a:xfrm>
            <a:off x="1133475" y="2762250"/>
            <a:ext cx="2171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B2C39"/>
                </a:solidFill>
              </a:defRPr>
            </a:pPr>
            <a:r>
              <a:rPr sz="1275" b="1">
                <a:solidFill>
                  <a:srgbClr val="1B2C39"/>
                </a:solidFill>
              </a:rPr>
              <a:t>Do nothing</a:t>
            </a:r>
          </a:p>
        </p:txBody>
      </p:sp>
      <p:sp>
        <p:nvSpPr>
          <p:cNvPr id="10" name="noop-action-body">
            <a:extLst>
              <a:ext uri="{FF2B5EF4-FFF2-40B4-BE49-F238E27FC236}">
                <a16:creationId xmlns:a16="http://schemas.microsoft.com/office/drawing/2014/main" id="{4C0F7E68-C8AB-4103-A4C2-B5536AB14C40}"/>
              </a:ext>
            </a:extLst>
          </p:cNvPr>
          <p:cNvSpPr>
            <a:spLocks noGrp="1"/>
          </p:cNvSpPr>
          <p:nvPr/>
        </p:nvSpPr>
        <p:spPr>
          <a:xfrm>
            <a:off x="1133475" y="3057525"/>
            <a:ext cx="21717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Preserve the current topology</a:t>
            </a:r>
          </a:p>
        </p:txBody>
      </p:sp>
      <p:sp>
        <p:nvSpPr>
          <p:cNvPr id="11" name="line-action-marker">
            <a:extLst>
              <a:ext uri="{FF2B5EF4-FFF2-40B4-BE49-F238E27FC236}">
                <a16:creationId xmlns:a16="http://schemas.microsoft.com/office/drawing/2014/main" id="{F58628EA-8316-40FF-B181-2AF0B0457971}"/>
              </a:ext>
            </a:extLst>
          </p:cNvPr>
          <p:cNvSpPr>
            <a:spLocks noGrp="1"/>
          </p:cNvSpPr>
          <p:nvPr/>
        </p:nvSpPr>
        <p:spPr>
          <a:xfrm>
            <a:off x="523875" y="3705225"/>
            <a:ext cx="438150" cy="438150"/>
          </a:xfrm>
          <a:prstGeom prst="ellipse">
            <a:avLst/>
          </a:prstGeom>
          <a:solidFill>
            <a:srgbClr val="E7F1F8"/>
          </a:solidFill>
          <a:ln w="14288">
            <a:solidFill>
              <a:srgbClr val="6F9EBB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276F9A"/>
                </a:solidFill>
              </a:defRPr>
            </a:pPr>
            <a:r>
              <a:rPr sz="1425" b="1">
                <a:solidFill>
                  <a:srgbClr val="276F9A"/>
                </a:solidFill>
              </a:rPr>
              <a:t>↔</a:t>
            </a:r>
          </a:p>
        </p:txBody>
      </p:sp>
      <p:sp>
        <p:nvSpPr>
          <p:cNvPr id="12" name="line-action-title">
            <a:extLst>
              <a:ext uri="{FF2B5EF4-FFF2-40B4-BE49-F238E27FC236}">
                <a16:creationId xmlns:a16="http://schemas.microsoft.com/office/drawing/2014/main" id="{F9149F00-C68E-4100-AB05-2DFD915584C3}"/>
              </a:ext>
            </a:extLst>
          </p:cNvPr>
          <p:cNvSpPr>
            <a:spLocks noGrp="1"/>
          </p:cNvSpPr>
          <p:nvPr/>
        </p:nvSpPr>
        <p:spPr>
          <a:xfrm>
            <a:off x="1133475" y="3638550"/>
            <a:ext cx="2171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B2C39"/>
                </a:solidFill>
              </a:defRPr>
            </a:pPr>
            <a:r>
              <a:rPr sz="1275" b="1">
                <a:solidFill>
                  <a:srgbClr val="1B2C39"/>
                </a:solidFill>
              </a:rPr>
              <a:t>Switch a transmission line</a:t>
            </a:r>
          </a:p>
        </p:txBody>
      </p:sp>
      <p:sp>
        <p:nvSpPr>
          <p:cNvPr id="13" name="line-action-body">
            <a:extLst>
              <a:ext uri="{FF2B5EF4-FFF2-40B4-BE49-F238E27FC236}">
                <a16:creationId xmlns:a16="http://schemas.microsoft.com/office/drawing/2014/main" id="{DEE00B29-2CD7-4E8B-ABB1-6E2A2D1798B6}"/>
              </a:ext>
            </a:extLst>
          </p:cNvPr>
          <p:cNvSpPr>
            <a:spLocks noGrp="1"/>
          </p:cNvSpPr>
          <p:nvPr/>
        </p:nvSpPr>
        <p:spPr>
          <a:xfrm>
            <a:off x="1133475" y="3933825"/>
            <a:ext cx="21717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Connect or disconnect a line</a:t>
            </a:r>
          </a:p>
        </p:txBody>
      </p:sp>
      <p:sp>
        <p:nvSpPr>
          <p:cNvPr id="14" name="busbar-action-marker">
            <a:extLst>
              <a:ext uri="{FF2B5EF4-FFF2-40B4-BE49-F238E27FC236}">
                <a16:creationId xmlns:a16="http://schemas.microsoft.com/office/drawing/2014/main" id="{D5541500-1899-471B-BF78-38EBFCE5E66D}"/>
              </a:ext>
            </a:extLst>
          </p:cNvPr>
          <p:cNvSpPr>
            <a:spLocks noGrp="1"/>
          </p:cNvSpPr>
          <p:nvPr/>
        </p:nvSpPr>
        <p:spPr>
          <a:xfrm>
            <a:off x="523875" y="4581525"/>
            <a:ext cx="438150" cy="438150"/>
          </a:xfrm>
          <a:prstGeom prst="ellipse">
            <a:avLst/>
          </a:prstGeom>
          <a:solidFill>
            <a:srgbClr val="E7F1F8"/>
          </a:solidFill>
          <a:ln w="14288">
            <a:solidFill>
              <a:srgbClr val="6F9EBB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276F9A"/>
                </a:solidFill>
              </a:defRPr>
            </a:pPr>
            <a:r>
              <a:rPr sz="975" b="1">
                <a:solidFill>
                  <a:srgbClr val="276F9A"/>
                </a:solidFill>
              </a:rPr>
              <a:t>1|2</a:t>
            </a:r>
          </a:p>
        </p:txBody>
      </p:sp>
      <p:sp>
        <p:nvSpPr>
          <p:cNvPr id="15" name="busbar-action-title">
            <a:extLst>
              <a:ext uri="{FF2B5EF4-FFF2-40B4-BE49-F238E27FC236}">
                <a16:creationId xmlns:a16="http://schemas.microsoft.com/office/drawing/2014/main" id="{25D6836F-9C29-4C21-8895-C89E106711BB}"/>
              </a:ext>
            </a:extLst>
          </p:cNvPr>
          <p:cNvSpPr>
            <a:spLocks noGrp="1"/>
          </p:cNvSpPr>
          <p:nvPr/>
        </p:nvSpPr>
        <p:spPr>
          <a:xfrm>
            <a:off x="1133475" y="4514850"/>
            <a:ext cx="2171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B2C39"/>
                </a:solidFill>
              </a:defRPr>
            </a:pPr>
            <a:r>
              <a:rPr sz="1275" b="1">
                <a:solidFill>
                  <a:srgbClr val="1B2C39"/>
                </a:solidFill>
              </a:rPr>
              <a:t>Reassign substation elements</a:t>
            </a:r>
          </a:p>
        </p:txBody>
      </p:sp>
      <p:sp>
        <p:nvSpPr>
          <p:cNvPr id="16" name="busbar-action-body">
            <a:extLst>
              <a:ext uri="{FF2B5EF4-FFF2-40B4-BE49-F238E27FC236}">
                <a16:creationId xmlns:a16="http://schemas.microsoft.com/office/drawing/2014/main" id="{98947CE4-4383-4351-B37A-091407FB04B0}"/>
              </a:ext>
            </a:extLst>
          </p:cNvPr>
          <p:cNvSpPr>
            <a:spLocks noGrp="1"/>
          </p:cNvSpPr>
          <p:nvPr/>
        </p:nvSpPr>
        <p:spPr>
          <a:xfrm>
            <a:off x="1133475" y="4810125"/>
            <a:ext cx="21717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Move components between busbars</a:t>
            </a:r>
          </a:p>
        </p:txBody>
      </p:sp>
      <p:sp>
        <p:nvSpPr>
          <p:cNvPr id="17" name="decision-cadence">
            <a:extLst>
              <a:ext uri="{FF2B5EF4-FFF2-40B4-BE49-F238E27FC236}">
                <a16:creationId xmlns:a16="http://schemas.microsoft.com/office/drawing/2014/main" id="{25FF1768-E3E8-4DA4-89F1-4AAF29EF0438}"/>
              </a:ext>
            </a:extLst>
          </p:cNvPr>
          <p:cNvSpPr>
            <a:spLocks noGrp="1"/>
          </p:cNvSpPr>
          <p:nvPr/>
        </p:nvSpPr>
        <p:spPr>
          <a:xfrm>
            <a:off x="495300" y="5524500"/>
            <a:ext cx="2914650" cy="590550"/>
          </a:xfrm>
          <a:prstGeom prst="roundRect">
            <a:avLst>
              <a:gd name="adj" fmla="val 16129"/>
            </a:avLst>
          </a:prstGeom>
          <a:solidFill>
            <a:srgbClr val="EAF3FA"/>
          </a:solidFill>
          <a:ln w="9525">
            <a:solidFill>
              <a:srgbClr val="91B4CA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85F7F"/>
                </a:solidFill>
              </a:defRPr>
            </a:pPr>
            <a:r>
              <a:rPr sz="1125" b="1">
                <a:solidFill>
                  <a:srgbClr val="285F7F"/>
                </a:solidFill>
              </a:rPr>
              <a:t>Every 5 minutes  ·  shared grid-level reward</a:t>
            </a:r>
          </a:p>
        </p:txBody>
      </p:sp>
      <p:sp>
        <p:nvSpPr>
          <p:cNvPr id="18" name="chronic-split-label">
            <a:extLst>
              <a:ext uri="{FF2B5EF4-FFF2-40B4-BE49-F238E27FC236}">
                <a16:creationId xmlns:a16="http://schemas.microsoft.com/office/drawing/2014/main" id="{810EFF49-2400-4597-A072-A46542C8584D}"/>
              </a:ext>
            </a:extLst>
          </p:cNvPr>
          <p:cNvSpPr>
            <a:spLocks noGrp="1"/>
          </p:cNvSpPr>
          <p:nvPr/>
        </p:nvSpPr>
        <p:spPr>
          <a:xfrm>
            <a:off x="4143375" y="12668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4F5F6A"/>
                </a:solidFill>
              </a:defRPr>
            </a:pPr>
            <a:r>
              <a:rPr sz="975" b="1">
                <a:solidFill>
                  <a:srgbClr val="4F5F6A"/>
                </a:solidFill>
              </a:rPr>
              <a:t>CHRONIC SPLIT &amp; EVALUATION</a:t>
            </a:r>
          </a:p>
        </p:txBody>
      </p:sp>
      <p:sp>
        <p:nvSpPr>
          <p:cNvPr id="19" name="available-chronics">
            <a:extLst>
              <a:ext uri="{FF2B5EF4-FFF2-40B4-BE49-F238E27FC236}">
                <a16:creationId xmlns:a16="http://schemas.microsoft.com/office/drawing/2014/main" id="{C3286423-6B0E-445D-8129-756E5FAF3B15}"/>
              </a:ext>
            </a:extLst>
          </p:cNvPr>
          <p:cNvSpPr>
            <a:spLocks noGrp="1"/>
          </p:cNvSpPr>
          <p:nvPr/>
        </p:nvSpPr>
        <p:spPr>
          <a:xfrm>
            <a:off x="6429375" y="1504950"/>
            <a:ext cx="2952750" cy="685800"/>
          </a:xfrm>
          <a:prstGeom prst="roundRect">
            <a:avLst>
              <a:gd name="adj" fmla="val 15278"/>
            </a:avLst>
          </a:prstGeom>
          <a:solidFill>
            <a:srgbClr val="F4F6F7"/>
          </a:solidFill>
          <a:ln w="14288">
            <a:solidFill>
              <a:srgbClr val="9CA8A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0" name="available-chronics-title">
            <a:extLst>
              <a:ext uri="{FF2B5EF4-FFF2-40B4-BE49-F238E27FC236}">
                <a16:creationId xmlns:a16="http://schemas.microsoft.com/office/drawing/2014/main" id="{44809625-47B8-4713-B35E-3E2233F2CBE6}"/>
              </a:ext>
            </a:extLst>
          </p:cNvPr>
          <p:cNvSpPr>
            <a:spLocks noGrp="1"/>
          </p:cNvSpPr>
          <p:nvPr/>
        </p:nvSpPr>
        <p:spPr>
          <a:xfrm>
            <a:off x="6572250" y="1581150"/>
            <a:ext cx="2667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63641"/>
                </a:solidFill>
              </a:defRPr>
            </a:pPr>
            <a:r>
              <a:rPr sz="1275" b="1">
                <a:solidFill>
                  <a:srgbClr val="263641"/>
                </a:solidFill>
              </a:rPr>
              <a:t>Available chronics</a:t>
            </a:r>
          </a:p>
        </p:txBody>
      </p:sp>
      <p:sp>
        <p:nvSpPr>
          <p:cNvPr id="21" name="available-chronics-body">
            <a:extLst>
              <a:ext uri="{FF2B5EF4-FFF2-40B4-BE49-F238E27FC236}">
                <a16:creationId xmlns:a16="http://schemas.microsoft.com/office/drawing/2014/main" id="{BB0ECC3E-DF96-4C81-AD3B-33955604388C}"/>
              </a:ext>
            </a:extLst>
          </p:cNvPr>
          <p:cNvSpPr>
            <a:spLocks noGrp="1"/>
          </p:cNvSpPr>
          <p:nvPr/>
        </p:nvSpPr>
        <p:spPr>
          <a:xfrm>
            <a:off x="6562725" y="1847850"/>
            <a:ext cx="26860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0">
                <a:solidFill>
                  <a:srgbClr val="566573"/>
                </a:solidFill>
              </a:defRPr>
            </a:pPr>
            <a:r>
              <a:rPr sz="900" b="0">
                <a:solidFill>
                  <a:srgbClr val="566573"/>
                </a:solidFill>
              </a:rPr>
              <a:t>fixed shuffle · split seed 0</a:t>
            </a:r>
          </a:p>
        </p:txBody>
      </p:sp>
      <p:sp>
        <p:nvSpPr>
          <p:cNvPr id="22" name="train-column-label">
            <a:extLst>
              <a:ext uri="{FF2B5EF4-FFF2-40B4-BE49-F238E27FC236}">
                <a16:creationId xmlns:a16="http://schemas.microsoft.com/office/drawing/2014/main" id="{8F3D3737-6274-4A4C-9186-028EBEA7B152}"/>
              </a:ext>
            </a:extLst>
          </p:cNvPr>
          <p:cNvSpPr>
            <a:spLocks noGrp="1"/>
          </p:cNvSpPr>
          <p:nvPr/>
        </p:nvSpPr>
        <p:spPr>
          <a:xfrm>
            <a:off x="4343399" y="2415949"/>
            <a:ext cx="13049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BA6B2E"/>
                </a:solidFill>
              </a:defRPr>
            </a:pPr>
            <a:r>
              <a:rPr sz="900" b="1" dirty="0">
                <a:solidFill>
                  <a:srgbClr val="BA6B2E"/>
                </a:solidFill>
              </a:rPr>
              <a:t>LEARNING</a:t>
            </a:r>
          </a:p>
        </p:txBody>
      </p:sp>
      <p:sp>
        <p:nvSpPr>
          <p:cNvPr id="23" name="test-column-label">
            <a:extLst>
              <a:ext uri="{FF2B5EF4-FFF2-40B4-BE49-F238E27FC236}">
                <a16:creationId xmlns:a16="http://schemas.microsoft.com/office/drawing/2014/main" id="{0A58E03E-70B8-4410-8448-35E4255DF3E6}"/>
              </a:ext>
            </a:extLst>
          </p:cNvPr>
          <p:cNvSpPr>
            <a:spLocks noGrp="1"/>
          </p:cNvSpPr>
          <p:nvPr/>
        </p:nvSpPr>
        <p:spPr>
          <a:xfrm>
            <a:off x="9963150" y="2405063"/>
            <a:ext cx="1543050" cy="2524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16837F"/>
                </a:solidFill>
              </a:defRPr>
            </a:pPr>
            <a:r>
              <a:rPr lang="fr-CH" sz="900" b="1" dirty="0">
                <a:solidFill>
                  <a:srgbClr val="16837F"/>
                </a:solidFill>
              </a:rPr>
              <a:t>MODEL TESTING</a:t>
            </a:r>
            <a:endParaRPr sz="900" b="1" dirty="0">
              <a:solidFill>
                <a:srgbClr val="16837F"/>
              </a:solidFill>
            </a:endParaRPr>
          </a:p>
        </p:txBody>
      </p:sp>
      <p:sp>
        <p:nvSpPr>
          <p:cNvPr id="24" name="train-split">
            <a:extLst>
              <a:ext uri="{FF2B5EF4-FFF2-40B4-BE49-F238E27FC236}">
                <a16:creationId xmlns:a16="http://schemas.microsoft.com/office/drawing/2014/main" id="{C43D0ACD-AC54-4D29-8A68-0766AD89FC4D}"/>
              </a:ext>
            </a:extLst>
          </p:cNvPr>
          <p:cNvSpPr>
            <a:spLocks noGrp="1"/>
          </p:cNvSpPr>
          <p:nvPr/>
        </p:nvSpPr>
        <p:spPr>
          <a:xfrm>
            <a:off x="4343399" y="2647950"/>
            <a:ext cx="2924176" cy="723900"/>
          </a:xfrm>
          <a:prstGeom prst="roundRect">
            <a:avLst>
              <a:gd name="adj" fmla="val 14474"/>
            </a:avLst>
          </a:prstGeom>
          <a:solidFill>
            <a:srgbClr val="FFF2E8"/>
          </a:solidFill>
          <a:ln w="14288">
            <a:solidFill>
              <a:srgbClr val="E9A16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5" name="train-split-title">
            <a:extLst>
              <a:ext uri="{FF2B5EF4-FFF2-40B4-BE49-F238E27FC236}">
                <a16:creationId xmlns:a16="http://schemas.microsoft.com/office/drawing/2014/main" id="{C26CA5A6-8464-49B6-9FCB-81C7181D797F}"/>
              </a:ext>
            </a:extLst>
          </p:cNvPr>
          <p:cNvSpPr>
            <a:spLocks noGrp="1"/>
          </p:cNvSpPr>
          <p:nvPr/>
        </p:nvSpPr>
        <p:spPr>
          <a:xfrm>
            <a:off x="4486274" y="2724150"/>
            <a:ext cx="2609843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A75A24"/>
                </a:solidFill>
              </a:defRPr>
            </a:pPr>
            <a:r>
              <a:rPr sz="1275" b="1" dirty="0">
                <a:solidFill>
                  <a:srgbClr val="A75A24"/>
                </a:solidFill>
              </a:rPr>
              <a:t>80% training </a:t>
            </a:r>
            <a:r>
              <a:rPr sz="1275" b="1" dirty="0" err="1">
                <a:solidFill>
                  <a:srgbClr val="A75A24"/>
                </a:solidFill>
              </a:rPr>
              <a:t>chronics</a:t>
            </a:r>
            <a:endParaRPr sz="1275" b="1" dirty="0">
              <a:solidFill>
                <a:srgbClr val="A75A24"/>
              </a:solidFill>
            </a:endParaRPr>
          </a:p>
        </p:txBody>
      </p:sp>
      <p:sp>
        <p:nvSpPr>
          <p:cNvPr id="26" name="train-split-body">
            <a:extLst>
              <a:ext uri="{FF2B5EF4-FFF2-40B4-BE49-F238E27FC236}">
                <a16:creationId xmlns:a16="http://schemas.microsoft.com/office/drawing/2014/main" id="{62B6B62D-72D9-4382-9570-F102ADDA56CD}"/>
              </a:ext>
            </a:extLst>
          </p:cNvPr>
          <p:cNvSpPr>
            <a:spLocks noGrp="1"/>
          </p:cNvSpPr>
          <p:nvPr/>
        </p:nvSpPr>
        <p:spPr>
          <a:xfrm>
            <a:off x="4476749" y="2990850"/>
            <a:ext cx="2619369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0">
                <a:solidFill>
                  <a:srgbClr val="566573"/>
                </a:solidFill>
              </a:defRPr>
            </a:pPr>
            <a:r>
              <a:rPr sz="1050" b="0" dirty="0">
                <a:solidFill>
                  <a:srgbClr val="566573"/>
                </a:solidFill>
              </a:rPr>
              <a:t>Only these </a:t>
            </a:r>
            <a:r>
              <a:rPr sz="1050" b="0" dirty="0" err="1">
                <a:solidFill>
                  <a:srgbClr val="566573"/>
                </a:solidFill>
              </a:rPr>
              <a:t>chronics</a:t>
            </a:r>
            <a:r>
              <a:rPr sz="1050" b="0" dirty="0">
                <a:solidFill>
                  <a:srgbClr val="566573"/>
                </a:solidFill>
              </a:rPr>
              <a:t> generate policy updates</a:t>
            </a:r>
          </a:p>
        </p:txBody>
      </p:sp>
      <p:sp>
        <p:nvSpPr>
          <p:cNvPr id="27" name="mappo-learning">
            <a:extLst>
              <a:ext uri="{FF2B5EF4-FFF2-40B4-BE49-F238E27FC236}">
                <a16:creationId xmlns:a16="http://schemas.microsoft.com/office/drawing/2014/main" id="{7D6EF762-E479-45F3-B4A7-E445D905AAD5}"/>
              </a:ext>
            </a:extLst>
          </p:cNvPr>
          <p:cNvSpPr>
            <a:spLocks noGrp="1"/>
          </p:cNvSpPr>
          <p:nvPr/>
        </p:nvSpPr>
        <p:spPr>
          <a:xfrm>
            <a:off x="4343399" y="3565752"/>
            <a:ext cx="2924171" cy="720498"/>
          </a:xfrm>
          <a:prstGeom prst="roundRect">
            <a:avLst>
              <a:gd name="adj" fmla="val 13415"/>
            </a:avLst>
          </a:prstGeom>
          <a:solidFill>
            <a:srgbClr val="FFF5ED"/>
          </a:solidFill>
          <a:ln w="14288">
            <a:solidFill>
              <a:srgbClr val="E9A16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8" name="mappo-learning-title">
            <a:extLst>
              <a:ext uri="{FF2B5EF4-FFF2-40B4-BE49-F238E27FC236}">
                <a16:creationId xmlns:a16="http://schemas.microsoft.com/office/drawing/2014/main" id="{0E78383F-3A5F-440C-9DD5-AFBD71CFA978}"/>
              </a:ext>
            </a:extLst>
          </p:cNvPr>
          <p:cNvSpPr>
            <a:spLocks noGrp="1"/>
          </p:cNvSpPr>
          <p:nvPr/>
        </p:nvSpPr>
        <p:spPr>
          <a:xfrm>
            <a:off x="4486275" y="3641952"/>
            <a:ext cx="2619346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A75A24"/>
                </a:solidFill>
              </a:defRPr>
            </a:pPr>
            <a:r>
              <a:rPr sz="1275" b="1" dirty="0">
                <a:solidFill>
                  <a:srgbClr val="A75A24"/>
                </a:solidFill>
              </a:rPr>
              <a:t>MAPPO rollouts &amp; updates</a:t>
            </a:r>
          </a:p>
        </p:txBody>
      </p:sp>
      <p:sp>
        <p:nvSpPr>
          <p:cNvPr id="29" name="mappo-learning-body">
            <a:extLst>
              <a:ext uri="{FF2B5EF4-FFF2-40B4-BE49-F238E27FC236}">
                <a16:creationId xmlns:a16="http://schemas.microsoft.com/office/drawing/2014/main" id="{9EFD6FBC-B855-4BA1-A87A-94184DD5C96A}"/>
              </a:ext>
            </a:extLst>
          </p:cNvPr>
          <p:cNvSpPr>
            <a:spLocks noGrp="1"/>
          </p:cNvSpPr>
          <p:nvPr/>
        </p:nvSpPr>
        <p:spPr>
          <a:xfrm>
            <a:off x="4476749" y="3908652"/>
            <a:ext cx="2619369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0">
                <a:solidFill>
                  <a:srgbClr val="566573"/>
                </a:solidFill>
              </a:defRPr>
            </a:pPr>
            <a:r>
              <a:rPr sz="1050" b="0" dirty="0">
                <a:solidFill>
                  <a:srgbClr val="566573"/>
                </a:solidFill>
              </a:rPr>
              <a:t>72</a:t>
            </a:r>
            <a:r>
              <a:rPr lang="fr-CH" sz="1050" b="0" dirty="0">
                <a:solidFill>
                  <a:srgbClr val="566573"/>
                </a:solidFill>
              </a:rPr>
              <a:t> or 20</a:t>
            </a:r>
            <a:r>
              <a:rPr sz="1050" b="0" dirty="0">
                <a:solidFill>
                  <a:srgbClr val="566573"/>
                </a:solidFill>
              </a:rPr>
              <a:t> parallel environments</a:t>
            </a:r>
          </a:p>
        </p:txBody>
      </p:sp>
      <p:sp>
        <p:nvSpPr>
          <p:cNvPr id="30" name="train-diagnostic">
            <a:extLst>
              <a:ext uri="{FF2B5EF4-FFF2-40B4-BE49-F238E27FC236}">
                <a16:creationId xmlns:a16="http://schemas.microsoft.com/office/drawing/2014/main" id="{C4237092-EFA7-4734-8E2B-5C74F72320A8}"/>
              </a:ext>
            </a:extLst>
          </p:cNvPr>
          <p:cNvSpPr>
            <a:spLocks noGrp="1"/>
          </p:cNvSpPr>
          <p:nvPr/>
        </p:nvSpPr>
        <p:spPr>
          <a:xfrm>
            <a:off x="4343398" y="5407478"/>
            <a:ext cx="2924161" cy="723900"/>
          </a:xfrm>
          <a:prstGeom prst="roundRect">
            <a:avLst>
              <a:gd name="adj" fmla="val 13415"/>
            </a:avLst>
          </a:prstGeom>
          <a:solidFill>
            <a:srgbClr val="FFF9F4"/>
          </a:solidFill>
          <a:ln w="14288">
            <a:solidFill>
              <a:srgbClr val="EAB28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1" name="train-diagnostic-title">
            <a:extLst>
              <a:ext uri="{FF2B5EF4-FFF2-40B4-BE49-F238E27FC236}">
                <a16:creationId xmlns:a16="http://schemas.microsoft.com/office/drawing/2014/main" id="{3DE04CEE-B2C1-4CE4-9579-767CFC9D5DB2}"/>
              </a:ext>
            </a:extLst>
          </p:cNvPr>
          <p:cNvSpPr>
            <a:spLocks noGrp="1"/>
          </p:cNvSpPr>
          <p:nvPr/>
        </p:nvSpPr>
        <p:spPr>
          <a:xfrm>
            <a:off x="4486274" y="5438775"/>
            <a:ext cx="260984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A75A24"/>
                </a:solidFill>
              </a:defRPr>
            </a:pPr>
            <a:r>
              <a:rPr sz="1275" b="1" dirty="0">
                <a:solidFill>
                  <a:srgbClr val="A75A24"/>
                </a:solidFill>
              </a:rPr>
              <a:t>Train-split evaluation</a:t>
            </a:r>
          </a:p>
        </p:txBody>
      </p:sp>
      <p:sp>
        <p:nvSpPr>
          <p:cNvPr id="32" name="train-diagnostic-body">
            <a:extLst>
              <a:ext uri="{FF2B5EF4-FFF2-40B4-BE49-F238E27FC236}">
                <a16:creationId xmlns:a16="http://schemas.microsoft.com/office/drawing/2014/main" id="{6C49EB47-0304-4CBD-9257-946A4D80A754}"/>
              </a:ext>
            </a:extLst>
          </p:cNvPr>
          <p:cNvSpPr>
            <a:spLocks noGrp="1"/>
          </p:cNvSpPr>
          <p:nvPr/>
        </p:nvSpPr>
        <p:spPr>
          <a:xfrm>
            <a:off x="4476749" y="5705475"/>
            <a:ext cx="2619367" cy="2667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0">
                <a:solidFill>
                  <a:srgbClr val="566573"/>
                </a:solidFill>
              </a:defRPr>
            </a:pPr>
            <a:r>
              <a:rPr sz="1050" b="0" dirty="0">
                <a:solidFill>
                  <a:srgbClr val="566573"/>
                </a:solidFill>
              </a:rPr>
              <a:t>Diagnostic </a:t>
            </a:r>
            <a:r>
              <a:rPr lang="fr-CH" sz="1050" dirty="0">
                <a:solidFill>
                  <a:srgbClr val="566573"/>
                </a:solidFill>
              </a:rPr>
              <a:t>of the training</a:t>
            </a:r>
            <a:endParaRPr sz="1050" b="0" dirty="0">
              <a:solidFill>
                <a:srgbClr val="566573"/>
              </a:solidFill>
            </a:endParaRPr>
          </a:p>
        </p:txBody>
      </p:sp>
      <p:sp>
        <p:nvSpPr>
          <p:cNvPr id="33" name="test-split">
            <a:extLst>
              <a:ext uri="{FF2B5EF4-FFF2-40B4-BE49-F238E27FC236}">
                <a16:creationId xmlns:a16="http://schemas.microsoft.com/office/drawing/2014/main" id="{C18038A8-AB0B-46A5-BE6C-E8CB144C7FD1}"/>
              </a:ext>
            </a:extLst>
          </p:cNvPr>
          <p:cNvSpPr>
            <a:spLocks noGrp="1"/>
          </p:cNvSpPr>
          <p:nvPr/>
        </p:nvSpPr>
        <p:spPr>
          <a:xfrm>
            <a:off x="8458200" y="2647950"/>
            <a:ext cx="3009900" cy="723900"/>
          </a:xfrm>
          <a:prstGeom prst="roundRect">
            <a:avLst>
              <a:gd name="adj" fmla="val 14474"/>
            </a:avLst>
          </a:prstGeom>
          <a:solidFill>
            <a:srgbClr val="EAF8F7"/>
          </a:solidFill>
          <a:ln w="14288">
            <a:solidFill>
              <a:srgbClr val="49A8A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4" name="test-split-title">
            <a:extLst>
              <a:ext uri="{FF2B5EF4-FFF2-40B4-BE49-F238E27FC236}">
                <a16:creationId xmlns:a16="http://schemas.microsoft.com/office/drawing/2014/main" id="{9126AF88-72D1-4AD4-8C01-6E1AC9E69C87}"/>
              </a:ext>
            </a:extLst>
          </p:cNvPr>
          <p:cNvSpPr>
            <a:spLocks noGrp="1"/>
          </p:cNvSpPr>
          <p:nvPr/>
        </p:nvSpPr>
        <p:spPr>
          <a:xfrm>
            <a:off x="8601075" y="2724150"/>
            <a:ext cx="27241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46E6B"/>
                </a:solidFill>
              </a:defRPr>
            </a:pPr>
            <a:r>
              <a:rPr sz="1275" b="1">
                <a:solidFill>
                  <a:srgbClr val="146E6B"/>
                </a:solidFill>
              </a:rPr>
              <a:t>20% held-out test chronics</a:t>
            </a:r>
          </a:p>
        </p:txBody>
      </p:sp>
      <p:sp>
        <p:nvSpPr>
          <p:cNvPr id="35" name="test-split-body">
            <a:extLst>
              <a:ext uri="{FF2B5EF4-FFF2-40B4-BE49-F238E27FC236}">
                <a16:creationId xmlns:a16="http://schemas.microsoft.com/office/drawing/2014/main" id="{EF261BC7-6877-4D40-BD68-931B4371A3D1}"/>
              </a:ext>
            </a:extLst>
          </p:cNvPr>
          <p:cNvSpPr>
            <a:spLocks noGrp="1"/>
          </p:cNvSpPr>
          <p:nvPr/>
        </p:nvSpPr>
        <p:spPr>
          <a:xfrm>
            <a:off x="8591550" y="2990850"/>
            <a:ext cx="27432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0">
                <a:solidFill>
                  <a:srgbClr val="566573"/>
                </a:solidFill>
              </a:defRPr>
            </a:pPr>
            <a:r>
              <a:rPr sz="1050" b="0" dirty="0">
                <a:solidFill>
                  <a:srgbClr val="566573"/>
                </a:solidFill>
              </a:rPr>
              <a:t>Never used for gradient updates</a:t>
            </a:r>
          </a:p>
        </p:txBody>
      </p:sp>
      <p:sp>
        <p:nvSpPr>
          <p:cNvPr id="36" name="periodic-test-eval">
            <a:extLst>
              <a:ext uri="{FF2B5EF4-FFF2-40B4-BE49-F238E27FC236}">
                <a16:creationId xmlns:a16="http://schemas.microsoft.com/office/drawing/2014/main" id="{94B0339F-5054-4F32-A892-5BFEDF8A75D6}"/>
              </a:ext>
            </a:extLst>
          </p:cNvPr>
          <p:cNvSpPr>
            <a:spLocks noGrp="1"/>
          </p:cNvSpPr>
          <p:nvPr/>
        </p:nvSpPr>
        <p:spPr>
          <a:xfrm>
            <a:off x="8458200" y="3581400"/>
            <a:ext cx="3009900" cy="723900"/>
          </a:xfrm>
          <a:prstGeom prst="roundRect">
            <a:avLst>
              <a:gd name="adj" fmla="val 14474"/>
            </a:avLst>
          </a:prstGeom>
          <a:solidFill>
            <a:srgbClr val="EFF9F8"/>
          </a:solidFill>
          <a:ln w="14288">
            <a:solidFill>
              <a:srgbClr val="49A8A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7" name="periodic-test-eval-title">
            <a:extLst>
              <a:ext uri="{FF2B5EF4-FFF2-40B4-BE49-F238E27FC236}">
                <a16:creationId xmlns:a16="http://schemas.microsoft.com/office/drawing/2014/main" id="{6629DB5A-52A7-40EF-8828-72AA194E8250}"/>
              </a:ext>
            </a:extLst>
          </p:cNvPr>
          <p:cNvSpPr>
            <a:spLocks noGrp="1"/>
          </p:cNvSpPr>
          <p:nvPr/>
        </p:nvSpPr>
        <p:spPr>
          <a:xfrm>
            <a:off x="8601075" y="3657600"/>
            <a:ext cx="27241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46E6B"/>
                </a:solidFill>
              </a:defRPr>
            </a:pPr>
            <a:r>
              <a:rPr sz="1275" b="1">
                <a:solidFill>
                  <a:srgbClr val="146E6B"/>
                </a:solidFill>
              </a:rPr>
              <a:t>Deterministic test evaluation</a:t>
            </a:r>
          </a:p>
        </p:txBody>
      </p:sp>
      <p:sp>
        <p:nvSpPr>
          <p:cNvPr id="38" name="periodic-test-eval-body">
            <a:extLst>
              <a:ext uri="{FF2B5EF4-FFF2-40B4-BE49-F238E27FC236}">
                <a16:creationId xmlns:a16="http://schemas.microsoft.com/office/drawing/2014/main" id="{AE09A607-8045-4C13-A44B-8F259055E568}"/>
              </a:ext>
            </a:extLst>
          </p:cNvPr>
          <p:cNvSpPr>
            <a:spLocks noGrp="1"/>
          </p:cNvSpPr>
          <p:nvPr/>
        </p:nvSpPr>
        <p:spPr>
          <a:xfrm>
            <a:off x="8591550" y="3924300"/>
            <a:ext cx="27432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0">
                <a:solidFill>
                  <a:srgbClr val="566573"/>
                </a:solidFill>
              </a:defRPr>
            </a:pPr>
            <a:r>
              <a:rPr sz="1050" b="0" dirty="0">
                <a:solidFill>
                  <a:srgbClr val="566573"/>
                </a:solidFill>
              </a:rPr>
              <a:t>Greedy actions on a held-out subset during training</a:t>
            </a:r>
          </a:p>
        </p:txBody>
      </p:sp>
      <p:sp>
        <p:nvSpPr>
          <p:cNvPr id="39" name="checkpoint-selection">
            <a:extLst>
              <a:ext uri="{FF2B5EF4-FFF2-40B4-BE49-F238E27FC236}">
                <a16:creationId xmlns:a16="http://schemas.microsoft.com/office/drawing/2014/main" id="{1461F4CD-C0AC-49FE-9344-BF88CC70C5DC}"/>
              </a:ext>
            </a:extLst>
          </p:cNvPr>
          <p:cNvSpPr>
            <a:spLocks noGrp="1"/>
          </p:cNvSpPr>
          <p:nvPr/>
        </p:nvSpPr>
        <p:spPr>
          <a:xfrm>
            <a:off x="8458200" y="4514850"/>
            <a:ext cx="3009900" cy="723900"/>
          </a:xfrm>
          <a:prstGeom prst="roundRect">
            <a:avLst>
              <a:gd name="adj" fmla="val 14474"/>
            </a:avLst>
          </a:prstGeom>
          <a:solidFill>
            <a:srgbClr val="EAF8F7"/>
          </a:solidFill>
          <a:ln w="14288">
            <a:solidFill>
              <a:srgbClr val="49A8A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0" name="checkpoint-selection-title">
            <a:extLst>
              <a:ext uri="{FF2B5EF4-FFF2-40B4-BE49-F238E27FC236}">
                <a16:creationId xmlns:a16="http://schemas.microsoft.com/office/drawing/2014/main" id="{88B47020-B988-4BD6-A74D-3423B6F8AB71}"/>
              </a:ext>
            </a:extLst>
          </p:cNvPr>
          <p:cNvSpPr>
            <a:spLocks noGrp="1"/>
          </p:cNvSpPr>
          <p:nvPr/>
        </p:nvSpPr>
        <p:spPr>
          <a:xfrm>
            <a:off x="8601075" y="4591050"/>
            <a:ext cx="27241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46E6B"/>
                </a:solidFill>
              </a:defRPr>
            </a:pPr>
            <a:r>
              <a:rPr sz="1275" b="1">
                <a:solidFill>
                  <a:srgbClr val="146E6B"/>
                </a:solidFill>
              </a:rPr>
              <a:t>Best checkpoint</a:t>
            </a:r>
          </a:p>
        </p:txBody>
      </p:sp>
      <p:sp>
        <p:nvSpPr>
          <p:cNvPr id="41" name="checkpoint-selection-body">
            <a:extLst>
              <a:ext uri="{FF2B5EF4-FFF2-40B4-BE49-F238E27FC236}">
                <a16:creationId xmlns:a16="http://schemas.microsoft.com/office/drawing/2014/main" id="{BBCBA1A4-94A0-4AA1-8CFE-432F78E912D9}"/>
              </a:ext>
            </a:extLst>
          </p:cNvPr>
          <p:cNvSpPr>
            <a:spLocks noGrp="1"/>
          </p:cNvSpPr>
          <p:nvPr/>
        </p:nvSpPr>
        <p:spPr>
          <a:xfrm>
            <a:off x="8591550" y="4857750"/>
            <a:ext cx="27432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0">
                <a:solidFill>
                  <a:srgbClr val="566573"/>
                </a:solidFill>
              </a:defRPr>
            </a:pPr>
            <a:r>
              <a:rPr sz="1050" b="0" dirty="0">
                <a:solidFill>
                  <a:srgbClr val="566573"/>
                </a:solidFill>
              </a:rPr>
              <a:t>Selected by mean held-out test survival</a:t>
            </a:r>
          </a:p>
        </p:txBody>
      </p:sp>
      <p:sp>
        <p:nvSpPr>
          <p:cNvPr id="42" name="final-test-eval">
            <a:extLst>
              <a:ext uri="{FF2B5EF4-FFF2-40B4-BE49-F238E27FC236}">
                <a16:creationId xmlns:a16="http://schemas.microsoft.com/office/drawing/2014/main" id="{23C95887-D539-4F52-B6DC-E150122F3E47}"/>
              </a:ext>
            </a:extLst>
          </p:cNvPr>
          <p:cNvSpPr>
            <a:spLocks noGrp="1"/>
          </p:cNvSpPr>
          <p:nvPr/>
        </p:nvSpPr>
        <p:spPr>
          <a:xfrm>
            <a:off x="8458200" y="5448300"/>
            <a:ext cx="3009900" cy="723900"/>
          </a:xfrm>
          <a:prstGeom prst="roundRect">
            <a:avLst>
              <a:gd name="adj" fmla="val 14474"/>
            </a:avLst>
          </a:prstGeom>
          <a:solidFill>
            <a:srgbClr val="E4F5F3"/>
          </a:solidFill>
          <a:ln w="14288">
            <a:solidFill>
              <a:srgbClr val="31989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3" name="final-test-eval-title">
            <a:extLst>
              <a:ext uri="{FF2B5EF4-FFF2-40B4-BE49-F238E27FC236}">
                <a16:creationId xmlns:a16="http://schemas.microsoft.com/office/drawing/2014/main" id="{E532AF5C-59C7-4997-91A9-0C05A2868C66}"/>
              </a:ext>
            </a:extLst>
          </p:cNvPr>
          <p:cNvSpPr>
            <a:spLocks noGrp="1"/>
          </p:cNvSpPr>
          <p:nvPr/>
        </p:nvSpPr>
        <p:spPr>
          <a:xfrm>
            <a:off x="8601075" y="5524500"/>
            <a:ext cx="27241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05F5C"/>
                </a:solidFill>
              </a:defRPr>
            </a:pPr>
            <a:r>
              <a:rPr sz="1275" b="1">
                <a:solidFill>
                  <a:srgbClr val="105F5C"/>
                </a:solidFill>
              </a:rPr>
              <a:t>Final full-split evaluation</a:t>
            </a:r>
          </a:p>
        </p:txBody>
      </p:sp>
      <p:sp>
        <p:nvSpPr>
          <p:cNvPr id="44" name="final-test-eval-body">
            <a:extLst>
              <a:ext uri="{FF2B5EF4-FFF2-40B4-BE49-F238E27FC236}">
                <a16:creationId xmlns:a16="http://schemas.microsoft.com/office/drawing/2014/main" id="{51F5B49F-7820-43DA-8A3E-04959BC7B8DE}"/>
              </a:ext>
            </a:extLst>
          </p:cNvPr>
          <p:cNvSpPr>
            <a:spLocks noGrp="1"/>
          </p:cNvSpPr>
          <p:nvPr/>
        </p:nvSpPr>
        <p:spPr>
          <a:xfrm>
            <a:off x="8591550" y="5791200"/>
            <a:ext cx="27432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0">
                <a:solidFill>
                  <a:srgbClr val="566573"/>
                </a:solidFill>
              </a:defRPr>
            </a:pPr>
            <a:r>
              <a:rPr sz="1050" b="0" dirty="0">
                <a:solidFill>
                  <a:srgbClr val="566573"/>
                </a:solidFill>
              </a:rPr>
              <a:t>Every chronic in the complete held-out test split</a:t>
            </a:r>
          </a:p>
        </p:txBody>
      </p:sp>
      <p:cxnSp>
        <p:nvCxnSpPr>
          <p:cNvPr id="96" name="Connecteur en angle 95"/>
          <p:cNvCxnSpPr>
            <a:cxnSpLocks/>
            <a:stCxn id="19" idx="2"/>
            <a:endCxn id="24" idx="0"/>
          </p:cNvCxnSpPr>
          <p:nvPr/>
        </p:nvCxnSpPr>
        <p:spPr>
          <a:xfrm rot="5400000">
            <a:off x="6627019" y="1369219"/>
            <a:ext cx="457200" cy="2100263"/>
          </a:xfrm>
          <a:prstGeom prst="bentConnector3">
            <a:avLst>
              <a:gd name="adj1" fmla="val 50000"/>
            </a:avLst>
          </a:prstGeom>
          <a:ln w="19050">
            <a:solidFill>
              <a:srgbClr val="D6874D"/>
            </a:solidFill>
            <a:prstDash val="solid"/>
            <a:tailEnd type="triangle" w="sm" len="sm"/>
          </a:ln>
        </p:spPr>
      </p:cxnSp>
      <p:cxnSp>
        <p:nvCxnSpPr>
          <p:cNvPr id="97" name="Connecteur en angle 96"/>
          <p:cNvCxnSpPr>
            <a:stCxn id="19" idx="2"/>
            <a:endCxn id="33" idx="0"/>
          </p:cNvCxnSpPr>
          <p:nvPr/>
        </p:nvCxnSpPr>
        <p:spPr>
          <a:xfrm>
            <a:off x="7905750" y="2190750"/>
            <a:ext cx="2057400" cy="4572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88F8B"/>
            </a:solidFill>
            <a:prstDash val="solid"/>
            <a:tailEnd type="triangle" w="sm" len="sm"/>
          </a:ln>
        </p:spPr>
      </p:cxnSp>
      <p:cxnSp>
        <p:nvCxnSpPr>
          <p:cNvPr id="98" name="Connecteur droit avec flèche 97"/>
          <p:cNvCxnSpPr>
            <a:cxnSpLocks/>
            <a:stCxn id="24" idx="2"/>
            <a:endCxn id="27" idx="0"/>
          </p:cNvCxnSpPr>
          <p:nvPr/>
        </p:nvCxnSpPr>
        <p:spPr>
          <a:xfrm flipH="1">
            <a:off x="5805485" y="3371850"/>
            <a:ext cx="2" cy="193902"/>
          </a:xfrm>
          <a:prstGeom prst="straightConnector1">
            <a:avLst/>
          </a:prstGeom>
          <a:ln w="19050">
            <a:solidFill>
              <a:srgbClr val="D6874D"/>
            </a:solidFill>
            <a:prstDash val="solid"/>
            <a:tailEnd type="triangle" w="sm" len="sm"/>
          </a:ln>
        </p:spPr>
      </p:cxnSp>
      <p:cxnSp>
        <p:nvCxnSpPr>
          <p:cNvPr id="100" name="Connecteur droit avec flèche 99"/>
          <p:cNvCxnSpPr>
            <a:stCxn id="33" idx="2"/>
            <a:endCxn id="36" idx="0"/>
          </p:cNvCxnSpPr>
          <p:nvPr/>
        </p:nvCxnSpPr>
        <p:spPr>
          <a:xfrm>
            <a:off x="9963150" y="3371850"/>
            <a:ext cx="0" cy="209550"/>
          </a:xfrm>
          <a:prstGeom prst="straightConnector1">
            <a:avLst/>
          </a:prstGeom>
          <a:ln w="19050">
            <a:solidFill>
              <a:srgbClr val="288F8B"/>
            </a:solidFill>
            <a:prstDash val="solid"/>
            <a:tailEnd type="triangle" w="sm" len="sm"/>
          </a:ln>
        </p:spPr>
      </p:cxnSp>
      <p:cxnSp>
        <p:nvCxnSpPr>
          <p:cNvPr id="101" name="Connecteur droit avec flèche 100"/>
          <p:cNvCxnSpPr>
            <a:stCxn id="36" idx="2"/>
            <a:endCxn id="39" idx="0"/>
          </p:cNvCxnSpPr>
          <p:nvPr/>
        </p:nvCxnSpPr>
        <p:spPr>
          <a:xfrm>
            <a:off x="9963150" y="4305300"/>
            <a:ext cx="0" cy="209550"/>
          </a:xfrm>
          <a:prstGeom prst="straightConnector1">
            <a:avLst/>
          </a:prstGeom>
          <a:ln w="19050">
            <a:solidFill>
              <a:srgbClr val="288F8B"/>
            </a:solidFill>
            <a:prstDash val="solid"/>
            <a:tailEnd type="triangle" w="sm" len="sm"/>
          </a:ln>
        </p:spPr>
      </p:cxnSp>
      <p:cxnSp>
        <p:nvCxnSpPr>
          <p:cNvPr id="102" name="Connecteur droit avec flèche 101"/>
          <p:cNvCxnSpPr>
            <a:stCxn id="39" idx="2"/>
            <a:endCxn id="42" idx="0"/>
          </p:cNvCxnSpPr>
          <p:nvPr/>
        </p:nvCxnSpPr>
        <p:spPr>
          <a:xfrm>
            <a:off x="9963150" y="5238750"/>
            <a:ext cx="0" cy="209550"/>
          </a:xfrm>
          <a:prstGeom prst="straightConnector1">
            <a:avLst/>
          </a:prstGeom>
          <a:ln w="19050">
            <a:solidFill>
              <a:srgbClr val="288F8B"/>
            </a:solidFill>
            <a:prstDash val="solid"/>
            <a:tailEnd type="triangle" w="sm" len="sm"/>
          </a:ln>
        </p:spPr>
      </p:cxnSp>
      <p:sp>
        <p:nvSpPr>
          <p:cNvPr id="57" name="train-diagnostic">
            <a:extLst>
              <a:ext uri="{FF2B5EF4-FFF2-40B4-BE49-F238E27FC236}">
                <a16:creationId xmlns:a16="http://schemas.microsoft.com/office/drawing/2014/main" id="{B24D8209-3BB5-C35D-D74C-68A9AD3585DD}"/>
              </a:ext>
            </a:extLst>
          </p:cNvPr>
          <p:cNvSpPr>
            <a:spLocks noGrp="1"/>
          </p:cNvSpPr>
          <p:nvPr/>
        </p:nvSpPr>
        <p:spPr>
          <a:xfrm>
            <a:off x="4343398" y="4486275"/>
            <a:ext cx="2924169" cy="723900"/>
          </a:xfrm>
          <a:prstGeom prst="roundRect">
            <a:avLst>
              <a:gd name="adj" fmla="val 13415"/>
            </a:avLst>
          </a:prstGeom>
          <a:solidFill>
            <a:srgbClr val="FFF9F4"/>
          </a:solidFill>
          <a:ln w="14288">
            <a:solidFill>
              <a:srgbClr val="EAB28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58" name="train-diagnostic-title">
            <a:extLst>
              <a:ext uri="{FF2B5EF4-FFF2-40B4-BE49-F238E27FC236}">
                <a16:creationId xmlns:a16="http://schemas.microsoft.com/office/drawing/2014/main" id="{837F99A7-C218-3882-935D-26378FFD742B}"/>
              </a:ext>
            </a:extLst>
          </p:cNvPr>
          <p:cNvSpPr>
            <a:spLocks noGrp="1"/>
          </p:cNvSpPr>
          <p:nvPr/>
        </p:nvSpPr>
        <p:spPr>
          <a:xfrm>
            <a:off x="4486274" y="453390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A75A24"/>
                </a:solidFill>
              </a:defRPr>
            </a:pPr>
            <a:r>
              <a:rPr lang="fr-CH" sz="1275" b="1" dirty="0">
                <a:solidFill>
                  <a:srgbClr val="A75A24"/>
                </a:solidFill>
              </a:rPr>
              <a:t>Best checkpoint</a:t>
            </a:r>
            <a:endParaRPr sz="1275" b="1" dirty="0">
              <a:solidFill>
                <a:srgbClr val="A75A24"/>
              </a:solidFill>
            </a:endParaRPr>
          </a:p>
        </p:txBody>
      </p:sp>
      <p:sp>
        <p:nvSpPr>
          <p:cNvPr id="59" name="train-diagnostic-body">
            <a:extLst>
              <a:ext uri="{FF2B5EF4-FFF2-40B4-BE49-F238E27FC236}">
                <a16:creationId xmlns:a16="http://schemas.microsoft.com/office/drawing/2014/main" id="{32F5CBD6-EA99-2E14-D929-0F62BA23E5EF}"/>
              </a:ext>
            </a:extLst>
          </p:cNvPr>
          <p:cNvSpPr>
            <a:spLocks noGrp="1"/>
          </p:cNvSpPr>
          <p:nvPr/>
        </p:nvSpPr>
        <p:spPr>
          <a:xfrm>
            <a:off x="4476748" y="4800600"/>
            <a:ext cx="2438401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0">
                <a:solidFill>
                  <a:srgbClr val="566573"/>
                </a:solidFill>
              </a:defRPr>
            </a:pPr>
            <a:r>
              <a:rPr lang="fr-CH" sz="1050" dirty="0" err="1">
                <a:solidFill>
                  <a:srgbClr val="566573"/>
                </a:solidFill>
              </a:rPr>
              <a:t>Selected</a:t>
            </a:r>
            <a:r>
              <a:rPr lang="fr-CH" sz="1050" dirty="0">
                <a:solidFill>
                  <a:srgbClr val="566573"/>
                </a:solidFill>
              </a:rPr>
              <a:t> by </a:t>
            </a:r>
            <a:r>
              <a:rPr lang="fr-CH" sz="1050" dirty="0" err="1">
                <a:solidFill>
                  <a:srgbClr val="566573"/>
                </a:solidFill>
              </a:rPr>
              <a:t>mean</a:t>
            </a:r>
            <a:r>
              <a:rPr lang="fr-CH" sz="1050" dirty="0">
                <a:solidFill>
                  <a:srgbClr val="566573"/>
                </a:solidFill>
              </a:rPr>
              <a:t> </a:t>
            </a:r>
            <a:r>
              <a:rPr lang="fr-CH" sz="1050" dirty="0" err="1">
                <a:solidFill>
                  <a:srgbClr val="566573"/>
                </a:solidFill>
              </a:rPr>
              <a:t>held</a:t>
            </a:r>
            <a:r>
              <a:rPr lang="fr-CH" sz="1050" dirty="0">
                <a:solidFill>
                  <a:srgbClr val="566573"/>
                </a:solidFill>
              </a:rPr>
              <a:t>-out test </a:t>
            </a:r>
            <a:r>
              <a:rPr lang="fr-CH" sz="1050" dirty="0" err="1">
                <a:solidFill>
                  <a:srgbClr val="566573"/>
                </a:solidFill>
              </a:rPr>
              <a:t>survival</a:t>
            </a:r>
            <a:endParaRPr lang="fr-CH" sz="1050" dirty="0">
              <a:solidFill>
                <a:srgbClr val="566573"/>
              </a:solidFill>
            </a:endParaRPr>
          </a:p>
        </p:txBody>
      </p:sp>
      <p:cxnSp>
        <p:nvCxnSpPr>
          <p:cNvPr id="68" name="Connecteur droit avec flèche 67">
            <a:extLst>
              <a:ext uri="{FF2B5EF4-FFF2-40B4-BE49-F238E27FC236}">
                <a16:creationId xmlns:a16="http://schemas.microsoft.com/office/drawing/2014/main" id="{03CB8A15-4E7D-91CB-7EA5-D6A82146BA1E}"/>
              </a:ext>
            </a:extLst>
          </p:cNvPr>
          <p:cNvCxnSpPr>
            <a:cxnSpLocks/>
            <a:stCxn id="27" idx="2"/>
            <a:endCxn id="57" idx="0"/>
          </p:cNvCxnSpPr>
          <p:nvPr/>
        </p:nvCxnSpPr>
        <p:spPr>
          <a:xfrm flipH="1">
            <a:off x="5805483" y="4286250"/>
            <a:ext cx="2" cy="200025"/>
          </a:xfrm>
          <a:prstGeom prst="straightConnector1">
            <a:avLst/>
          </a:prstGeom>
          <a:ln w="19050">
            <a:solidFill>
              <a:srgbClr val="D6874D"/>
            </a:solidFill>
            <a:prstDash val="solid"/>
            <a:tailEnd type="triangle" w="sm" len="sm"/>
          </a:ln>
        </p:spPr>
      </p:cxn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B9FDFFE7-3E74-D69A-B660-34FBD02BA032}"/>
              </a:ext>
            </a:extLst>
          </p:cNvPr>
          <p:cNvCxnSpPr>
            <a:cxnSpLocks/>
            <a:stCxn id="57" idx="2"/>
            <a:endCxn id="30" idx="0"/>
          </p:cNvCxnSpPr>
          <p:nvPr/>
        </p:nvCxnSpPr>
        <p:spPr>
          <a:xfrm flipH="1">
            <a:off x="5805479" y="5210175"/>
            <a:ext cx="4" cy="197303"/>
          </a:xfrm>
          <a:prstGeom prst="straightConnector1">
            <a:avLst/>
          </a:prstGeom>
          <a:ln w="19050">
            <a:solidFill>
              <a:srgbClr val="D6874D"/>
            </a:solidFill>
            <a:prstDash val="solid"/>
            <a:tailEnd type="triangle" w="sm" len="sm"/>
          </a:ln>
        </p:spPr>
      </p:cxnSp>
      <p:cxnSp>
        <p:nvCxnSpPr>
          <p:cNvPr id="77" name="Connecteur droit avec flèche 76">
            <a:extLst>
              <a:ext uri="{FF2B5EF4-FFF2-40B4-BE49-F238E27FC236}">
                <a16:creationId xmlns:a16="http://schemas.microsoft.com/office/drawing/2014/main" id="{E40A637B-7AEE-89BF-5672-4AD05F595187}"/>
              </a:ext>
            </a:extLst>
          </p:cNvPr>
          <p:cNvCxnSpPr>
            <a:cxnSpLocks/>
          </p:cNvCxnSpPr>
          <p:nvPr/>
        </p:nvCxnSpPr>
        <p:spPr>
          <a:xfrm flipH="1">
            <a:off x="5957885" y="3524250"/>
            <a:ext cx="2" cy="193902"/>
          </a:xfrm>
          <a:prstGeom prst="straightConnector1">
            <a:avLst/>
          </a:prstGeom>
          <a:ln w="19050">
            <a:solidFill>
              <a:srgbClr val="D6874D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988613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C147D-AC34-0B9C-3C4B-3A29ACFA6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2-title">
            <a:extLst>
              <a:ext uri="{FF2B5EF4-FFF2-40B4-BE49-F238E27FC236}">
                <a16:creationId xmlns:a16="http://schemas.microsoft.com/office/drawing/2014/main" id="{20724550-02F4-D3F9-F60C-40B6250D5B7F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111820"/>
                </a:solidFill>
              </a:defRPr>
            </a:pPr>
            <a:r>
              <a:rPr sz="2250" b="1">
                <a:solidFill>
                  <a:srgbClr val="111820"/>
                </a:solidFill>
              </a:rPr>
              <a:t>A fixed chronic split separates policy learning from model selection</a:t>
            </a:r>
          </a:p>
        </p:txBody>
      </p:sp>
      <p:sp>
        <p:nvSpPr>
          <p:cNvPr id="2" name="slide2-subtitle">
            <a:extLst>
              <a:ext uri="{FF2B5EF4-FFF2-40B4-BE49-F238E27FC236}">
                <a16:creationId xmlns:a16="http://schemas.microsoft.com/office/drawing/2014/main" id="{3FA4356A-7D51-1C19-641F-1993DCC1831A}"/>
              </a:ext>
            </a:extLst>
          </p:cNvPr>
          <p:cNvSpPr>
            <a:spLocks noGrp="1"/>
          </p:cNvSpPr>
          <p:nvPr/>
        </p:nvSpPr>
        <p:spPr>
          <a:xfrm>
            <a:off x="476250" y="752475"/>
            <a:ext cx="971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5A6875"/>
                </a:solidFill>
              </a:defRPr>
            </a:pPr>
            <a:r>
              <a:rPr sz="1125" b="0">
                <a:solidFill>
                  <a:srgbClr val="5A6875"/>
                </a:solidFill>
              </a:rPr>
              <a:t>Agents act every five simulated minutes; held-out chronics never enter MAPPO training</a:t>
            </a:r>
          </a:p>
        </p:txBody>
      </p:sp>
      <p:sp>
        <p:nvSpPr>
          <p:cNvPr id="3" name="action-space-band">
            <a:extLst>
              <a:ext uri="{FF2B5EF4-FFF2-40B4-BE49-F238E27FC236}">
                <a16:creationId xmlns:a16="http://schemas.microsoft.com/office/drawing/2014/main" id="{AE21469C-75BA-D0C5-81F5-3C740356FAFA}"/>
              </a:ext>
            </a:extLst>
          </p:cNvPr>
          <p:cNvSpPr>
            <a:spLocks noGrp="1"/>
          </p:cNvSpPr>
          <p:nvPr/>
        </p:nvSpPr>
        <p:spPr>
          <a:xfrm>
            <a:off x="304800" y="1143000"/>
            <a:ext cx="3448050" cy="5219700"/>
          </a:xfrm>
          <a:prstGeom prst="roundRect">
            <a:avLst>
              <a:gd name="adj" fmla="val 3867"/>
            </a:avLst>
          </a:prstGeom>
          <a:solidFill>
            <a:srgbClr val="F7FAFD"/>
          </a:solidFill>
          <a:ln w="9525">
            <a:solidFill>
              <a:srgbClr val="D7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chronic-split-band">
            <a:extLst>
              <a:ext uri="{FF2B5EF4-FFF2-40B4-BE49-F238E27FC236}">
                <a16:creationId xmlns:a16="http://schemas.microsoft.com/office/drawing/2014/main" id="{9A247575-4EEE-89B9-0092-D7089FF85C68}"/>
              </a:ext>
            </a:extLst>
          </p:cNvPr>
          <p:cNvSpPr>
            <a:spLocks noGrp="1"/>
          </p:cNvSpPr>
          <p:nvPr/>
        </p:nvSpPr>
        <p:spPr>
          <a:xfrm>
            <a:off x="3943350" y="1143000"/>
            <a:ext cx="7943850" cy="5219700"/>
          </a:xfrm>
          <a:prstGeom prst="roundRect">
            <a:avLst>
              <a:gd name="adj" fmla="val 2555"/>
            </a:avLst>
          </a:prstGeom>
          <a:solidFill>
            <a:srgbClr val="FCFCFB"/>
          </a:solidFill>
          <a:ln w="9525">
            <a:solidFill>
              <a:srgbClr val="E3E5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action-space-label">
            <a:extLst>
              <a:ext uri="{FF2B5EF4-FFF2-40B4-BE49-F238E27FC236}">
                <a16:creationId xmlns:a16="http://schemas.microsoft.com/office/drawing/2014/main" id="{CC9218BB-F85F-F385-2DB1-AD365784A354}"/>
              </a:ext>
            </a:extLst>
          </p:cNvPr>
          <p:cNvSpPr>
            <a:spLocks noGrp="1"/>
          </p:cNvSpPr>
          <p:nvPr/>
        </p:nvSpPr>
        <p:spPr>
          <a:xfrm>
            <a:off x="495300" y="1266825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B6F9C"/>
                </a:solidFill>
              </a:defRPr>
            </a:pPr>
            <a:r>
              <a:rPr sz="975" b="1">
                <a:solidFill>
                  <a:srgbClr val="2B6F9C"/>
                </a:solidFill>
              </a:rPr>
              <a:t>TOPOLOGY ACTION SPACE</a:t>
            </a:r>
          </a:p>
        </p:txBody>
      </p:sp>
      <p:sp>
        <p:nvSpPr>
          <p:cNvPr id="6" name="action-space-heading">
            <a:extLst>
              <a:ext uri="{FF2B5EF4-FFF2-40B4-BE49-F238E27FC236}">
                <a16:creationId xmlns:a16="http://schemas.microsoft.com/office/drawing/2014/main" id="{3A695EC9-5E37-2E42-59B8-77A0FC0BA830}"/>
              </a:ext>
            </a:extLst>
          </p:cNvPr>
          <p:cNvSpPr>
            <a:spLocks noGrp="1"/>
          </p:cNvSpPr>
          <p:nvPr/>
        </p:nvSpPr>
        <p:spPr>
          <a:xfrm>
            <a:off x="495300" y="1581150"/>
            <a:ext cx="2914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72735"/>
                </a:solidFill>
              </a:defRPr>
            </a:pPr>
            <a:r>
              <a:rPr sz="1725" b="1" dirty="0">
                <a:solidFill>
                  <a:srgbClr val="172735"/>
                </a:solidFill>
              </a:rPr>
              <a:t>Each agent selects one local action</a:t>
            </a:r>
          </a:p>
        </p:txBody>
      </p:sp>
      <p:sp>
        <p:nvSpPr>
          <p:cNvPr id="7" name="action-space-caption">
            <a:extLst>
              <a:ext uri="{FF2B5EF4-FFF2-40B4-BE49-F238E27FC236}">
                <a16:creationId xmlns:a16="http://schemas.microsoft.com/office/drawing/2014/main" id="{163D0C0C-A35E-8B85-C73F-A0AD144DC2BB}"/>
              </a:ext>
            </a:extLst>
          </p:cNvPr>
          <p:cNvSpPr>
            <a:spLocks noGrp="1"/>
          </p:cNvSpPr>
          <p:nvPr/>
        </p:nvSpPr>
        <p:spPr>
          <a:xfrm>
            <a:off x="495300" y="2221988"/>
            <a:ext cx="2876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607080"/>
                </a:solidFill>
              </a:defRPr>
            </a:pPr>
            <a:r>
              <a:rPr sz="1050" b="0" dirty="0">
                <a:solidFill>
                  <a:srgbClr val="607080"/>
                </a:solidFill>
              </a:rPr>
              <a:t>The four agents’ selections are combined into one joint grid-control decision.</a:t>
            </a:r>
          </a:p>
        </p:txBody>
      </p:sp>
      <p:sp>
        <p:nvSpPr>
          <p:cNvPr id="17" name="decision-cadence">
            <a:extLst>
              <a:ext uri="{FF2B5EF4-FFF2-40B4-BE49-F238E27FC236}">
                <a16:creationId xmlns:a16="http://schemas.microsoft.com/office/drawing/2014/main" id="{9AF1DE38-92EF-06BB-CB1B-34D0F3CA605F}"/>
              </a:ext>
            </a:extLst>
          </p:cNvPr>
          <p:cNvSpPr>
            <a:spLocks noGrp="1"/>
          </p:cNvSpPr>
          <p:nvPr/>
        </p:nvSpPr>
        <p:spPr>
          <a:xfrm>
            <a:off x="495300" y="5524500"/>
            <a:ext cx="2914650" cy="590550"/>
          </a:xfrm>
          <a:prstGeom prst="roundRect">
            <a:avLst>
              <a:gd name="adj" fmla="val 16129"/>
            </a:avLst>
          </a:prstGeom>
          <a:solidFill>
            <a:srgbClr val="EAF3FA"/>
          </a:solidFill>
          <a:ln w="9525">
            <a:solidFill>
              <a:srgbClr val="91B4CA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85F7F"/>
                </a:solidFill>
              </a:defRPr>
            </a:pPr>
            <a:r>
              <a:rPr sz="1125" b="1">
                <a:solidFill>
                  <a:srgbClr val="285F7F"/>
                </a:solidFill>
              </a:rPr>
              <a:t>Every 5 minutes  ·  shared grid-level reward</a:t>
            </a:r>
          </a:p>
        </p:txBody>
      </p:sp>
      <p:sp>
        <p:nvSpPr>
          <p:cNvPr id="18" name="chronic-split-label">
            <a:extLst>
              <a:ext uri="{FF2B5EF4-FFF2-40B4-BE49-F238E27FC236}">
                <a16:creationId xmlns:a16="http://schemas.microsoft.com/office/drawing/2014/main" id="{EB4DAB9E-6879-5F70-9A60-F58300B1638C}"/>
              </a:ext>
            </a:extLst>
          </p:cNvPr>
          <p:cNvSpPr>
            <a:spLocks noGrp="1"/>
          </p:cNvSpPr>
          <p:nvPr/>
        </p:nvSpPr>
        <p:spPr>
          <a:xfrm>
            <a:off x="4143375" y="12668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4F5F6A"/>
                </a:solidFill>
              </a:defRPr>
            </a:pPr>
            <a:r>
              <a:rPr sz="975" b="1">
                <a:solidFill>
                  <a:srgbClr val="4F5F6A"/>
                </a:solidFill>
              </a:rPr>
              <a:t>CHRONIC SPLIT &amp; EVALUATION</a:t>
            </a:r>
          </a:p>
        </p:txBody>
      </p:sp>
      <p:sp>
        <p:nvSpPr>
          <p:cNvPr id="19" name="available-chronics">
            <a:extLst>
              <a:ext uri="{FF2B5EF4-FFF2-40B4-BE49-F238E27FC236}">
                <a16:creationId xmlns:a16="http://schemas.microsoft.com/office/drawing/2014/main" id="{EE2B0825-7645-FD4D-165B-8275E8961F34}"/>
              </a:ext>
            </a:extLst>
          </p:cNvPr>
          <p:cNvSpPr>
            <a:spLocks noGrp="1"/>
          </p:cNvSpPr>
          <p:nvPr/>
        </p:nvSpPr>
        <p:spPr>
          <a:xfrm>
            <a:off x="6429375" y="1504950"/>
            <a:ext cx="2952750" cy="685800"/>
          </a:xfrm>
          <a:prstGeom prst="roundRect">
            <a:avLst>
              <a:gd name="adj" fmla="val 15278"/>
            </a:avLst>
          </a:prstGeom>
          <a:solidFill>
            <a:srgbClr val="F4F6F7"/>
          </a:solidFill>
          <a:ln w="14288">
            <a:solidFill>
              <a:srgbClr val="9CA8A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0" name="available-chronics-title">
            <a:extLst>
              <a:ext uri="{FF2B5EF4-FFF2-40B4-BE49-F238E27FC236}">
                <a16:creationId xmlns:a16="http://schemas.microsoft.com/office/drawing/2014/main" id="{62269A73-C426-51C7-4571-9D0FF89C89AD}"/>
              </a:ext>
            </a:extLst>
          </p:cNvPr>
          <p:cNvSpPr>
            <a:spLocks noGrp="1"/>
          </p:cNvSpPr>
          <p:nvPr/>
        </p:nvSpPr>
        <p:spPr>
          <a:xfrm>
            <a:off x="6572250" y="1581150"/>
            <a:ext cx="2667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63641"/>
                </a:solidFill>
              </a:defRPr>
            </a:pPr>
            <a:r>
              <a:rPr sz="1275" b="1">
                <a:solidFill>
                  <a:srgbClr val="263641"/>
                </a:solidFill>
              </a:rPr>
              <a:t>Available chronics</a:t>
            </a:r>
          </a:p>
        </p:txBody>
      </p:sp>
      <p:sp>
        <p:nvSpPr>
          <p:cNvPr id="21" name="available-chronics-body">
            <a:extLst>
              <a:ext uri="{FF2B5EF4-FFF2-40B4-BE49-F238E27FC236}">
                <a16:creationId xmlns:a16="http://schemas.microsoft.com/office/drawing/2014/main" id="{18DC8A56-42DA-837D-0035-30F4D03681C2}"/>
              </a:ext>
            </a:extLst>
          </p:cNvPr>
          <p:cNvSpPr>
            <a:spLocks noGrp="1"/>
          </p:cNvSpPr>
          <p:nvPr/>
        </p:nvSpPr>
        <p:spPr>
          <a:xfrm>
            <a:off x="6562725" y="1847850"/>
            <a:ext cx="26860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0">
                <a:solidFill>
                  <a:srgbClr val="566573"/>
                </a:solidFill>
              </a:defRPr>
            </a:pPr>
            <a:r>
              <a:rPr sz="900" b="0">
                <a:solidFill>
                  <a:srgbClr val="566573"/>
                </a:solidFill>
              </a:rPr>
              <a:t>fixed shuffle · split seed 0</a:t>
            </a:r>
          </a:p>
        </p:txBody>
      </p:sp>
      <p:sp>
        <p:nvSpPr>
          <p:cNvPr id="22" name="train-column-label">
            <a:extLst>
              <a:ext uri="{FF2B5EF4-FFF2-40B4-BE49-F238E27FC236}">
                <a16:creationId xmlns:a16="http://schemas.microsoft.com/office/drawing/2014/main" id="{535A2B02-95B5-A412-18B7-13C413CF112E}"/>
              </a:ext>
            </a:extLst>
          </p:cNvPr>
          <p:cNvSpPr>
            <a:spLocks noGrp="1"/>
          </p:cNvSpPr>
          <p:nvPr/>
        </p:nvSpPr>
        <p:spPr>
          <a:xfrm>
            <a:off x="4543426" y="2426329"/>
            <a:ext cx="13049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BA6B2E"/>
                </a:solidFill>
              </a:defRPr>
            </a:pPr>
            <a:r>
              <a:rPr sz="900" b="1" dirty="0">
                <a:solidFill>
                  <a:srgbClr val="BA6B2E"/>
                </a:solidFill>
              </a:rPr>
              <a:t>LEARNING</a:t>
            </a:r>
          </a:p>
        </p:txBody>
      </p:sp>
      <p:sp>
        <p:nvSpPr>
          <p:cNvPr id="23" name="test-column-label">
            <a:extLst>
              <a:ext uri="{FF2B5EF4-FFF2-40B4-BE49-F238E27FC236}">
                <a16:creationId xmlns:a16="http://schemas.microsoft.com/office/drawing/2014/main" id="{BF93739C-0495-4623-8427-7B52F08DA1B0}"/>
              </a:ext>
            </a:extLst>
          </p:cNvPr>
          <p:cNvSpPr>
            <a:spLocks noGrp="1"/>
          </p:cNvSpPr>
          <p:nvPr/>
        </p:nvSpPr>
        <p:spPr>
          <a:xfrm>
            <a:off x="9963150" y="2405063"/>
            <a:ext cx="1543050" cy="2524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16837F"/>
                </a:solidFill>
              </a:defRPr>
            </a:pPr>
            <a:r>
              <a:rPr lang="fr-CH" sz="900" b="1" dirty="0">
                <a:solidFill>
                  <a:srgbClr val="16837F"/>
                </a:solidFill>
              </a:rPr>
              <a:t>MODEL TESTING</a:t>
            </a:r>
            <a:endParaRPr sz="900" b="1" dirty="0">
              <a:solidFill>
                <a:srgbClr val="16837F"/>
              </a:solidFill>
            </a:endParaRPr>
          </a:p>
        </p:txBody>
      </p:sp>
      <p:sp>
        <p:nvSpPr>
          <p:cNvPr id="24" name="train-split">
            <a:extLst>
              <a:ext uri="{FF2B5EF4-FFF2-40B4-BE49-F238E27FC236}">
                <a16:creationId xmlns:a16="http://schemas.microsoft.com/office/drawing/2014/main" id="{3C50CB18-3F45-E5EB-A026-12522D2F6741}"/>
              </a:ext>
            </a:extLst>
          </p:cNvPr>
          <p:cNvSpPr>
            <a:spLocks noGrp="1"/>
          </p:cNvSpPr>
          <p:nvPr/>
        </p:nvSpPr>
        <p:spPr>
          <a:xfrm>
            <a:off x="4343399" y="2647950"/>
            <a:ext cx="2924176" cy="723900"/>
          </a:xfrm>
          <a:prstGeom prst="roundRect">
            <a:avLst>
              <a:gd name="adj" fmla="val 14474"/>
            </a:avLst>
          </a:prstGeom>
          <a:solidFill>
            <a:srgbClr val="FFF2E8"/>
          </a:solidFill>
          <a:ln w="14288">
            <a:solidFill>
              <a:srgbClr val="E9A16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5" name="train-split-title">
            <a:extLst>
              <a:ext uri="{FF2B5EF4-FFF2-40B4-BE49-F238E27FC236}">
                <a16:creationId xmlns:a16="http://schemas.microsoft.com/office/drawing/2014/main" id="{04224B1C-D246-C470-CA83-FC539564ECCD}"/>
              </a:ext>
            </a:extLst>
          </p:cNvPr>
          <p:cNvSpPr>
            <a:spLocks noGrp="1"/>
          </p:cNvSpPr>
          <p:nvPr/>
        </p:nvSpPr>
        <p:spPr>
          <a:xfrm>
            <a:off x="4486274" y="2724150"/>
            <a:ext cx="2609843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A75A24"/>
                </a:solidFill>
              </a:defRPr>
            </a:pPr>
            <a:r>
              <a:rPr sz="1275" b="1" dirty="0">
                <a:solidFill>
                  <a:srgbClr val="A75A24"/>
                </a:solidFill>
              </a:rPr>
              <a:t>80% training </a:t>
            </a:r>
            <a:r>
              <a:rPr sz="1275" b="1" dirty="0" err="1">
                <a:solidFill>
                  <a:srgbClr val="A75A24"/>
                </a:solidFill>
              </a:rPr>
              <a:t>chronics</a:t>
            </a:r>
            <a:endParaRPr sz="1275" b="1" dirty="0">
              <a:solidFill>
                <a:srgbClr val="A75A24"/>
              </a:solidFill>
            </a:endParaRPr>
          </a:p>
        </p:txBody>
      </p:sp>
      <p:sp>
        <p:nvSpPr>
          <p:cNvPr id="26" name="train-split-body">
            <a:extLst>
              <a:ext uri="{FF2B5EF4-FFF2-40B4-BE49-F238E27FC236}">
                <a16:creationId xmlns:a16="http://schemas.microsoft.com/office/drawing/2014/main" id="{5BD3F109-5186-1D63-4C46-32C1F845A662}"/>
              </a:ext>
            </a:extLst>
          </p:cNvPr>
          <p:cNvSpPr>
            <a:spLocks noGrp="1"/>
          </p:cNvSpPr>
          <p:nvPr/>
        </p:nvSpPr>
        <p:spPr>
          <a:xfrm>
            <a:off x="4476749" y="2990850"/>
            <a:ext cx="2619369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0">
                <a:solidFill>
                  <a:srgbClr val="566573"/>
                </a:solidFill>
              </a:defRPr>
            </a:pPr>
            <a:r>
              <a:rPr sz="1050" b="0" dirty="0">
                <a:solidFill>
                  <a:srgbClr val="566573"/>
                </a:solidFill>
              </a:rPr>
              <a:t>Only these </a:t>
            </a:r>
            <a:r>
              <a:rPr sz="1050" b="0" dirty="0" err="1">
                <a:solidFill>
                  <a:srgbClr val="566573"/>
                </a:solidFill>
              </a:rPr>
              <a:t>chronics</a:t>
            </a:r>
            <a:r>
              <a:rPr sz="1050" b="0" dirty="0">
                <a:solidFill>
                  <a:srgbClr val="566573"/>
                </a:solidFill>
              </a:rPr>
              <a:t> generate policy updates</a:t>
            </a:r>
          </a:p>
        </p:txBody>
      </p:sp>
      <p:sp>
        <p:nvSpPr>
          <p:cNvPr id="27" name="mappo-learning">
            <a:extLst>
              <a:ext uri="{FF2B5EF4-FFF2-40B4-BE49-F238E27FC236}">
                <a16:creationId xmlns:a16="http://schemas.microsoft.com/office/drawing/2014/main" id="{406CD1C0-CAE2-00F3-0502-0DB2D51801EA}"/>
              </a:ext>
            </a:extLst>
          </p:cNvPr>
          <p:cNvSpPr>
            <a:spLocks noGrp="1"/>
          </p:cNvSpPr>
          <p:nvPr/>
        </p:nvSpPr>
        <p:spPr>
          <a:xfrm>
            <a:off x="4343399" y="3565752"/>
            <a:ext cx="2924171" cy="720498"/>
          </a:xfrm>
          <a:prstGeom prst="roundRect">
            <a:avLst>
              <a:gd name="adj" fmla="val 13415"/>
            </a:avLst>
          </a:prstGeom>
          <a:solidFill>
            <a:srgbClr val="FFF5ED"/>
          </a:solidFill>
          <a:ln w="14288">
            <a:solidFill>
              <a:srgbClr val="E9A16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8" name="mappo-learning-title">
            <a:extLst>
              <a:ext uri="{FF2B5EF4-FFF2-40B4-BE49-F238E27FC236}">
                <a16:creationId xmlns:a16="http://schemas.microsoft.com/office/drawing/2014/main" id="{B663BF2C-4BEB-916B-B39C-6E551E43C6F8}"/>
              </a:ext>
            </a:extLst>
          </p:cNvPr>
          <p:cNvSpPr>
            <a:spLocks noGrp="1"/>
          </p:cNvSpPr>
          <p:nvPr/>
        </p:nvSpPr>
        <p:spPr>
          <a:xfrm>
            <a:off x="4486275" y="3641952"/>
            <a:ext cx="2619346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A75A24"/>
                </a:solidFill>
              </a:defRPr>
            </a:pPr>
            <a:r>
              <a:rPr sz="1275" b="1" dirty="0">
                <a:solidFill>
                  <a:srgbClr val="A75A24"/>
                </a:solidFill>
              </a:rPr>
              <a:t>MAPPO rollouts &amp; updates</a:t>
            </a:r>
          </a:p>
        </p:txBody>
      </p:sp>
      <p:sp>
        <p:nvSpPr>
          <p:cNvPr id="29" name="mappo-learning-body">
            <a:extLst>
              <a:ext uri="{FF2B5EF4-FFF2-40B4-BE49-F238E27FC236}">
                <a16:creationId xmlns:a16="http://schemas.microsoft.com/office/drawing/2014/main" id="{C0FAB50F-718D-09E0-1858-91D0DD8304CE}"/>
              </a:ext>
            </a:extLst>
          </p:cNvPr>
          <p:cNvSpPr>
            <a:spLocks noGrp="1"/>
          </p:cNvSpPr>
          <p:nvPr/>
        </p:nvSpPr>
        <p:spPr>
          <a:xfrm>
            <a:off x="4476749" y="3908652"/>
            <a:ext cx="2619369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0">
                <a:solidFill>
                  <a:srgbClr val="566573"/>
                </a:solidFill>
              </a:defRPr>
            </a:pPr>
            <a:r>
              <a:rPr sz="1050" b="0" dirty="0">
                <a:solidFill>
                  <a:srgbClr val="566573"/>
                </a:solidFill>
              </a:rPr>
              <a:t>72</a:t>
            </a:r>
            <a:r>
              <a:rPr lang="fr-CH" sz="1050" b="0" dirty="0">
                <a:solidFill>
                  <a:srgbClr val="566573"/>
                </a:solidFill>
              </a:rPr>
              <a:t> or 20</a:t>
            </a:r>
            <a:r>
              <a:rPr sz="1050" b="0" dirty="0">
                <a:solidFill>
                  <a:srgbClr val="566573"/>
                </a:solidFill>
              </a:rPr>
              <a:t> parallel environments</a:t>
            </a:r>
          </a:p>
        </p:txBody>
      </p:sp>
      <p:sp>
        <p:nvSpPr>
          <p:cNvPr id="30" name="train-diagnostic">
            <a:extLst>
              <a:ext uri="{FF2B5EF4-FFF2-40B4-BE49-F238E27FC236}">
                <a16:creationId xmlns:a16="http://schemas.microsoft.com/office/drawing/2014/main" id="{C5109F95-0A2F-D774-89BA-2FCCD1FA58EE}"/>
              </a:ext>
            </a:extLst>
          </p:cNvPr>
          <p:cNvSpPr>
            <a:spLocks noGrp="1"/>
          </p:cNvSpPr>
          <p:nvPr/>
        </p:nvSpPr>
        <p:spPr>
          <a:xfrm>
            <a:off x="4343398" y="5407478"/>
            <a:ext cx="2924161" cy="723900"/>
          </a:xfrm>
          <a:prstGeom prst="roundRect">
            <a:avLst>
              <a:gd name="adj" fmla="val 13415"/>
            </a:avLst>
          </a:prstGeom>
          <a:solidFill>
            <a:srgbClr val="FFF9F4"/>
          </a:solidFill>
          <a:ln w="14288">
            <a:solidFill>
              <a:srgbClr val="EAB28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1" name="train-diagnostic-title">
            <a:extLst>
              <a:ext uri="{FF2B5EF4-FFF2-40B4-BE49-F238E27FC236}">
                <a16:creationId xmlns:a16="http://schemas.microsoft.com/office/drawing/2014/main" id="{56AF70D1-61BF-CC03-284A-AB0BA5A31BAC}"/>
              </a:ext>
            </a:extLst>
          </p:cNvPr>
          <p:cNvSpPr>
            <a:spLocks noGrp="1"/>
          </p:cNvSpPr>
          <p:nvPr/>
        </p:nvSpPr>
        <p:spPr>
          <a:xfrm>
            <a:off x="4486274" y="5438775"/>
            <a:ext cx="260984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A75A24"/>
                </a:solidFill>
              </a:defRPr>
            </a:pPr>
            <a:r>
              <a:rPr sz="1275" b="1" dirty="0">
                <a:solidFill>
                  <a:srgbClr val="A75A24"/>
                </a:solidFill>
              </a:rPr>
              <a:t>Train-split evaluation</a:t>
            </a:r>
          </a:p>
        </p:txBody>
      </p:sp>
      <p:sp>
        <p:nvSpPr>
          <p:cNvPr id="32" name="train-diagnostic-body">
            <a:extLst>
              <a:ext uri="{FF2B5EF4-FFF2-40B4-BE49-F238E27FC236}">
                <a16:creationId xmlns:a16="http://schemas.microsoft.com/office/drawing/2014/main" id="{E8F56B07-D622-7F5F-DCEB-8B7A8F869994}"/>
              </a:ext>
            </a:extLst>
          </p:cNvPr>
          <p:cNvSpPr>
            <a:spLocks noGrp="1"/>
          </p:cNvSpPr>
          <p:nvPr/>
        </p:nvSpPr>
        <p:spPr>
          <a:xfrm>
            <a:off x="4476749" y="5705475"/>
            <a:ext cx="2619367" cy="2667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0">
                <a:solidFill>
                  <a:srgbClr val="566573"/>
                </a:solidFill>
              </a:defRPr>
            </a:pPr>
            <a:r>
              <a:rPr sz="1050" b="0" dirty="0">
                <a:solidFill>
                  <a:srgbClr val="566573"/>
                </a:solidFill>
              </a:rPr>
              <a:t>Diagnostic </a:t>
            </a:r>
            <a:r>
              <a:rPr lang="fr-CH" sz="1050" dirty="0">
                <a:solidFill>
                  <a:srgbClr val="566573"/>
                </a:solidFill>
              </a:rPr>
              <a:t>of the training</a:t>
            </a:r>
            <a:endParaRPr sz="1050" b="0" dirty="0">
              <a:solidFill>
                <a:srgbClr val="566573"/>
              </a:solidFill>
            </a:endParaRPr>
          </a:p>
        </p:txBody>
      </p:sp>
      <p:sp>
        <p:nvSpPr>
          <p:cNvPr id="33" name="test-split">
            <a:extLst>
              <a:ext uri="{FF2B5EF4-FFF2-40B4-BE49-F238E27FC236}">
                <a16:creationId xmlns:a16="http://schemas.microsoft.com/office/drawing/2014/main" id="{2C62EFBE-351B-F6B6-B937-99D258A3A3C0}"/>
              </a:ext>
            </a:extLst>
          </p:cNvPr>
          <p:cNvSpPr>
            <a:spLocks noGrp="1"/>
          </p:cNvSpPr>
          <p:nvPr/>
        </p:nvSpPr>
        <p:spPr>
          <a:xfrm>
            <a:off x="8458200" y="2647950"/>
            <a:ext cx="3009900" cy="723900"/>
          </a:xfrm>
          <a:prstGeom prst="roundRect">
            <a:avLst>
              <a:gd name="adj" fmla="val 14474"/>
            </a:avLst>
          </a:prstGeom>
          <a:solidFill>
            <a:srgbClr val="EAF8F7"/>
          </a:solidFill>
          <a:ln w="14288">
            <a:solidFill>
              <a:srgbClr val="49A8A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4" name="test-split-title">
            <a:extLst>
              <a:ext uri="{FF2B5EF4-FFF2-40B4-BE49-F238E27FC236}">
                <a16:creationId xmlns:a16="http://schemas.microsoft.com/office/drawing/2014/main" id="{0A175492-90D4-9F75-DF0E-FF426B2A8B61}"/>
              </a:ext>
            </a:extLst>
          </p:cNvPr>
          <p:cNvSpPr>
            <a:spLocks noGrp="1"/>
          </p:cNvSpPr>
          <p:nvPr/>
        </p:nvSpPr>
        <p:spPr>
          <a:xfrm>
            <a:off x="8601075" y="2724150"/>
            <a:ext cx="27241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46E6B"/>
                </a:solidFill>
              </a:defRPr>
            </a:pPr>
            <a:r>
              <a:rPr sz="1275" b="1">
                <a:solidFill>
                  <a:srgbClr val="146E6B"/>
                </a:solidFill>
              </a:rPr>
              <a:t>20% held-out test chronics</a:t>
            </a:r>
          </a:p>
        </p:txBody>
      </p:sp>
      <p:sp>
        <p:nvSpPr>
          <p:cNvPr id="35" name="test-split-body">
            <a:extLst>
              <a:ext uri="{FF2B5EF4-FFF2-40B4-BE49-F238E27FC236}">
                <a16:creationId xmlns:a16="http://schemas.microsoft.com/office/drawing/2014/main" id="{011A9A5C-BE2C-7536-77B3-3CD0C1F0ACA0}"/>
              </a:ext>
            </a:extLst>
          </p:cNvPr>
          <p:cNvSpPr>
            <a:spLocks noGrp="1"/>
          </p:cNvSpPr>
          <p:nvPr/>
        </p:nvSpPr>
        <p:spPr>
          <a:xfrm>
            <a:off x="8591550" y="2990850"/>
            <a:ext cx="27432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0">
                <a:solidFill>
                  <a:srgbClr val="566573"/>
                </a:solidFill>
              </a:defRPr>
            </a:pPr>
            <a:r>
              <a:rPr sz="1050" b="0" dirty="0">
                <a:solidFill>
                  <a:srgbClr val="566573"/>
                </a:solidFill>
              </a:rPr>
              <a:t>Never used for gradient updates</a:t>
            </a:r>
          </a:p>
        </p:txBody>
      </p:sp>
      <p:sp>
        <p:nvSpPr>
          <p:cNvPr id="36" name="periodic-test-eval">
            <a:extLst>
              <a:ext uri="{FF2B5EF4-FFF2-40B4-BE49-F238E27FC236}">
                <a16:creationId xmlns:a16="http://schemas.microsoft.com/office/drawing/2014/main" id="{64F34EC7-0D22-7FCE-3248-8292C9E10D5C}"/>
              </a:ext>
            </a:extLst>
          </p:cNvPr>
          <p:cNvSpPr>
            <a:spLocks noGrp="1"/>
          </p:cNvSpPr>
          <p:nvPr/>
        </p:nvSpPr>
        <p:spPr>
          <a:xfrm>
            <a:off x="8458200" y="3581400"/>
            <a:ext cx="3009900" cy="723900"/>
          </a:xfrm>
          <a:prstGeom prst="roundRect">
            <a:avLst>
              <a:gd name="adj" fmla="val 14474"/>
            </a:avLst>
          </a:prstGeom>
          <a:solidFill>
            <a:srgbClr val="EFF9F8"/>
          </a:solidFill>
          <a:ln w="14288">
            <a:solidFill>
              <a:srgbClr val="49A8A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7" name="periodic-test-eval-title">
            <a:extLst>
              <a:ext uri="{FF2B5EF4-FFF2-40B4-BE49-F238E27FC236}">
                <a16:creationId xmlns:a16="http://schemas.microsoft.com/office/drawing/2014/main" id="{CE65324D-171B-CDB3-3DD0-06A999852F0F}"/>
              </a:ext>
            </a:extLst>
          </p:cNvPr>
          <p:cNvSpPr>
            <a:spLocks noGrp="1"/>
          </p:cNvSpPr>
          <p:nvPr/>
        </p:nvSpPr>
        <p:spPr>
          <a:xfrm>
            <a:off x="8601075" y="3657600"/>
            <a:ext cx="27241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46E6B"/>
                </a:solidFill>
              </a:defRPr>
            </a:pPr>
            <a:r>
              <a:rPr sz="1275" b="1">
                <a:solidFill>
                  <a:srgbClr val="146E6B"/>
                </a:solidFill>
              </a:rPr>
              <a:t>Deterministic test evaluation</a:t>
            </a:r>
          </a:p>
        </p:txBody>
      </p:sp>
      <p:sp>
        <p:nvSpPr>
          <p:cNvPr id="38" name="periodic-test-eval-body">
            <a:extLst>
              <a:ext uri="{FF2B5EF4-FFF2-40B4-BE49-F238E27FC236}">
                <a16:creationId xmlns:a16="http://schemas.microsoft.com/office/drawing/2014/main" id="{60786E90-D14C-C6C7-6D39-1D3CA4B1E97E}"/>
              </a:ext>
            </a:extLst>
          </p:cNvPr>
          <p:cNvSpPr>
            <a:spLocks noGrp="1"/>
          </p:cNvSpPr>
          <p:nvPr/>
        </p:nvSpPr>
        <p:spPr>
          <a:xfrm>
            <a:off x="8591550" y="3924300"/>
            <a:ext cx="27432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0">
                <a:solidFill>
                  <a:srgbClr val="566573"/>
                </a:solidFill>
              </a:defRPr>
            </a:pPr>
            <a:r>
              <a:rPr sz="1050" b="0" dirty="0">
                <a:solidFill>
                  <a:srgbClr val="566573"/>
                </a:solidFill>
              </a:rPr>
              <a:t>Greedy actions on a held-out subset during training</a:t>
            </a:r>
          </a:p>
        </p:txBody>
      </p:sp>
      <p:sp>
        <p:nvSpPr>
          <p:cNvPr id="42" name="final-test-eval">
            <a:extLst>
              <a:ext uri="{FF2B5EF4-FFF2-40B4-BE49-F238E27FC236}">
                <a16:creationId xmlns:a16="http://schemas.microsoft.com/office/drawing/2014/main" id="{222926D1-A029-9DBF-D489-471FF5B5631E}"/>
              </a:ext>
            </a:extLst>
          </p:cNvPr>
          <p:cNvSpPr>
            <a:spLocks noGrp="1"/>
          </p:cNvSpPr>
          <p:nvPr/>
        </p:nvSpPr>
        <p:spPr>
          <a:xfrm>
            <a:off x="8458200" y="4520388"/>
            <a:ext cx="3009900" cy="723900"/>
          </a:xfrm>
          <a:prstGeom prst="roundRect">
            <a:avLst>
              <a:gd name="adj" fmla="val 14474"/>
            </a:avLst>
          </a:prstGeom>
          <a:solidFill>
            <a:srgbClr val="E4F5F3"/>
          </a:solidFill>
          <a:ln w="14288">
            <a:solidFill>
              <a:srgbClr val="31989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3" name="final-test-eval-title">
            <a:extLst>
              <a:ext uri="{FF2B5EF4-FFF2-40B4-BE49-F238E27FC236}">
                <a16:creationId xmlns:a16="http://schemas.microsoft.com/office/drawing/2014/main" id="{2116E812-4BAB-A976-CACA-2B7004A9488F}"/>
              </a:ext>
            </a:extLst>
          </p:cNvPr>
          <p:cNvSpPr>
            <a:spLocks noGrp="1"/>
          </p:cNvSpPr>
          <p:nvPr/>
        </p:nvSpPr>
        <p:spPr>
          <a:xfrm>
            <a:off x="8601075" y="4596588"/>
            <a:ext cx="27241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05F5C"/>
                </a:solidFill>
              </a:defRPr>
            </a:pPr>
            <a:r>
              <a:rPr sz="1275" b="1">
                <a:solidFill>
                  <a:srgbClr val="105F5C"/>
                </a:solidFill>
              </a:rPr>
              <a:t>Final full-split evaluation</a:t>
            </a:r>
          </a:p>
        </p:txBody>
      </p:sp>
      <p:sp>
        <p:nvSpPr>
          <p:cNvPr id="44" name="final-test-eval-body">
            <a:extLst>
              <a:ext uri="{FF2B5EF4-FFF2-40B4-BE49-F238E27FC236}">
                <a16:creationId xmlns:a16="http://schemas.microsoft.com/office/drawing/2014/main" id="{6DE37062-1B92-3C3C-9DB3-F29FBC93DD44}"/>
              </a:ext>
            </a:extLst>
          </p:cNvPr>
          <p:cNvSpPr>
            <a:spLocks noGrp="1"/>
          </p:cNvSpPr>
          <p:nvPr/>
        </p:nvSpPr>
        <p:spPr>
          <a:xfrm>
            <a:off x="8591550" y="4863288"/>
            <a:ext cx="27432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0">
                <a:solidFill>
                  <a:srgbClr val="566573"/>
                </a:solidFill>
              </a:defRPr>
            </a:pPr>
            <a:r>
              <a:rPr sz="1050" b="0" dirty="0">
                <a:solidFill>
                  <a:srgbClr val="566573"/>
                </a:solidFill>
              </a:rPr>
              <a:t>Every chronic in the complete held-out test split</a:t>
            </a:r>
          </a:p>
        </p:txBody>
      </p:sp>
      <p:cxnSp>
        <p:nvCxnSpPr>
          <p:cNvPr id="96" name="Connecteur en angle 95">
            <a:extLst>
              <a:ext uri="{FF2B5EF4-FFF2-40B4-BE49-F238E27FC236}">
                <a16:creationId xmlns:a16="http://schemas.microsoft.com/office/drawing/2014/main" id="{375D8A9C-C2E4-3F67-AC81-6209EC7367FB}"/>
              </a:ext>
            </a:extLst>
          </p:cNvPr>
          <p:cNvCxnSpPr>
            <a:cxnSpLocks/>
            <a:stCxn id="19" idx="2"/>
            <a:endCxn id="24" idx="0"/>
          </p:cNvCxnSpPr>
          <p:nvPr/>
        </p:nvCxnSpPr>
        <p:spPr>
          <a:xfrm rot="5400000">
            <a:off x="6627019" y="1369219"/>
            <a:ext cx="457200" cy="2100263"/>
          </a:xfrm>
          <a:prstGeom prst="bentConnector3">
            <a:avLst>
              <a:gd name="adj1" fmla="val 50000"/>
            </a:avLst>
          </a:prstGeom>
          <a:ln w="19050">
            <a:solidFill>
              <a:srgbClr val="D6874D"/>
            </a:solidFill>
            <a:prstDash val="solid"/>
            <a:tailEnd type="triangle" w="sm" len="sm"/>
          </a:ln>
        </p:spPr>
      </p:cxnSp>
      <p:cxnSp>
        <p:nvCxnSpPr>
          <p:cNvPr id="97" name="Connecteur en angle 96">
            <a:extLst>
              <a:ext uri="{FF2B5EF4-FFF2-40B4-BE49-F238E27FC236}">
                <a16:creationId xmlns:a16="http://schemas.microsoft.com/office/drawing/2014/main" id="{498A2EF8-76F8-74A9-534C-AAF18303E656}"/>
              </a:ext>
            </a:extLst>
          </p:cNvPr>
          <p:cNvCxnSpPr>
            <a:stCxn id="19" idx="2"/>
            <a:endCxn id="33" idx="0"/>
          </p:cNvCxnSpPr>
          <p:nvPr/>
        </p:nvCxnSpPr>
        <p:spPr>
          <a:xfrm>
            <a:off x="7905750" y="2190750"/>
            <a:ext cx="2057400" cy="4572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88F8B"/>
            </a:solidFill>
            <a:prstDash val="solid"/>
            <a:tailEnd type="triangle" w="sm" len="sm"/>
          </a:ln>
        </p:spPr>
      </p:cxnSp>
      <p:cxnSp>
        <p:nvCxnSpPr>
          <p:cNvPr id="98" name="Connecteur droit avec flèche 97">
            <a:extLst>
              <a:ext uri="{FF2B5EF4-FFF2-40B4-BE49-F238E27FC236}">
                <a16:creationId xmlns:a16="http://schemas.microsoft.com/office/drawing/2014/main" id="{52411464-AFB2-74C3-DE3C-A03DF015C08B}"/>
              </a:ext>
            </a:extLst>
          </p:cNvPr>
          <p:cNvCxnSpPr>
            <a:cxnSpLocks/>
            <a:stCxn id="24" idx="2"/>
            <a:endCxn id="27" idx="0"/>
          </p:cNvCxnSpPr>
          <p:nvPr/>
        </p:nvCxnSpPr>
        <p:spPr>
          <a:xfrm flipH="1">
            <a:off x="5805485" y="3371850"/>
            <a:ext cx="2" cy="193902"/>
          </a:xfrm>
          <a:prstGeom prst="straightConnector1">
            <a:avLst/>
          </a:prstGeom>
          <a:ln w="19050">
            <a:solidFill>
              <a:srgbClr val="D6874D"/>
            </a:solidFill>
            <a:prstDash val="solid"/>
            <a:tailEnd type="triangle" w="sm" len="sm"/>
          </a:ln>
        </p:spPr>
      </p:cxnSp>
      <p:cxnSp>
        <p:nvCxnSpPr>
          <p:cNvPr id="100" name="Connecteur droit avec flèche 99">
            <a:extLst>
              <a:ext uri="{FF2B5EF4-FFF2-40B4-BE49-F238E27FC236}">
                <a16:creationId xmlns:a16="http://schemas.microsoft.com/office/drawing/2014/main" id="{355569E3-EA01-8D68-4EDF-92CE7F965AEF}"/>
              </a:ext>
            </a:extLst>
          </p:cNvPr>
          <p:cNvCxnSpPr>
            <a:stCxn id="33" idx="2"/>
            <a:endCxn id="36" idx="0"/>
          </p:cNvCxnSpPr>
          <p:nvPr/>
        </p:nvCxnSpPr>
        <p:spPr>
          <a:xfrm>
            <a:off x="9963150" y="3371850"/>
            <a:ext cx="0" cy="209550"/>
          </a:xfrm>
          <a:prstGeom prst="straightConnector1">
            <a:avLst/>
          </a:prstGeom>
          <a:ln w="19050">
            <a:solidFill>
              <a:srgbClr val="288F8B"/>
            </a:solidFill>
            <a:prstDash val="solid"/>
            <a:tailEnd type="triangle" w="sm" len="sm"/>
          </a:ln>
        </p:spPr>
      </p:cxnSp>
      <p:cxnSp>
        <p:nvCxnSpPr>
          <p:cNvPr id="101" name="Connecteur droit avec flèche 100">
            <a:extLst>
              <a:ext uri="{FF2B5EF4-FFF2-40B4-BE49-F238E27FC236}">
                <a16:creationId xmlns:a16="http://schemas.microsoft.com/office/drawing/2014/main" id="{6605297F-B29F-5896-EA24-8489F1BBA506}"/>
              </a:ext>
            </a:extLst>
          </p:cNvPr>
          <p:cNvCxnSpPr>
            <a:cxnSpLocks/>
            <a:stCxn id="36" idx="2"/>
            <a:endCxn id="42" idx="0"/>
          </p:cNvCxnSpPr>
          <p:nvPr/>
        </p:nvCxnSpPr>
        <p:spPr>
          <a:xfrm>
            <a:off x="9963150" y="4305300"/>
            <a:ext cx="0" cy="215088"/>
          </a:xfrm>
          <a:prstGeom prst="straightConnector1">
            <a:avLst/>
          </a:prstGeom>
          <a:ln w="19050">
            <a:solidFill>
              <a:srgbClr val="288F8B"/>
            </a:solidFill>
            <a:prstDash val="solid"/>
            <a:tailEnd type="triangle" w="sm" len="sm"/>
          </a:ln>
        </p:spPr>
      </p:cxnSp>
      <p:sp>
        <p:nvSpPr>
          <p:cNvPr id="57" name="train-diagnostic">
            <a:extLst>
              <a:ext uri="{FF2B5EF4-FFF2-40B4-BE49-F238E27FC236}">
                <a16:creationId xmlns:a16="http://schemas.microsoft.com/office/drawing/2014/main" id="{11170805-E603-01DB-1E76-9F9F0627151F}"/>
              </a:ext>
            </a:extLst>
          </p:cNvPr>
          <p:cNvSpPr>
            <a:spLocks noGrp="1"/>
          </p:cNvSpPr>
          <p:nvPr/>
        </p:nvSpPr>
        <p:spPr>
          <a:xfrm>
            <a:off x="4343398" y="4486275"/>
            <a:ext cx="2924169" cy="723900"/>
          </a:xfrm>
          <a:prstGeom prst="roundRect">
            <a:avLst>
              <a:gd name="adj" fmla="val 13415"/>
            </a:avLst>
          </a:prstGeom>
          <a:solidFill>
            <a:srgbClr val="FFF9F4"/>
          </a:solidFill>
          <a:ln w="14288">
            <a:solidFill>
              <a:srgbClr val="EAB28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58" name="train-diagnostic-title">
            <a:extLst>
              <a:ext uri="{FF2B5EF4-FFF2-40B4-BE49-F238E27FC236}">
                <a16:creationId xmlns:a16="http://schemas.microsoft.com/office/drawing/2014/main" id="{C2F22D73-DFC9-59DD-BAD8-88A81CFF9978}"/>
              </a:ext>
            </a:extLst>
          </p:cNvPr>
          <p:cNvSpPr>
            <a:spLocks noGrp="1"/>
          </p:cNvSpPr>
          <p:nvPr/>
        </p:nvSpPr>
        <p:spPr>
          <a:xfrm>
            <a:off x="4486274" y="453390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A75A24"/>
                </a:solidFill>
              </a:defRPr>
            </a:pPr>
            <a:r>
              <a:rPr lang="fr-CH" sz="1275" b="1" dirty="0">
                <a:solidFill>
                  <a:srgbClr val="A75A24"/>
                </a:solidFill>
              </a:rPr>
              <a:t>Best checkpoint</a:t>
            </a:r>
            <a:endParaRPr sz="1275" b="1" dirty="0">
              <a:solidFill>
                <a:srgbClr val="A75A24"/>
              </a:solidFill>
            </a:endParaRPr>
          </a:p>
        </p:txBody>
      </p:sp>
      <p:sp>
        <p:nvSpPr>
          <p:cNvPr id="59" name="train-diagnostic-body">
            <a:extLst>
              <a:ext uri="{FF2B5EF4-FFF2-40B4-BE49-F238E27FC236}">
                <a16:creationId xmlns:a16="http://schemas.microsoft.com/office/drawing/2014/main" id="{BB608465-8506-9B88-61F3-AA0549823830}"/>
              </a:ext>
            </a:extLst>
          </p:cNvPr>
          <p:cNvSpPr>
            <a:spLocks noGrp="1"/>
          </p:cNvSpPr>
          <p:nvPr/>
        </p:nvSpPr>
        <p:spPr>
          <a:xfrm>
            <a:off x="4476748" y="4800600"/>
            <a:ext cx="2438401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0">
                <a:solidFill>
                  <a:srgbClr val="566573"/>
                </a:solidFill>
              </a:defRPr>
            </a:pPr>
            <a:r>
              <a:rPr lang="fr-CH" sz="1050" dirty="0" err="1">
                <a:solidFill>
                  <a:srgbClr val="566573"/>
                </a:solidFill>
              </a:rPr>
              <a:t>Selected</a:t>
            </a:r>
            <a:r>
              <a:rPr lang="fr-CH" sz="1050" dirty="0">
                <a:solidFill>
                  <a:srgbClr val="566573"/>
                </a:solidFill>
              </a:rPr>
              <a:t> by </a:t>
            </a:r>
            <a:r>
              <a:rPr lang="fr-CH" sz="1050" dirty="0" err="1">
                <a:solidFill>
                  <a:srgbClr val="566573"/>
                </a:solidFill>
              </a:rPr>
              <a:t>mean</a:t>
            </a:r>
            <a:r>
              <a:rPr lang="fr-CH" sz="1050" dirty="0">
                <a:solidFill>
                  <a:srgbClr val="566573"/>
                </a:solidFill>
              </a:rPr>
              <a:t> </a:t>
            </a:r>
            <a:r>
              <a:rPr lang="fr-CH" sz="1050" dirty="0" err="1">
                <a:solidFill>
                  <a:srgbClr val="566573"/>
                </a:solidFill>
              </a:rPr>
              <a:t>held</a:t>
            </a:r>
            <a:r>
              <a:rPr lang="fr-CH" sz="1050" dirty="0">
                <a:solidFill>
                  <a:srgbClr val="566573"/>
                </a:solidFill>
              </a:rPr>
              <a:t>-out train </a:t>
            </a:r>
            <a:r>
              <a:rPr lang="fr-CH" sz="1050" dirty="0" err="1">
                <a:solidFill>
                  <a:srgbClr val="566573"/>
                </a:solidFill>
              </a:rPr>
              <a:t>survival</a:t>
            </a:r>
            <a:endParaRPr lang="fr-CH" sz="1050" dirty="0">
              <a:solidFill>
                <a:srgbClr val="566573"/>
              </a:solidFill>
            </a:endParaRPr>
          </a:p>
        </p:txBody>
      </p:sp>
      <p:cxnSp>
        <p:nvCxnSpPr>
          <p:cNvPr id="68" name="Connecteur droit avec flèche 67">
            <a:extLst>
              <a:ext uri="{FF2B5EF4-FFF2-40B4-BE49-F238E27FC236}">
                <a16:creationId xmlns:a16="http://schemas.microsoft.com/office/drawing/2014/main" id="{FE6AE11D-3571-CB4F-152B-43B62FC64955}"/>
              </a:ext>
            </a:extLst>
          </p:cNvPr>
          <p:cNvCxnSpPr>
            <a:cxnSpLocks/>
            <a:stCxn id="27" idx="2"/>
            <a:endCxn id="57" idx="0"/>
          </p:cNvCxnSpPr>
          <p:nvPr/>
        </p:nvCxnSpPr>
        <p:spPr>
          <a:xfrm flipH="1">
            <a:off x="5805483" y="4286250"/>
            <a:ext cx="2" cy="200025"/>
          </a:xfrm>
          <a:prstGeom prst="straightConnector1">
            <a:avLst/>
          </a:prstGeom>
          <a:ln w="19050">
            <a:solidFill>
              <a:srgbClr val="D6874D"/>
            </a:solidFill>
            <a:prstDash val="solid"/>
            <a:tailEnd type="triangle" w="sm" len="sm"/>
          </a:ln>
        </p:spPr>
      </p:cxn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1143B0D6-A854-80C0-B341-63E0D9E635E3}"/>
              </a:ext>
            </a:extLst>
          </p:cNvPr>
          <p:cNvCxnSpPr>
            <a:cxnSpLocks/>
            <a:stCxn id="57" idx="2"/>
            <a:endCxn id="30" idx="0"/>
          </p:cNvCxnSpPr>
          <p:nvPr/>
        </p:nvCxnSpPr>
        <p:spPr>
          <a:xfrm flipH="1">
            <a:off x="5805479" y="5210175"/>
            <a:ext cx="4" cy="197303"/>
          </a:xfrm>
          <a:prstGeom prst="straightConnector1">
            <a:avLst/>
          </a:prstGeom>
          <a:ln w="19050">
            <a:solidFill>
              <a:srgbClr val="D6874D"/>
            </a:solidFill>
            <a:prstDash val="solid"/>
            <a:tailEnd type="triangle" w="sm" len="sm"/>
          </a:ln>
        </p:spPr>
      </p:cxnSp>
      <p:sp>
        <p:nvSpPr>
          <p:cNvPr id="45" name="noop-action-title">
            <a:extLst>
              <a:ext uri="{FF2B5EF4-FFF2-40B4-BE49-F238E27FC236}">
                <a16:creationId xmlns:a16="http://schemas.microsoft.com/office/drawing/2014/main" id="{27985E5B-A0E1-5465-FFE6-9A4C4631BC5D}"/>
              </a:ext>
            </a:extLst>
          </p:cNvPr>
          <p:cNvSpPr>
            <a:spLocks noGrp="1"/>
          </p:cNvSpPr>
          <p:nvPr/>
        </p:nvSpPr>
        <p:spPr>
          <a:xfrm>
            <a:off x="533401" y="2705100"/>
            <a:ext cx="2876549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342900" indent="-342900" algn="l">
              <a:buFont typeface="+mj-lt"/>
              <a:buAutoNum type="arabicPeriod"/>
              <a:defRPr sz="1275" b="1">
                <a:solidFill>
                  <a:srgbClr val="1B2C39"/>
                </a:solidFill>
              </a:defRPr>
            </a:pPr>
            <a:r>
              <a:rPr sz="1400" b="1" dirty="0">
                <a:solidFill>
                  <a:srgbClr val="1B2C39"/>
                </a:solidFill>
              </a:rPr>
              <a:t>Do nothing</a:t>
            </a:r>
            <a:endParaRPr lang="fr-CH" sz="1400" b="1" dirty="0">
              <a:solidFill>
                <a:srgbClr val="1B2C39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 sz="1275" b="1">
                <a:solidFill>
                  <a:srgbClr val="1B2C39"/>
                </a:solidFill>
              </a:defRPr>
            </a:pPr>
            <a:r>
              <a:rPr lang="fr-CH" sz="1200" dirty="0">
                <a:solidFill>
                  <a:srgbClr val="607080"/>
                </a:solidFill>
              </a:rPr>
              <a:t>Preserve the </a:t>
            </a:r>
            <a:r>
              <a:rPr lang="fr-CH" sz="1200" dirty="0" err="1">
                <a:solidFill>
                  <a:srgbClr val="607080"/>
                </a:solidFill>
              </a:rPr>
              <a:t>current</a:t>
            </a:r>
            <a:r>
              <a:rPr lang="fr-CH" sz="1200" dirty="0">
                <a:solidFill>
                  <a:srgbClr val="607080"/>
                </a:solidFill>
              </a:rPr>
              <a:t> </a:t>
            </a:r>
            <a:r>
              <a:rPr lang="fr-CH" sz="1200" dirty="0" err="1">
                <a:solidFill>
                  <a:srgbClr val="607080"/>
                </a:solidFill>
              </a:rPr>
              <a:t>topology</a:t>
            </a:r>
            <a:endParaRPr lang="fr-CH" sz="1200" dirty="0">
              <a:solidFill>
                <a:srgbClr val="607080"/>
              </a:solidFill>
            </a:endParaRPr>
          </a:p>
          <a:p>
            <a:pPr marL="800100" lvl="1" indent="-342900">
              <a:buFont typeface="+mj-lt"/>
              <a:buAutoNum type="arabicPeriod"/>
              <a:defRPr sz="1275" b="1">
                <a:solidFill>
                  <a:srgbClr val="1B2C39"/>
                </a:solidFill>
              </a:defRPr>
            </a:pPr>
            <a:endParaRPr lang="fr-CH" sz="1275" b="1" dirty="0">
              <a:solidFill>
                <a:srgbClr val="1B2C39"/>
              </a:solidFill>
            </a:endParaRPr>
          </a:p>
          <a:p>
            <a:pPr marL="800100" lvl="1" indent="-342900">
              <a:buFont typeface="+mj-lt"/>
              <a:buAutoNum type="arabicPeriod"/>
              <a:defRPr sz="1275" b="1">
                <a:solidFill>
                  <a:srgbClr val="1B2C39"/>
                </a:solidFill>
              </a:defRPr>
            </a:pPr>
            <a:endParaRPr lang="fr-CH" sz="1275" b="1" dirty="0">
              <a:solidFill>
                <a:srgbClr val="1B2C39"/>
              </a:solidFill>
            </a:endParaRPr>
          </a:p>
          <a:p>
            <a:pPr marL="342900" indent="-342900" algn="l">
              <a:buFont typeface="+mj-lt"/>
              <a:buAutoNum type="arabicPeriod"/>
              <a:defRPr sz="1275" b="1">
                <a:solidFill>
                  <a:srgbClr val="1B2C39"/>
                </a:solidFill>
              </a:defRPr>
            </a:pPr>
            <a:r>
              <a:rPr lang="fr-CH" sz="1400" b="1" dirty="0">
                <a:solidFill>
                  <a:srgbClr val="1B2C39"/>
                </a:solidFill>
              </a:rPr>
              <a:t>Switch a transmission line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1275" b="1">
                <a:solidFill>
                  <a:srgbClr val="1B2C39"/>
                </a:solidFill>
              </a:defRPr>
            </a:pPr>
            <a:r>
              <a:rPr lang="fr-CH" sz="1200" dirty="0" err="1">
                <a:solidFill>
                  <a:srgbClr val="607080"/>
                </a:solidFill>
              </a:rPr>
              <a:t>Connect</a:t>
            </a:r>
            <a:r>
              <a:rPr lang="fr-CH" sz="1200" dirty="0">
                <a:solidFill>
                  <a:srgbClr val="607080"/>
                </a:solidFill>
              </a:rPr>
              <a:t> or </a:t>
            </a:r>
            <a:r>
              <a:rPr lang="fr-CH" sz="1200" dirty="0" err="1">
                <a:solidFill>
                  <a:srgbClr val="607080"/>
                </a:solidFill>
              </a:rPr>
              <a:t>disconnect</a:t>
            </a:r>
            <a:r>
              <a:rPr lang="fr-CH" sz="1200" dirty="0">
                <a:solidFill>
                  <a:srgbClr val="607080"/>
                </a:solidFill>
              </a:rPr>
              <a:t> a line</a:t>
            </a:r>
          </a:p>
          <a:p>
            <a:pPr lvl="1">
              <a:defRPr sz="1275" b="1">
                <a:solidFill>
                  <a:srgbClr val="1B2C39"/>
                </a:solidFill>
              </a:defRPr>
            </a:pPr>
            <a:endParaRPr lang="fr-CH" sz="1275" b="1" dirty="0">
              <a:solidFill>
                <a:srgbClr val="1B2C39"/>
              </a:solidFill>
            </a:endParaRPr>
          </a:p>
          <a:p>
            <a:pPr lvl="1">
              <a:defRPr sz="1275" b="1">
                <a:solidFill>
                  <a:srgbClr val="1B2C39"/>
                </a:solidFill>
              </a:defRPr>
            </a:pPr>
            <a:endParaRPr lang="fr-CH" sz="1275" b="1" dirty="0">
              <a:solidFill>
                <a:srgbClr val="1B2C39"/>
              </a:solidFill>
            </a:endParaRPr>
          </a:p>
          <a:p>
            <a:pPr marL="342900" indent="-342900" algn="l">
              <a:buFont typeface="+mj-lt"/>
              <a:buAutoNum type="arabicPeriod"/>
              <a:defRPr sz="1275" b="1">
                <a:solidFill>
                  <a:srgbClr val="1B2C39"/>
                </a:solidFill>
              </a:defRPr>
            </a:pPr>
            <a:r>
              <a:rPr lang="fr-CH" sz="1400" b="1" dirty="0" err="1">
                <a:solidFill>
                  <a:srgbClr val="1B2C39"/>
                </a:solidFill>
              </a:rPr>
              <a:t>Reassign</a:t>
            </a:r>
            <a:r>
              <a:rPr lang="fr-CH" sz="1400" b="1" dirty="0">
                <a:solidFill>
                  <a:srgbClr val="1B2C39"/>
                </a:solidFill>
              </a:rPr>
              <a:t> a </a:t>
            </a:r>
            <a:r>
              <a:rPr lang="fr-CH" sz="1400" b="1" dirty="0" err="1">
                <a:solidFill>
                  <a:srgbClr val="1B2C39"/>
                </a:solidFill>
              </a:rPr>
              <a:t>substation</a:t>
            </a:r>
            <a:r>
              <a:rPr lang="fr-CH" sz="1400" b="1" dirty="0">
                <a:solidFill>
                  <a:srgbClr val="1B2C39"/>
                </a:solidFill>
              </a:rPr>
              <a:t> </a:t>
            </a:r>
            <a:r>
              <a:rPr lang="fr-CH" sz="1400" b="1" dirty="0" err="1">
                <a:solidFill>
                  <a:srgbClr val="1B2C39"/>
                </a:solidFill>
              </a:rPr>
              <a:t>elements</a:t>
            </a:r>
            <a:endParaRPr lang="fr-CH" sz="1400" b="1" dirty="0">
              <a:solidFill>
                <a:srgbClr val="1B2C39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 sz="1275" b="1">
                <a:solidFill>
                  <a:srgbClr val="1B2C39"/>
                </a:solidFill>
              </a:defRPr>
            </a:pPr>
            <a:r>
              <a:rPr lang="fr-CH" sz="1200" dirty="0">
                <a:solidFill>
                  <a:srgbClr val="607080"/>
                </a:solidFill>
              </a:rPr>
              <a:t>Move components </a:t>
            </a:r>
            <a:r>
              <a:rPr lang="fr-CH" sz="1200" dirty="0" err="1">
                <a:solidFill>
                  <a:srgbClr val="607080"/>
                </a:solidFill>
              </a:rPr>
              <a:t>between</a:t>
            </a:r>
            <a:r>
              <a:rPr lang="fr-CH" sz="1200" dirty="0">
                <a:solidFill>
                  <a:srgbClr val="607080"/>
                </a:solidFill>
              </a:rPr>
              <a:t> </a:t>
            </a:r>
            <a:r>
              <a:rPr lang="fr-CH" sz="1200" dirty="0" err="1">
                <a:solidFill>
                  <a:srgbClr val="607080"/>
                </a:solidFill>
              </a:rPr>
              <a:t>busbars</a:t>
            </a:r>
            <a:endParaRPr lang="fr-CH" sz="1200" dirty="0">
              <a:solidFill>
                <a:srgbClr val="607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9904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3-title">
            <a:extLst>
              <a:ext uri="{FF2B5EF4-FFF2-40B4-BE49-F238E27FC236}">
                <a16:creationId xmlns:a16="http://schemas.microsoft.com/office/drawing/2014/main" id="{2FC81AA4-928E-4EC8-876C-A595CDA4C781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111820"/>
                </a:solidFill>
              </a:defRPr>
            </a:pPr>
            <a:r>
              <a:rPr sz="2250" b="1">
                <a:solidFill>
                  <a:srgbClr val="111820"/>
                </a:solidFill>
              </a:rPr>
              <a:t>The IEEE-14 reference baseline trains for 25M steps with 80 PPO epochs</a:t>
            </a:r>
          </a:p>
        </p:txBody>
      </p:sp>
      <p:sp>
        <p:nvSpPr>
          <p:cNvPr id="2" name="slide3-subtitle">
            <a:extLst>
              <a:ext uri="{FF2B5EF4-FFF2-40B4-BE49-F238E27FC236}">
                <a16:creationId xmlns:a16="http://schemas.microsoft.com/office/drawing/2014/main" id="{7907F2D4-FDEE-4977-9F07-02D5CA419575}"/>
              </a:ext>
            </a:extLst>
          </p:cNvPr>
          <p:cNvSpPr>
            <a:spLocks noGrp="1"/>
          </p:cNvSpPr>
          <p:nvPr/>
        </p:nvSpPr>
        <p:spPr>
          <a:xfrm>
            <a:off x="476250" y="752475"/>
            <a:ext cx="952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5A6875"/>
                </a:solidFill>
              </a:defRPr>
            </a:pPr>
            <a:r>
              <a:rPr sz="1125" b="0">
                <a:solidFill>
                  <a:srgbClr val="5A6875"/>
                </a:solidFill>
              </a:rPr>
              <a:t>Original MAPPO hyperparameters reproduced before architectural changes</a:t>
            </a:r>
          </a:p>
        </p:txBody>
      </p:sp>
      <p:sp>
        <p:nvSpPr>
          <p:cNvPr id="3" name="training-network-table-frame">
            <a:extLst>
              <a:ext uri="{FF2B5EF4-FFF2-40B4-BE49-F238E27FC236}">
                <a16:creationId xmlns:a16="http://schemas.microsoft.com/office/drawing/2014/main" id="{10C7E34C-9F12-4207-A22C-AEDA2DA25ACD}"/>
              </a:ext>
            </a:extLst>
          </p:cNvPr>
          <p:cNvSpPr>
            <a:spLocks noGrp="1"/>
          </p:cNvSpPr>
          <p:nvPr/>
        </p:nvSpPr>
        <p:spPr>
          <a:xfrm>
            <a:off x="381000" y="1200150"/>
            <a:ext cx="5276850" cy="4933950"/>
          </a:xfrm>
          <a:prstGeom prst="roundRect">
            <a:avLst>
              <a:gd name="adj" fmla="val 2703"/>
            </a:avLst>
          </a:prstGeom>
          <a:solidFill>
            <a:srgbClr val="FBFCFD"/>
          </a:solidFill>
          <a:ln w="9525">
            <a:solidFill>
              <a:srgbClr val="DD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po-table-frame">
            <a:extLst>
              <a:ext uri="{FF2B5EF4-FFF2-40B4-BE49-F238E27FC236}">
                <a16:creationId xmlns:a16="http://schemas.microsoft.com/office/drawing/2014/main" id="{B9A54FC7-1256-415D-8D89-1428836D7E7B}"/>
              </a:ext>
            </a:extLst>
          </p:cNvPr>
          <p:cNvSpPr>
            <a:spLocks noGrp="1"/>
          </p:cNvSpPr>
          <p:nvPr/>
        </p:nvSpPr>
        <p:spPr>
          <a:xfrm>
            <a:off x="5829300" y="1200150"/>
            <a:ext cx="5981700" cy="4933950"/>
          </a:xfrm>
          <a:prstGeom prst="roundRect">
            <a:avLst>
              <a:gd name="adj" fmla="val 2703"/>
            </a:avLst>
          </a:prstGeom>
          <a:solidFill>
            <a:srgbClr val="FBFCFD"/>
          </a:solidFill>
          <a:ln w="9525">
            <a:solidFill>
              <a:srgbClr val="DD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2" name="Tableau 11"/>
          <p:cNvGraphicFramePr/>
          <p:nvPr/>
        </p:nvGraphicFramePr>
        <p:xfrm>
          <a:off x="533400" y="1362075"/>
          <a:ext cx="4972050" cy="4552950"/>
        </p:xfrm>
        <a:graphic>
          <a:graphicData uri="http://schemas.openxmlformats.org/drawingml/2006/table">
            <a:tbl>
              <a:tblPr/>
              <a:tblGrid>
                <a:gridCol w="319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1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529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63641"/>
                          </a:solidFill>
                        </a:rPr>
                        <a:t>Hyperparameter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6364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295">
                <a:tc gridSpan="2"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A75A24"/>
                          </a:solidFill>
                        </a:rPr>
                        <a:t>TRAINING</a:t>
                      </a:r>
                    </a:p>
                  </a:txBody>
                  <a:tcPr>
                    <a:solidFill>
                      <a:srgbClr val="FFF2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Total timesteps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A75A24"/>
                          </a:solidFill>
                        </a:rPr>
                        <a:t>25M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Rollout steps per environment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Total rollout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A75A24"/>
                          </a:solidFill>
                        </a:rPr>
                        <a:t>20,000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Evaluation frequency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295">
                <a:tc gridSpan="2"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76F9A"/>
                          </a:solidFill>
                        </a:rPr>
                        <a:t>NETWORK</a:t>
                      </a:r>
                    </a:p>
                  </a:txBody>
                  <a:tcPr>
                    <a:solidFill>
                      <a:srgbClr val="EAF3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Actor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MLP · 256 ×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Critic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MLP · 256 ×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Activation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ReLU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3" name="Tableau 12"/>
          <p:cNvGraphicFramePr/>
          <p:nvPr/>
        </p:nvGraphicFramePr>
        <p:xfrm>
          <a:off x="5981700" y="1362075"/>
          <a:ext cx="5676900" cy="4552954"/>
        </p:xfrm>
        <a:graphic>
          <a:graphicData uri="http://schemas.openxmlformats.org/drawingml/2006/table">
            <a:tbl>
              <a:tblPr/>
              <a:tblGrid>
                <a:gridCol w="3638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21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63641"/>
                          </a:solidFill>
                        </a:rPr>
                        <a:t>Hyperparameter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6364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211">
                <a:tc gridSpan="2"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80579E"/>
                          </a:solidFill>
                        </a:rPr>
                        <a:t>PPO OPTIMIZATION</a:t>
                      </a:r>
                    </a:p>
                  </a:txBody>
                  <a:tcPr>
                    <a:solidFill>
                      <a:srgbClr val="F2EA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Actor learning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3 × 10⁻⁵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Critic learning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3 × 10⁻⁵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Learning-rate schedule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Linear decay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Discount factor  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GAE parameter  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Update epochs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80579E"/>
                          </a:solidFill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Minibatches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Clip coefficient  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Target KL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Maximum gradient norm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Entropy coefficient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Value-loss coefficient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slide3-source">
            <a:extLst>
              <a:ext uri="{FF2B5EF4-FFF2-40B4-BE49-F238E27FC236}">
                <a16:creationId xmlns:a16="http://schemas.microsoft.com/office/drawing/2014/main" id="{27EB49C6-2EE8-4A32-8E37-4CE9079F871D}"/>
              </a:ext>
            </a:extLst>
          </p:cNvPr>
          <p:cNvSpPr>
            <a:spLocks noGrp="1"/>
          </p:cNvSpPr>
          <p:nvPr/>
        </p:nvSpPr>
        <p:spPr>
          <a:xfrm>
            <a:off x="476250" y="6267450"/>
            <a:ext cx="66675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77838C"/>
                </a:solidFill>
              </a:defRPr>
            </a:pPr>
            <a:r>
              <a:rPr sz="825" b="0">
                <a:solidFill>
                  <a:srgbClr val="77838C"/>
                </a:solidFill>
              </a:rPr>
              <a:t>Source: original IEEE-14 MAPPO baseline hyperparameters</a:t>
            </a:r>
          </a:p>
        </p:txBody>
      </p:sp>
    </p:spTree>
    <p:extLst>
      <p:ext uri="{BB962C8B-B14F-4D97-AF65-F5344CB8AC3E}">
        <p14:creationId xmlns:p14="http://schemas.microsoft.com/office/powerpoint/2010/main" val="168345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4-title">
            <a:extLst>
              <a:ext uri="{FF2B5EF4-FFF2-40B4-BE49-F238E27FC236}">
                <a16:creationId xmlns:a16="http://schemas.microsoft.com/office/drawing/2014/main" id="{01BB1541-ADDA-4BE7-A98C-CD47F6EA15C5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112776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111820"/>
                </a:solidFill>
              </a:defRPr>
            </a:pPr>
            <a:r>
              <a:rPr sz="2250" b="1">
                <a:solidFill>
                  <a:srgbClr val="111820"/>
                </a:solidFill>
              </a:rPr>
              <a:t>The graph encoder maps injections to nodes and line conditions to edges</a:t>
            </a:r>
          </a:p>
        </p:txBody>
      </p:sp>
      <p:sp>
        <p:nvSpPr>
          <p:cNvPr id="2" name="slide4-subtitle">
            <a:extLst>
              <a:ext uri="{FF2B5EF4-FFF2-40B4-BE49-F238E27FC236}">
                <a16:creationId xmlns:a16="http://schemas.microsoft.com/office/drawing/2014/main" id="{15305DDE-CDAA-45CB-A47F-E78BC6134C50}"/>
              </a:ext>
            </a:extLst>
          </p:cNvPr>
          <p:cNvSpPr>
            <a:spLocks noGrp="1"/>
          </p:cNvSpPr>
          <p:nvPr/>
        </p:nvSpPr>
        <p:spPr>
          <a:xfrm>
            <a:off x="476250" y="762000"/>
            <a:ext cx="1104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5A6875"/>
                </a:solidFill>
              </a:defRPr>
            </a:pPr>
            <a:r>
              <a:rPr sz="1125" b="0">
                <a:solidFill>
                  <a:srgbClr val="5A6875"/>
                </a:solidFill>
              </a:rPr>
              <a:t>WCCI-36 adds maintenance information on edges; redispatch and curtailment stay outside the core graph</a:t>
            </a:r>
          </a:p>
        </p:txBody>
      </p:sp>
      <p:sp>
        <p:nvSpPr>
          <p:cNvPr id="3" name="feature-table-frame">
            <a:extLst>
              <a:ext uri="{FF2B5EF4-FFF2-40B4-BE49-F238E27FC236}">
                <a16:creationId xmlns:a16="http://schemas.microsoft.com/office/drawing/2014/main" id="{C631779A-C435-4058-8046-E3890E2879B5}"/>
              </a:ext>
            </a:extLst>
          </p:cNvPr>
          <p:cNvSpPr>
            <a:spLocks noGrp="1"/>
          </p:cNvSpPr>
          <p:nvPr/>
        </p:nvSpPr>
        <p:spPr>
          <a:xfrm>
            <a:off x="304800" y="1162050"/>
            <a:ext cx="11582400" cy="5010150"/>
          </a:xfrm>
          <a:prstGeom prst="roundRect">
            <a:avLst>
              <a:gd name="adj" fmla="val 2662"/>
            </a:avLst>
          </a:prstGeom>
          <a:solidFill>
            <a:srgbClr val="FBFCFD"/>
          </a:solidFill>
          <a:ln w="9525">
            <a:solidFill>
              <a:srgbClr val="D7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au 8"/>
          <p:cNvGraphicFramePr/>
          <p:nvPr/>
        </p:nvGraphicFramePr>
        <p:xfrm>
          <a:off x="457200" y="1314450"/>
          <a:ext cx="11277600" cy="470535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3641"/>
                          </a:solidFill>
                        </a:rPr>
                        <a:t>Feature category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3641"/>
                          </a:solidFill>
                        </a:rPr>
                        <a:t>Observation variables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3641"/>
                          </a:solidFill>
                        </a:rPr>
                        <a:t>Graph role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263641"/>
                          </a:solidFill>
                        </a:rPr>
                        <a:t>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415466"/>
                          </a:solidFill>
                        </a:rPr>
                        <a:t>gen_p, gen_theta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276F9A"/>
                          </a:solidFill>
                        </a:rPr>
                        <a:t>Node</a:t>
                      </a:r>
                    </a:p>
                  </a:txBody>
                  <a:tcPr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263641"/>
                          </a:solidFill>
                        </a:rPr>
                        <a:t>Demand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415466"/>
                          </a:solidFill>
                        </a:rPr>
                        <a:t>load_p, load_theta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276F9A"/>
                          </a:solidFill>
                        </a:rPr>
                        <a:t>Node</a:t>
                      </a:r>
                    </a:p>
                  </a:txBody>
                  <a:tcPr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263641"/>
                          </a:solidFill>
                        </a:rPr>
                        <a:t>Line loading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415466"/>
                          </a:solidFill>
                        </a:rPr>
                        <a:t>rho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146E6B"/>
                          </a:solidFill>
                        </a:rPr>
                        <a:t>Edge</a:t>
                      </a:r>
                    </a:p>
                  </a:txBody>
                  <a:tcPr>
                    <a:solidFill>
                      <a:srgbClr val="EA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263641"/>
                          </a:solidFill>
                        </a:rPr>
                        <a:t>Line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415466"/>
                          </a:solidFill>
                        </a:rPr>
                        <a:t>line_status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80579E"/>
                          </a:solidFill>
                        </a:rPr>
                        <a:t>Edge + active mask</a:t>
                      </a:r>
                    </a:p>
                  </a:txBody>
                  <a:tcPr>
                    <a:solidFill>
                      <a:srgbClr val="F2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263641"/>
                          </a:solidFill>
                        </a:rPr>
                        <a:t>Overload duration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415466"/>
                          </a:solidFill>
                        </a:rPr>
                        <a:t>timestep_overflow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146E6B"/>
                          </a:solidFill>
                        </a:rPr>
                        <a:t>Edge</a:t>
                      </a:r>
                    </a:p>
                  </a:txBody>
                  <a:tcPr>
                    <a:solidFill>
                      <a:srgbClr val="EA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263641"/>
                          </a:solidFill>
                        </a:rPr>
                        <a:t>Line cooldown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415466"/>
                          </a:solidFill>
                        </a:rPr>
                        <a:t>time_before_cooldown_line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146E6B"/>
                          </a:solidFill>
                        </a:rPr>
                        <a:t>Edge</a:t>
                      </a:r>
                    </a:p>
                  </a:txBody>
                  <a:tcPr>
                    <a:solidFill>
                      <a:srgbClr val="EA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263641"/>
                          </a:solidFill>
                        </a:rPr>
                        <a:t>Substation cooldown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415466"/>
                          </a:solidFill>
                        </a:rPr>
                        <a:t>time_before_cooldown_sub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276F9A"/>
                          </a:solidFill>
                        </a:rPr>
                        <a:t>Node</a:t>
                      </a:r>
                    </a:p>
                  </a:txBody>
                  <a:tcPr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263641"/>
                          </a:solidFill>
                        </a:rPr>
                        <a:t>Topology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415466"/>
                          </a:solidFill>
                        </a:rPr>
                        <a:t>topo_vect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80579E"/>
                          </a:solidFill>
                        </a:rPr>
                        <a:t>Busbar nodes + edge mask</a:t>
                      </a:r>
                    </a:p>
                  </a:txBody>
                  <a:tcPr>
                    <a:solidFill>
                      <a:srgbClr val="F2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263641"/>
                          </a:solidFill>
                        </a:rPr>
                        <a:t>Maintenance forecast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415466"/>
                          </a:solidFill>
                        </a:rPr>
                        <a:t>time_next_maintenance, duration_next_maintenance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146E6B"/>
                          </a:solidFill>
                        </a:rPr>
                        <a:t>Edge · WCCI-36 only</a:t>
                      </a:r>
                    </a:p>
                  </a:txBody>
                  <a:tcPr>
                    <a:solidFill>
                      <a:srgbClr val="EA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263641"/>
                          </a:solidFill>
                        </a:rPr>
                        <a:t>Redispatch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415466"/>
                          </a:solidFill>
                        </a:rPr>
                        <a:t>target_dispatch, actual_dispatch, gen_margin_up/down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A75A24"/>
                          </a:solidFill>
                        </a:rPr>
                        <a:t>Outside core graph</a:t>
                      </a:r>
                    </a:p>
                  </a:txBody>
                  <a:tcPr>
                    <a:solidFill>
                      <a:srgbClr val="FFF2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263641"/>
                          </a:solidFill>
                        </a:rPr>
                        <a:t>Curtailment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415466"/>
                          </a:solidFill>
                        </a:rPr>
                        <a:t>gen_p_before_curtail, curtailment, curtailment_limit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A75A24"/>
                          </a:solidFill>
                        </a:rPr>
                        <a:t>Outside core graph</a:t>
                      </a:r>
                    </a:p>
                  </a:txBody>
                  <a:tcPr>
                    <a:solidFill>
                      <a:srgbClr val="FFF2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263641"/>
                          </a:solidFill>
                        </a:rPr>
                        <a:t>Controlled region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415466"/>
                          </a:solidFill>
                        </a:rPr>
                        <a:t>Agent's assigned substations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276F9A"/>
                          </a:solidFill>
                        </a:rPr>
                        <a:t>Node · domain_mask</a:t>
                      </a:r>
                    </a:p>
                  </a:txBody>
                  <a:tcPr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slide4-source">
            <a:extLst>
              <a:ext uri="{FF2B5EF4-FFF2-40B4-BE49-F238E27FC236}">
                <a16:creationId xmlns:a16="http://schemas.microsoft.com/office/drawing/2014/main" id="{7D1D45D8-DCE1-4493-9EB1-6ECBEB96B3D7}"/>
              </a:ext>
            </a:extLst>
          </p:cNvPr>
          <p:cNvSpPr>
            <a:spLocks noGrp="1"/>
          </p:cNvSpPr>
          <p:nvPr/>
        </p:nvSpPr>
        <p:spPr>
          <a:xfrm>
            <a:off x="476250" y="6267450"/>
            <a:ext cx="66675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77838C"/>
                </a:solidFill>
              </a:defRPr>
            </a:pPr>
            <a:r>
              <a:rPr sz="825" b="0">
                <a:solidFill>
                  <a:srgbClr val="77838C"/>
                </a:solidFill>
              </a:rPr>
              <a:t>Source: observation schema implemented in GridGraphBuilder</a:t>
            </a:r>
          </a:p>
        </p:txBody>
      </p:sp>
    </p:spTree>
    <p:extLst>
      <p:ext uri="{BB962C8B-B14F-4D97-AF65-F5344CB8AC3E}">
        <p14:creationId xmlns:p14="http://schemas.microsoft.com/office/powerpoint/2010/main" val="407280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5-title">
            <a:extLst>
              <a:ext uri="{FF2B5EF4-FFF2-40B4-BE49-F238E27FC236}">
                <a16:creationId xmlns:a16="http://schemas.microsoft.com/office/drawing/2014/main" id="{48225CC0-35A9-40E3-9269-36B6BED1B329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112776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111820"/>
                </a:solidFill>
              </a:defRPr>
            </a:pPr>
            <a:r>
              <a:rPr sz="2250" b="1">
                <a:solidFill>
                  <a:srgbClr val="111820"/>
                </a:solidFill>
              </a:rPr>
              <a:t>Topology-control research is moving toward coordinated regional agents</a:t>
            </a:r>
          </a:p>
        </p:txBody>
      </p:sp>
      <p:sp>
        <p:nvSpPr>
          <p:cNvPr id="2" name="slide5-subtitle">
            <a:extLst>
              <a:ext uri="{FF2B5EF4-FFF2-40B4-BE49-F238E27FC236}">
                <a16:creationId xmlns:a16="http://schemas.microsoft.com/office/drawing/2014/main" id="{A9227FD2-6994-44C9-8B06-D057A22A6E42}"/>
              </a:ext>
            </a:extLst>
          </p:cNvPr>
          <p:cNvSpPr>
            <a:spLocks noGrp="1"/>
          </p:cNvSpPr>
          <p:nvPr/>
        </p:nvSpPr>
        <p:spPr>
          <a:xfrm>
            <a:off x="476250" y="762000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5A6875"/>
                </a:solidFill>
              </a:defRPr>
            </a:pPr>
            <a:r>
              <a:rPr sz="1125" b="0">
                <a:solidFill>
                  <a:srgbClr val="5A6875"/>
                </a:solidFill>
              </a:rPr>
              <a:t>Representative Grid2Op / L2RPN studies · references [1]–[6]</a:t>
            </a:r>
          </a:p>
        </p:txBody>
      </p:sp>
      <p:sp>
        <p:nvSpPr>
          <p:cNvPr id="3" name="single-agent-band">
            <a:extLst>
              <a:ext uri="{FF2B5EF4-FFF2-40B4-BE49-F238E27FC236}">
                <a16:creationId xmlns:a16="http://schemas.microsoft.com/office/drawing/2014/main" id="{897FA4C7-601D-471C-862E-BC64D041D9A1}"/>
              </a:ext>
            </a:extLst>
          </p:cNvPr>
          <p:cNvSpPr>
            <a:spLocks noGrp="1"/>
          </p:cNvSpPr>
          <p:nvPr/>
        </p:nvSpPr>
        <p:spPr>
          <a:xfrm>
            <a:off x="361950" y="1200150"/>
            <a:ext cx="5495925" cy="4343400"/>
          </a:xfrm>
          <a:prstGeom prst="roundRect">
            <a:avLst>
              <a:gd name="adj" fmla="val 3070"/>
            </a:avLst>
          </a:prstGeom>
          <a:solidFill>
            <a:srgbClr val="F6FAFD"/>
          </a:solidFill>
          <a:ln w="9525">
            <a:solidFill>
              <a:srgbClr val="D7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multi-agent-band">
            <a:extLst>
              <a:ext uri="{FF2B5EF4-FFF2-40B4-BE49-F238E27FC236}">
                <a16:creationId xmlns:a16="http://schemas.microsoft.com/office/drawing/2014/main" id="{0D37206C-B645-4891-9025-0F7ED6413F3E}"/>
              </a:ext>
            </a:extLst>
          </p:cNvPr>
          <p:cNvSpPr>
            <a:spLocks noGrp="1"/>
          </p:cNvSpPr>
          <p:nvPr/>
        </p:nvSpPr>
        <p:spPr>
          <a:xfrm>
            <a:off x="6334125" y="1200150"/>
            <a:ext cx="5495925" cy="4343400"/>
          </a:xfrm>
          <a:prstGeom prst="roundRect">
            <a:avLst>
              <a:gd name="adj" fmla="val 3070"/>
            </a:avLst>
          </a:prstGeom>
          <a:solidFill>
            <a:srgbClr val="F5FBFA"/>
          </a:solidFill>
          <a:ln w="9525">
            <a:solidFill>
              <a:srgbClr val="D1E7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ingle-agent-header">
            <a:extLst>
              <a:ext uri="{FF2B5EF4-FFF2-40B4-BE49-F238E27FC236}">
                <a16:creationId xmlns:a16="http://schemas.microsoft.com/office/drawing/2014/main" id="{86A0D961-662F-4E0A-B5A5-2261CB150990}"/>
              </a:ext>
            </a:extLst>
          </p:cNvPr>
          <p:cNvSpPr>
            <a:spLocks noGrp="1"/>
          </p:cNvSpPr>
          <p:nvPr/>
        </p:nvSpPr>
        <p:spPr>
          <a:xfrm>
            <a:off x="590550" y="1362075"/>
            <a:ext cx="2095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76F9A"/>
                </a:solidFill>
              </a:defRPr>
            </a:pPr>
            <a:r>
              <a:rPr sz="1500" b="1">
                <a:solidFill>
                  <a:srgbClr val="276F9A"/>
                </a:solidFill>
              </a:rPr>
              <a:t>SINGLE AGENT</a:t>
            </a:r>
          </a:p>
        </p:txBody>
      </p:sp>
      <p:sp>
        <p:nvSpPr>
          <p:cNvPr id="6" name="single-agent-summary">
            <a:extLst>
              <a:ext uri="{FF2B5EF4-FFF2-40B4-BE49-F238E27FC236}">
                <a16:creationId xmlns:a16="http://schemas.microsoft.com/office/drawing/2014/main" id="{2F99670E-9CAE-4612-B27B-6F78CF7A2AAA}"/>
              </a:ext>
            </a:extLst>
          </p:cNvPr>
          <p:cNvSpPr>
            <a:spLocks noGrp="1"/>
          </p:cNvSpPr>
          <p:nvPr/>
        </p:nvSpPr>
        <p:spPr>
          <a:xfrm>
            <a:off x="590550" y="1657350"/>
            <a:ext cx="4905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07386"/>
                </a:solidFill>
              </a:defRPr>
            </a:pPr>
            <a:r>
              <a:rPr sz="1125" b="0">
                <a:solidFill>
                  <a:srgbClr val="607386"/>
                </a:solidFill>
              </a:rPr>
              <a:t>One policy sees the grid and chooses from a global action set</a:t>
            </a:r>
          </a:p>
        </p:txBody>
      </p:sp>
      <p:sp>
        <p:nvSpPr>
          <p:cNvPr id="7" name="multi-agent-header">
            <a:extLst>
              <a:ext uri="{FF2B5EF4-FFF2-40B4-BE49-F238E27FC236}">
                <a16:creationId xmlns:a16="http://schemas.microsoft.com/office/drawing/2014/main" id="{6F056327-0D1A-442F-96EA-6E617E8BC189}"/>
              </a:ext>
            </a:extLst>
          </p:cNvPr>
          <p:cNvSpPr>
            <a:spLocks noGrp="1"/>
          </p:cNvSpPr>
          <p:nvPr/>
        </p:nvSpPr>
        <p:spPr>
          <a:xfrm>
            <a:off x="6562725" y="1362075"/>
            <a:ext cx="2095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46E6B"/>
                </a:solidFill>
              </a:defRPr>
            </a:pPr>
            <a:r>
              <a:rPr sz="1500" b="1">
                <a:solidFill>
                  <a:srgbClr val="146E6B"/>
                </a:solidFill>
              </a:rPr>
              <a:t>MULTI-AGENT</a:t>
            </a:r>
          </a:p>
        </p:txBody>
      </p:sp>
      <p:sp>
        <p:nvSpPr>
          <p:cNvPr id="8" name="multi-agent-summary">
            <a:extLst>
              <a:ext uri="{FF2B5EF4-FFF2-40B4-BE49-F238E27FC236}">
                <a16:creationId xmlns:a16="http://schemas.microsoft.com/office/drawing/2014/main" id="{E845B5E3-F766-493C-83A6-D2A916FF53BC}"/>
              </a:ext>
            </a:extLst>
          </p:cNvPr>
          <p:cNvSpPr>
            <a:spLocks noGrp="1"/>
          </p:cNvSpPr>
          <p:nvPr/>
        </p:nvSpPr>
        <p:spPr>
          <a:xfrm>
            <a:off x="6562725" y="1657350"/>
            <a:ext cx="4905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07386"/>
                </a:solidFill>
              </a:defRPr>
            </a:pPr>
            <a:r>
              <a:rPr sz="1125" b="0">
                <a:solidFill>
                  <a:srgbClr val="607386"/>
                </a:solidFill>
              </a:rPr>
              <a:t>Control is divided by substation or region, then coordinated</a:t>
            </a:r>
          </a:p>
        </p:txBody>
      </p:sp>
      <p:sp>
        <p:nvSpPr>
          <p:cNvPr id="9" name="subramanian-marker">
            <a:extLst>
              <a:ext uri="{FF2B5EF4-FFF2-40B4-BE49-F238E27FC236}">
                <a16:creationId xmlns:a16="http://schemas.microsoft.com/office/drawing/2014/main" id="{B1A0766B-3CF4-465D-9D0A-A046ED28F57C}"/>
              </a:ext>
            </a:extLst>
          </p:cNvPr>
          <p:cNvSpPr>
            <a:spLocks noGrp="1"/>
          </p:cNvSpPr>
          <p:nvPr/>
        </p:nvSpPr>
        <p:spPr>
          <a:xfrm>
            <a:off x="590550" y="2152650"/>
            <a:ext cx="495300" cy="276225"/>
          </a:xfrm>
          <a:prstGeom prst="roundRect">
            <a:avLst>
              <a:gd name="adj" fmla="val 27586"/>
            </a:avLst>
          </a:prstGeom>
          <a:solidFill>
            <a:srgbClr val="EAF3FA"/>
          </a:solidFill>
          <a:ln w="12383">
            <a:solidFill>
              <a:srgbClr val="276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ubramanian-year">
            <a:extLst>
              <a:ext uri="{FF2B5EF4-FFF2-40B4-BE49-F238E27FC236}">
                <a16:creationId xmlns:a16="http://schemas.microsoft.com/office/drawing/2014/main" id="{1E9E9C71-6635-4724-9ECE-9278BC72A4AD}"/>
              </a:ext>
            </a:extLst>
          </p:cNvPr>
          <p:cNvSpPr>
            <a:spLocks noGrp="1"/>
          </p:cNvSpPr>
          <p:nvPr/>
        </p:nvSpPr>
        <p:spPr>
          <a:xfrm>
            <a:off x="590550" y="2162175"/>
            <a:ext cx="495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38" b="1">
                <a:solidFill>
                  <a:srgbClr val="276F9A"/>
                </a:solidFill>
              </a:defRPr>
            </a:pPr>
            <a:r>
              <a:rPr sz="938" b="1">
                <a:solidFill>
                  <a:srgbClr val="276F9A"/>
                </a:solidFill>
              </a:rPr>
              <a:t>2021</a:t>
            </a:r>
          </a:p>
        </p:txBody>
      </p:sp>
      <p:sp>
        <p:nvSpPr>
          <p:cNvPr id="11" name="subramanian-title">
            <a:extLst>
              <a:ext uri="{FF2B5EF4-FFF2-40B4-BE49-F238E27FC236}">
                <a16:creationId xmlns:a16="http://schemas.microsoft.com/office/drawing/2014/main" id="{B7A1ABA7-942A-4416-B16F-C00C03AED3A9}"/>
              </a:ext>
            </a:extLst>
          </p:cNvPr>
          <p:cNvSpPr>
            <a:spLocks noGrp="1"/>
          </p:cNvSpPr>
          <p:nvPr/>
        </p:nvSpPr>
        <p:spPr>
          <a:xfrm>
            <a:off x="1238250" y="2105025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33442"/>
                </a:solidFill>
              </a:defRPr>
            </a:pPr>
            <a:r>
              <a:rPr sz="1200" b="1">
                <a:solidFill>
                  <a:srgbClr val="233442"/>
                </a:solidFill>
              </a:rPr>
              <a:t>Simple deep RL baseline  [1]</a:t>
            </a:r>
          </a:p>
        </p:txBody>
      </p:sp>
      <p:sp>
        <p:nvSpPr>
          <p:cNvPr id="12" name="subramanian-contribution">
            <a:extLst>
              <a:ext uri="{FF2B5EF4-FFF2-40B4-BE49-F238E27FC236}">
                <a16:creationId xmlns:a16="http://schemas.microsoft.com/office/drawing/2014/main" id="{65D4FCB4-31A8-46F7-8422-360BCF74B99C}"/>
              </a:ext>
            </a:extLst>
          </p:cNvPr>
          <p:cNvSpPr>
            <a:spLocks noGrp="1"/>
          </p:cNvSpPr>
          <p:nvPr/>
        </p:nvSpPr>
        <p:spPr>
          <a:xfrm>
            <a:off x="1238250" y="2400300"/>
            <a:ext cx="4267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526574"/>
                </a:solidFill>
              </a:defRPr>
            </a:pPr>
            <a:r>
              <a:rPr sz="1050" b="0">
                <a:solidFill>
                  <a:srgbClr val="526574"/>
                </a:solidFill>
              </a:rPr>
              <a:t>IEEE-14 topology switching; strong transfer from one training scenario.</a:t>
            </a:r>
          </a:p>
        </p:txBody>
      </p:sp>
      <p:sp>
        <p:nvSpPr>
          <p:cNvPr id="13" name="yoon-marker">
            <a:extLst>
              <a:ext uri="{FF2B5EF4-FFF2-40B4-BE49-F238E27FC236}">
                <a16:creationId xmlns:a16="http://schemas.microsoft.com/office/drawing/2014/main" id="{017E8ABA-DA92-4099-8F2C-593CA62D2C73}"/>
              </a:ext>
            </a:extLst>
          </p:cNvPr>
          <p:cNvSpPr>
            <a:spLocks noGrp="1"/>
          </p:cNvSpPr>
          <p:nvPr/>
        </p:nvSpPr>
        <p:spPr>
          <a:xfrm>
            <a:off x="590550" y="3181350"/>
            <a:ext cx="495300" cy="276225"/>
          </a:xfrm>
          <a:prstGeom prst="roundRect">
            <a:avLst>
              <a:gd name="adj" fmla="val 27586"/>
            </a:avLst>
          </a:prstGeom>
          <a:solidFill>
            <a:srgbClr val="EAF3FA"/>
          </a:solidFill>
          <a:ln w="12383">
            <a:solidFill>
              <a:srgbClr val="276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yoon-year">
            <a:extLst>
              <a:ext uri="{FF2B5EF4-FFF2-40B4-BE49-F238E27FC236}">
                <a16:creationId xmlns:a16="http://schemas.microsoft.com/office/drawing/2014/main" id="{A1F07EA3-3EC7-4484-BF35-C1057D096FE0}"/>
              </a:ext>
            </a:extLst>
          </p:cNvPr>
          <p:cNvSpPr>
            <a:spLocks noGrp="1"/>
          </p:cNvSpPr>
          <p:nvPr/>
        </p:nvSpPr>
        <p:spPr>
          <a:xfrm>
            <a:off x="590550" y="3190875"/>
            <a:ext cx="495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38" b="1">
                <a:solidFill>
                  <a:srgbClr val="276F9A"/>
                </a:solidFill>
              </a:defRPr>
            </a:pPr>
            <a:r>
              <a:rPr sz="938" b="1">
                <a:solidFill>
                  <a:srgbClr val="276F9A"/>
                </a:solidFill>
              </a:rPr>
              <a:t>2021</a:t>
            </a:r>
          </a:p>
        </p:txBody>
      </p:sp>
      <p:sp>
        <p:nvSpPr>
          <p:cNvPr id="15" name="yoon-title">
            <a:extLst>
              <a:ext uri="{FF2B5EF4-FFF2-40B4-BE49-F238E27FC236}">
                <a16:creationId xmlns:a16="http://schemas.microsoft.com/office/drawing/2014/main" id="{6A513AF1-62E2-47E4-9E16-78B4EF430A1F}"/>
              </a:ext>
            </a:extLst>
          </p:cNvPr>
          <p:cNvSpPr>
            <a:spLocks noGrp="1"/>
          </p:cNvSpPr>
          <p:nvPr/>
        </p:nvSpPr>
        <p:spPr>
          <a:xfrm>
            <a:off x="1238250" y="3133725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33442"/>
                </a:solidFill>
              </a:defRPr>
            </a:pPr>
            <a:r>
              <a:rPr sz="1200" b="1">
                <a:solidFill>
                  <a:srgbClr val="233442"/>
                </a:solidFill>
              </a:rPr>
              <a:t>Hierarchical SMAAC  [2]</a:t>
            </a:r>
          </a:p>
        </p:txBody>
      </p:sp>
      <p:sp>
        <p:nvSpPr>
          <p:cNvPr id="16" name="yoon-contribution">
            <a:extLst>
              <a:ext uri="{FF2B5EF4-FFF2-40B4-BE49-F238E27FC236}">
                <a16:creationId xmlns:a16="http://schemas.microsoft.com/office/drawing/2014/main" id="{94545BB6-D878-489E-90CB-3FF1CDFF97AB}"/>
              </a:ext>
            </a:extLst>
          </p:cNvPr>
          <p:cNvSpPr>
            <a:spLocks noGrp="1"/>
          </p:cNvSpPr>
          <p:nvPr/>
        </p:nvSpPr>
        <p:spPr>
          <a:xfrm>
            <a:off x="1238250" y="3429000"/>
            <a:ext cx="4267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526574"/>
                </a:solidFill>
              </a:defRPr>
            </a:pPr>
            <a:r>
              <a:rPr sz="1050" b="0">
                <a:solidFill>
                  <a:srgbClr val="526574"/>
                </a:solidFill>
              </a:rPr>
              <a:t>Graph attention + afterstate evaluation reduce the global decision burden.</a:t>
            </a:r>
          </a:p>
        </p:txBody>
      </p:sp>
      <p:sp>
        <p:nvSpPr>
          <p:cNvPr id="17" name="zhou-marker">
            <a:extLst>
              <a:ext uri="{FF2B5EF4-FFF2-40B4-BE49-F238E27FC236}">
                <a16:creationId xmlns:a16="http://schemas.microsoft.com/office/drawing/2014/main" id="{8B33BC15-220C-418A-8DB8-4DD14CE5DCC5}"/>
              </a:ext>
            </a:extLst>
          </p:cNvPr>
          <p:cNvSpPr>
            <a:spLocks noGrp="1"/>
          </p:cNvSpPr>
          <p:nvPr/>
        </p:nvSpPr>
        <p:spPr>
          <a:xfrm>
            <a:off x="590550" y="4210050"/>
            <a:ext cx="495300" cy="276225"/>
          </a:xfrm>
          <a:prstGeom prst="roundRect">
            <a:avLst>
              <a:gd name="adj" fmla="val 27586"/>
            </a:avLst>
          </a:prstGeom>
          <a:solidFill>
            <a:srgbClr val="EAF3FA"/>
          </a:solidFill>
          <a:ln w="12383">
            <a:solidFill>
              <a:srgbClr val="276F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zhou-year">
            <a:extLst>
              <a:ext uri="{FF2B5EF4-FFF2-40B4-BE49-F238E27FC236}">
                <a16:creationId xmlns:a16="http://schemas.microsoft.com/office/drawing/2014/main" id="{1BADB687-3FAC-4D7C-A4BE-43E9242D0302}"/>
              </a:ext>
            </a:extLst>
          </p:cNvPr>
          <p:cNvSpPr>
            <a:spLocks noGrp="1"/>
          </p:cNvSpPr>
          <p:nvPr/>
        </p:nvSpPr>
        <p:spPr>
          <a:xfrm>
            <a:off x="590550" y="4219575"/>
            <a:ext cx="495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38" b="1">
                <a:solidFill>
                  <a:srgbClr val="276F9A"/>
                </a:solidFill>
              </a:defRPr>
            </a:pPr>
            <a:r>
              <a:rPr sz="938" b="1">
                <a:solidFill>
                  <a:srgbClr val="276F9A"/>
                </a:solidFill>
              </a:rPr>
              <a:t>2021</a:t>
            </a:r>
          </a:p>
        </p:txBody>
      </p:sp>
      <p:sp>
        <p:nvSpPr>
          <p:cNvPr id="19" name="zhou-title">
            <a:extLst>
              <a:ext uri="{FF2B5EF4-FFF2-40B4-BE49-F238E27FC236}">
                <a16:creationId xmlns:a16="http://schemas.microsoft.com/office/drawing/2014/main" id="{923BAFB0-A4AC-4B0C-A193-6AB48CC253CC}"/>
              </a:ext>
            </a:extLst>
          </p:cNvPr>
          <p:cNvSpPr>
            <a:spLocks noGrp="1"/>
          </p:cNvSpPr>
          <p:nvPr/>
        </p:nvSpPr>
        <p:spPr>
          <a:xfrm>
            <a:off x="1238250" y="4162425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33442"/>
                </a:solidFill>
              </a:defRPr>
            </a:pPr>
            <a:r>
              <a:rPr sz="1200" b="1">
                <a:solidFill>
                  <a:srgbClr val="233442"/>
                </a:solidFill>
              </a:rPr>
              <a:t>Policy-guided safe search  [3]</a:t>
            </a:r>
          </a:p>
        </p:txBody>
      </p:sp>
      <p:sp>
        <p:nvSpPr>
          <p:cNvPr id="20" name="zhou-contribution">
            <a:extLst>
              <a:ext uri="{FF2B5EF4-FFF2-40B4-BE49-F238E27FC236}">
                <a16:creationId xmlns:a16="http://schemas.microsoft.com/office/drawing/2014/main" id="{82BA2BBA-CD4A-41E3-937D-C4B954C873CF}"/>
              </a:ext>
            </a:extLst>
          </p:cNvPr>
          <p:cNvSpPr>
            <a:spLocks noGrp="1"/>
          </p:cNvSpPr>
          <p:nvPr/>
        </p:nvSpPr>
        <p:spPr>
          <a:xfrm>
            <a:off x="1238250" y="4457700"/>
            <a:ext cx="4267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526574"/>
                </a:solidFill>
              </a:defRPr>
            </a:pPr>
            <a:r>
              <a:rPr sz="1050" b="0">
                <a:solidFill>
                  <a:srgbClr val="526574"/>
                </a:solidFill>
              </a:rPr>
              <a:t>The policy proposes candidates; Grid2Op simulation filters unsafe actions.</a:t>
            </a:r>
          </a:p>
        </p:txBody>
      </p:sp>
      <p:sp>
        <p:nvSpPr>
          <p:cNvPr id="21" name="vandersar-marker">
            <a:extLst>
              <a:ext uri="{FF2B5EF4-FFF2-40B4-BE49-F238E27FC236}">
                <a16:creationId xmlns:a16="http://schemas.microsoft.com/office/drawing/2014/main" id="{2EB9F353-1473-49B4-80F3-560CD9E310F1}"/>
              </a:ext>
            </a:extLst>
          </p:cNvPr>
          <p:cNvSpPr>
            <a:spLocks noGrp="1"/>
          </p:cNvSpPr>
          <p:nvPr/>
        </p:nvSpPr>
        <p:spPr>
          <a:xfrm>
            <a:off x="6562725" y="2152650"/>
            <a:ext cx="495300" cy="276225"/>
          </a:xfrm>
          <a:prstGeom prst="roundRect">
            <a:avLst>
              <a:gd name="adj" fmla="val 27586"/>
            </a:avLst>
          </a:prstGeom>
          <a:solidFill>
            <a:srgbClr val="EAF8F7"/>
          </a:solidFill>
          <a:ln w="12383">
            <a:solidFill>
              <a:srgbClr val="146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vandersar-year">
            <a:extLst>
              <a:ext uri="{FF2B5EF4-FFF2-40B4-BE49-F238E27FC236}">
                <a16:creationId xmlns:a16="http://schemas.microsoft.com/office/drawing/2014/main" id="{4E4EB264-2075-4CB0-BB3F-70FC71AB8FF3}"/>
              </a:ext>
            </a:extLst>
          </p:cNvPr>
          <p:cNvSpPr>
            <a:spLocks noGrp="1"/>
          </p:cNvSpPr>
          <p:nvPr/>
        </p:nvSpPr>
        <p:spPr>
          <a:xfrm>
            <a:off x="6562725" y="2162175"/>
            <a:ext cx="495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38" b="1">
                <a:solidFill>
                  <a:srgbClr val="146E6B"/>
                </a:solidFill>
              </a:defRPr>
            </a:pPr>
            <a:r>
              <a:rPr sz="938" b="1">
                <a:solidFill>
                  <a:srgbClr val="146E6B"/>
                </a:solidFill>
              </a:rPr>
              <a:t>2023</a:t>
            </a:r>
          </a:p>
        </p:txBody>
      </p:sp>
      <p:sp>
        <p:nvSpPr>
          <p:cNvPr id="23" name="vandersar-title">
            <a:extLst>
              <a:ext uri="{FF2B5EF4-FFF2-40B4-BE49-F238E27FC236}">
                <a16:creationId xmlns:a16="http://schemas.microsoft.com/office/drawing/2014/main" id="{021D20C8-4AD2-4CDC-AC92-FE2B06C11A7E}"/>
              </a:ext>
            </a:extLst>
          </p:cNvPr>
          <p:cNvSpPr>
            <a:spLocks noGrp="1"/>
          </p:cNvSpPr>
          <p:nvPr/>
        </p:nvSpPr>
        <p:spPr>
          <a:xfrm>
            <a:off x="7210425" y="2105025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33442"/>
                </a:solidFill>
              </a:defRPr>
            </a:pPr>
            <a:r>
              <a:rPr sz="1200" b="1">
                <a:solidFill>
                  <a:srgbClr val="233442"/>
                </a:solidFill>
              </a:rPr>
              <a:t>Substation-level MARL  [4]</a:t>
            </a:r>
          </a:p>
        </p:txBody>
      </p:sp>
      <p:sp>
        <p:nvSpPr>
          <p:cNvPr id="24" name="vandersar-contribution">
            <a:extLst>
              <a:ext uri="{FF2B5EF4-FFF2-40B4-BE49-F238E27FC236}">
                <a16:creationId xmlns:a16="http://schemas.microsoft.com/office/drawing/2014/main" id="{7787990A-34CF-484F-9F75-D83739134CC8}"/>
              </a:ext>
            </a:extLst>
          </p:cNvPr>
          <p:cNvSpPr>
            <a:spLocks noGrp="1"/>
          </p:cNvSpPr>
          <p:nvPr/>
        </p:nvSpPr>
        <p:spPr>
          <a:xfrm>
            <a:off x="7210425" y="2400300"/>
            <a:ext cx="4267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526574"/>
                </a:solidFill>
              </a:defRPr>
            </a:pPr>
            <a:r>
              <a:rPr sz="1050" b="0">
                <a:solidFill>
                  <a:srgbClr val="526574"/>
                </a:solidFill>
              </a:rPr>
              <a:t>Independent / dependent PPO and SACD agents are tested in a hierarchy.</a:t>
            </a:r>
          </a:p>
        </p:txBody>
      </p:sp>
      <p:sp>
        <p:nvSpPr>
          <p:cNvPr id="25" name="demol-marker">
            <a:extLst>
              <a:ext uri="{FF2B5EF4-FFF2-40B4-BE49-F238E27FC236}">
                <a16:creationId xmlns:a16="http://schemas.microsoft.com/office/drawing/2014/main" id="{2D028F76-1AFF-42A0-83D8-E056BF8B7C2E}"/>
              </a:ext>
            </a:extLst>
          </p:cNvPr>
          <p:cNvSpPr>
            <a:spLocks noGrp="1"/>
          </p:cNvSpPr>
          <p:nvPr/>
        </p:nvSpPr>
        <p:spPr>
          <a:xfrm>
            <a:off x="6562725" y="3181350"/>
            <a:ext cx="495300" cy="276225"/>
          </a:xfrm>
          <a:prstGeom prst="roundRect">
            <a:avLst>
              <a:gd name="adj" fmla="val 27586"/>
            </a:avLst>
          </a:prstGeom>
          <a:solidFill>
            <a:srgbClr val="EAF8F7"/>
          </a:solidFill>
          <a:ln w="12383">
            <a:solidFill>
              <a:srgbClr val="146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demol-year">
            <a:extLst>
              <a:ext uri="{FF2B5EF4-FFF2-40B4-BE49-F238E27FC236}">
                <a16:creationId xmlns:a16="http://schemas.microsoft.com/office/drawing/2014/main" id="{403F45F8-10A9-46A9-ACA7-9B52A62A8828}"/>
              </a:ext>
            </a:extLst>
          </p:cNvPr>
          <p:cNvSpPr>
            <a:spLocks noGrp="1"/>
          </p:cNvSpPr>
          <p:nvPr/>
        </p:nvSpPr>
        <p:spPr>
          <a:xfrm>
            <a:off x="6562725" y="3190875"/>
            <a:ext cx="495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38" b="1">
                <a:solidFill>
                  <a:srgbClr val="146E6B"/>
                </a:solidFill>
              </a:defRPr>
            </a:pPr>
            <a:r>
              <a:rPr sz="938" b="1">
                <a:solidFill>
                  <a:srgbClr val="146E6B"/>
                </a:solidFill>
              </a:rPr>
              <a:t>2025</a:t>
            </a:r>
          </a:p>
        </p:txBody>
      </p:sp>
      <p:sp>
        <p:nvSpPr>
          <p:cNvPr id="27" name="demol-title">
            <a:extLst>
              <a:ext uri="{FF2B5EF4-FFF2-40B4-BE49-F238E27FC236}">
                <a16:creationId xmlns:a16="http://schemas.microsoft.com/office/drawing/2014/main" id="{7361C266-8FF2-46C0-8BDF-EDF8D6DC32CA}"/>
              </a:ext>
            </a:extLst>
          </p:cNvPr>
          <p:cNvSpPr>
            <a:spLocks noGrp="1"/>
          </p:cNvSpPr>
          <p:nvPr/>
        </p:nvSpPr>
        <p:spPr>
          <a:xfrm>
            <a:off x="7210425" y="3133725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33442"/>
                </a:solidFill>
              </a:defRPr>
            </a:pPr>
            <a:r>
              <a:rPr sz="1200" b="1">
                <a:solidFill>
                  <a:srgbClr val="233442"/>
                </a:solidFill>
              </a:rPr>
              <a:t>Centrally coordinated MARL  [5]</a:t>
            </a:r>
          </a:p>
        </p:txBody>
      </p:sp>
      <p:sp>
        <p:nvSpPr>
          <p:cNvPr id="28" name="demol-contribution">
            <a:extLst>
              <a:ext uri="{FF2B5EF4-FFF2-40B4-BE49-F238E27FC236}">
                <a16:creationId xmlns:a16="http://schemas.microsoft.com/office/drawing/2014/main" id="{140B3F8E-ADD9-47D7-A41C-82AAAAABEA3F}"/>
              </a:ext>
            </a:extLst>
          </p:cNvPr>
          <p:cNvSpPr>
            <a:spLocks noGrp="1"/>
          </p:cNvSpPr>
          <p:nvPr/>
        </p:nvSpPr>
        <p:spPr>
          <a:xfrm>
            <a:off x="7210425" y="3429000"/>
            <a:ext cx="4267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526574"/>
                </a:solidFill>
              </a:defRPr>
            </a:pPr>
            <a:r>
              <a:rPr sz="1050" b="0">
                <a:solidFill>
                  <a:srgbClr val="526574"/>
                </a:solidFill>
              </a:rPr>
              <a:t>Regional agents propose actions; a learned or greedy coordinator selects one.</a:t>
            </a:r>
          </a:p>
        </p:txBody>
      </p:sp>
      <p:sp>
        <p:nvSpPr>
          <p:cNvPr id="29" name="marl2grid-marker">
            <a:extLst>
              <a:ext uri="{FF2B5EF4-FFF2-40B4-BE49-F238E27FC236}">
                <a16:creationId xmlns:a16="http://schemas.microsoft.com/office/drawing/2014/main" id="{07E16530-3E1D-4780-831B-AEB3A1954ED2}"/>
              </a:ext>
            </a:extLst>
          </p:cNvPr>
          <p:cNvSpPr>
            <a:spLocks noGrp="1"/>
          </p:cNvSpPr>
          <p:nvPr/>
        </p:nvSpPr>
        <p:spPr>
          <a:xfrm>
            <a:off x="6562725" y="4210050"/>
            <a:ext cx="495300" cy="276225"/>
          </a:xfrm>
          <a:prstGeom prst="roundRect">
            <a:avLst>
              <a:gd name="adj" fmla="val 27586"/>
            </a:avLst>
          </a:prstGeom>
          <a:solidFill>
            <a:srgbClr val="EAF8F7"/>
          </a:solidFill>
          <a:ln w="12383">
            <a:solidFill>
              <a:srgbClr val="146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marl2grid-year">
            <a:extLst>
              <a:ext uri="{FF2B5EF4-FFF2-40B4-BE49-F238E27FC236}">
                <a16:creationId xmlns:a16="http://schemas.microsoft.com/office/drawing/2014/main" id="{1AC65CCE-97BF-4522-817F-89B9B59FA1DA}"/>
              </a:ext>
            </a:extLst>
          </p:cNvPr>
          <p:cNvSpPr>
            <a:spLocks noGrp="1"/>
          </p:cNvSpPr>
          <p:nvPr/>
        </p:nvSpPr>
        <p:spPr>
          <a:xfrm>
            <a:off x="6562725" y="4219575"/>
            <a:ext cx="495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38" b="1">
                <a:solidFill>
                  <a:srgbClr val="146E6B"/>
                </a:solidFill>
              </a:defRPr>
            </a:pPr>
            <a:r>
              <a:rPr sz="938" b="1">
                <a:solidFill>
                  <a:srgbClr val="146E6B"/>
                </a:solidFill>
              </a:rPr>
              <a:t>2026</a:t>
            </a:r>
          </a:p>
        </p:txBody>
      </p:sp>
      <p:sp>
        <p:nvSpPr>
          <p:cNvPr id="31" name="marl2grid-title">
            <a:extLst>
              <a:ext uri="{FF2B5EF4-FFF2-40B4-BE49-F238E27FC236}">
                <a16:creationId xmlns:a16="http://schemas.microsoft.com/office/drawing/2014/main" id="{1ED32A70-E27D-490E-8FBB-D4AED8B3732E}"/>
              </a:ext>
            </a:extLst>
          </p:cNvPr>
          <p:cNvSpPr>
            <a:spLocks noGrp="1"/>
          </p:cNvSpPr>
          <p:nvPr/>
        </p:nvSpPr>
        <p:spPr>
          <a:xfrm>
            <a:off x="7210425" y="4162425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33442"/>
                </a:solidFill>
              </a:defRPr>
            </a:pPr>
            <a:r>
              <a:rPr sz="1200" b="1">
                <a:solidFill>
                  <a:srgbClr val="233442"/>
                </a:solidFill>
              </a:rPr>
              <a:t>MARL2Grid-TR benchmark  [6]</a:t>
            </a:r>
          </a:p>
        </p:txBody>
      </p:sp>
      <p:sp>
        <p:nvSpPr>
          <p:cNvPr id="32" name="marl2grid-contribution">
            <a:extLst>
              <a:ext uri="{FF2B5EF4-FFF2-40B4-BE49-F238E27FC236}">
                <a16:creationId xmlns:a16="http://schemas.microsoft.com/office/drawing/2014/main" id="{8AA50A17-F920-42FD-ABC2-4968DF930230}"/>
              </a:ext>
            </a:extLst>
          </p:cNvPr>
          <p:cNvSpPr>
            <a:spLocks noGrp="1"/>
          </p:cNvSpPr>
          <p:nvPr/>
        </p:nvSpPr>
        <p:spPr>
          <a:xfrm>
            <a:off x="7210425" y="4457700"/>
            <a:ext cx="4267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526574"/>
                </a:solidFill>
              </a:defRPr>
            </a:pPr>
            <a:r>
              <a:rPr sz="1050" b="0">
                <a:solidFill>
                  <a:srgbClr val="526574"/>
                </a:solidFill>
              </a:rPr>
              <a:t>Configurable local observability and agents for topology and redispatch control.</a:t>
            </a:r>
          </a:p>
        </p:txBody>
      </p:sp>
      <p:sp>
        <p:nvSpPr>
          <p:cNvPr id="33" name="literature-takeaway-band">
            <a:extLst>
              <a:ext uri="{FF2B5EF4-FFF2-40B4-BE49-F238E27FC236}">
                <a16:creationId xmlns:a16="http://schemas.microsoft.com/office/drawing/2014/main" id="{94DD24BC-9A94-4AEB-99F7-3C70632AEB4A}"/>
              </a:ext>
            </a:extLst>
          </p:cNvPr>
          <p:cNvSpPr>
            <a:spLocks noGrp="1"/>
          </p:cNvSpPr>
          <p:nvPr/>
        </p:nvSpPr>
        <p:spPr>
          <a:xfrm>
            <a:off x="361950" y="5743575"/>
            <a:ext cx="11468100" cy="666750"/>
          </a:xfrm>
          <a:prstGeom prst="roundRect">
            <a:avLst>
              <a:gd name="adj" fmla="val 17143"/>
            </a:avLst>
          </a:prstGeom>
          <a:solidFill>
            <a:srgbClr val="FFF7EE"/>
          </a:solidFill>
          <a:ln w="9525">
            <a:solidFill>
              <a:srgbClr val="F0D5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literature-takeaway-label">
            <a:extLst>
              <a:ext uri="{FF2B5EF4-FFF2-40B4-BE49-F238E27FC236}">
                <a16:creationId xmlns:a16="http://schemas.microsoft.com/office/drawing/2014/main" id="{189C4DB0-FF1C-494D-B6AC-13F814ABE043}"/>
              </a:ext>
            </a:extLst>
          </p:cNvPr>
          <p:cNvSpPr>
            <a:spLocks noGrp="1"/>
          </p:cNvSpPr>
          <p:nvPr/>
        </p:nvSpPr>
        <p:spPr>
          <a:xfrm>
            <a:off x="590550" y="5867400"/>
            <a:ext cx="16573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A75A24"/>
                </a:solidFill>
              </a:defRPr>
            </a:pPr>
            <a:r>
              <a:rPr sz="975" b="1">
                <a:solidFill>
                  <a:srgbClr val="A75A24"/>
                </a:solidFill>
              </a:rPr>
              <a:t>OPEN CHALLENGE</a:t>
            </a:r>
          </a:p>
        </p:txBody>
      </p:sp>
      <p:sp>
        <p:nvSpPr>
          <p:cNvPr id="35" name="literature-takeaway">
            <a:extLst>
              <a:ext uri="{FF2B5EF4-FFF2-40B4-BE49-F238E27FC236}">
                <a16:creationId xmlns:a16="http://schemas.microsoft.com/office/drawing/2014/main" id="{574A7C3C-6173-4A51-8344-D7282003C010}"/>
              </a:ext>
            </a:extLst>
          </p:cNvPr>
          <p:cNvSpPr>
            <a:spLocks noGrp="1"/>
          </p:cNvSpPr>
          <p:nvPr/>
        </p:nvSpPr>
        <p:spPr>
          <a:xfrm>
            <a:off x="2266950" y="5819775"/>
            <a:ext cx="9191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49392C"/>
                </a:solidFill>
              </a:defRPr>
            </a:pPr>
            <a:r>
              <a:rPr sz="1350" b="1">
                <a:solidFill>
                  <a:srgbClr val="49392C"/>
                </a:solidFill>
              </a:rPr>
              <a:t>Stable coordination on large grids under partial observability and safety constraints remains unresolved.</a:t>
            </a:r>
          </a:p>
        </p:txBody>
      </p:sp>
    </p:spTree>
    <p:extLst>
      <p:ext uri="{BB962C8B-B14F-4D97-AF65-F5344CB8AC3E}">
        <p14:creationId xmlns:p14="http://schemas.microsoft.com/office/powerpoint/2010/main" val="2132947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6-title">
            <a:extLst>
              <a:ext uri="{FF2B5EF4-FFF2-40B4-BE49-F238E27FC236}">
                <a16:creationId xmlns:a16="http://schemas.microsoft.com/office/drawing/2014/main" id="{4953A351-4073-4204-8B97-A3221AD05A9E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112776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111820"/>
                </a:solidFill>
              </a:defRPr>
            </a:pPr>
            <a:r>
              <a:rPr sz="2250" b="1">
                <a:solidFill>
                  <a:srgbClr val="111820"/>
                </a:solidFill>
              </a:rPr>
              <a:t>References</a:t>
            </a:r>
          </a:p>
        </p:txBody>
      </p:sp>
      <p:sp>
        <p:nvSpPr>
          <p:cNvPr id="2" name="slide6-subtitle">
            <a:extLst>
              <a:ext uri="{FF2B5EF4-FFF2-40B4-BE49-F238E27FC236}">
                <a16:creationId xmlns:a16="http://schemas.microsoft.com/office/drawing/2014/main" id="{9343E1C7-A206-43DA-A1B8-82366E4B843E}"/>
              </a:ext>
            </a:extLst>
          </p:cNvPr>
          <p:cNvSpPr>
            <a:spLocks noGrp="1"/>
          </p:cNvSpPr>
          <p:nvPr/>
        </p:nvSpPr>
        <p:spPr>
          <a:xfrm>
            <a:off x="476250" y="76200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5A6875"/>
                </a:solidFill>
              </a:defRPr>
            </a:pPr>
            <a:r>
              <a:rPr sz="1125" b="0">
                <a:solidFill>
                  <a:srgbClr val="5A6875"/>
                </a:solidFill>
              </a:rPr>
              <a:t>Representative Grid2Op / L2RPN topology-control literature cited in the review</a:t>
            </a:r>
          </a:p>
        </p:txBody>
      </p:sp>
      <p:sp>
        <p:nvSpPr>
          <p:cNvPr id="3" name="reference-divider">
            <a:extLst>
              <a:ext uri="{FF2B5EF4-FFF2-40B4-BE49-F238E27FC236}">
                <a16:creationId xmlns:a16="http://schemas.microsoft.com/office/drawing/2014/main" id="{DC91EF70-F499-401C-B0A2-6BA695898D8A}"/>
              </a:ext>
            </a:extLst>
          </p:cNvPr>
          <p:cNvSpPr>
            <a:spLocks noGrp="1"/>
          </p:cNvSpPr>
          <p:nvPr/>
        </p:nvSpPr>
        <p:spPr>
          <a:xfrm>
            <a:off x="6057900" y="1314450"/>
            <a:ext cx="9525" cy="4705350"/>
          </a:xfrm>
          <a:prstGeom prst="rect">
            <a:avLst/>
          </a:prstGeom>
          <a:solidFill>
            <a:srgbClr val="DCE4EA"/>
          </a:solidFill>
          <a:ln w="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f1-number">
            <a:extLst>
              <a:ext uri="{FF2B5EF4-FFF2-40B4-BE49-F238E27FC236}">
                <a16:creationId xmlns:a16="http://schemas.microsoft.com/office/drawing/2014/main" id="{5F5F0C69-11B7-4133-AAE7-296AB89CC346}"/>
              </a:ext>
            </a:extLst>
          </p:cNvPr>
          <p:cNvSpPr>
            <a:spLocks noGrp="1"/>
          </p:cNvSpPr>
          <p:nvPr/>
        </p:nvSpPr>
        <p:spPr>
          <a:xfrm>
            <a:off x="552450" y="1419225"/>
            <a:ext cx="333375" cy="333375"/>
          </a:xfrm>
          <a:prstGeom prst="ellipse">
            <a:avLst/>
          </a:prstGeom>
          <a:solidFill>
            <a:srgbClr val="2F7CA8"/>
          </a:solidFill>
          <a:ln w="0">
            <a:solidFill>
              <a:srgbClr val="2F7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f1-number-text">
            <a:extLst>
              <a:ext uri="{FF2B5EF4-FFF2-40B4-BE49-F238E27FC236}">
                <a16:creationId xmlns:a16="http://schemas.microsoft.com/office/drawing/2014/main" id="{1CBA35AE-3F90-48B2-BF1C-6FE376393C6D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3333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ef1-citation">
            <a:extLst>
              <a:ext uri="{FF2B5EF4-FFF2-40B4-BE49-F238E27FC236}">
                <a16:creationId xmlns:a16="http://schemas.microsoft.com/office/drawing/2014/main" id="{512A8935-5349-4703-A90D-FD70150D029C}"/>
              </a:ext>
            </a:extLst>
          </p:cNvPr>
          <p:cNvSpPr>
            <a:spLocks noGrp="1"/>
          </p:cNvSpPr>
          <p:nvPr/>
        </p:nvSpPr>
        <p:spPr>
          <a:xfrm>
            <a:off x="1028700" y="1390650"/>
            <a:ext cx="47625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88" b="0">
                <a:solidFill>
                  <a:srgbClr val="2D3F4D"/>
                </a:solidFill>
              </a:defRPr>
            </a:pPr>
            <a:r>
              <a:rPr sz="1088" b="0">
                <a:solidFill>
                  <a:srgbClr val="2D3F4D"/>
                </a:solidFill>
              </a:rPr>
              <a:t>Subramanian, M., Viebahn, J., Tindemans, S. H., Donnot, B., &amp; Marot, A. (2021). Exploring grid topology reconfiguration using a simple deep reinforcement learning approach. IEEE Madrid PowerTech.</a:t>
            </a:r>
          </a:p>
        </p:txBody>
      </p:sp>
      <p:sp>
        <p:nvSpPr>
          <p:cNvPr id="7" name="ref1-link">
            <a:extLst>
              <a:ext uri="{FF2B5EF4-FFF2-40B4-BE49-F238E27FC236}">
                <a16:creationId xmlns:a16="http://schemas.microsoft.com/office/drawing/2014/main" id="{C9AB8E68-0970-4BBD-8027-B968437EC514}"/>
              </a:ext>
            </a:extLst>
          </p:cNvPr>
          <p:cNvSpPr>
            <a:spLocks noGrp="1"/>
          </p:cNvSpPr>
          <p:nvPr/>
        </p:nvSpPr>
        <p:spPr>
          <a:xfrm>
            <a:off x="1028700" y="225742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63" b="0">
                <a:solidFill>
                  <a:srgbClr val="2F7CA8"/>
                </a:solidFill>
              </a:defRPr>
            </a:pPr>
            <a:r>
              <a:rPr sz="863" b="0">
                <a:solidFill>
                  <a:srgbClr val="2F7CA8"/>
                </a:solidFill>
              </a:rPr>
              <a:t>doi.org/10.1109/PowerTech46648.2021.9494879</a:t>
            </a:r>
          </a:p>
        </p:txBody>
      </p:sp>
      <p:sp>
        <p:nvSpPr>
          <p:cNvPr id="8" name="ref2-number">
            <a:extLst>
              <a:ext uri="{FF2B5EF4-FFF2-40B4-BE49-F238E27FC236}">
                <a16:creationId xmlns:a16="http://schemas.microsoft.com/office/drawing/2014/main" id="{AB5AB544-3AC8-426B-A24A-508E1A501F94}"/>
              </a:ext>
            </a:extLst>
          </p:cNvPr>
          <p:cNvSpPr>
            <a:spLocks noGrp="1"/>
          </p:cNvSpPr>
          <p:nvPr/>
        </p:nvSpPr>
        <p:spPr>
          <a:xfrm>
            <a:off x="552450" y="2962275"/>
            <a:ext cx="333375" cy="333375"/>
          </a:xfrm>
          <a:prstGeom prst="ellipse">
            <a:avLst/>
          </a:prstGeom>
          <a:solidFill>
            <a:srgbClr val="2F7CA8"/>
          </a:solidFill>
          <a:ln w="0">
            <a:solidFill>
              <a:srgbClr val="2F7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f2-number-text">
            <a:extLst>
              <a:ext uri="{FF2B5EF4-FFF2-40B4-BE49-F238E27FC236}">
                <a16:creationId xmlns:a16="http://schemas.microsoft.com/office/drawing/2014/main" id="{6F6BF44F-D8BD-4FAE-A3BB-5B54A5FA809D}"/>
              </a:ext>
            </a:extLst>
          </p:cNvPr>
          <p:cNvSpPr>
            <a:spLocks noGrp="1"/>
          </p:cNvSpPr>
          <p:nvPr/>
        </p:nvSpPr>
        <p:spPr>
          <a:xfrm>
            <a:off x="552450" y="2971800"/>
            <a:ext cx="3333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ref2-citation">
            <a:extLst>
              <a:ext uri="{FF2B5EF4-FFF2-40B4-BE49-F238E27FC236}">
                <a16:creationId xmlns:a16="http://schemas.microsoft.com/office/drawing/2014/main" id="{B6446271-826F-4538-8999-69CA5BB9486A}"/>
              </a:ext>
            </a:extLst>
          </p:cNvPr>
          <p:cNvSpPr>
            <a:spLocks noGrp="1"/>
          </p:cNvSpPr>
          <p:nvPr/>
        </p:nvSpPr>
        <p:spPr>
          <a:xfrm>
            <a:off x="1028700" y="2933700"/>
            <a:ext cx="47625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88" b="0">
                <a:solidFill>
                  <a:srgbClr val="2D3F4D"/>
                </a:solidFill>
              </a:defRPr>
            </a:pPr>
            <a:r>
              <a:rPr sz="1088" b="0">
                <a:solidFill>
                  <a:srgbClr val="2D3F4D"/>
                </a:solidFill>
              </a:rPr>
              <a:t>Yoon, D., Hong, S., Lee, B.-J., &amp; Kim, K.-E. (2021). Winning the L2RPN Challenge: Power grid management via semi-Markov afterstate actor-critic. ICLR 2021.</a:t>
            </a:r>
          </a:p>
        </p:txBody>
      </p:sp>
      <p:sp>
        <p:nvSpPr>
          <p:cNvPr id="11" name="ref2-link">
            <a:extLst>
              <a:ext uri="{FF2B5EF4-FFF2-40B4-BE49-F238E27FC236}">
                <a16:creationId xmlns:a16="http://schemas.microsoft.com/office/drawing/2014/main" id="{30784303-4E57-480E-8FA6-712568E4705F}"/>
              </a:ext>
            </a:extLst>
          </p:cNvPr>
          <p:cNvSpPr>
            <a:spLocks noGrp="1"/>
          </p:cNvSpPr>
          <p:nvPr/>
        </p:nvSpPr>
        <p:spPr>
          <a:xfrm>
            <a:off x="1028700" y="380047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63" b="0">
                <a:solidFill>
                  <a:srgbClr val="2F7CA8"/>
                </a:solidFill>
              </a:defRPr>
            </a:pPr>
            <a:r>
              <a:rPr sz="863" b="0">
                <a:solidFill>
                  <a:srgbClr val="2F7CA8"/>
                </a:solidFill>
              </a:rPr>
              <a:t>openreview.net/forum?id=LmUJqB1Cz8</a:t>
            </a:r>
          </a:p>
        </p:txBody>
      </p:sp>
      <p:sp>
        <p:nvSpPr>
          <p:cNvPr id="12" name="ref3-number">
            <a:extLst>
              <a:ext uri="{FF2B5EF4-FFF2-40B4-BE49-F238E27FC236}">
                <a16:creationId xmlns:a16="http://schemas.microsoft.com/office/drawing/2014/main" id="{11E695AE-8276-4C73-8E77-7A11BFE959A3}"/>
              </a:ext>
            </a:extLst>
          </p:cNvPr>
          <p:cNvSpPr>
            <a:spLocks noGrp="1"/>
          </p:cNvSpPr>
          <p:nvPr/>
        </p:nvSpPr>
        <p:spPr>
          <a:xfrm>
            <a:off x="552450" y="4505325"/>
            <a:ext cx="333375" cy="333375"/>
          </a:xfrm>
          <a:prstGeom prst="ellipse">
            <a:avLst/>
          </a:prstGeom>
          <a:solidFill>
            <a:srgbClr val="2F7CA8"/>
          </a:solidFill>
          <a:ln w="0">
            <a:solidFill>
              <a:srgbClr val="2F7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f3-number-text">
            <a:extLst>
              <a:ext uri="{FF2B5EF4-FFF2-40B4-BE49-F238E27FC236}">
                <a16:creationId xmlns:a16="http://schemas.microsoft.com/office/drawing/2014/main" id="{9A11C8FE-25B3-4D18-99F1-3D9B7AD3FC68}"/>
              </a:ext>
            </a:extLst>
          </p:cNvPr>
          <p:cNvSpPr>
            <a:spLocks noGrp="1"/>
          </p:cNvSpPr>
          <p:nvPr/>
        </p:nvSpPr>
        <p:spPr>
          <a:xfrm>
            <a:off x="552450" y="4514850"/>
            <a:ext cx="3333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ref3-citation">
            <a:extLst>
              <a:ext uri="{FF2B5EF4-FFF2-40B4-BE49-F238E27FC236}">
                <a16:creationId xmlns:a16="http://schemas.microsoft.com/office/drawing/2014/main" id="{82983822-D0D9-40C0-B18E-6CAABED04B99}"/>
              </a:ext>
            </a:extLst>
          </p:cNvPr>
          <p:cNvSpPr>
            <a:spLocks noGrp="1"/>
          </p:cNvSpPr>
          <p:nvPr/>
        </p:nvSpPr>
        <p:spPr>
          <a:xfrm>
            <a:off x="1028700" y="4476750"/>
            <a:ext cx="47625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88" b="0">
                <a:solidFill>
                  <a:srgbClr val="2D3F4D"/>
                </a:solidFill>
              </a:defRPr>
            </a:pPr>
            <a:r>
              <a:rPr sz="1088" b="0">
                <a:solidFill>
                  <a:srgbClr val="2D3F4D"/>
                </a:solidFill>
              </a:rPr>
              <a:t>Zhou, B., Zeng, H., Liu, Y., Li, K., Wang, F., &amp; Tian, H. (2021). Action set based policy optimization for safe power grid management. ECML PKDD 2021.</a:t>
            </a:r>
          </a:p>
        </p:txBody>
      </p:sp>
      <p:sp>
        <p:nvSpPr>
          <p:cNvPr id="15" name="ref3-link">
            <a:extLst>
              <a:ext uri="{FF2B5EF4-FFF2-40B4-BE49-F238E27FC236}">
                <a16:creationId xmlns:a16="http://schemas.microsoft.com/office/drawing/2014/main" id="{DE52D265-3529-41D3-8DB4-98C93F47DE5B}"/>
              </a:ext>
            </a:extLst>
          </p:cNvPr>
          <p:cNvSpPr>
            <a:spLocks noGrp="1"/>
          </p:cNvSpPr>
          <p:nvPr/>
        </p:nvSpPr>
        <p:spPr>
          <a:xfrm>
            <a:off x="1028700" y="534352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63" b="0">
                <a:solidFill>
                  <a:srgbClr val="2F7CA8"/>
                </a:solidFill>
              </a:defRPr>
            </a:pPr>
            <a:r>
              <a:rPr sz="863" b="0">
                <a:solidFill>
                  <a:srgbClr val="2F7CA8"/>
                </a:solidFill>
              </a:rPr>
              <a:t>arxiv.org/abs/2106.15200</a:t>
            </a:r>
          </a:p>
        </p:txBody>
      </p:sp>
      <p:sp>
        <p:nvSpPr>
          <p:cNvPr id="16" name="ref4-number">
            <a:extLst>
              <a:ext uri="{FF2B5EF4-FFF2-40B4-BE49-F238E27FC236}">
                <a16:creationId xmlns:a16="http://schemas.microsoft.com/office/drawing/2014/main" id="{BBFCDCA9-0010-48BF-A6A4-A38BCBF557BF}"/>
              </a:ext>
            </a:extLst>
          </p:cNvPr>
          <p:cNvSpPr>
            <a:spLocks noGrp="1"/>
          </p:cNvSpPr>
          <p:nvPr/>
        </p:nvSpPr>
        <p:spPr>
          <a:xfrm>
            <a:off x="6391275" y="1419225"/>
            <a:ext cx="333375" cy="333375"/>
          </a:xfrm>
          <a:prstGeom prst="ellipse">
            <a:avLst/>
          </a:prstGeom>
          <a:solidFill>
            <a:srgbClr val="16817C"/>
          </a:solidFill>
          <a:ln w="0">
            <a:solidFill>
              <a:srgbClr val="1681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f4-number-text">
            <a:extLst>
              <a:ext uri="{FF2B5EF4-FFF2-40B4-BE49-F238E27FC236}">
                <a16:creationId xmlns:a16="http://schemas.microsoft.com/office/drawing/2014/main" id="{6A45C2C3-1486-4AB5-990B-61A164088152}"/>
              </a:ext>
            </a:extLst>
          </p:cNvPr>
          <p:cNvSpPr>
            <a:spLocks noGrp="1"/>
          </p:cNvSpPr>
          <p:nvPr/>
        </p:nvSpPr>
        <p:spPr>
          <a:xfrm>
            <a:off x="6391275" y="1428750"/>
            <a:ext cx="3333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ref4-citation">
            <a:extLst>
              <a:ext uri="{FF2B5EF4-FFF2-40B4-BE49-F238E27FC236}">
                <a16:creationId xmlns:a16="http://schemas.microsoft.com/office/drawing/2014/main" id="{32C1EF93-A7D7-4245-A6CE-63B1AD37D5DA}"/>
              </a:ext>
            </a:extLst>
          </p:cNvPr>
          <p:cNvSpPr>
            <a:spLocks noGrp="1"/>
          </p:cNvSpPr>
          <p:nvPr/>
        </p:nvSpPr>
        <p:spPr>
          <a:xfrm>
            <a:off x="6867525" y="1390650"/>
            <a:ext cx="47625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88" b="0">
                <a:solidFill>
                  <a:srgbClr val="2D3F4D"/>
                </a:solidFill>
              </a:defRPr>
            </a:pPr>
            <a:r>
              <a:rPr sz="1088" b="0">
                <a:solidFill>
                  <a:srgbClr val="2D3F4D"/>
                </a:solidFill>
              </a:rPr>
              <a:t>van der Sar, E., Zocca, A., &amp; Bhulai, S. (2023). Multi-agent reinforcement learning for power grid topology optimization. arXiv:2310.02605.</a:t>
            </a:r>
          </a:p>
        </p:txBody>
      </p:sp>
      <p:sp>
        <p:nvSpPr>
          <p:cNvPr id="19" name="ref4-link">
            <a:extLst>
              <a:ext uri="{FF2B5EF4-FFF2-40B4-BE49-F238E27FC236}">
                <a16:creationId xmlns:a16="http://schemas.microsoft.com/office/drawing/2014/main" id="{FAA38138-C22F-43AB-B706-571883739ED2}"/>
              </a:ext>
            </a:extLst>
          </p:cNvPr>
          <p:cNvSpPr>
            <a:spLocks noGrp="1"/>
          </p:cNvSpPr>
          <p:nvPr/>
        </p:nvSpPr>
        <p:spPr>
          <a:xfrm>
            <a:off x="6867525" y="225742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63" b="0">
                <a:solidFill>
                  <a:srgbClr val="16817C"/>
                </a:solidFill>
              </a:defRPr>
            </a:pPr>
            <a:r>
              <a:rPr sz="863" b="0">
                <a:solidFill>
                  <a:srgbClr val="16817C"/>
                </a:solidFill>
              </a:rPr>
              <a:t>arxiv.org/abs/2310.02605</a:t>
            </a:r>
          </a:p>
        </p:txBody>
      </p:sp>
      <p:sp>
        <p:nvSpPr>
          <p:cNvPr id="20" name="ref5-number">
            <a:extLst>
              <a:ext uri="{FF2B5EF4-FFF2-40B4-BE49-F238E27FC236}">
                <a16:creationId xmlns:a16="http://schemas.microsoft.com/office/drawing/2014/main" id="{438EE867-3AB2-4960-8DC8-DA8B461D62F8}"/>
              </a:ext>
            </a:extLst>
          </p:cNvPr>
          <p:cNvSpPr>
            <a:spLocks noGrp="1"/>
          </p:cNvSpPr>
          <p:nvPr/>
        </p:nvSpPr>
        <p:spPr>
          <a:xfrm>
            <a:off x="6391275" y="2962275"/>
            <a:ext cx="333375" cy="333375"/>
          </a:xfrm>
          <a:prstGeom prst="ellipse">
            <a:avLst/>
          </a:prstGeom>
          <a:solidFill>
            <a:srgbClr val="16817C"/>
          </a:solidFill>
          <a:ln w="0">
            <a:solidFill>
              <a:srgbClr val="1681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f5-number-text">
            <a:extLst>
              <a:ext uri="{FF2B5EF4-FFF2-40B4-BE49-F238E27FC236}">
                <a16:creationId xmlns:a16="http://schemas.microsoft.com/office/drawing/2014/main" id="{043DCA9B-ED8F-4BF7-BEDB-03C035B39D2C}"/>
              </a:ext>
            </a:extLst>
          </p:cNvPr>
          <p:cNvSpPr>
            <a:spLocks noGrp="1"/>
          </p:cNvSpPr>
          <p:nvPr/>
        </p:nvSpPr>
        <p:spPr>
          <a:xfrm>
            <a:off x="6391275" y="2971800"/>
            <a:ext cx="3333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ref5-citation">
            <a:extLst>
              <a:ext uri="{FF2B5EF4-FFF2-40B4-BE49-F238E27FC236}">
                <a16:creationId xmlns:a16="http://schemas.microsoft.com/office/drawing/2014/main" id="{84A77ED2-775F-4E8D-A8A9-BA1419E6A37B}"/>
              </a:ext>
            </a:extLst>
          </p:cNvPr>
          <p:cNvSpPr>
            <a:spLocks noGrp="1"/>
          </p:cNvSpPr>
          <p:nvPr/>
        </p:nvSpPr>
        <p:spPr>
          <a:xfrm>
            <a:off x="6867525" y="2933700"/>
            <a:ext cx="47625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88" b="0">
                <a:solidFill>
                  <a:srgbClr val="2D3F4D"/>
                </a:solidFill>
              </a:defRPr>
            </a:pPr>
            <a:r>
              <a:rPr sz="1088" b="0">
                <a:solidFill>
                  <a:srgbClr val="2D3F4D"/>
                </a:solidFill>
              </a:rPr>
              <a:t>de Mol, B., Barbieri, D., Viebahn, J., &amp; Grossi, D. (2025). Centrally coordinated multi-agent reinforcement learning for power grid topology control. arXiv:2502.08681.</a:t>
            </a:r>
          </a:p>
        </p:txBody>
      </p:sp>
      <p:sp>
        <p:nvSpPr>
          <p:cNvPr id="23" name="ref5-link">
            <a:extLst>
              <a:ext uri="{FF2B5EF4-FFF2-40B4-BE49-F238E27FC236}">
                <a16:creationId xmlns:a16="http://schemas.microsoft.com/office/drawing/2014/main" id="{8BB3660C-CFD4-4835-92DA-99576C166661}"/>
              </a:ext>
            </a:extLst>
          </p:cNvPr>
          <p:cNvSpPr>
            <a:spLocks noGrp="1"/>
          </p:cNvSpPr>
          <p:nvPr/>
        </p:nvSpPr>
        <p:spPr>
          <a:xfrm>
            <a:off x="6867525" y="380047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63" b="0">
                <a:solidFill>
                  <a:srgbClr val="16817C"/>
                </a:solidFill>
              </a:defRPr>
            </a:pPr>
            <a:r>
              <a:rPr sz="863" b="0">
                <a:solidFill>
                  <a:srgbClr val="16817C"/>
                </a:solidFill>
              </a:rPr>
              <a:t>arxiv.org/abs/2502.08681</a:t>
            </a:r>
          </a:p>
        </p:txBody>
      </p:sp>
      <p:sp>
        <p:nvSpPr>
          <p:cNvPr id="24" name="ref6-number">
            <a:extLst>
              <a:ext uri="{FF2B5EF4-FFF2-40B4-BE49-F238E27FC236}">
                <a16:creationId xmlns:a16="http://schemas.microsoft.com/office/drawing/2014/main" id="{62AFEAE5-95E7-4CE8-AD6F-7E1D349BCFF9}"/>
              </a:ext>
            </a:extLst>
          </p:cNvPr>
          <p:cNvSpPr>
            <a:spLocks noGrp="1"/>
          </p:cNvSpPr>
          <p:nvPr/>
        </p:nvSpPr>
        <p:spPr>
          <a:xfrm>
            <a:off x="6391275" y="4505325"/>
            <a:ext cx="333375" cy="333375"/>
          </a:xfrm>
          <a:prstGeom prst="ellipse">
            <a:avLst/>
          </a:prstGeom>
          <a:solidFill>
            <a:srgbClr val="16817C"/>
          </a:solidFill>
          <a:ln w="0">
            <a:solidFill>
              <a:srgbClr val="1681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f6-number-text">
            <a:extLst>
              <a:ext uri="{FF2B5EF4-FFF2-40B4-BE49-F238E27FC236}">
                <a16:creationId xmlns:a16="http://schemas.microsoft.com/office/drawing/2014/main" id="{F7578730-81C8-436B-B3FA-63DEDDB3B127}"/>
              </a:ext>
            </a:extLst>
          </p:cNvPr>
          <p:cNvSpPr>
            <a:spLocks noGrp="1"/>
          </p:cNvSpPr>
          <p:nvPr/>
        </p:nvSpPr>
        <p:spPr>
          <a:xfrm>
            <a:off x="6391275" y="4514850"/>
            <a:ext cx="3333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ref6-citation">
            <a:extLst>
              <a:ext uri="{FF2B5EF4-FFF2-40B4-BE49-F238E27FC236}">
                <a16:creationId xmlns:a16="http://schemas.microsoft.com/office/drawing/2014/main" id="{58EBF23F-929D-4E87-8D98-F8694B015401}"/>
              </a:ext>
            </a:extLst>
          </p:cNvPr>
          <p:cNvSpPr>
            <a:spLocks noGrp="1"/>
          </p:cNvSpPr>
          <p:nvPr/>
        </p:nvSpPr>
        <p:spPr>
          <a:xfrm>
            <a:off x="6867525" y="4476750"/>
            <a:ext cx="47625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88" b="0">
                <a:solidFill>
                  <a:srgbClr val="2D3F4D"/>
                </a:solidFill>
              </a:defRPr>
            </a:pPr>
            <a:r>
              <a:rPr sz="1088" b="0">
                <a:solidFill>
                  <a:srgbClr val="2D3F4D"/>
                </a:solidFill>
              </a:rPr>
              <a:t>Marchesini, E., Boguslawski, E., Leite, A., Amato, C., Dussartre, M., Schoenauer, M., Donnot, B., &amp; Donti, P. L. (2026). MARL2Grid-TR: A multi-agent RL benchmark in power grid operations. ICLR 2026.</a:t>
            </a:r>
          </a:p>
        </p:txBody>
      </p:sp>
      <p:sp>
        <p:nvSpPr>
          <p:cNvPr id="27" name="ref6-link">
            <a:extLst>
              <a:ext uri="{FF2B5EF4-FFF2-40B4-BE49-F238E27FC236}">
                <a16:creationId xmlns:a16="http://schemas.microsoft.com/office/drawing/2014/main" id="{4B074F4C-191D-4361-8D61-75388D2B8A73}"/>
              </a:ext>
            </a:extLst>
          </p:cNvPr>
          <p:cNvSpPr>
            <a:spLocks noGrp="1"/>
          </p:cNvSpPr>
          <p:nvPr/>
        </p:nvSpPr>
        <p:spPr>
          <a:xfrm>
            <a:off x="6867525" y="534352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63" b="0">
                <a:solidFill>
                  <a:srgbClr val="16817C"/>
                </a:solidFill>
              </a:defRPr>
            </a:pPr>
            <a:r>
              <a:rPr sz="863" b="0">
                <a:solidFill>
                  <a:srgbClr val="16817C"/>
                </a:solidFill>
              </a:rPr>
              <a:t>openreview.net/forum?id=mpAMH1OyMO</a:t>
            </a:r>
          </a:p>
        </p:txBody>
      </p:sp>
    </p:spTree>
    <p:extLst>
      <p:ext uri="{BB962C8B-B14F-4D97-AF65-F5344CB8AC3E}">
        <p14:creationId xmlns:p14="http://schemas.microsoft.com/office/powerpoint/2010/main" val="3384045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1509</Words>
  <Application>Microsoft Macintosh PowerPoint</Application>
  <DocSecurity>0</DocSecurity>
  <PresentationFormat>Grand écran</PresentationFormat>
  <Paragraphs>315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ChatGPT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Corentin Stéphane Marin Plumet</cp:lastModifiedBy>
  <cp:revision>3</cp:revision>
  <dcterms:created xsi:type="dcterms:W3CDTF">2026-07-19T10:14:41Z</dcterms:created>
  <dcterms:modified xsi:type="dcterms:W3CDTF">2026-07-20T07:24:09Z</dcterms:modified>
</cp:coreProperties>
</file>