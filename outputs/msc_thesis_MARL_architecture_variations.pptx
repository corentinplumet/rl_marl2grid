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4C1A8A3-306A-4EB7-A6B1-4F7E0EB9C5D6}" styleName="Style moyen 3 - Accentuation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3"/>
  </p:normalViewPr>
  <p:slideViewPr>
    <p:cSldViewPr snapToGrid="0">
      <p:cViewPr varScale="1">
        <p:scale>
          <a:sx n="157" d="100"/>
          <a:sy n="157" d="100"/>
        </p:scale>
        <p:origin x="512"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Today i ll present the refinement of my msc thesis on graph-structured multi-agent reinforcement learning for power grid topology control and the results of the first baseline i implemented.</a:t>
            </a:r>
          </a:p>
          <a:p>
            <a:endParaRPr sz="1200">
              <a:solidFill>
                <a:schemeClr val="tx1"/>
              </a:solidFill>
              <a:latin typeface="Arial"/>
              <a:ea typeface="Arial"/>
              <a:cs typeface="Arial"/>
            </a:endParaRPr>
          </a:p>
          <a:p>
            <a:r>
              <a:rPr sz="1200">
                <a:solidFill>
                  <a:schemeClr val="tx1"/>
                </a:solidFill>
                <a:latin typeface="Arial"/>
                <a:ea typeface="Arial"/>
                <a:cs typeface="Arial"/>
              </a:rPr>
              <a:t>The goal is to improve how reinforcement learning can scale and coordinate decisions in realistic power grid environments.”</a:t>
            </a: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Power grid operation is a challenging control problem.</a:t>
            </a:r>
          </a:p>
          <a:p>
            <a:r>
              <a:rPr sz="1200">
                <a:solidFill>
                  <a:schemeClr val="tx1"/>
                </a:solidFill>
                <a:latin typeface="Arial"/>
                <a:ea typeface="Arial"/>
                <a:cs typeface="Arial"/>
              </a:rPr>
              <a:t>Operators need to make real-time decisions under uncertainty, while maintaining strict safety constraints like line limits and supply-demand balance.</a:t>
            </a:r>
          </a:p>
          <a:p>
            <a:endParaRPr sz="1200">
              <a:solidFill>
                <a:schemeClr val="tx1"/>
              </a:solidFill>
              <a:latin typeface="Arial"/>
              <a:ea typeface="Arial"/>
              <a:cs typeface="Arial"/>
            </a:endParaRPr>
          </a:p>
          <a:p>
            <a:r>
              <a:rPr sz="1200">
                <a:solidFill>
                  <a:schemeClr val="tx1"/>
                </a:solidFill>
                <a:latin typeface="Arial"/>
                <a:ea typeface="Arial"/>
                <a:cs typeface="Arial"/>
              </a:rPr>
              <a:t>One important control mechanism is topology actions, which allow rerouting power flows by modifying the grid structure.</a:t>
            </a:r>
          </a:p>
          <a:p>
            <a:endParaRPr sz="1200">
              <a:solidFill>
                <a:schemeClr val="tx1"/>
              </a:solidFill>
              <a:latin typeface="Arial"/>
              <a:ea typeface="Arial"/>
              <a:cs typeface="Arial"/>
            </a:endParaRPr>
          </a:p>
          <a:p>
            <a:r>
              <a:rPr sz="1200">
                <a:solidFill>
                  <a:schemeClr val="tx1"/>
                </a:solidFill>
                <a:latin typeface="Arial"/>
                <a:ea typeface="Arial"/>
                <a:cs typeface="Arial"/>
              </a:rPr>
              <a:t>Reinforcement learning is promising for this type of sequential decision-making problem, but the action space is extremely large.</a:t>
            </a:r>
          </a:p>
          <a:p>
            <a:endParaRPr sz="1200">
              <a:solidFill>
                <a:schemeClr val="tx1"/>
              </a:solidFill>
              <a:latin typeface="Arial"/>
              <a:ea typeface="Arial"/>
              <a:cs typeface="Arial"/>
            </a:endParaRPr>
          </a:p>
          <a:p>
            <a:r>
              <a:rPr sz="1200">
                <a:solidFill>
                  <a:schemeClr val="tx1"/>
                </a:solidFill>
                <a:latin typeface="Arial"/>
                <a:ea typeface="Arial"/>
                <a:cs typeface="Arial"/>
              </a:rPr>
              <a:t>Current approaches have limitations:</a:t>
            </a:r>
          </a:p>
          <a:p>
            <a:pPr>
              <a:buNone/>
            </a:pPr>
            <a:r>
              <a:rPr sz="1200">
                <a:solidFill>
                  <a:schemeClr val="tx1"/>
                </a:solidFill>
                <a:latin typeface="Arial"/>
                <a:ea typeface="Arial"/>
                <a:cs typeface="Arial"/>
              </a:rPr>
              <a:t>- optimization methods are too slow and don’t scale well and they don't enable real time monitoring</a:t>
            </a:r>
          </a:p>
          <a:p>
            <a:pPr>
              <a:buNone/>
            </a:pPr>
            <a:r>
              <a:rPr sz="1200">
                <a:solidFill>
                  <a:schemeClr val="tx1"/>
                </a:solidFill>
                <a:latin typeface="Arial"/>
                <a:ea typeface="Arial"/>
                <a:cs typeface="Arial"/>
              </a:rPr>
              <a:t>- single-agent RL ignores decentralization that is happening in real life</a:t>
            </a:r>
          </a:p>
          <a:p>
            <a:pPr>
              <a:buNone/>
            </a:pPr>
            <a:r>
              <a:rPr sz="1200">
                <a:solidFill>
                  <a:schemeClr val="tx1"/>
                </a:solidFill>
                <a:latin typeface="Arial"/>
                <a:ea typeface="Arial"/>
                <a:cs typeface="Arial"/>
              </a:rPr>
              <a:t>- and existing multi-agent RL still struggles with coordination and scalability.</a:t>
            </a: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In the literature, topology control is mainly tackled using reinforcement learning methods like PPO, DQN variants, SMAAC, or MCTS.</a:t>
            </a:r>
          </a:p>
          <a:p>
            <a:endParaRPr sz="1200">
              <a:solidFill>
                <a:schemeClr val="tx1"/>
              </a:solidFill>
              <a:latin typeface="Arial"/>
              <a:ea typeface="Arial"/>
              <a:cs typeface="Arial"/>
            </a:endParaRPr>
          </a:p>
          <a:p>
            <a:r>
              <a:rPr sz="1200">
                <a:solidFill>
                  <a:schemeClr val="tx1"/>
                </a:solidFill>
                <a:latin typeface="Arial"/>
                <a:ea typeface="Arial"/>
                <a:cs typeface="Arial"/>
              </a:rPr>
              <a:t>A key observation is that </a:t>
            </a:r>
            <a:r>
              <a:rPr sz="1200" b="1">
                <a:solidFill>
                  <a:schemeClr val="tx1"/>
                </a:solidFill>
                <a:latin typeface="Arial"/>
                <a:ea typeface="Arial"/>
                <a:cs typeface="Arial"/>
              </a:rPr>
              <a:t>structure of the whole pipeline matters as much as the RL algorithm itself</a:t>
            </a:r>
            <a:r>
              <a:rPr sz="1200">
                <a:solidFill>
                  <a:schemeClr val="tx1"/>
                </a:solidFill>
                <a:latin typeface="Arial"/>
                <a:ea typeface="Arial"/>
                <a:cs typeface="Arial"/>
              </a:rPr>
              <a:t>.</a:t>
            </a:r>
          </a:p>
          <a:p>
            <a:r>
              <a:rPr sz="1200">
                <a:solidFill>
                  <a:schemeClr val="tx1"/>
                </a:solidFill>
                <a:latin typeface="Arial"/>
                <a:ea typeface="Arial"/>
                <a:cs typeface="Arial"/>
              </a:rPr>
              <a:t>Many successful approaches are not pure RL, but hybrid systems that include:</a:t>
            </a:r>
          </a:p>
          <a:p>
            <a:pPr>
              <a:buNone/>
            </a:pPr>
            <a:r>
              <a:rPr sz="1200">
                <a:solidFill>
                  <a:schemeClr val="tx1"/>
                </a:solidFill>
                <a:latin typeface="Arial"/>
                <a:ea typeface="Arial"/>
                <a:cs typeface="Arial"/>
              </a:rPr>
              <a:t>- action-space reduction</a:t>
            </a:r>
          </a:p>
          <a:p>
            <a:pPr>
              <a:buNone/>
            </a:pPr>
            <a:r>
              <a:rPr sz="1200">
                <a:solidFill>
                  <a:schemeClr val="tx1"/>
                </a:solidFill>
                <a:latin typeface="Arial"/>
                <a:ea typeface="Arial"/>
                <a:cs typeface="Arial"/>
              </a:rPr>
              <a:t>- safety heuristics</a:t>
            </a:r>
          </a:p>
          <a:p>
            <a:pPr>
              <a:buNone/>
            </a:pPr>
            <a:r>
              <a:rPr sz="1200">
                <a:solidFill>
                  <a:schemeClr val="tx1"/>
                </a:solidFill>
                <a:latin typeface="Arial"/>
                <a:ea typeface="Arial"/>
                <a:cs typeface="Arial"/>
              </a:rPr>
              <a:t>- or simulation-based filtering</a:t>
            </a:r>
          </a:p>
          <a:p>
            <a:pPr>
              <a:buNone/>
            </a:pPr>
            <a:endParaRPr sz="1200">
              <a:solidFill>
                <a:schemeClr val="tx1"/>
              </a:solidFill>
              <a:latin typeface="Arial"/>
              <a:ea typeface="Arial"/>
              <a:cs typeface="Arial"/>
            </a:endParaRPr>
          </a:p>
          <a:p>
            <a:r>
              <a:rPr sz="1200">
                <a:solidFill>
                  <a:schemeClr val="tx1"/>
                </a:solidFill>
                <a:latin typeface="Arial"/>
                <a:ea typeface="Arial"/>
                <a:cs typeface="Arial"/>
              </a:rPr>
              <a:t>Another important trend is the use of </a:t>
            </a:r>
            <a:r>
              <a:rPr sz="1200" b="1">
                <a:solidFill>
                  <a:schemeClr val="tx1"/>
                </a:solidFill>
                <a:latin typeface="Arial"/>
                <a:ea typeface="Arial"/>
                <a:cs typeface="Arial"/>
              </a:rPr>
              <a:t>graph encoders</a:t>
            </a:r>
            <a:r>
              <a:rPr sz="1200">
                <a:solidFill>
                  <a:schemeClr val="tx1"/>
                </a:solidFill>
                <a:latin typeface="Arial"/>
                <a:ea typeface="Arial"/>
                <a:cs typeface="Arial"/>
              </a:rPr>
              <a:t>, since the grid is naturally a graph and topology changes directly affect that structure.</a:t>
            </a: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chronic is a complete time series of load, generation and possible disturbances. I create the train/test split once using a fixed seed. Training workers only access the 80% training subset. During training, I periodically evaluate greedily on held-out chronics and select the best checkpoint using test survival. The final reported performance is computed over the entire held-out split rather than a small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grid is partitioned into three strongly connected regions. Each decentralized actor controls only its assigned substations, but its decisions affect the entire grid through the AC power flow. Coordination is therefore implicit: an action that solves a local overload can create congestion in another agent’s region.”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Arial"/>
                <a:ea typeface="Arial"/>
                <a:cs typeface="Arial"/>
              </a:rPr>
              <a:t>To dive a little deeper i have been looking at a survey that summarize all the algorithms that won the l2rpn challenge and this is the main categories of succesfull agentthat won the challenge.</a:t>
            </a:r>
          </a:p>
          <a:p>
            <a:endParaRPr sz="1200">
              <a:solidFill>
                <a:schemeClr val="tx1"/>
              </a:solidFill>
              <a:latin typeface="Arial"/>
              <a:ea typeface="Arial"/>
              <a:cs typeface="Arial"/>
            </a:endParaRPr>
          </a:p>
          <a:p>
            <a:r>
              <a:rPr sz="1200">
                <a:solidFill>
                  <a:schemeClr val="tx1"/>
                </a:solidFill>
                <a:latin typeface="Arial"/>
                <a:ea typeface="Arial"/>
                <a:cs typeface="Arial"/>
              </a:rPr>
              <a:t>Some approaches rely on a single global agent with strong engineering tricks.</a:t>
            </a:r>
          </a:p>
          <a:p>
            <a:endParaRPr sz="1200">
              <a:solidFill>
                <a:schemeClr val="tx1"/>
              </a:solidFill>
              <a:latin typeface="Arial"/>
              <a:ea typeface="Arial"/>
              <a:cs typeface="Arial"/>
            </a:endParaRPr>
          </a:p>
          <a:p>
            <a:r>
              <a:rPr sz="1200">
                <a:solidFill>
                  <a:schemeClr val="tx1"/>
                </a:solidFill>
                <a:latin typeface="Arial"/>
                <a:ea typeface="Arial"/>
                <a:cs typeface="Arial"/>
              </a:rPr>
              <a:t>For example, they use graph neural networks combined with value-based RL, and validate actions using power-flow simulations.</a:t>
            </a:r>
          </a:p>
          <a:p>
            <a:endParaRPr sz="1200">
              <a:solidFill>
                <a:schemeClr val="tx1"/>
              </a:solidFill>
              <a:latin typeface="Arial"/>
              <a:ea typeface="Arial"/>
              <a:cs typeface="Arial"/>
            </a:endParaRPr>
          </a:p>
          <a:p>
            <a:r>
              <a:rPr sz="1200">
                <a:solidFill>
                  <a:schemeClr val="tx1"/>
                </a:solidFill>
                <a:latin typeface="Arial"/>
                <a:ea typeface="Arial"/>
                <a:cs typeface="Arial"/>
              </a:rPr>
              <a:t>Others reduce the action space using masking or pruning.</a:t>
            </a:r>
          </a:p>
          <a:p>
            <a:endParaRPr sz="1200">
              <a:solidFill>
                <a:schemeClr val="tx1"/>
              </a:solidFill>
              <a:latin typeface="Arial"/>
              <a:ea typeface="Arial"/>
              <a:cs typeface="Arial"/>
            </a:endParaRPr>
          </a:p>
          <a:p>
            <a:r>
              <a:rPr sz="1200">
                <a:solidFill>
                  <a:schemeClr val="tx1"/>
                </a:solidFill>
                <a:latin typeface="Arial"/>
                <a:ea typeface="Arial"/>
                <a:cs typeface="Arial"/>
              </a:rPr>
              <a:t>These methods can work, so mixing a single agent with rules, but they suffer because the action space remains very large.”</a:t>
            </a:r>
          </a:p>
          <a:p>
            <a:endParaRPr sz="1200">
              <a:solidFill>
                <a:schemeClr val="tx1"/>
              </a:solidFill>
              <a:latin typeface="Arial"/>
              <a:ea typeface="Arial"/>
              <a:cs typeface="Arial"/>
            </a:endParaRPr>
          </a:p>
          <a:p>
            <a:r>
              <a:rPr sz="1200">
                <a:solidFill>
                  <a:schemeClr val="tx1"/>
                </a:solidFill>
                <a:latin typeface="Arial"/>
                <a:ea typeface="Arial"/>
                <a:cs typeface="Arial"/>
              </a:rPr>
              <a:t>Another important idea is to predict a </a:t>
            </a:r>
            <a:r>
              <a:rPr sz="1200" b="1">
                <a:solidFill>
                  <a:schemeClr val="tx1"/>
                </a:solidFill>
                <a:latin typeface="Arial"/>
                <a:ea typeface="Arial"/>
                <a:cs typeface="Arial"/>
              </a:rPr>
              <a:t>target topology instead of raw actions</a:t>
            </a:r>
            <a:r>
              <a:rPr sz="1200">
                <a:solidFill>
                  <a:schemeClr val="tx1"/>
                </a:solidFill>
                <a:latin typeface="Arial"/>
                <a:ea typeface="Arial"/>
                <a:cs typeface="Arial"/>
              </a:rPr>
              <a:t>.</a:t>
            </a:r>
          </a:p>
          <a:p>
            <a:endParaRPr sz="1200">
              <a:solidFill>
                <a:schemeClr val="tx1"/>
              </a:solidFill>
              <a:latin typeface="Arial"/>
              <a:ea typeface="Arial"/>
              <a:cs typeface="Arial"/>
            </a:endParaRPr>
          </a:p>
          <a:p>
            <a:r>
              <a:rPr sz="1200">
                <a:solidFill>
                  <a:schemeClr val="tx1"/>
                </a:solidFill>
                <a:latin typeface="Arial"/>
                <a:ea typeface="Arial"/>
                <a:cs typeface="Arial"/>
              </a:rPr>
              <a:t>This is used in SMAAC, where the agent learns an afterstate representation—basically the resulting topology after an action.</a:t>
            </a:r>
          </a:p>
          <a:p>
            <a:endParaRPr sz="1200">
              <a:solidFill>
                <a:schemeClr val="tx1"/>
              </a:solidFill>
              <a:latin typeface="Arial"/>
              <a:ea typeface="Arial"/>
              <a:cs typeface="Arial"/>
            </a:endParaRPr>
          </a:p>
          <a:p>
            <a:r>
              <a:rPr sz="1200">
                <a:solidFill>
                  <a:schemeClr val="tx1"/>
                </a:solidFill>
                <a:latin typeface="Arial"/>
                <a:ea typeface="Arial"/>
                <a:cs typeface="Arial"/>
              </a:rPr>
              <a:t>This helps because multiple sequences of actions can lead to the same configuration. So it reduces the action space</a:t>
            </a:r>
          </a:p>
          <a:p>
            <a:endParaRPr sz="1200">
              <a:solidFill>
                <a:schemeClr val="tx1"/>
              </a:solidFill>
              <a:latin typeface="Arial"/>
              <a:ea typeface="Arial"/>
              <a:cs typeface="Arial"/>
            </a:endParaRPr>
          </a:p>
          <a:p>
            <a:endParaRPr sz="1200">
              <a:solidFill>
                <a:schemeClr val="tx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Faculty">
    <p:spTree>
      <p:nvGrpSpPr>
        <p:cNvPr id="1" name=""/>
        <p:cNvGrpSpPr/>
        <p:nvPr/>
      </p:nvGrpSpPr>
      <p:grpSpPr>
        <a:xfrm>
          <a:off x="0" y="0"/>
          <a:ext cx="0" cy="0"/>
          <a:chOff x="0" y="0"/>
          <a:chExt cx="0" cy="0"/>
        </a:xfrm>
      </p:grpSpPr>
      <p:sp>
        <p:nvSpPr>
          <p:cNvPr id="12" name="Espace réservé pour une image  11">
            <a:extLst>
              <a:ext uri="{FF2B5EF4-FFF2-40B4-BE49-F238E27FC236}">
                <a16:creationId xmlns:a16="http://schemas.microsoft.com/office/drawing/2014/main" id="{4CF6F629-51E7-9F40-939D-F50AE3925ADE}"/>
              </a:ext>
            </a:extLst>
          </p:cNvPr>
          <p:cNvSpPr>
            <a:spLocks noGrp="1"/>
          </p:cNvSpPr>
          <p:nvPr>
            <p:ph type="pic" idx="10"/>
          </p:nvPr>
        </p:nvSpPr>
        <p:spPr>
          <a:xfrm>
            <a:off x="1331913" y="0"/>
            <a:ext cx="7812087" cy="4948238"/>
          </a:xfrm>
        </p:spPr>
        <p:txBody>
          <a:bodyPr/>
          <a:lstStyle/>
          <a:p>
            <a:r>
              <a:t>Cliquez sur l'icône pour ajouter une image</a:t>
            </a:r>
          </a:p>
        </p:txBody>
      </p:sp>
      <p:sp>
        <p:nvSpPr>
          <p:cNvPr id="2" name="Title 1">
            <a:extLst>
              <a:ext uri="{FF2B5EF4-FFF2-40B4-BE49-F238E27FC236}">
                <a16:creationId xmlns:a16="http://schemas.microsoft.com/office/drawing/2014/main" id="{7233BB59-6D9A-4453-89C4-56A1C232C439}"/>
              </a:ext>
            </a:extLst>
          </p:cNvPr>
          <p:cNvSpPr>
            <a:spLocks noGrp="1"/>
          </p:cNvSpPr>
          <p:nvPr>
            <p:ph type="ctrTitle"/>
          </p:nvPr>
        </p:nvSpPr>
        <p:spPr>
          <a:xfrm>
            <a:off x="6405563" y="786535"/>
            <a:ext cx="2738437" cy="2338387"/>
          </a:xfrm>
          <a:prstGeom prst="rect">
            <a:avLst/>
          </a:prstGeom>
          <a:solidFill>
            <a:schemeClr val="accent1"/>
          </a:solidFill>
        </p:spPr>
        <p:txBody>
          <a:bodyPr lIns="216000" anchor="ctr">
            <a:normAutofit/>
          </a:bodyPr>
          <a:lstStyle>
            <a:lvl1pPr algn="l">
              <a:buNone/>
              <a:defRPr sz="3600">
                <a:solidFill>
                  <a:schemeClr val="bg1"/>
                </a:solidFill>
              </a:defRPr>
            </a:lvl1pPr>
          </a:lstStyle>
          <a:p>
            <a:r>
              <a:t>Modifiez le style du titre</a:t>
            </a:r>
          </a:p>
        </p:txBody>
      </p:sp>
      <p:sp>
        <p:nvSpPr>
          <p:cNvPr id="3" name="Subtitle 2">
            <a:extLst>
              <a:ext uri="{FF2B5EF4-FFF2-40B4-BE49-F238E27FC236}">
                <a16:creationId xmlns:a16="http://schemas.microsoft.com/office/drawing/2014/main" id="{6D696305-F189-4039-816B-1F2583298090}"/>
              </a:ext>
            </a:extLst>
          </p:cNvPr>
          <p:cNvSpPr>
            <a:spLocks noGrp="1"/>
          </p:cNvSpPr>
          <p:nvPr>
            <p:ph type="subTitle" idx="1"/>
          </p:nvPr>
        </p:nvSpPr>
        <p:spPr>
          <a:xfrm>
            <a:off x="4576763" y="3124922"/>
            <a:ext cx="1828800" cy="1568450"/>
          </a:xfrm>
          <a:prstGeom prst="rect">
            <a:avLst/>
          </a:prstGeom>
          <a:solidFill>
            <a:schemeClr val="tx1"/>
          </a:solidFill>
        </p:spPr>
        <p:txBody>
          <a:bodyPr lIns="90000" anchor="ctr">
            <a:normAutofit/>
          </a:bodyPr>
          <a:lstStyle>
            <a:lvl1pPr marL="0" indent="0" algn="ctr">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t>Modifiez le style des sous-titres du masque</a:t>
            </a:r>
          </a:p>
        </p:txBody>
      </p:sp>
      <p:pic>
        <p:nvPicPr>
          <p:cNvPr id="21" name="Image 8"/>
          <p:cNvPicPr>
            <a:picLocks noChangeAspect="1"/>
          </p:cNvPicPr>
          <p:nvPr/>
        </p:nvPicPr>
        <p:blipFill>
          <a:blip r:embed="rId2"/>
          <a:stretch>
            <a:fillRect/>
          </a:stretch>
        </p:blipFill>
        <p:spPr>
          <a:xfrm>
            <a:off x="82647" y="80283"/>
            <a:ext cx="1175301" cy="508655"/>
          </a:xfrm>
          <a:prstGeom prst="rect">
            <a:avLst/>
          </a:prstGeom>
        </p:spPr>
      </p:pic>
      <p:sp>
        <p:nvSpPr>
          <p:cNvPr id="16" name="Espace réservé du texte 4">
            <a:extLst>
              <a:ext uri="{FF2B5EF4-FFF2-40B4-BE49-F238E27FC236}">
                <a16:creationId xmlns:a16="http://schemas.microsoft.com/office/drawing/2014/main" id="{01960462-6F28-0740-916D-499D3BEDB2BE}"/>
              </a:ext>
            </a:extLst>
          </p:cNvPr>
          <p:cNvSpPr>
            <a:spLocks noGrp="1"/>
          </p:cNvSpPr>
          <p:nvPr>
            <p:ph type="body" idx="11"/>
          </p:nvPr>
        </p:nvSpPr>
        <p:spPr>
          <a:xfrm>
            <a:off x="6400800" y="4683125"/>
            <a:ext cx="1828800" cy="460375"/>
          </a:xfrm>
          <a:prstGeom prst="rect">
            <a:avLst/>
          </a:prstGeom>
          <a:solidFill>
            <a:schemeClr val="bg1"/>
          </a:solidFill>
        </p:spPr>
        <p:txBody>
          <a:bodyPr lIns="90000" anchor="ctr">
            <a:noAutofit/>
          </a:bodyPr>
          <a:lstStyle>
            <a:lvl1pPr marL="0" indent="0" algn="ctr">
              <a:buNone/>
              <a:defRPr sz="1100"/>
            </a:lvl1pPr>
          </a:lstStyle>
          <a:p>
            <a:pPr>
              <a:buNone/>
            </a:pPr>
            <a:r>
              <a:t>Modifier les styles du texte du masque
Deuxième niveau
Troisième niveau
Quatrième niveau
Cinquième niveau</a:t>
            </a:r>
          </a:p>
        </p:txBody>
      </p:sp>
      <p:sp>
        <p:nvSpPr>
          <p:cNvPr id="5" name="Espace réservé du texte 4">
            <a:extLst>
              <a:ext uri="{FF2B5EF4-FFF2-40B4-BE49-F238E27FC236}">
                <a16:creationId xmlns:a16="http://schemas.microsoft.com/office/drawing/2014/main" id="{1E187583-F16A-6F41-8B68-000F9C9C20D3}"/>
              </a:ext>
            </a:extLst>
          </p:cNvPr>
          <p:cNvSpPr>
            <a:spLocks noGrp="1"/>
          </p:cNvSpPr>
          <p:nvPr>
            <p:ph type="body" idx="12"/>
          </p:nvPr>
        </p:nvSpPr>
        <p:spPr>
          <a:xfrm>
            <a:off x="82550" y="4440264"/>
            <a:ext cx="698500" cy="507975"/>
          </a:xfrm>
        </p:spPr>
        <p:txBody>
          <a:bodyPr lIns="0" tIns="0" rIns="0" bIns="0" anchor="b">
            <a:noAutofit/>
          </a:bodyPr>
          <a:lstStyle>
            <a:lvl1pPr marL="114300" indent="-107950">
              <a:buFontTx/>
              <a:buNone/>
              <a:defRPr sz="700">
                <a:solidFill>
                  <a:schemeClr val="tx1"/>
                </a:solidFill>
              </a:defRPr>
            </a:lvl1pPr>
          </a:lstStyle>
          <a:p>
            <a:r>
              <a:t>Modifier les styles du texte du masque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_EPFL">
    <p:spTree>
      <p:nvGrpSpPr>
        <p:cNvPr id="1" name=""/>
        <p:cNvGrpSpPr/>
        <p:nvPr/>
      </p:nvGrpSpPr>
      <p:grpSpPr>
        <a:xfrm>
          <a:off x="0" y="0"/>
          <a:ext cx="0" cy="0"/>
          <a:chOff x="0" y="0"/>
          <a:chExt cx="0" cy="0"/>
        </a:xfrm>
      </p:grpSpPr>
      <p:sp>
        <p:nvSpPr>
          <p:cNvPr id="12" name="Espace réservé pour une image  11">
            <a:extLst>
              <a:ext uri="{FF2B5EF4-FFF2-40B4-BE49-F238E27FC236}">
                <a16:creationId xmlns:a16="http://schemas.microsoft.com/office/drawing/2014/main" id="{4CF6F629-51E7-9F40-939D-F50AE3925ADE}"/>
              </a:ext>
            </a:extLst>
          </p:cNvPr>
          <p:cNvSpPr>
            <a:spLocks noGrp="1"/>
          </p:cNvSpPr>
          <p:nvPr>
            <p:ph type="pic" idx="10"/>
          </p:nvPr>
        </p:nvSpPr>
        <p:spPr>
          <a:xfrm>
            <a:off x="1331913" y="0"/>
            <a:ext cx="7812087" cy="4948238"/>
          </a:xfrm>
        </p:spPr>
        <p:txBody>
          <a:bodyPr/>
          <a:lstStyle/>
          <a:p>
            <a:r>
              <a:t>Cliquez sur l'icône pour ajouter une image</a:t>
            </a:r>
          </a:p>
        </p:txBody>
      </p:sp>
      <p:sp>
        <p:nvSpPr>
          <p:cNvPr id="2" name="Title 1">
            <a:extLst>
              <a:ext uri="{FF2B5EF4-FFF2-40B4-BE49-F238E27FC236}">
                <a16:creationId xmlns:a16="http://schemas.microsoft.com/office/drawing/2014/main" id="{8FB55D89-2FFB-43B0-83A1-C5A303047FE7}"/>
              </a:ext>
            </a:extLst>
          </p:cNvPr>
          <p:cNvSpPr>
            <a:spLocks noGrp="1"/>
          </p:cNvSpPr>
          <p:nvPr>
            <p:ph type="ctrTitle"/>
          </p:nvPr>
        </p:nvSpPr>
        <p:spPr>
          <a:xfrm>
            <a:off x="6405563" y="786535"/>
            <a:ext cx="2738437" cy="2338387"/>
          </a:xfrm>
          <a:prstGeom prst="rect">
            <a:avLst/>
          </a:prstGeom>
          <a:solidFill>
            <a:schemeClr val="accent1"/>
          </a:solidFill>
        </p:spPr>
        <p:txBody>
          <a:bodyPr lIns="216000" anchor="ctr">
            <a:normAutofit/>
          </a:bodyPr>
          <a:lstStyle>
            <a:lvl1pPr algn="l">
              <a:buNone/>
              <a:defRPr sz="3600">
                <a:solidFill>
                  <a:schemeClr val="bg1"/>
                </a:solidFill>
              </a:defRPr>
            </a:lvl1pPr>
          </a:lstStyle>
          <a:p>
            <a:r>
              <a:t>Modifiez le style du titre</a:t>
            </a:r>
          </a:p>
        </p:txBody>
      </p:sp>
      <p:sp>
        <p:nvSpPr>
          <p:cNvPr id="3" name="Subtitle 2">
            <a:extLst>
              <a:ext uri="{FF2B5EF4-FFF2-40B4-BE49-F238E27FC236}">
                <a16:creationId xmlns:a16="http://schemas.microsoft.com/office/drawing/2014/main" id="{E41A6EC4-7393-461A-86F1-FE1B5FD5A1D4}"/>
              </a:ext>
            </a:extLst>
          </p:cNvPr>
          <p:cNvSpPr>
            <a:spLocks noGrp="1"/>
          </p:cNvSpPr>
          <p:nvPr>
            <p:ph type="subTitle" idx="1"/>
          </p:nvPr>
        </p:nvSpPr>
        <p:spPr>
          <a:xfrm>
            <a:off x="4576763" y="3124922"/>
            <a:ext cx="1828800" cy="1568450"/>
          </a:xfrm>
          <a:prstGeom prst="rect">
            <a:avLst/>
          </a:prstGeom>
          <a:solidFill>
            <a:schemeClr val="tx1"/>
          </a:solidFill>
        </p:spPr>
        <p:txBody>
          <a:bodyPr lIns="90000" anchor="ctr">
            <a:normAutofit/>
          </a:bodyPr>
          <a:lstStyle>
            <a:lvl1pPr marL="0" indent="0" algn="ctr">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t>Modifiez le style des sous-titres du masque</a:t>
            </a:r>
          </a:p>
        </p:txBody>
      </p:sp>
      <p:pic>
        <p:nvPicPr>
          <p:cNvPr id="22" name="Image 8"/>
          <p:cNvPicPr>
            <a:picLocks noChangeAspect="1"/>
          </p:cNvPicPr>
          <p:nvPr/>
        </p:nvPicPr>
        <p:blipFill>
          <a:blip r:embed="rId2"/>
          <a:stretch>
            <a:fillRect/>
          </a:stretch>
        </p:blipFill>
        <p:spPr>
          <a:xfrm>
            <a:off x="82647" y="80283"/>
            <a:ext cx="1175301" cy="508655"/>
          </a:xfrm>
          <a:prstGeom prst="rect">
            <a:avLst/>
          </a:prstGeom>
        </p:spPr>
      </p:pic>
      <p:sp>
        <p:nvSpPr>
          <p:cNvPr id="16" name="Espace réservé du texte 4">
            <a:extLst>
              <a:ext uri="{FF2B5EF4-FFF2-40B4-BE49-F238E27FC236}">
                <a16:creationId xmlns:a16="http://schemas.microsoft.com/office/drawing/2014/main" id="{01960462-6F28-0740-916D-499D3BEDB2BE}"/>
              </a:ext>
            </a:extLst>
          </p:cNvPr>
          <p:cNvSpPr>
            <a:spLocks noGrp="1"/>
          </p:cNvSpPr>
          <p:nvPr>
            <p:ph type="body" idx="11"/>
          </p:nvPr>
        </p:nvSpPr>
        <p:spPr>
          <a:xfrm>
            <a:off x="6400800" y="4683125"/>
            <a:ext cx="1828800" cy="460375"/>
          </a:xfrm>
          <a:prstGeom prst="rect">
            <a:avLst/>
          </a:prstGeom>
          <a:solidFill>
            <a:schemeClr val="bg1"/>
          </a:solidFill>
        </p:spPr>
        <p:txBody>
          <a:bodyPr lIns="90000" anchor="ctr">
            <a:noAutofit/>
          </a:bodyPr>
          <a:lstStyle>
            <a:lvl1pPr marL="0" indent="0" algn="ctr">
              <a:buNone/>
              <a:defRPr sz="1100"/>
            </a:lvl1pPr>
          </a:lstStyle>
          <a:p>
            <a:pPr>
              <a:buNone/>
            </a:pPr>
            <a:r>
              <a:t>Modifier les styles du texte du masque
Deuxième niveau
Troisième niveau
Quatrième niveau
Cinquième niveau</a:t>
            </a:r>
          </a:p>
        </p:txBody>
      </p:sp>
      <p:pic>
        <p:nvPicPr>
          <p:cNvPr id="24" name="Image 7"/>
          <p:cNvPicPr>
            <a:picLocks noChangeAspect="1"/>
          </p:cNvPicPr>
          <p:nvPr/>
        </p:nvPicPr>
        <p:blipFill>
          <a:blip r:embed="rId3"/>
          <a:stretch>
            <a:fillRect/>
          </a:stretch>
        </p:blipFill>
        <p:spPr>
          <a:xfrm>
            <a:off x="200025" y="4579268"/>
            <a:ext cx="561543" cy="367382"/>
          </a:xfrm>
          <a:prstGeom prst="rect">
            <a:avLst/>
          </a:prstGeom>
        </p:spPr>
      </p:pic>
      <p:sp>
        <p:nvSpPr>
          <p:cNvPr id="10" name="Rectangle 9">
            <a:extLst>
              <a:ext uri="{FF2B5EF4-FFF2-40B4-BE49-F238E27FC236}">
                <a16:creationId xmlns:a16="http://schemas.microsoft.com/office/drawing/2014/main" id="{82865CD0-FD83-AF44-9C32-763AAD652C05}"/>
              </a:ext>
            </a:extLst>
          </p:cNvPr>
          <p:cNvSpPr>
            <a:spLocks noGrp="1"/>
          </p:cNvSpPr>
          <p:nvPr/>
        </p:nvSpPr>
        <p:spPr>
          <a:xfrm rot="16200000">
            <a:off x="89679" y="4591427"/>
            <a:ext cx="45719" cy="597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Section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F6C81-AE59-DE44-BF60-E773080CD91C}"/>
              </a:ext>
            </a:extLst>
          </p:cNvPr>
          <p:cNvSpPr>
            <a:spLocks noGrp="1"/>
          </p:cNvSpPr>
          <p:nvPr/>
        </p:nvSpPr>
        <p:spPr>
          <a:xfrm>
            <a:off x="4572000" y="0"/>
            <a:ext cx="4572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CD66C590-E2A5-4AB3-9780-85F508AC0BE5}"/>
              </a:ext>
            </a:extLst>
          </p:cNvPr>
          <p:cNvSpPr>
            <a:spLocks noGrp="1"/>
          </p:cNvSpPr>
          <p:nvPr>
            <p:ph type="title"/>
          </p:nvPr>
        </p:nvSpPr>
        <p:spPr>
          <a:xfrm>
            <a:off x="4572000" y="777875"/>
            <a:ext cx="4058920" cy="1793875"/>
          </a:xfrm>
        </p:spPr>
        <p:txBody>
          <a:bodyPr anchor="ctr">
            <a:normAutofit/>
          </a:bodyPr>
          <a:lstStyle>
            <a:lvl1pPr>
              <a:buNone/>
              <a:defRPr sz="3200">
                <a:solidFill>
                  <a:schemeClr val="bg1"/>
                </a:solidFill>
              </a:defRPr>
            </a:lvl1pPr>
          </a:lstStyle>
          <a:p>
            <a:r>
              <a:t>Modifiez le style du titre</a:t>
            </a:r>
          </a:p>
        </p:txBody>
      </p:sp>
      <p:sp>
        <p:nvSpPr>
          <p:cNvPr id="3" name="Text Placeholder 2">
            <a:extLst>
              <a:ext uri="{FF2B5EF4-FFF2-40B4-BE49-F238E27FC236}">
                <a16:creationId xmlns:a16="http://schemas.microsoft.com/office/drawing/2014/main" id="{3B864EE5-3BC2-4F92-9AAB-048CF84458F1}"/>
              </a:ext>
            </a:extLst>
          </p:cNvPr>
          <p:cNvSpPr>
            <a:spLocks noGrp="1"/>
          </p:cNvSpPr>
          <p:nvPr>
            <p:ph type="body" idx="1"/>
          </p:nvPr>
        </p:nvSpPr>
        <p:spPr>
          <a:xfrm>
            <a:off x="4572000" y="2571750"/>
            <a:ext cx="4058920" cy="21565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a:buNone/>
            </a:pPr>
            <a:r>
              <a:t>Modifier les styles du texte du masque
Deuxième niveau
Troisième niveau
Quatrième niveau
Cinquième niveau</a:t>
            </a:r>
          </a:p>
        </p:txBody>
      </p:sp>
      <p:sp>
        <p:nvSpPr>
          <p:cNvPr id="9" name="Espace réservé pour une image  8">
            <a:extLst>
              <a:ext uri="{FF2B5EF4-FFF2-40B4-BE49-F238E27FC236}">
                <a16:creationId xmlns:a16="http://schemas.microsoft.com/office/drawing/2014/main" id="{C58F136D-3292-C745-91DE-A21191C16FE7}"/>
              </a:ext>
            </a:extLst>
          </p:cNvPr>
          <p:cNvSpPr>
            <a:spLocks noGrp="1"/>
          </p:cNvSpPr>
          <p:nvPr>
            <p:ph type="pic" idx="13"/>
          </p:nvPr>
        </p:nvSpPr>
        <p:spPr>
          <a:xfrm>
            <a:off x="904875" y="0"/>
            <a:ext cx="3667125" cy="5143500"/>
          </a:xfrm>
        </p:spPr>
        <p:txBody>
          <a:bodyPr/>
          <a:lstStyle/>
          <a:p>
            <a:r>
              <a:t>Cliquez sur l'icône pour ajouter une image</a:t>
            </a:r>
          </a:p>
        </p:txBody>
      </p:sp>
      <p:sp>
        <p:nvSpPr>
          <p:cNvPr id="12" name="Espace réservé de la date 11">
            <a:extLst>
              <a:ext uri="{FF2B5EF4-FFF2-40B4-BE49-F238E27FC236}">
                <a16:creationId xmlns:a16="http://schemas.microsoft.com/office/drawing/2014/main" id="{B12A1C2B-5394-4202-9068-829629CCA8D2}"/>
              </a:ext>
            </a:extLst>
          </p:cNvPr>
          <p:cNvSpPr>
            <a:spLocks noGrp="1"/>
          </p:cNvSpPr>
          <p:nvPr>
            <p:ph type="dt" idx="14"/>
          </p:nvPr>
        </p:nvSpPr>
        <p:spPr/>
        <p:txBody>
          <a:bodyPr/>
          <a:lstStyle/>
          <a:p>
            <a:r>
              <a:t>WELCOME TO EPFL</a:t>
            </a:r>
          </a:p>
        </p:txBody>
      </p:sp>
      <p:sp>
        <p:nvSpPr>
          <p:cNvPr id="13" name="Espace réservé du pied de page 12">
            <a:extLst>
              <a:ext uri="{FF2B5EF4-FFF2-40B4-BE49-F238E27FC236}">
                <a16:creationId xmlns:a16="http://schemas.microsoft.com/office/drawing/2014/main" id="{CC5418B4-A744-4D8A-A9D8-A6F44225A6DE}"/>
              </a:ext>
            </a:extLst>
          </p:cNvPr>
          <p:cNvSpPr>
            <a:spLocks noGrp="1"/>
          </p:cNvSpPr>
          <p:nvPr>
            <p:ph type="ftr" idx="15"/>
          </p:nvPr>
        </p:nvSpPr>
        <p:spPr/>
        <p:txBody>
          <a:bodyPr/>
          <a:lstStyle>
            <a:lvl1pPr>
              <a:buNone/>
              <a:defRPr>
                <a:solidFill>
                  <a:schemeClr val="bg1"/>
                </a:solidFill>
              </a:defRPr>
            </a:lvl1pPr>
          </a:lstStyle>
          <a:p>
            <a:r>
              <a:t>Speaker</a:t>
            </a:r>
          </a:p>
        </p:txBody>
      </p:sp>
      <p:sp>
        <p:nvSpPr>
          <p:cNvPr id="14" name="Espace réservé du numéro de diapositive 13">
            <a:extLst>
              <a:ext uri="{FF2B5EF4-FFF2-40B4-BE49-F238E27FC236}">
                <a16:creationId xmlns:a16="http://schemas.microsoft.com/office/drawing/2014/main" id="{C636DF56-75DC-4E63-B74D-57AD8FF00604}"/>
              </a:ext>
            </a:extLst>
          </p:cNvPr>
          <p:cNvSpPr>
            <a:spLocks noGrp="1"/>
          </p:cNvSpPr>
          <p:nvPr>
            <p:ph type="sldNum" idx="16"/>
          </p:nvPr>
        </p:nvSpPr>
        <p:spPr/>
        <p:txBody>
          <a:bodyPr/>
          <a:lstStyle>
            <a:lvl1pPr>
              <a:buNone/>
              <a:defRPr>
                <a:solidFill>
                  <a:schemeClr val="bg1"/>
                </a:solidFill>
              </a:defRPr>
            </a:lvl1pPr>
          </a:lstStyle>
          <a:p>
            <a:fld id="{E1E1CD7C-2161-7D43-862E-CE4C333CD873}"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_Section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F6C81-AE59-DE44-BF60-E773080CD91C}"/>
              </a:ext>
            </a:extLst>
          </p:cNvPr>
          <p:cNvSpPr>
            <a:spLocks noGrp="1"/>
          </p:cNvSpPr>
          <p:nvPr/>
        </p:nvSpPr>
        <p:spPr>
          <a:xfrm>
            <a:off x="457200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8B244E74-1C64-44C4-B078-C8B4E6E432E4}"/>
              </a:ext>
            </a:extLst>
          </p:cNvPr>
          <p:cNvSpPr>
            <a:spLocks noGrp="1"/>
          </p:cNvSpPr>
          <p:nvPr>
            <p:ph type="title"/>
          </p:nvPr>
        </p:nvSpPr>
        <p:spPr>
          <a:xfrm>
            <a:off x="4572000" y="777875"/>
            <a:ext cx="4058920" cy="1793875"/>
          </a:xfrm>
        </p:spPr>
        <p:txBody>
          <a:bodyPr anchor="ctr">
            <a:normAutofit/>
          </a:bodyPr>
          <a:lstStyle>
            <a:lvl1pPr>
              <a:buNone/>
              <a:defRPr sz="3200">
                <a:solidFill>
                  <a:schemeClr val="bg1"/>
                </a:solidFill>
              </a:defRPr>
            </a:lvl1pPr>
          </a:lstStyle>
          <a:p>
            <a:r>
              <a:t>Modifiez le style du titre</a:t>
            </a:r>
          </a:p>
        </p:txBody>
      </p:sp>
      <p:sp>
        <p:nvSpPr>
          <p:cNvPr id="3" name="Text Placeholder 2">
            <a:extLst>
              <a:ext uri="{FF2B5EF4-FFF2-40B4-BE49-F238E27FC236}">
                <a16:creationId xmlns:a16="http://schemas.microsoft.com/office/drawing/2014/main" id="{880AFC2D-F52B-4DB2-9A9E-8CDF939CC1F2}"/>
              </a:ext>
            </a:extLst>
          </p:cNvPr>
          <p:cNvSpPr>
            <a:spLocks noGrp="1"/>
          </p:cNvSpPr>
          <p:nvPr>
            <p:ph type="body" idx="1"/>
          </p:nvPr>
        </p:nvSpPr>
        <p:spPr>
          <a:xfrm>
            <a:off x="4572000" y="2571750"/>
            <a:ext cx="4058920" cy="21565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a:buNone/>
            </a:pPr>
            <a:r>
              <a:t>Modifier les styles du texte du masque
Deuxième niveau
Troisième niveau
Quatrième niveau
Cinquième niveau</a:t>
            </a:r>
          </a:p>
        </p:txBody>
      </p:sp>
      <p:sp>
        <p:nvSpPr>
          <p:cNvPr id="9" name="Espace réservé pour une image  8">
            <a:extLst>
              <a:ext uri="{FF2B5EF4-FFF2-40B4-BE49-F238E27FC236}">
                <a16:creationId xmlns:a16="http://schemas.microsoft.com/office/drawing/2014/main" id="{C58F136D-3292-C745-91DE-A21191C16FE7}"/>
              </a:ext>
            </a:extLst>
          </p:cNvPr>
          <p:cNvSpPr>
            <a:spLocks noGrp="1"/>
          </p:cNvSpPr>
          <p:nvPr>
            <p:ph type="pic" idx="13"/>
          </p:nvPr>
        </p:nvSpPr>
        <p:spPr>
          <a:xfrm>
            <a:off x="904875" y="0"/>
            <a:ext cx="3667125" cy="5143500"/>
          </a:xfrm>
        </p:spPr>
        <p:txBody>
          <a:bodyPr/>
          <a:lstStyle/>
          <a:p>
            <a:r>
              <a:t>Cliquez sur l'icône pour ajouter une image</a:t>
            </a:r>
          </a:p>
        </p:txBody>
      </p:sp>
      <p:sp>
        <p:nvSpPr>
          <p:cNvPr id="12" name="Espace réservé de la date 11">
            <a:extLst>
              <a:ext uri="{FF2B5EF4-FFF2-40B4-BE49-F238E27FC236}">
                <a16:creationId xmlns:a16="http://schemas.microsoft.com/office/drawing/2014/main" id="{43B5CE0A-B8A4-44D0-9399-8934B1D31A48}"/>
              </a:ext>
            </a:extLst>
          </p:cNvPr>
          <p:cNvSpPr>
            <a:spLocks noGrp="1"/>
          </p:cNvSpPr>
          <p:nvPr>
            <p:ph type="dt" idx="14"/>
          </p:nvPr>
        </p:nvSpPr>
        <p:spPr/>
        <p:txBody>
          <a:bodyPr/>
          <a:lstStyle/>
          <a:p>
            <a:r>
              <a:t>WELCOME TO EPFL</a:t>
            </a:r>
          </a:p>
        </p:txBody>
      </p:sp>
      <p:sp>
        <p:nvSpPr>
          <p:cNvPr id="13" name="Espace réservé du pied de page 12">
            <a:extLst>
              <a:ext uri="{FF2B5EF4-FFF2-40B4-BE49-F238E27FC236}">
                <a16:creationId xmlns:a16="http://schemas.microsoft.com/office/drawing/2014/main" id="{F0CBE426-B7FD-4D53-8008-51A7BB7626D8}"/>
              </a:ext>
            </a:extLst>
          </p:cNvPr>
          <p:cNvSpPr>
            <a:spLocks noGrp="1"/>
          </p:cNvSpPr>
          <p:nvPr>
            <p:ph type="ftr" idx="15"/>
          </p:nvPr>
        </p:nvSpPr>
        <p:spPr/>
        <p:txBody>
          <a:bodyPr/>
          <a:lstStyle>
            <a:lvl1pPr>
              <a:buNone/>
              <a:defRPr>
                <a:solidFill>
                  <a:schemeClr val="bg1"/>
                </a:solidFill>
              </a:defRPr>
            </a:lvl1pPr>
          </a:lstStyle>
          <a:p>
            <a:r>
              <a:t>Speaker</a:t>
            </a:r>
          </a:p>
        </p:txBody>
      </p:sp>
      <p:sp>
        <p:nvSpPr>
          <p:cNvPr id="14" name="Espace réservé du numéro de diapositive 13">
            <a:extLst>
              <a:ext uri="{FF2B5EF4-FFF2-40B4-BE49-F238E27FC236}">
                <a16:creationId xmlns:a16="http://schemas.microsoft.com/office/drawing/2014/main" id="{DD44B76D-D456-4EBA-B8A0-08FA043CEB7D}"/>
              </a:ext>
            </a:extLst>
          </p:cNvPr>
          <p:cNvSpPr>
            <a:spLocks noGrp="1"/>
          </p:cNvSpPr>
          <p:nvPr>
            <p:ph type="sldNum" idx="16"/>
          </p:nvPr>
        </p:nvSpPr>
        <p:spPr/>
        <p:txBody>
          <a:bodyPr/>
          <a:lstStyle>
            <a:lvl1pPr>
              <a:buNone/>
              <a:defRPr>
                <a:solidFill>
                  <a:schemeClr val="bg1"/>
                </a:solidFill>
              </a:defRPr>
            </a:lvl1pPr>
          </a:lstStyle>
          <a:p>
            <a:fld id="{E1E1CD7C-2161-7D43-862E-CE4C333CD873}"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Section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F6C81-AE59-DE44-BF60-E773080CD91C}"/>
              </a:ext>
            </a:extLst>
          </p:cNvPr>
          <p:cNvSpPr>
            <a:spLocks noGrp="1"/>
          </p:cNvSpPr>
          <p:nvPr/>
        </p:nvSpPr>
        <p:spPr>
          <a:xfrm>
            <a:off x="4572000" y="0"/>
            <a:ext cx="4572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D5B6649E-C5E7-43F1-9E60-67E78AC24250}"/>
              </a:ext>
            </a:extLst>
          </p:cNvPr>
          <p:cNvSpPr>
            <a:spLocks noGrp="1"/>
          </p:cNvSpPr>
          <p:nvPr>
            <p:ph type="title"/>
          </p:nvPr>
        </p:nvSpPr>
        <p:spPr>
          <a:xfrm>
            <a:off x="4572000" y="777875"/>
            <a:ext cx="4058920" cy="1793875"/>
          </a:xfrm>
        </p:spPr>
        <p:txBody>
          <a:bodyPr anchor="ctr">
            <a:normAutofit/>
          </a:bodyPr>
          <a:lstStyle>
            <a:lvl1pPr>
              <a:buNone/>
              <a:defRPr sz="3200">
                <a:solidFill>
                  <a:schemeClr val="bg1"/>
                </a:solidFill>
              </a:defRPr>
            </a:lvl1pPr>
          </a:lstStyle>
          <a:p>
            <a:r>
              <a:t>Modifiez le style du titre</a:t>
            </a:r>
          </a:p>
        </p:txBody>
      </p:sp>
      <p:sp>
        <p:nvSpPr>
          <p:cNvPr id="3" name="Text Placeholder 2">
            <a:extLst>
              <a:ext uri="{FF2B5EF4-FFF2-40B4-BE49-F238E27FC236}">
                <a16:creationId xmlns:a16="http://schemas.microsoft.com/office/drawing/2014/main" id="{CAF511BB-823F-41BB-9464-95C07E63C1D8}"/>
              </a:ext>
            </a:extLst>
          </p:cNvPr>
          <p:cNvSpPr>
            <a:spLocks noGrp="1"/>
          </p:cNvSpPr>
          <p:nvPr>
            <p:ph type="body" idx="1"/>
          </p:nvPr>
        </p:nvSpPr>
        <p:spPr>
          <a:xfrm>
            <a:off x="4572000" y="2571750"/>
            <a:ext cx="4058920" cy="21565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a:buNone/>
            </a:pPr>
            <a:r>
              <a:t>Modifier les styles du texte du masque
Deuxième niveau
Troisième niveau
Quatrième niveau
Cinquième niveau</a:t>
            </a:r>
          </a:p>
        </p:txBody>
      </p:sp>
      <p:sp>
        <p:nvSpPr>
          <p:cNvPr id="9" name="Espace réservé pour une image  8">
            <a:extLst>
              <a:ext uri="{FF2B5EF4-FFF2-40B4-BE49-F238E27FC236}">
                <a16:creationId xmlns:a16="http://schemas.microsoft.com/office/drawing/2014/main" id="{C58F136D-3292-C745-91DE-A21191C16FE7}"/>
              </a:ext>
            </a:extLst>
          </p:cNvPr>
          <p:cNvSpPr>
            <a:spLocks noGrp="1"/>
          </p:cNvSpPr>
          <p:nvPr>
            <p:ph type="pic" idx="13"/>
          </p:nvPr>
        </p:nvSpPr>
        <p:spPr>
          <a:xfrm>
            <a:off x="904875" y="0"/>
            <a:ext cx="3667125" cy="5143500"/>
          </a:xfrm>
        </p:spPr>
        <p:txBody>
          <a:bodyPr/>
          <a:lstStyle/>
          <a:p>
            <a:r>
              <a:t>Cliquez sur l'icône pour ajouter une image</a:t>
            </a:r>
          </a:p>
        </p:txBody>
      </p:sp>
      <p:sp>
        <p:nvSpPr>
          <p:cNvPr id="8" name="Espace réservé de la date 7">
            <a:extLst>
              <a:ext uri="{FF2B5EF4-FFF2-40B4-BE49-F238E27FC236}">
                <a16:creationId xmlns:a16="http://schemas.microsoft.com/office/drawing/2014/main" id="{F154F01A-ACBD-4972-802F-E0F05ACBC066}"/>
              </a:ext>
            </a:extLst>
          </p:cNvPr>
          <p:cNvSpPr>
            <a:spLocks noGrp="1"/>
          </p:cNvSpPr>
          <p:nvPr>
            <p:ph type="dt" idx="14"/>
          </p:nvPr>
        </p:nvSpPr>
        <p:spPr/>
        <p:txBody>
          <a:bodyPr/>
          <a:lstStyle/>
          <a:p>
            <a:r>
              <a:t>WELCOME TO EPFL</a:t>
            </a:r>
          </a:p>
        </p:txBody>
      </p:sp>
      <p:sp>
        <p:nvSpPr>
          <p:cNvPr id="10" name="Espace réservé du pied de page 9">
            <a:extLst>
              <a:ext uri="{FF2B5EF4-FFF2-40B4-BE49-F238E27FC236}">
                <a16:creationId xmlns:a16="http://schemas.microsoft.com/office/drawing/2014/main" id="{5DA419A1-B34E-46C9-BBF8-BFEB95969033}"/>
              </a:ext>
            </a:extLst>
          </p:cNvPr>
          <p:cNvSpPr>
            <a:spLocks noGrp="1"/>
          </p:cNvSpPr>
          <p:nvPr>
            <p:ph type="ftr" idx="15"/>
          </p:nvPr>
        </p:nvSpPr>
        <p:spPr/>
        <p:txBody>
          <a:bodyPr/>
          <a:lstStyle>
            <a:lvl1pPr>
              <a:buNone/>
              <a:defRPr>
                <a:solidFill>
                  <a:schemeClr val="bg1"/>
                </a:solidFill>
              </a:defRPr>
            </a:lvl1pPr>
          </a:lstStyle>
          <a:p>
            <a:r>
              <a:t>Speaker</a:t>
            </a:r>
          </a:p>
        </p:txBody>
      </p:sp>
      <p:sp>
        <p:nvSpPr>
          <p:cNvPr id="11" name="Espace réservé du numéro de diapositive 10">
            <a:extLst>
              <a:ext uri="{FF2B5EF4-FFF2-40B4-BE49-F238E27FC236}">
                <a16:creationId xmlns:a16="http://schemas.microsoft.com/office/drawing/2014/main" id="{34B58C15-8A91-43AC-A0CB-3B3B0077F6E9}"/>
              </a:ext>
            </a:extLst>
          </p:cNvPr>
          <p:cNvSpPr>
            <a:spLocks noGrp="1"/>
          </p:cNvSpPr>
          <p:nvPr>
            <p:ph type="sldNum" idx="16"/>
          </p:nvPr>
        </p:nvSpPr>
        <p:spPr/>
        <p:txBody>
          <a:bodyPr/>
          <a:lstStyle>
            <a:lvl1pPr>
              <a:buNone/>
              <a:defRPr>
                <a:solidFill>
                  <a:schemeClr val="bg1"/>
                </a:solidFill>
              </a:defRPr>
            </a:lvl1pPr>
          </a:lstStyle>
          <a:p>
            <a:fld id="{E1E1CD7C-2161-7D43-862E-CE4C333CD873}"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Section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F6C81-AE59-DE44-BF60-E773080CD91C}"/>
              </a:ext>
            </a:extLst>
          </p:cNvPr>
          <p:cNvSpPr>
            <a:spLocks noGrp="1"/>
          </p:cNvSpPr>
          <p:nvPr/>
        </p:nvSpPr>
        <p:spPr>
          <a:xfrm>
            <a:off x="4572000" y="0"/>
            <a:ext cx="4572000"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D59FD1A8-7047-402F-BA5F-B7ABB526112D}"/>
              </a:ext>
            </a:extLst>
          </p:cNvPr>
          <p:cNvSpPr>
            <a:spLocks noGrp="1"/>
          </p:cNvSpPr>
          <p:nvPr>
            <p:ph type="title"/>
          </p:nvPr>
        </p:nvSpPr>
        <p:spPr>
          <a:xfrm>
            <a:off x="4572000" y="777875"/>
            <a:ext cx="4058920" cy="1793875"/>
          </a:xfrm>
        </p:spPr>
        <p:txBody>
          <a:bodyPr anchor="ctr">
            <a:normAutofit/>
          </a:bodyPr>
          <a:lstStyle>
            <a:lvl1pPr>
              <a:buNone/>
              <a:defRPr sz="3200">
                <a:solidFill>
                  <a:schemeClr val="bg1"/>
                </a:solidFill>
              </a:defRPr>
            </a:lvl1pPr>
          </a:lstStyle>
          <a:p>
            <a:r>
              <a:t>Modifiez le style du titre</a:t>
            </a:r>
          </a:p>
        </p:txBody>
      </p:sp>
      <p:sp>
        <p:nvSpPr>
          <p:cNvPr id="3" name="Text Placeholder 2">
            <a:extLst>
              <a:ext uri="{FF2B5EF4-FFF2-40B4-BE49-F238E27FC236}">
                <a16:creationId xmlns:a16="http://schemas.microsoft.com/office/drawing/2014/main" id="{82E2113A-5293-4376-A32D-D1CF95A8160F}"/>
              </a:ext>
            </a:extLst>
          </p:cNvPr>
          <p:cNvSpPr>
            <a:spLocks noGrp="1"/>
          </p:cNvSpPr>
          <p:nvPr>
            <p:ph type="body" idx="1"/>
          </p:nvPr>
        </p:nvSpPr>
        <p:spPr>
          <a:xfrm>
            <a:off x="4572000" y="2571750"/>
            <a:ext cx="4058920" cy="21565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a:buNone/>
            </a:pPr>
            <a:r>
              <a:t>Modifier les styles du texte du masque
Deuxième niveau
Troisième niveau
Quatrième niveau
Cinquième niveau</a:t>
            </a:r>
          </a:p>
        </p:txBody>
      </p:sp>
      <p:sp>
        <p:nvSpPr>
          <p:cNvPr id="9" name="Espace réservé pour une image  8">
            <a:extLst>
              <a:ext uri="{FF2B5EF4-FFF2-40B4-BE49-F238E27FC236}">
                <a16:creationId xmlns:a16="http://schemas.microsoft.com/office/drawing/2014/main" id="{C58F136D-3292-C745-91DE-A21191C16FE7}"/>
              </a:ext>
            </a:extLst>
          </p:cNvPr>
          <p:cNvSpPr>
            <a:spLocks noGrp="1"/>
          </p:cNvSpPr>
          <p:nvPr>
            <p:ph type="pic" idx="13"/>
          </p:nvPr>
        </p:nvSpPr>
        <p:spPr>
          <a:xfrm>
            <a:off x="904875" y="0"/>
            <a:ext cx="3667125" cy="5143500"/>
          </a:xfrm>
        </p:spPr>
        <p:txBody>
          <a:bodyPr/>
          <a:lstStyle/>
          <a:p>
            <a:r>
              <a:t>Cliquez sur l'icône pour ajouter une image</a:t>
            </a:r>
          </a:p>
        </p:txBody>
      </p:sp>
      <p:sp>
        <p:nvSpPr>
          <p:cNvPr id="8" name="Espace réservé de la date 7">
            <a:extLst>
              <a:ext uri="{FF2B5EF4-FFF2-40B4-BE49-F238E27FC236}">
                <a16:creationId xmlns:a16="http://schemas.microsoft.com/office/drawing/2014/main" id="{95031B1D-4782-4D89-A6CF-3FABC7E42824}"/>
              </a:ext>
            </a:extLst>
          </p:cNvPr>
          <p:cNvSpPr>
            <a:spLocks noGrp="1"/>
          </p:cNvSpPr>
          <p:nvPr>
            <p:ph type="dt" idx="14"/>
          </p:nvPr>
        </p:nvSpPr>
        <p:spPr/>
        <p:txBody>
          <a:bodyPr/>
          <a:lstStyle/>
          <a:p>
            <a:r>
              <a:t>WELCOME TO EPFL</a:t>
            </a:r>
          </a:p>
        </p:txBody>
      </p:sp>
      <p:sp>
        <p:nvSpPr>
          <p:cNvPr id="10" name="Espace réservé du pied de page 9">
            <a:extLst>
              <a:ext uri="{FF2B5EF4-FFF2-40B4-BE49-F238E27FC236}">
                <a16:creationId xmlns:a16="http://schemas.microsoft.com/office/drawing/2014/main" id="{079E234F-ED14-47FA-8B33-FF9B873E2152}"/>
              </a:ext>
            </a:extLst>
          </p:cNvPr>
          <p:cNvSpPr>
            <a:spLocks noGrp="1"/>
          </p:cNvSpPr>
          <p:nvPr>
            <p:ph type="ftr" idx="15"/>
          </p:nvPr>
        </p:nvSpPr>
        <p:spPr/>
        <p:txBody>
          <a:bodyPr/>
          <a:lstStyle>
            <a:lvl1pPr>
              <a:buNone/>
              <a:defRPr>
                <a:solidFill>
                  <a:schemeClr val="bg1"/>
                </a:solidFill>
              </a:defRPr>
            </a:lvl1pPr>
          </a:lstStyle>
          <a:p>
            <a:r>
              <a:t>Speaker</a:t>
            </a:r>
          </a:p>
        </p:txBody>
      </p:sp>
      <p:sp>
        <p:nvSpPr>
          <p:cNvPr id="11" name="Espace réservé du numéro de diapositive 10">
            <a:extLst>
              <a:ext uri="{FF2B5EF4-FFF2-40B4-BE49-F238E27FC236}">
                <a16:creationId xmlns:a16="http://schemas.microsoft.com/office/drawing/2014/main" id="{CF06C1F7-7C97-4A58-B0F9-2FEFDCD1EB48}"/>
              </a:ext>
            </a:extLst>
          </p:cNvPr>
          <p:cNvSpPr>
            <a:spLocks noGrp="1"/>
          </p:cNvSpPr>
          <p:nvPr>
            <p:ph type="sldNum" idx="16"/>
          </p:nvPr>
        </p:nvSpPr>
        <p:spPr/>
        <p:txBody>
          <a:bodyPr/>
          <a:lstStyle>
            <a:lvl1pPr>
              <a:buNone/>
              <a:defRPr>
                <a:solidFill>
                  <a:schemeClr val="bg1"/>
                </a:solidFill>
              </a:defRPr>
            </a:lvl1pPr>
          </a:lstStyle>
          <a:p>
            <a:fld id="{E1E1CD7C-2161-7D43-862E-CE4C333CD873}" type="slidenum">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EE6420-6FD4-4D36-8226-4FD8919D66AC}"/>
              </a:ext>
            </a:extLst>
          </p:cNvPr>
          <p:cNvSpPr>
            <a:spLocks noGrp="1"/>
          </p:cNvSpPr>
          <p:nvPr>
            <p:ph idx="1"/>
          </p:nvPr>
        </p:nvSpPr>
        <p:spPr/>
        <p:txBody>
          <a:bodyPr/>
          <a:lstStyle/>
          <a:p>
            <a:pPr>
              <a:buNone/>
            </a:pPr>
            <a:r>
              <a:t>Modifier les styles du texte du masque
Deuxième niveau
Troisième niveau
Quatrième niveau
Cinquième niveau</a:t>
            </a:r>
          </a:p>
        </p:txBody>
      </p:sp>
      <p:sp>
        <p:nvSpPr>
          <p:cNvPr id="8" name="Titre 7">
            <a:extLst>
              <a:ext uri="{FF2B5EF4-FFF2-40B4-BE49-F238E27FC236}">
                <a16:creationId xmlns:a16="http://schemas.microsoft.com/office/drawing/2014/main" id="{A30C78BE-DAD0-D748-8B93-AD898D00C88C}"/>
              </a:ext>
            </a:extLst>
          </p:cNvPr>
          <p:cNvSpPr>
            <a:spLocks noGrp="1"/>
          </p:cNvSpPr>
          <p:nvPr>
            <p:ph type="title"/>
          </p:nvPr>
        </p:nvSpPr>
        <p:spPr/>
        <p:txBody>
          <a:bodyPr/>
          <a:lstStyle/>
          <a:p>
            <a:r>
              <a:t>Modifiez le style du titre</a:t>
            </a:r>
          </a:p>
        </p:txBody>
      </p:sp>
      <p:sp>
        <p:nvSpPr>
          <p:cNvPr id="9" name="Espace réservé de la date 8">
            <a:extLst>
              <a:ext uri="{FF2B5EF4-FFF2-40B4-BE49-F238E27FC236}">
                <a16:creationId xmlns:a16="http://schemas.microsoft.com/office/drawing/2014/main" id="{131A8490-33AC-9443-A9FC-9A5E9322967C}"/>
              </a:ext>
            </a:extLst>
          </p:cNvPr>
          <p:cNvSpPr>
            <a:spLocks noGrp="1"/>
          </p:cNvSpPr>
          <p:nvPr>
            <p:ph type="dt" idx="10"/>
          </p:nvPr>
        </p:nvSpPr>
        <p:spPr/>
        <p:txBody>
          <a:bodyPr/>
          <a:lstStyle/>
          <a:p>
            <a:r>
              <a:t>WELCOME TO EPFL</a:t>
            </a:r>
          </a:p>
        </p:txBody>
      </p:sp>
      <p:sp>
        <p:nvSpPr>
          <p:cNvPr id="10" name="Espace réservé du pied de page 9">
            <a:extLst>
              <a:ext uri="{FF2B5EF4-FFF2-40B4-BE49-F238E27FC236}">
                <a16:creationId xmlns:a16="http://schemas.microsoft.com/office/drawing/2014/main" id="{B875139C-6471-774D-89EF-2B93FAD2CB2A}"/>
              </a:ext>
            </a:extLst>
          </p:cNvPr>
          <p:cNvSpPr>
            <a:spLocks noGrp="1"/>
          </p:cNvSpPr>
          <p:nvPr>
            <p:ph type="ftr" idx="11"/>
          </p:nvPr>
        </p:nvSpPr>
        <p:spPr/>
        <p:txBody>
          <a:bodyPr/>
          <a:lstStyle/>
          <a:p>
            <a:r>
              <a:t>Speaker</a:t>
            </a:r>
          </a:p>
        </p:txBody>
      </p:sp>
      <p:sp>
        <p:nvSpPr>
          <p:cNvPr id="11" name="Espace réservé du numéro de diapositive 10">
            <a:extLst>
              <a:ext uri="{FF2B5EF4-FFF2-40B4-BE49-F238E27FC236}">
                <a16:creationId xmlns:a16="http://schemas.microsoft.com/office/drawing/2014/main" id="{3942AF23-4BDC-8C4A-9212-AF88439C6122}"/>
              </a:ext>
            </a:extLst>
          </p:cNvPr>
          <p:cNvSpPr>
            <a:spLocks noGrp="1"/>
          </p:cNvSpPr>
          <p:nvPr>
            <p:ph type="sldNum" idx="12"/>
          </p:nvPr>
        </p:nvSpPr>
        <p:spPr/>
        <p:txBody>
          <a:bodyPr/>
          <a:lstStyle/>
          <a:p>
            <a:fld id="{E1E1CD7C-2161-7D43-862E-CE4C333CD873}" type="slidenum">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Content_Image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670A72-475D-400B-83DC-EBDA92ECE7D9}"/>
              </a:ext>
            </a:extLst>
          </p:cNvPr>
          <p:cNvSpPr>
            <a:spLocks noGrp="1"/>
          </p:cNvSpPr>
          <p:nvPr>
            <p:ph idx="1"/>
          </p:nvPr>
        </p:nvSpPr>
        <p:spPr>
          <a:xfrm>
            <a:off x="904875" y="1563688"/>
            <a:ext cx="4581525" cy="3386772"/>
          </a:xfrm>
        </p:spPr>
        <p:txBody>
          <a:bodyPr/>
          <a:lstStyle/>
          <a:p>
            <a:pPr>
              <a:buNone/>
            </a:pPr>
            <a:r>
              <a:t>Modifier les styles du texte du masque
Deuxième niveau
Troisième niveau
Quatrième niveau
Cinquième niveau</a:t>
            </a:r>
          </a:p>
        </p:txBody>
      </p:sp>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idx="13"/>
          </p:nvPr>
        </p:nvSpPr>
        <p:spPr>
          <a:xfrm>
            <a:off x="5486400" y="0"/>
            <a:ext cx="3144838" cy="5143500"/>
          </a:xfrm>
        </p:spPr>
        <p:txBody>
          <a:bodyPr/>
          <a:lstStyle/>
          <a:p>
            <a:r>
              <a:t>Cliquez sur l'icône pour ajouter une image</a:t>
            </a:r>
          </a:p>
        </p:txBody>
      </p:sp>
      <p:sp>
        <p:nvSpPr>
          <p:cNvPr id="5" name="Titre 4">
            <a:extLst>
              <a:ext uri="{FF2B5EF4-FFF2-40B4-BE49-F238E27FC236}">
                <a16:creationId xmlns:a16="http://schemas.microsoft.com/office/drawing/2014/main" id="{55F20A3C-6DA6-684F-8F84-A7C8F1339C00}"/>
              </a:ext>
            </a:extLst>
          </p:cNvPr>
          <p:cNvSpPr>
            <a:spLocks noGrp="1"/>
          </p:cNvSpPr>
          <p:nvPr>
            <p:ph type="title"/>
          </p:nvPr>
        </p:nvSpPr>
        <p:spPr/>
        <p:txBody>
          <a:bodyPr/>
          <a:lstStyle/>
          <a:p>
            <a:r>
              <a:t>Modifiez le style du titre</a:t>
            </a:r>
          </a:p>
        </p:txBody>
      </p:sp>
      <p:sp>
        <p:nvSpPr>
          <p:cNvPr id="6" name="Espace réservé de la date 5">
            <a:extLst>
              <a:ext uri="{FF2B5EF4-FFF2-40B4-BE49-F238E27FC236}">
                <a16:creationId xmlns:a16="http://schemas.microsoft.com/office/drawing/2014/main" id="{B633A2CC-2D27-AE47-AE09-87A5F61228B8}"/>
              </a:ext>
            </a:extLst>
          </p:cNvPr>
          <p:cNvSpPr>
            <a:spLocks noGrp="1"/>
          </p:cNvSpPr>
          <p:nvPr>
            <p:ph type="dt" idx="14"/>
          </p:nvPr>
        </p:nvSpPr>
        <p:spPr/>
        <p:txBody>
          <a:bodyPr/>
          <a:lstStyle/>
          <a:p>
            <a:r>
              <a:t>WELCOME TO EPFL</a:t>
            </a:r>
          </a:p>
        </p:txBody>
      </p:sp>
      <p:sp>
        <p:nvSpPr>
          <p:cNvPr id="11" name="Espace réservé du pied de page 10">
            <a:extLst>
              <a:ext uri="{FF2B5EF4-FFF2-40B4-BE49-F238E27FC236}">
                <a16:creationId xmlns:a16="http://schemas.microsoft.com/office/drawing/2014/main" id="{CABC000E-4E22-1A40-9D3F-FE2F141E5CA4}"/>
              </a:ext>
            </a:extLst>
          </p:cNvPr>
          <p:cNvSpPr>
            <a:spLocks noGrp="1"/>
          </p:cNvSpPr>
          <p:nvPr>
            <p:ph type="ftr" idx="15"/>
          </p:nvPr>
        </p:nvSpPr>
        <p:spPr/>
        <p:txBody>
          <a:bodyPr/>
          <a:lstStyle/>
          <a:p>
            <a:r>
              <a:t>Speaker</a:t>
            </a:r>
          </a:p>
        </p:txBody>
      </p:sp>
      <p:sp>
        <p:nvSpPr>
          <p:cNvPr id="12" name="Espace réservé du numéro de diapositive 11">
            <a:extLst>
              <a:ext uri="{FF2B5EF4-FFF2-40B4-BE49-F238E27FC236}">
                <a16:creationId xmlns:a16="http://schemas.microsoft.com/office/drawing/2014/main" id="{0AF49D93-C78A-F646-92B0-A7932C43D9EE}"/>
              </a:ext>
            </a:extLst>
          </p:cNvPr>
          <p:cNvSpPr>
            <a:spLocks noGrp="1"/>
          </p:cNvSpPr>
          <p:nvPr>
            <p:ph type="sldNum" idx="16"/>
          </p:nvPr>
        </p:nvSpPr>
        <p:spPr/>
        <p:txBody>
          <a:bodyPr/>
          <a:lstStyle/>
          <a:p>
            <a:fld id="{E1E1CD7C-2161-7D43-862E-CE4C333CD873}" type="slidenum">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Content_Image2">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idx="13"/>
          </p:nvPr>
        </p:nvSpPr>
        <p:spPr>
          <a:xfrm>
            <a:off x="904875" y="0"/>
            <a:ext cx="3144838" cy="5143500"/>
          </a:xfrm>
        </p:spPr>
        <p:txBody>
          <a:bodyPr/>
          <a:lstStyle/>
          <a:p>
            <a:r>
              <a:t>Cliquez sur l'icône pour ajouter une image</a:t>
            </a:r>
          </a:p>
        </p:txBody>
      </p:sp>
      <p:sp>
        <p:nvSpPr>
          <p:cNvPr id="3" name="Content Placeholder 2">
            <a:extLst>
              <a:ext uri="{FF2B5EF4-FFF2-40B4-BE49-F238E27FC236}">
                <a16:creationId xmlns:a16="http://schemas.microsoft.com/office/drawing/2014/main" id="{33E09BBD-E7F6-4005-B39D-69B178D41778}"/>
              </a:ext>
            </a:extLst>
          </p:cNvPr>
          <p:cNvSpPr>
            <a:spLocks noGrp="1"/>
          </p:cNvSpPr>
          <p:nvPr>
            <p:ph idx="1"/>
          </p:nvPr>
        </p:nvSpPr>
        <p:spPr>
          <a:xfrm>
            <a:off x="4049395" y="1563688"/>
            <a:ext cx="4581525" cy="3386772"/>
          </a:xfrm>
        </p:spPr>
        <p:txBody>
          <a:bodyPr/>
          <a:lstStyle/>
          <a:p>
            <a:pPr>
              <a:buNone/>
            </a:pPr>
            <a:r>
              <a:t>Modifier les styles du texte du masque
Deuxième niveau
Troisième niveau
Quatrième niveau
Cinquième niveau</a:t>
            </a:r>
          </a:p>
        </p:txBody>
      </p:sp>
      <p:sp>
        <p:nvSpPr>
          <p:cNvPr id="7" name="Espace réservé de la date 6">
            <a:extLst>
              <a:ext uri="{FF2B5EF4-FFF2-40B4-BE49-F238E27FC236}">
                <a16:creationId xmlns:a16="http://schemas.microsoft.com/office/drawing/2014/main" id="{A02A0D73-096C-844E-97C3-C4A4AF580FDE}"/>
              </a:ext>
            </a:extLst>
          </p:cNvPr>
          <p:cNvSpPr>
            <a:spLocks noGrp="1"/>
          </p:cNvSpPr>
          <p:nvPr>
            <p:ph type="dt" idx="14"/>
          </p:nvPr>
        </p:nvSpPr>
        <p:spPr/>
        <p:txBody>
          <a:bodyPr/>
          <a:lstStyle/>
          <a:p>
            <a:r>
              <a:t>WELCOME TO EPFL</a:t>
            </a:r>
          </a:p>
        </p:txBody>
      </p:sp>
      <p:sp>
        <p:nvSpPr>
          <p:cNvPr id="9" name="Espace réservé du pied de page 8">
            <a:extLst>
              <a:ext uri="{FF2B5EF4-FFF2-40B4-BE49-F238E27FC236}">
                <a16:creationId xmlns:a16="http://schemas.microsoft.com/office/drawing/2014/main" id="{CEF5AC5C-A2B6-2848-8C47-96A168E211DF}"/>
              </a:ext>
            </a:extLst>
          </p:cNvPr>
          <p:cNvSpPr>
            <a:spLocks noGrp="1"/>
          </p:cNvSpPr>
          <p:nvPr>
            <p:ph type="ftr" idx="15"/>
          </p:nvPr>
        </p:nvSpPr>
        <p:spPr/>
        <p:txBody>
          <a:bodyPr/>
          <a:lstStyle/>
          <a:p>
            <a:r>
              <a:t>Speaker</a:t>
            </a:r>
          </a:p>
        </p:txBody>
      </p:sp>
      <p:sp>
        <p:nvSpPr>
          <p:cNvPr id="10" name="Espace réservé du numéro de diapositive 9">
            <a:extLst>
              <a:ext uri="{FF2B5EF4-FFF2-40B4-BE49-F238E27FC236}">
                <a16:creationId xmlns:a16="http://schemas.microsoft.com/office/drawing/2014/main" id="{31B90E33-03D8-2143-B49F-B1474EE1A1F6}"/>
              </a:ext>
            </a:extLst>
          </p:cNvPr>
          <p:cNvSpPr>
            <a:spLocks noGrp="1"/>
          </p:cNvSpPr>
          <p:nvPr>
            <p:ph type="sldNum" idx="16"/>
          </p:nvPr>
        </p:nvSpPr>
        <p:spPr/>
        <p:txBody>
          <a:bodyPr/>
          <a:lstStyle/>
          <a:p>
            <a:fld id="{E1E1CD7C-2161-7D43-862E-CE4C333CD873}" type="slidenum">
              <a:t>‹N°›</a:t>
            </a:fld>
            <a:endParaRPr/>
          </a:p>
        </p:txBody>
      </p:sp>
      <p:sp>
        <p:nvSpPr>
          <p:cNvPr id="11" name="Titre 10">
            <a:extLst>
              <a:ext uri="{FF2B5EF4-FFF2-40B4-BE49-F238E27FC236}">
                <a16:creationId xmlns:a16="http://schemas.microsoft.com/office/drawing/2014/main" id="{3FC7B5EC-066E-EC4A-B320-77DF64E6E0F0}"/>
              </a:ext>
            </a:extLst>
          </p:cNvPr>
          <p:cNvSpPr>
            <a:spLocks noGrp="1"/>
          </p:cNvSpPr>
          <p:nvPr>
            <p:ph type="title"/>
          </p:nvPr>
        </p:nvSpPr>
        <p:spPr>
          <a:xfrm>
            <a:off x="904876" y="131032"/>
            <a:ext cx="3144520" cy="1072753"/>
          </a:xfrm>
        </p:spPr>
        <p:txBody>
          <a:bodyPr/>
          <a:lstStyle/>
          <a:p>
            <a:r>
              <a:t>Modifiez le style du titre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Content_Image4">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idx="13"/>
          </p:nvPr>
        </p:nvSpPr>
        <p:spPr>
          <a:xfrm>
            <a:off x="904875" y="1563688"/>
            <a:ext cx="3144838" cy="3579812"/>
          </a:xfrm>
        </p:spPr>
        <p:txBody>
          <a:bodyPr/>
          <a:lstStyle/>
          <a:p>
            <a:r>
              <a:t>Cliquez sur l'icône pour ajouter une image</a:t>
            </a:r>
          </a:p>
        </p:txBody>
      </p:sp>
      <p:sp>
        <p:nvSpPr>
          <p:cNvPr id="3" name="Content Placeholder 2">
            <a:extLst>
              <a:ext uri="{FF2B5EF4-FFF2-40B4-BE49-F238E27FC236}">
                <a16:creationId xmlns:a16="http://schemas.microsoft.com/office/drawing/2014/main" id="{0C7B2042-F431-4C25-BC38-778A3186B764}"/>
              </a:ext>
            </a:extLst>
          </p:cNvPr>
          <p:cNvSpPr>
            <a:spLocks noGrp="1"/>
          </p:cNvSpPr>
          <p:nvPr>
            <p:ph idx="1"/>
          </p:nvPr>
        </p:nvSpPr>
        <p:spPr>
          <a:xfrm>
            <a:off x="4049395" y="1563688"/>
            <a:ext cx="4581525" cy="3386772"/>
          </a:xfrm>
        </p:spPr>
        <p:txBody>
          <a:bodyPr/>
          <a:lstStyle/>
          <a:p>
            <a:pPr>
              <a:buNone/>
            </a:pPr>
            <a:r>
              <a:t>Modifier les styles du texte du masque
Deuxième niveau
Troisième niveau
Quatrième niveau
Cinquième niveau</a:t>
            </a:r>
          </a:p>
        </p:txBody>
      </p:sp>
      <p:sp>
        <p:nvSpPr>
          <p:cNvPr id="7" name="Titre 6">
            <a:extLst>
              <a:ext uri="{FF2B5EF4-FFF2-40B4-BE49-F238E27FC236}">
                <a16:creationId xmlns:a16="http://schemas.microsoft.com/office/drawing/2014/main" id="{C026A30B-6F8E-1445-88F0-A5FB77E124E9}"/>
              </a:ext>
            </a:extLst>
          </p:cNvPr>
          <p:cNvSpPr>
            <a:spLocks noGrp="1"/>
          </p:cNvSpPr>
          <p:nvPr>
            <p:ph type="title"/>
          </p:nvPr>
        </p:nvSpPr>
        <p:spPr/>
        <p:txBody>
          <a:bodyPr/>
          <a:lstStyle/>
          <a:p>
            <a:r>
              <a:t>Modifiez le style du titre</a:t>
            </a:r>
          </a:p>
        </p:txBody>
      </p:sp>
      <p:sp>
        <p:nvSpPr>
          <p:cNvPr id="9" name="Espace réservé de la date 8">
            <a:extLst>
              <a:ext uri="{FF2B5EF4-FFF2-40B4-BE49-F238E27FC236}">
                <a16:creationId xmlns:a16="http://schemas.microsoft.com/office/drawing/2014/main" id="{826567D5-4A83-9E48-B441-CCB2A72BA6D1}"/>
              </a:ext>
            </a:extLst>
          </p:cNvPr>
          <p:cNvSpPr>
            <a:spLocks noGrp="1"/>
          </p:cNvSpPr>
          <p:nvPr>
            <p:ph type="dt" idx="14"/>
          </p:nvPr>
        </p:nvSpPr>
        <p:spPr/>
        <p:txBody>
          <a:bodyPr/>
          <a:lstStyle/>
          <a:p>
            <a:r>
              <a:t>WELCOME TO EPFL</a:t>
            </a:r>
          </a:p>
        </p:txBody>
      </p:sp>
      <p:sp>
        <p:nvSpPr>
          <p:cNvPr id="10" name="Espace réservé du pied de page 9">
            <a:extLst>
              <a:ext uri="{FF2B5EF4-FFF2-40B4-BE49-F238E27FC236}">
                <a16:creationId xmlns:a16="http://schemas.microsoft.com/office/drawing/2014/main" id="{C830A539-93F1-2541-B9F0-330893BD5190}"/>
              </a:ext>
            </a:extLst>
          </p:cNvPr>
          <p:cNvSpPr>
            <a:spLocks noGrp="1"/>
          </p:cNvSpPr>
          <p:nvPr>
            <p:ph type="ftr" idx="15"/>
          </p:nvPr>
        </p:nvSpPr>
        <p:spPr/>
        <p:txBody>
          <a:bodyPr/>
          <a:lstStyle/>
          <a:p>
            <a:r>
              <a:t>Speaker</a:t>
            </a:r>
          </a:p>
        </p:txBody>
      </p:sp>
      <p:sp>
        <p:nvSpPr>
          <p:cNvPr id="11" name="Espace réservé du numéro de diapositive 10">
            <a:extLst>
              <a:ext uri="{FF2B5EF4-FFF2-40B4-BE49-F238E27FC236}">
                <a16:creationId xmlns:a16="http://schemas.microsoft.com/office/drawing/2014/main" id="{82F21D18-8706-7E4D-8FBE-C1E2584541D1}"/>
              </a:ext>
            </a:extLst>
          </p:cNvPr>
          <p:cNvSpPr>
            <a:spLocks noGrp="1"/>
          </p:cNvSpPr>
          <p:nvPr>
            <p:ph type="sldNum" idx="16"/>
          </p:nvPr>
        </p:nvSpPr>
        <p:spPr/>
        <p:txBody>
          <a:bodyPr/>
          <a:lstStyle/>
          <a:p>
            <a:fld id="{E1E1CD7C-2161-7D43-862E-CE4C333CD873}" type="slidenum">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_2_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896AEA-AA9E-43A1-9BAB-CB476E3FE087}"/>
              </a:ext>
            </a:extLst>
          </p:cNvPr>
          <p:cNvSpPr>
            <a:spLocks noGrp="1"/>
          </p:cNvSpPr>
          <p:nvPr>
            <p:ph idx="1"/>
          </p:nvPr>
        </p:nvSpPr>
        <p:spPr>
          <a:xfrm>
            <a:off x="904875" y="1563688"/>
            <a:ext cx="3671466" cy="3263504"/>
          </a:xfrm>
        </p:spPr>
        <p:txBody>
          <a:bodyPr/>
          <a:lstStyle/>
          <a:p>
            <a:pPr>
              <a:buNone/>
            </a:pPr>
            <a:r>
              <a:t>Modifier les styles du texte du masque
Deuxième niveau
Troisième niveau
Quatrième niveau
Cinquième niveau</a:t>
            </a:r>
          </a:p>
        </p:txBody>
      </p:sp>
      <p:sp>
        <p:nvSpPr>
          <p:cNvPr id="4" name="Content Placeholder 3">
            <a:extLst>
              <a:ext uri="{FF2B5EF4-FFF2-40B4-BE49-F238E27FC236}">
                <a16:creationId xmlns:a16="http://schemas.microsoft.com/office/drawing/2014/main" id="{56DE190E-024A-4EEE-B98E-41EBF965A1A3}"/>
              </a:ext>
            </a:extLst>
          </p:cNvPr>
          <p:cNvSpPr>
            <a:spLocks noGrp="1"/>
          </p:cNvSpPr>
          <p:nvPr>
            <p:ph idx="2"/>
          </p:nvPr>
        </p:nvSpPr>
        <p:spPr>
          <a:xfrm>
            <a:off x="4959772" y="1563688"/>
            <a:ext cx="3671466" cy="3263504"/>
          </a:xfrm>
        </p:spPr>
        <p:txBody>
          <a:bodyPr/>
          <a:lstStyle/>
          <a:p>
            <a:pPr>
              <a:buNone/>
            </a:pPr>
            <a:r>
              <a:t>Modifier les styles du texte du masque
Deuxième niveau
Troisième niveau
Quatrième niveau
Cinquième niveau</a:t>
            </a:r>
          </a:p>
        </p:txBody>
      </p:sp>
      <p:sp>
        <p:nvSpPr>
          <p:cNvPr id="8" name="Titre 7">
            <a:extLst>
              <a:ext uri="{FF2B5EF4-FFF2-40B4-BE49-F238E27FC236}">
                <a16:creationId xmlns:a16="http://schemas.microsoft.com/office/drawing/2014/main" id="{6897D737-724C-984A-82E1-2A2DBD5F6249}"/>
              </a:ext>
            </a:extLst>
          </p:cNvPr>
          <p:cNvSpPr>
            <a:spLocks noGrp="1"/>
          </p:cNvSpPr>
          <p:nvPr>
            <p:ph type="title"/>
          </p:nvPr>
        </p:nvSpPr>
        <p:spPr/>
        <p:txBody>
          <a:bodyPr/>
          <a:lstStyle/>
          <a:p>
            <a:r>
              <a:t>Modifiez le style du titre</a:t>
            </a:r>
          </a:p>
        </p:txBody>
      </p:sp>
      <p:sp>
        <p:nvSpPr>
          <p:cNvPr id="9" name="Espace réservé de la date 8">
            <a:extLst>
              <a:ext uri="{FF2B5EF4-FFF2-40B4-BE49-F238E27FC236}">
                <a16:creationId xmlns:a16="http://schemas.microsoft.com/office/drawing/2014/main" id="{E34C2B73-67B7-BB4C-AE0F-7D16D8DDD2B2}"/>
              </a:ext>
            </a:extLst>
          </p:cNvPr>
          <p:cNvSpPr>
            <a:spLocks noGrp="1"/>
          </p:cNvSpPr>
          <p:nvPr>
            <p:ph type="dt" idx="10"/>
          </p:nvPr>
        </p:nvSpPr>
        <p:spPr/>
        <p:txBody>
          <a:bodyPr/>
          <a:lstStyle/>
          <a:p>
            <a:r>
              <a:t>WELCOME TO EPFL</a:t>
            </a:r>
          </a:p>
        </p:txBody>
      </p:sp>
      <p:sp>
        <p:nvSpPr>
          <p:cNvPr id="10" name="Espace réservé du pied de page 9">
            <a:extLst>
              <a:ext uri="{FF2B5EF4-FFF2-40B4-BE49-F238E27FC236}">
                <a16:creationId xmlns:a16="http://schemas.microsoft.com/office/drawing/2014/main" id="{C9FF6AA9-AC16-D748-B815-56221BFFFB93}"/>
              </a:ext>
            </a:extLst>
          </p:cNvPr>
          <p:cNvSpPr>
            <a:spLocks noGrp="1"/>
          </p:cNvSpPr>
          <p:nvPr>
            <p:ph type="ftr" idx="11"/>
          </p:nvPr>
        </p:nvSpPr>
        <p:spPr/>
        <p:txBody>
          <a:bodyPr/>
          <a:lstStyle/>
          <a:p>
            <a:r>
              <a:t>Speaker</a:t>
            </a:r>
          </a:p>
        </p:txBody>
      </p:sp>
      <p:sp>
        <p:nvSpPr>
          <p:cNvPr id="11" name="Espace réservé du numéro de diapositive 10">
            <a:extLst>
              <a:ext uri="{FF2B5EF4-FFF2-40B4-BE49-F238E27FC236}">
                <a16:creationId xmlns:a16="http://schemas.microsoft.com/office/drawing/2014/main" id="{DD59D891-3F23-D04C-AB43-6FA4220AFE80}"/>
              </a:ext>
            </a:extLst>
          </p:cNvPr>
          <p:cNvSpPr>
            <a:spLocks noGrp="1"/>
          </p:cNvSpPr>
          <p:nvPr>
            <p:ph type="sldNum" idx="12"/>
          </p:nvPr>
        </p:nvSpPr>
        <p:spPr/>
        <p:txBody>
          <a:bodyPr/>
          <a:lstStyle/>
          <a:p>
            <a:fld id="{E1E1CD7C-2161-7D43-862E-CE4C333CD873}" type="slidenum">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9BFFD8D9-6AAA-B44F-8BD5-98D7A6546A6C}"/>
              </a:ext>
            </a:extLst>
          </p:cNvPr>
          <p:cNvSpPr>
            <a:spLocks noGrp="1"/>
          </p:cNvSpPr>
          <p:nvPr>
            <p:ph type="title"/>
          </p:nvPr>
        </p:nvSpPr>
        <p:spPr/>
        <p:txBody>
          <a:bodyPr/>
          <a:lstStyle/>
          <a:p>
            <a:r>
              <a:t>Modifiez le style du titre</a:t>
            </a:r>
          </a:p>
        </p:txBody>
      </p:sp>
      <p:sp>
        <p:nvSpPr>
          <p:cNvPr id="7" name="Espace réservé de la date 6">
            <a:extLst>
              <a:ext uri="{FF2B5EF4-FFF2-40B4-BE49-F238E27FC236}">
                <a16:creationId xmlns:a16="http://schemas.microsoft.com/office/drawing/2014/main" id="{084C64CE-C88F-2044-AD84-19F588F18902}"/>
              </a:ext>
            </a:extLst>
          </p:cNvPr>
          <p:cNvSpPr>
            <a:spLocks noGrp="1"/>
          </p:cNvSpPr>
          <p:nvPr>
            <p:ph type="dt" idx="10"/>
          </p:nvPr>
        </p:nvSpPr>
        <p:spPr/>
        <p:txBody>
          <a:bodyPr/>
          <a:lstStyle/>
          <a:p>
            <a:r>
              <a:t>WELCOME TO EPFL</a:t>
            </a:r>
          </a:p>
        </p:txBody>
      </p:sp>
      <p:sp>
        <p:nvSpPr>
          <p:cNvPr id="8" name="Espace réservé du pied de page 7">
            <a:extLst>
              <a:ext uri="{FF2B5EF4-FFF2-40B4-BE49-F238E27FC236}">
                <a16:creationId xmlns:a16="http://schemas.microsoft.com/office/drawing/2014/main" id="{A948AF20-C2DF-3542-BB6A-8354A9817325}"/>
              </a:ext>
            </a:extLst>
          </p:cNvPr>
          <p:cNvSpPr>
            <a:spLocks noGrp="1"/>
          </p:cNvSpPr>
          <p:nvPr>
            <p:ph type="ftr" idx="11"/>
          </p:nvPr>
        </p:nvSpPr>
        <p:spPr/>
        <p:txBody>
          <a:bodyPr/>
          <a:lstStyle/>
          <a:p>
            <a:r>
              <a:t>Speaker</a:t>
            </a:r>
          </a:p>
        </p:txBody>
      </p:sp>
      <p:sp>
        <p:nvSpPr>
          <p:cNvPr id="9" name="Espace réservé du numéro de diapositive 8">
            <a:extLst>
              <a:ext uri="{FF2B5EF4-FFF2-40B4-BE49-F238E27FC236}">
                <a16:creationId xmlns:a16="http://schemas.microsoft.com/office/drawing/2014/main" id="{71083942-1443-BC45-9F95-32C82A8DCDEF}"/>
              </a:ext>
            </a:extLst>
          </p:cNvPr>
          <p:cNvSpPr>
            <a:spLocks noGrp="1"/>
          </p:cNvSpPr>
          <p:nvPr>
            <p:ph type="sldNum" idx="12"/>
          </p:nvPr>
        </p:nvSpPr>
        <p:spPr/>
        <p:txBody>
          <a:bodyPr/>
          <a:lstStyle/>
          <a:p>
            <a:fld id="{E1E1CD7C-2161-7D43-862E-CE4C333CD873}" type="slidenum">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_Title">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idx="13"/>
          </p:nvPr>
        </p:nvSpPr>
        <p:spPr>
          <a:xfrm>
            <a:off x="904875" y="0"/>
            <a:ext cx="7726363" cy="5143500"/>
          </a:xfrm>
        </p:spPr>
        <p:txBody>
          <a:bodyPr/>
          <a:lstStyle/>
          <a:p>
            <a:r>
              <a:t>Cliquez sur l'icône pour ajouter une image</a:t>
            </a:r>
          </a:p>
        </p:txBody>
      </p:sp>
      <p:sp>
        <p:nvSpPr>
          <p:cNvPr id="2" name="Title 1">
            <a:extLst>
              <a:ext uri="{FF2B5EF4-FFF2-40B4-BE49-F238E27FC236}">
                <a16:creationId xmlns:a16="http://schemas.microsoft.com/office/drawing/2014/main" id="{640DE903-E60C-47BE-8746-70A721C07E50}"/>
              </a:ext>
            </a:extLst>
          </p:cNvPr>
          <p:cNvSpPr>
            <a:spLocks noGrp="1"/>
          </p:cNvSpPr>
          <p:nvPr>
            <p:ph type="title"/>
          </p:nvPr>
        </p:nvSpPr>
        <p:spPr>
          <a:xfrm>
            <a:off x="6405563" y="2571750"/>
            <a:ext cx="2738437" cy="2111375"/>
          </a:xfrm>
          <a:prstGeom prst="rect">
            <a:avLst/>
          </a:prstGeom>
          <a:solidFill>
            <a:schemeClr val="accent2"/>
          </a:solidFill>
        </p:spPr>
        <p:txBody>
          <a:bodyPr anchor="ctr"/>
          <a:lstStyle>
            <a:lvl1pPr>
              <a:buNone/>
              <a:defRPr>
                <a:solidFill>
                  <a:schemeClr val="bg1"/>
                </a:solidFill>
              </a:defRPr>
            </a:lvl1pPr>
          </a:lstStyle>
          <a:p>
            <a:r>
              <a:t>Modifiez le style du titre</a:t>
            </a:r>
          </a:p>
        </p:txBody>
      </p:sp>
      <p:sp>
        <p:nvSpPr>
          <p:cNvPr id="3" name="Espace réservé de la date 2">
            <a:extLst>
              <a:ext uri="{FF2B5EF4-FFF2-40B4-BE49-F238E27FC236}">
                <a16:creationId xmlns:a16="http://schemas.microsoft.com/office/drawing/2014/main" id="{60E5EA1C-63CE-2C4F-B9F4-39FDBC14B9A3}"/>
              </a:ext>
            </a:extLst>
          </p:cNvPr>
          <p:cNvSpPr>
            <a:spLocks noGrp="1"/>
          </p:cNvSpPr>
          <p:nvPr>
            <p:ph type="dt" idx="14"/>
          </p:nvPr>
        </p:nvSpPr>
        <p:spPr/>
        <p:txBody>
          <a:bodyPr/>
          <a:lstStyle/>
          <a:p>
            <a:r>
              <a:t>WELCOME TO EPFL</a:t>
            </a:r>
          </a:p>
        </p:txBody>
      </p:sp>
      <p:sp>
        <p:nvSpPr>
          <p:cNvPr id="4" name="Espace réservé du pied de page 3">
            <a:extLst>
              <a:ext uri="{FF2B5EF4-FFF2-40B4-BE49-F238E27FC236}">
                <a16:creationId xmlns:a16="http://schemas.microsoft.com/office/drawing/2014/main" id="{8E7A5892-F23D-BD48-84D1-FD279BA16865}"/>
              </a:ext>
            </a:extLst>
          </p:cNvPr>
          <p:cNvSpPr>
            <a:spLocks noGrp="1"/>
          </p:cNvSpPr>
          <p:nvPr>
            <p:ph type="ftr" idx="15"/>
          </p:nvPr>
        </p:nvSpPr>
        <p:spPr/>
        <p:txBody>
          <a:bodyPr/>
          <a:lstStyle/>
          <a:p>
            <a:r>
              <a:t>Speaker</a:t>
            </a:r>
          </a:p>
        </p:txBody>
      </p:sp>
      <p:sp>
        <p:nvSpPr>
          <p:cNvPr id="5" name="Espace réservé du numéro de diapositive 4">
            <a:extLst>
              <a:ext uri="{FF2B5EF4-FFF2-40B4-BE49-F238E27FC236}">
                <a16:creationId xmlns:a16="http://schemas.microsoft.com/office/drawing/2014/main" id="{6C516D46-C7BB-2141-A4EE-18D1756414F6}"/>
              </a:ext>
            </a:extLst>
          </p:cNvPr>
          <p:cNvSpPr>
            <a:spLocks noGrp="1"/>
          </p:cNvSpPr>
          <p:nvPr>
            <p:ph type="sldNum" idx="16"/>
          </p:nvPr>
        </p:nvSpPr>
        <p:spPr/>
        <p:txBody>
          <a:bodyPr/>
          <a:lstStyle/>
          <a:p>
            <a:fld id="{E1E1CD7C-2161-7D43-862E-CE4C333CD873}" type="slidenum">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idx="13"/>
          </p:nvPr>
        </p:nvSpPr>
        <p:spPr>
          <a:xfrm>
            <a:off x="904875" y="0"/>
            <a:ext cx="7726363" cy="5143500"/>
          </a:xfrm>
        </p:spPr>
        <p:txBody>
          <a:bodyPr/>
          <a:lstStyle/>
          <a:p>
            <a:r>
              <a:t>Cliquez sur l'icône pour ajouter une image</a:t>
            </a:r>
          </a:p>
        </p:txBody>
      </p:sp>
      <p:sp>
        <p:nvSpPr>
          <p:cNvPr id="5" name="Espace réservé de la date 4">
            <a:extLst>
              <a:ext uri="{FF2B5EF4-FFF2-40B4-BE49-F238E27FC236}">
                <a16:creationId xmlns:a16="http://schemas.microsoft.com/office/drawing/2014/main" id="{91E6F4EB-CC02-6E4D-9146-CE4A7A789A95}"/>
              </a:ext>
            </a:extLst>
          </p:cNvPr>
          <p:cNvSpPr>
            <a:spLocks noGrp="1"/>
          </p:cNvSpPr>
          <p:nvPr>
            <p:ph type="dt" idx="14"/>
          </p:nvPr>
        </p:nvSpPr>
        <p:spPr/>
        <p:txBody>
          <a:bodyPr/>
          <a:lstStyle/>
          <a:p>
            <a:r>
              <a:t>WELCOME TO EPFL</a:t>
            </a:r>
          </a:p>
        </p:txBody>
      </p:sp>
      <p:sp>
        <p:nvSpPr>
          <p:cNvPr id="6" name="Espace réservé du pied de page 5">
            <a:extLst>
              <a:ext uri="{FF2B5EF4-FFF2-40B4-BE49-F238E27FC236}">
                <a16:creationId xmlns:a16="http://schemas.microsoft.com/office/drawing/2014/main" id="{DED4AA2C-29B3-CA42-B7C3-C932911A7586}"/>
              </a:ext>
            </a:extLst>
          </p:cNvPr>
          <p:cNvSpPr>
            <a:spLocks noGrp="1"/>
          </p:cNvSpPr>
          <p:nvPr>
            <p:ph type="ftr" idx="15"/>
          </p:nvPr>
        </p:nvSpPr>
        <p:spPr/>
        <p:txBody>
          <a:bodyPr/>
          <a:lstStyle/>
          <a:p>
            <a:r>
              <a:t>Speaker</a:t>
            </a:r>
          </a:p>
        </p:txBody>
      </p:sp>
      <p:sp>
        <p:nvSpPr>
          <p:cNvPr id="8" name="Espace réservé du numéro de diapositive 7">
            <a:extLst>
              <a:ext uri="{FF2B5EF4-FFF2-40B4-BE49-F238E27FC236}">
                <a16:creationId xmlns:a16="http://schemas.microsoft.com/office/drawing/2014/main" id="{0FE7A1E3-AAEC-7641-B6C5-8D9FC0B6A211}"/>
              </a:ext>
            </a:extLst>
          </p:cNvPr>
          <p:cNvSpPr>
            <a:spLocks noGrp="1"/>
          </p:cNvSpPr>
          <p:nvPr>
            <p:ph type="sldNum" idx="16"/>
          </p:nvPr>
        </p:nvSpPr>
        <p:spPr/>
        <p:txBody>
          <a:bodyPr/>
          <a:lstStyle/>
          <a:p>
            <a:fld id="{E1E1CD7C-2161-7D43-862E-CE4C333CD873}" type="slidenum">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_Content_ImageBelow">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idx="13"/>
          </p:nvPr>
        </p:nvSpPr>
        <p:spPr>
          <a:xfrm>
            <a:off x="904875" y="3114674"/>
            <a:ext cx="8239125" cy="2028825"/>
          </a:xfrm>
        </p:spPr>
        <p:txBody>
          <a:bodyPr/>
          <a:lstStyle/>
          <a:p>
            <a:r>
              <a:t>Cliquez sur l'icône pour ajouter une image</a:t>
            </a:r>
          </a:p>
        </p:txBody>
      </p:sp>
      <p:sp>
        <p:nvSpPr>
          <p:cNvPr id="4" name="Espace réservé du texte 3">
            <a:extLst>
              <a:ext uri="{FF2B5EF4-FFF2-40B4-BE49-F238E27FC236}">
                <a16:creationId xmlns:a16="http://schemas.microsoft.com/office/drawing/2014/main" id="{494F3B13-8FB6-40D3-9021-81D447811BA0}"/>
              </a:ext>
            </a:extLst>
          </p:cNvPr>
          <p:cNvSpPr>
            <a:spLocks noGrp="1"/>
          </p:cNvSpPr>
          <p:nvPr>
            <p:ph type="body" idx="17"/>
          </p:nvPr>
        </p:nvSpPr>
        <p:spPr>
          <a:xfrm>
            <a:off x="904875" y="1563688"/>
            <a:ext cx="7646988" cy="1436687"/>
          </a:xfrm>
        </p:spPr>
        <p:txBody>
          <a:bodyPr/>
          <a:lstStyle>
            <a:lvl4pPr>
              <a:buNone/>
              <a:defRPr>
                <a:latin typeface="Arial"/>
                <a:ea typeface="Arial"/>
                <a:cs typeface="Arial"/>
              </a:defRPr>
            </a:lvl4pPr>
            <a:lvl5pPr>
              <a:buNone/>
              <a:defRPr>
                <a:latin typeface="Arial"/>
                <a:ea typeface="Arial"/>
                <a:cs typeface="Arial"/>
              </a:defRPr>
            </a:lvl5pPr>
          </a:lstStyle>
          <a:p>
            <a:pPr>
              <a:buNone/>
            </a:pPr>
            <a:r>
              <a:t>Modifier les styles du texte du masque
Deuxième niveau
Troisième niveau
Quatrième niveau
Cinquième niveau</a:t>
            </a:r>
          </a:p>
        </p:txBody>
      </p:sp>
      <p:sp>
        <p:nvSpPr>
          <p:cNvPr id="6" name="Espace réservé de la date 5">
            <a:extLst>
              <a:ext uri="{FF2B5EF4-FFF2-40B4-BE49-F238E27FC236}">
                <a16:creationId xmlns:a16="http://schemas.microsoft.com/office/drawing/2014/main" id="{37CF3032-2465-874C-B786-95E1B594A5AB}"/>
              </a:ext>
            </a:extLst>
          </p:cNvPr>
          <p:cNvSpPr>
            <a:spLocks noGrp="1"/>
          </p:cNvSpPr>
          <p:nvPr>
            <p:ph type="dt" idx="18"/>
          </p:nvPr>
        </p:nvSpPr>
        <p:spPr/>
        <p:txBody>
          <a:bodyPr/>
          <a:lstStyle/>
          <a:p>
            <a:r>
              <a:t>WELCOME TO EPFL</a:t>
            </a:r>
          </a:p>
        </p:txBody>
      </p:sp>
      <p:sp>
        <p:nvSpPr>
          <p:cNvPr id="8" name="Espace réservé du pied de page 7">
            <a:extLst>
              <a:ext uri="{FF2B5EF4-FFF2-40B4-BE49-F238E27FC236}">
                <a16:creationId xmlns:a16="http://schemas.microsoft.com/office/drawing/2014/main" id="{AAF73E2A-22D7-894A-9267-185CB4E4B13E}"/>
              </a:ext>
            </a:extLst>
          </p:cNvPr>
          <p:cNvSpPr>
            <a:spLocks noGrp="1"/>
          </p:cNvSpPr>
          <p:nvPr>
            <p:ph type="ftr" idx="19"/>
          </p:nvPr>
        </p:nvSpPr>
        <p:spPr/>
        <p:txBody>
          <a:bodyPr/>
          <a:lstStyle/>
          <a:p>
            <a:r>
              <a:t>Speaker</a:t>
            </a:r>
          </a:p>
        </p:txBody>
      </p:sp>
      <p:sp>
        <p:nvSpPr>
          <p:cNvPr id="9" name="Espace réservé du numéro de diapositive 8">
            <a:extLst>
              <a:ext uri="{FF2B5EF4-FFF2-40B4-BE49-F238E27FC236}">
                <a16:creationId xmlns:a16="http://schemas.microsoft.com/office/drawing/2014/main" id="{39D9777C-EC90-1141-9E30-4B4F669C2BE1}"/>
              </a:ext>
            </a:extLst>
          </p:cNvPr>
          <p:cNvSpPr>
            <a:spLocks noGrp="1"/>
          </p:cNvSpPr>
          <p:nvPr>
            <p:ph type="sldNum" idx="20"/>
          </p:nvPr>
        </p:nvSpPr>
        <p:spPr/>
        <p:txBody>
          <a:bodyPr/>
          <a:lstStyle/>
          <a:p>
            <a:fld id="{E1E1CD7C-2161-7D43-862E-CE4C333CD873}" type="slidenum">
              <a:t>‹N°›</a:t>
            </a:fld>
            <a:endParaRPr/>
          </a:p>
        </p:txBody>
      </p:sp>
      <p:sp>
        <p:nvSpPr>
          <p:cNvPr id="11" name="Titre 10">
            <a:extLst>
              <a:ext uri="{FF2B5EF4-FFF2-40B4-BE49-F238E27FC236}">
                <a16:creationId xmlns:a16="http://schemas.microsoft.com/office/drawing/2014/main" id="{0E011164-727C-4C46-B34E-7729CB350E3E}"/>
              </a:ext>
            </a:extLst>
          </p:cNvPr>
          <p:cNvSpPr>
            <a:spLocks noGrp="1"/>
          </p:cNvSpPr>
          <p:nvPr>
            <p:ph type="title"/>
          </p:nvPr>
        </p:nvSpPr>
        <p:spPr/>
        <p:txBody>
          <a:bodyPr/>
          <a:lstStyle/>
          <a:p>
            <a:r>
              <a:t>Modifiez le style du titre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4D8101AB-8ACE-BB4C-9D61-B4AABFE11591}"/>
              </a:ext>
            </a:extLst>
          </p:cNvPr>
          <p:cNvSpPr>
            <a:spLocks noGrp="1"/>
          </p:cNvSpPr>
          <p:nvPr>
            <p:ph type="dt" idx="10"/>
          </p:nvPr>
        </p:nvSpPr>
        <p:spPr/>
        <p:txBody>
          <a:bodyPr/>
          <a:lstStyle/>
          <a:p>
            <a:r>
              <a:t>WELCOME TO EPFL</a:t>
            </a:r>
          </a:p>
        </p:txBody>
      </p:sp>
      <p:sp>
        <p:nvSpPr>
          <p:cNvPr id="6" name="Espace réservé du pied de page 5">
            <a:extLst>
              <a:ext uri="{FF2B5EF4-FFF2-40B4-BE49-F238E27FC236}">
                <a16:creationId xmlns:a16="http://schemas.microsoft.com/office/drawing/2014/main" id="{5F9CFC1D-0B2A-0A4E-9C0D-682EECA55703}"/>
              </a:ext>
            </a:extLst>
          </p:cNvPr>
          <p:cNvSpPr>
            <a:spLocks noGrp="1"/>
          </p:cNvSpPr>
          <p:nvPr>
            <p:ph type="ftr" idx="11"/>
          </p:nvPr>
        </p:nvSpPr>
        <p:spPr/>
        <p:txBody>
          <a:bodyPr/>
          <a:lstStyle/>
          <a:p>
            <a:r>
              <a:t>Speaker</a:t>
            </a:r>
          </a:p>
        </p:txBody>
      </p:sp>
      <p:sp>
        <p:nvSpPr>
          <p:cNvPr id="7" name="Espace réservé du numéro de diapositive 6">
            <a:extLst>
              <a:ext uri="{FF2B5EF4-FFF2-40B4-BE49-F238E27FC236}">
                <a16:creationId xmlns:a16="http://schemas.microsoft.com/office/drawing/2014/main" id="{56622065-A833-2340-B0FD-ACB065A3B8CF}"/>
              </a:ext>
            </a:extLst>
          </p:cNvPr>
          <p:cNvSpPr>
            <a:spLocks noGrp="1"/>
          </p:cNvSpPr>
          <p:nvPr>
            <p:ph type="sldNum" idx="12"/>
          </p:nvPr>
        </p:nvSpPr>
        <p:spPr/>
        <p:txBody>
          <a:bodyPr/>
          <a:lstStyle/>
          <a:p>
            <a:fld id="{E1E1CD7C-2161-7D43-862E-CE4C333CD873}" type="slidenum">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idx="13"/>
          </p:nvPr>
        </p:nvSpPr>
        <p:spPr>
          <a:xfrm>
            <a:off x="904876" y="0"/>
            <a:ext cx="8239125" cy="5143500"/>
          </a:xfrm>
        </p:spPr>
        <p:txBody>
          <a:bodyPr/>
          <a:lstStyle/>
          <a:p>
            <a:r>
              <a:t>Cliquez sur l'icône pour ajouter une image</a:t>
            </a:r>
          </a:p>
        </p:txBody>
      </p:sp>
      <p:sp>
        <p:nvSpPr>
          <p:cNvPr id="2" name="Title 1">
            <a:extLst>
              <a:ext uri="{FF2B5EF4-FFF2-40B4-BE49-F238E27FC236}">
                <a16:creationId xmlns:a16="http://schemas.microsoft.com/office/drawing/2014/main" id="{DA7A3AE5-ED4A-4232-805A-5C0A77F88EB6}"/>
              </a:ext>
            </a:extLst>
          </p:cNvPr>
          <p:cNvSpPr>
            <a:spLocks noGrp="1"/>
          </p:cNvSpPr>
          <p:nvPr>
            <p:ph type="title"/>
          </p:nvPr>
        </p:nvSpPr>
        <p:spPr>
          <a:xfrm>
            <a:off x="6405564" y="2571751"/>
            <a:ext cx="2738437" cy="2111375"/>
          </a:xfrm>
          <a:prstGeom prst="rect">
            <a:avLst/>
          </a:prstGeom>
          <a:solidFill>
            <a:schemeClr val="accent2"/>
          </a:solidFill>
        </p:spPr>
        <p:txBody>
          <a:bodyPr anchor="ctr"/>
          <a:lstStyle>
            <a:lvl1pPr>
              <a:buNone/>
              <a:defRPr>
                <a:solidFill>
                  <a:schemeClr val="bg1"/>
                </a:solidFill>
              </a:defRPr>
            </a:lvl1pPr>
          </a:lstStyle>
          <a:p>
            <a:r>
              <a:t>Modifiez le style du titre</a:t>
            </a:r>
          </a:p>
        </p:txBody>
      </p:sp>
      <p:sp>
        <p:nvSpPr>
          <p:cNvPr id="3" name="Espace réservé de la date 2">
            <a:extLst>
              <a:ext uri="{FF2B5EF4-FFF2-40B4-BE49-F238E27FC236}">
                <a16:creationId xmlns:a16="http://schemas.microsoft.com/office/drawing/2014/main" id="{60E5EA1C-63CE-2C4F-B9F4-39FDBC14B9A3}"/>
              </a:ext>
            </a:extLst>
          </p:cNvPr>
          <p:cNvSpPr>
            <a:spLocks noGrp="1"/>
          </p:cNvSpPr>
          <p:nvPr>
            <p:ph type="dt" idx="14"/>
          </p:nvPr>
        </p:nvSpPr>
        <p:spPr/>
        <p:txBody>
          <a:bodyPr/>
          <a:lstStyle/>
          <a:p>
            <a:r>
              <a:t>WELCOME TO EPFL</a:t>
            </a:r>
          </a:p>
        </p:txBody>
      </p:sp>
      <p:sp>
        <p:nvSpPr>
          <p:cNvPr id="4" name="Espace réservé du pied de page 3">
            <a:extLst>
              <a:ext uri="{FF2B5EF4-FFF2-40B4-BE49-F238E27FC236}">
                <a16:creationId xmlns:a16="http://schemas.microsoft.com/office/drawing/2014/main" id="{8E7A5892-F23D-BD48-84D1-FD279BA16865}"/>
              </a:ext>
            </a:extLst>
          </p:cNvPr>
          <p:cNvSpPr>
            <a:spLocks noGrp="1"/>
          </p:cNvSpPr>
          <p:nvPr>
            <p:ph type="ftr" idx="15"/>
          </p:nvPr>
        </p:nvSpPr>
        <p:spPr/>
        <p:txBody>
          <a:bodyPr/>
          <a:lstStyle/>
          <a:p>
            <a:r>
              <a:t>Speaker</a:t>
            </a:r>
          </a:p>
        </p:txBody>
      </p:sp>
      <p:sp>
        <p:nvSpPr>
          <p:cNvPr id="5" name="Espace réservé du numéro de diapositive 4">
            <a:extLst>
              <a:ext uri="{FF2B5EF4-FFF2-40B4-BE49-F238E27FC236}">
                <a16:creationId xmlns:a16="http://schemas.microsoft.com/office/drawing/2014/main" id="{6C516D46-C7BB-2141-A4EE-18D1756414F6}"/>
              </a:ext>
            </a:extLst>
          </p:cNvPr>
          <p:cNvSpPr>
            <a:spLocks noGrp="1"/>
          </p:cNvSpPr>
          <p:nvPr>
            <p:ph type="sldNum" idx="16"/>
          </p:nvPr>
        </p:nvSpPr>
        <p:spPr/>
        <p:txBody>
          <a:bodyPr/>
          <a:lstStyle/>
          <a:p>
            <a:fld id="{E1E1CD7C-2161-7D43-862E-CE4C333CD873}"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985F3E-2FED-49E6-B9A2-0B33F0554954}"/>
              </a:ext>
            </a:extLst>
          </p:cNvPr>
          <p:cNvSpPr>
            <a:spLocks noGrp="1"/>
          </p:cNvSpPr>
          <p:nvPr>
            <p:ph type="title"/>
          </p:nvPr>
        </p:nvSpPr>
        <p:spPr>
          <a:xfrm>
            <a:off x="904875" y="179552"/>
            <a:ext cx="3667125" cy="1072753"/>
          </a:xfrm>
          <a:prstGeom prst="rect">
            <a:avLst/>
          </a:prstGeom>
        </p:spPr>
        <p:txBody>
          <a:bodyPr vert="horz" lIns="180000" tIns="0" rIns="72000" bIns="46800" anchor="t">
            <a:normAutofit/>
          </a:bodyPr>
          <a:lstStyle/>
          <a:p>
            <a:r>
              <a:t>Modifiez le style du titre</a:t>
            </a:r>
          </a:p>
        </p:txBody>
      </p:sp>
      <p:sp>
        <p:nvSpPr>
          <p:cNvPr id="3" name="Text Placeholder 2">
            <a:extLst>
              <a:ext uri="{FF2B5EF4-FFF2-40B4-BE49-F238E27FC236}">
                <a16:creationId xmlns:a16="http://schemas.microsoft.com/office/drawing/2014/main" id="{081D0F07-E0F8-47C0-A953-E9BCE469D8AB}"/>
              </a:ext>
            </a:extLst>
          </p:cNvPr>
          <p:cNvSpPr>
            <a:spLocks noGrp="1"/>
          </p:cNvSpPr>
          <p:nvPr>
            <p:ph type="body" idx="1"/>
          </p:nvPr>
        </p:nvSpPr>
        <p:spPr>
          <a:xfrm>
            <a:off x="904875" y="1563688"/>
            <a:ext cx="7726363" cy="3386772"/>
          </a:xfrm>
          <a:prstGeom prst="rect">
            <a:avLst/>
          </a:prstGeom>
        </p:spPr>
        <p:txBody>
          <a:bodyPr vert="horz" lIns="180000" tIns="45720" rIns="91440" bIns="45720">
            <a:normAutofit/>
          </a:bodyPr>
          <a:lstStyle/>
          <a:p>
            <a:pPr>
              <a:buNone/>
            </a:pPr>
            <a:r>
              <a:t>Modifier les styles du texte du masque</a:t>
            </a:r>
          </a:p>
          <a:p>
            <a:pPr>
              <a:buNone/>
            </a:pPr>
            <a:r>
              <a:t>Deuxième niveau</a:t>
            </a:r>
          </a:p>
          <a:p>
            <a:pPr>
              <a:buNone/>
            </a:pPr>
            <a:r>
              <a:t>Troisième niveau</a:t>
            </a:r>
            <a:br/>
            <a:r>
              <a:t>Quatrième niveau</a:t>
            </a:r>
            <a:br/>
            <a:r>
              <a:t>Cinquième niveau</a:t>
            </a:r>
          </a:p>
        </p:txBody>
      </p:sp>
      <p:sp>
        <p:nvSpPr>
          <p:cNvPr id="4" name="Date Placeholder 3">
            <a:extLst>
              <a:ext uri="{FF2B5EF4-FFF2-40B4-BE49-F238E27FC236}">
                <a16:creationId xmlns:a16="http://schemas.microsoft.com/office/drawing/2014/main" id="{9343120F-39F1-4358-AC73-68F4F126AE8D}"/>
              </a:ext>
            </a:extLst>
          </p:cNvPr>
          <p:cNvSpPr>
            <a:spLocks noGrp="1"/>
          </p:cNvSpPr>
          <p:nvPr>
            <p:ph type="dt" idx="2"/>
          </p:nvPr>
        </p:nvSpPr>
        <p:spPr>
          <a:xfrm rot="16200000">
            <a:off x="-1221413" y="2778452"/>
            <a:ext cx="3341052" cy="911524"/>
          </a:xfrm>
          <a:prstGeom prst="rect">
            <a:avLst/>
          </a:prstGeom>
        </p:spPr>
        <p:txBody>
          <a:bodyPr vert="horz" lIns="91440" tIns="45720" rIns="91440" bIns="45720" anchor="ctr"/>
          <a:lstStyle>
            <a:lvl1pPr algn="l">
              <a:buNone/>
              <a:defRPr sz="700">
                <a:solidFill>
                  <a:schemeClr val="accent1"/>
                </a:solidFill>
                <a:latin typeface="Arial"/>
                <a:ea typeface="Arial"/>
                <a:cs typeface="Arial"/>
              </a:defRPr>
            </a:lvl1pPr>
          </a:lstStyle>
          <a:p>
            <a:r>
              <a:t>WELCOME TO EPFL</a:t>
            </a:r>
          </a:p>
        </p:txBody>
      </p:sp>
      <p:sp>
        <p:nvSpPr>
          <p:cNvPr id="5" name="Footer Placeholder 4">
            <a:extLst>
              <a:ext uri="{FF2B5EF4-FFF2-40B4-BE49-F238E27FC236}">
                <a16:creationId xmlns:a16="http://schemas.microsoft.com/office/drawing/2014/main" id="{B19115F5-E4AA-445E-A8FC-8C512793F609}"/>
              </a:ext>
            </a:extLst>
          </p:cNvPr>
          <p:cNvSpPr>
            <a:spLocks noGrp="1"/>
          </p:cNvSpPr>
          <p:nvPr>
            <p:ph type="ftr" idx="3"/>
          </p:nvPr>
        </p:nvSpPr>
        <p:spPr>
          <a:xfrm rot="16200000">
            <a:off x="7115989" y="1874064"/>
            <a:ext cx="3543260" cy="512762"/>
          </a:xfrm>
          <a:prstGeom prst="rect">
            <a:avLst/>
          </a:prstGeom>
        </p:spPr>
        <p:txBody>
          <a:bodyPr vert="horz" lIns="91440" tIns="45720" rIns="91440" bIns="45720" anchor="ctr"/>
          <a:lstStyle>
            <a:lvl1pPr algn="r">
              <a:buNone/>
              <a:defRPr sz="700">
                <a:solidFill>
                  <a:schemeClr val="tx1"/>
                </a:solidFill>
                <a:latin typeface="Arial"/>
                <a:ea typeface="Arial"/>
                <a:cs typeface="Arial"/>
              </a:defRPr>
            </a:lvl1pPr>
          </a:lstStyle>
          <a:p>
            <a:r>
              <a:t>Speaker</a:t>
            </a:r>
          </a:p>
        </p:txBody>
      </p:sp>
      <p:sp>
        <p:nvSpPr>
          <p:cNvPr id="6" name="Slide Number Placeholder 5">
            <a:extLst>
              <a:ext uri="{FF2B5EF4-FFF2-40B4-BE49-F238E27FC236}">
                <a16:creationId xmlns:a16="http://schemas.microsoft.com/office/drawing/2014/main" id="{6FFB0F06-5D88-4F8C-AB96-D8A1D7956E89}"/>
              </a:ext>
            </a:extLst>
          </p:cNvPr>
          <p:cNvSpPr>
            <a:spLocks noGrp="1"/>
          </p:cNvSpPr>
          <p:nvPr>
            <p:ph type="sldNum" idx="4"/>
          </p:nvPr>
        </p:nvSpPr>
        <p:spPr>
          <a:xfrm>
            <a:off x="8631238" y="195263"/>
            <a:ext cx="512762" cy="163552"/>
          </a:xfrm>
          <a:prstGeom prst="rect">
            <a:avLst/>
          </a:prstGeom>
        </p:spPr>
        <p:txBody>
          <a:bodyPr vert="horz" lIns="90000" tIns="0" rIns="90000" bIns="0" anchor="t"/>
          <a:lstStyle>
            <a:lvl1pPr algn="ctr">
              <a:buNone/>
              <a:defRPr sz="700" b="1">
                <a:solidFill>
                  <a:schemeClr val="tx1"/>
                </a:solidFill>
                <a:latin typeface="+mj-lt"/>
                <a:ea typeface="+mj-lt"/>
                <a:cs typeface="+mj-lt"/>
              </a:defRPr>
            </a:lvl1pPr>
          </a:lstStyle>
          <a:p>
            <a:fld id="{E1E1CD7C-2161-7D43-862E-CE4C333CD873}" type="slidenum">
              <a:t>‹N°›</a:t>
            </a:fld>
            <a:endParaRPr/>
          </a:p>
        </p:txBody>
      </p:sp>
      <p:pic>
        <p:nvPicPr>
          <p:cNvPr id="21" name="Image 12"/>
          <p:cNvPicPr>
            <a:picLocks noChangeAspect="1"/>
          </p:cNvPicPr>
          <p:nvPr/>
        </p:nvPicPr>
        <p:blipFill>
          <a:blip r:embed="rId19"/>
          <a:stretch>
            <a:fillRect/>
          </a:stretch>
        </p:blipFill>
        <p:spPr>
          <a:xfrm>
            <a:off x="130273" y="132334"/>
            <a:ext cx="653952" cy="283022"/>
          </a:xfrm>
          <a:prstGeom prst="rect">
            <a:avLst/>
          </a:prstGeom>
        </p:spPr>
      </p:pic>
      <p:sp>
        <p:nvSpPr>
          <p:cNvPr id="14" name="Rectangle 13">
            <a:extLst>
              <a:ext uri="{FF2B5EF4-FFF2-40B4-BE49-F238E27FC236}">
                <a16:creationId xmlns:a16="http://schemas.microsoft.com/office/drawing/2014/main" id="{75D7A1C0-94CD-D94F-A99F-21847E542637}"/>
              </a:ext>
            </a:extLst>
          </p:cNvPr>
          <p:cNvSpPr>
            <a:spLocks noGrp="1"/>
          </p:cNvSpPr>
          <p:nvPr/>
        </p:nvSpPr>
        <p:spPr>
          <a:xfrm rot="16200000">
            <a:off x="430003" y="4897709"/>
            <a:ext cx="45719" cy="597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p:txStyles>
    <p:titleStyle>
      <a:lvl1pPr algn="l" defTabSz="685800">
        <a:lnSpc>
          <a:spcPct val="80000"/>
        </a:lnSpc>
        <a:spcBef>
          <a:spcPct val="0"/>
        </a:spcBef>
        <a:buNone/>
        <a:defRPr sz="3200" b="1" i="0" kern="1000" spc="-70" baseline="0">
          <a:solidFill>
            <a:schemeClr val="tx1"/>
          </a:solidFill>
          <a:latin typeface="Franklin Gothic Demi Cond"/>
          <a:ea typeface="Franklin Gothic Demi Cond"/>
          <a:cs typeface="Franklin Gothic Demi Cond"/>
        </a:defRPr>
      </a:lvl1pPr>
    </p:titleStyle>
    <p:bodyStyle>
      <a:lvl1pPr marL="171450" indent="-171450" algn="l" defTabSz="685800">
        <a:lnSpc>
          <a:spcPct val="90000"/>
        </a:lnSpc>
        <a:spcBef>
          <a:spcPts val="750"/>
        </a:spcBef>
        <a:buClr>
          <a:schemeClr val="accent1"/>
        </a:buClr>
        <a:buSzPct val="90000"/>
        <a:buFont typeface="Wingdings"/>
        <a:buChar char="§"/>
        <a:defRPr sz="1800" b="0" i="0" kern="1200">
          <a:solidFill>
            <a:schemeClr val="tx1"/>
          </a:solidFill>
          <a:latin typeface="Arial"/>
          <a:ea typeface="Arial"/>
          <a:cs typeface="Arial"/>
        </a:defRPr>
      </a:lvl1pPr>
      <a:lvl2pPr marL="514350" indent="-171450" algn="l" defTabSz="685800">
        <a:lnSpc>
          <a:spcPct val="90000"/>
        </a:lnSpc>
        <a:spcBef>
          <a:spcPts val="375"/>
        </a:spcBef>
        <a:buClr>
          <a:schemeClr val="accent1"/>
        </a:buClr>
        <a:buSzPct val="100000"/>
        <a:buFont typeface="Arial"/>
        <a:buChar char="•"/>
        <a:defRPr sz="1600" b="0" i="0" kern="1200">
          <a:solidFill>
            <a:schemeClr val="tx1"/>
          </a:solidFill>
          <a:latin typeface="Arial"/>
          <a:ea typeface="Arial"/>
          <a:cs typeface="Arial"/>
        </a:defRPr>
      </a:lvl2pPr>
      <a:lvl3pPr marL="857250" indent="-171450" algn="l" defTabSz="685800">
        <a:lnSpc>
          <a:spcPct val="90000"/>
        </a:lnSpc>
        <a:spcBef>
          <a:spcPts val="375"/>
        </a:spcBef>
        <a:buSzPct val="90000"/>
        <a:buFont typeface="Wingdings"/>
        <a:buChar char="§"/>
        <a:defRPr sz="1500" b="0" i="0" kern="1200">
          <a:solidFill>
            <a:schemeClr val="tx1"/>
          </a:solidFill>
          <a:latin typeface="Arial"/>
          <a:ea typeface="Arial"/>
          <a:cs typeface="Arial"/>
        </a:defRPr>
      </a:lvl3pPr>
      <a:lvl4pPr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1620" userDrawn="1">
          <p15:clr>
            <a:srgbClr val="F26B43"/>
          </p15:clr>
        </p15:guide>
        <p15:guide id="2" pos="126" userDrawn="1">
          <p15:clr>
            <a:srgbClr val="F26B43"/>
          </p15:clr>
        </p15:guide>
        <p15:guide id="3" pos="5602" userDrawn="1">
          <p15:clr>
            <a:srgbClr val="F26B43"/>
          </p15:clr>
        </p15:guide>
        <p15:guide id="4" pos="2880" userDrawn="1">
          <p15:clr>
            <a:srgbClr val="F26B43"/>
          </p15:clr>
        </p15:guide>
        <p15:guide id="5" orient="horz" pos="123" userDrawn="1">
          <p15:clr>
            <a:srgbClr val="F26B43"/>
          </p15:clr>
        </p15:guide>
        <p15:guide id="6" orient="horz" pos="3117" userDrawn="1">
          <p15:clr>
            <a:srgbClr val="F26B43"/>
          </p15:clr>
        </p15:guide>
        <p15:guide id="7" pos="570" userDrawn="1">
          <p15:clr>
            <a:srgbClr val="F26B43"/>
          </p15:clr>
        </p15:guide>
        <p15:guide id="8" pos="1155" userDrawn="1">
          <p15:clr>
            <a:srgbClr val="F26B43"/>
          </p15:clr>
        </p15:guide>
        <p15:guide id="9" pos="1728" userDrawn="1">
          <p15:clr>
            <a:srgbClr val="F26B43"/>
          </p15:clr>
        </p15:guide>
        <p15:guide id="10" pos="2304" userDrawn="1">
          <p15:clr>
            <a:srgbClr val="F26B43"/>
          </p15:clr>
        </p15:guide>
        <p15:guide id="11" pos="3456" userDrawn="1">
          <p15:clr>
            <a:srgbClr val="F26B43"/>
          </p15:clr>
        </p15:guide>
        <p15:guide id="12" pos="4035" userDrawn="1">
          <p15:clr>
            <a:srgbClr val="F26B43"/>
          </p15:clr>
        </p15:guide>
        <p15:guide id="13" pos="4608" userDrawn="1">
          <p15:clr>
            <a:srgbClr val="F26B43"/>
          </p15:clr>
        </p15:guide>
        <p15:guide id="14" pos="5180" userDrawn="1">
          <p15:clr>
            <a:srgbClr val="F26B43"/>
          </p15:clr>
        </p15:guide>
        <p15:guide id="15" orient="horz" pos="490" userDrawn="1">
          <p15:clr>
            <a:srgbClr val="F26B43"/>
          </p15:clr>
        </p15:guide>
        <p15:guide id="16" orient="horz" pos="985" userDrawn="1">
          <p15:clr>
            <a:srgbClr val="F26B43"/>
          </p15:clr>
        </p15:guide>
        <p15:guide id="17" orient="horz" pos="1475" userDrawn="1">
          <p15:clr>
            <a:srgbClr val="F26B43"/>
          </p15:clr>
        </p15:guide>
        <p15:guide id="18" orient="horz" pos="1962" userDrawn="1">
          <p15:clr>
            <a:srgbClr val="F26B43"/>
          </p15:clr>
        </p15:guide>
        <p15:guide id="19" orient="horz" pos="2458" userDrawn="1">
          <p15:clr>
            <a:srgbClr val="F26B43"/>
          </p15:clr>
        </p15:guide>
        <p15:guide id="20" orient="horz" pos="2950" userDrawn="1">
          <p15:clr>
            <a:srgbClr val="F26B43"/>
          </p15:clr>
        </p15:guide>
        <p15:guide id="21" pos="5437" userDrawn="1">
          <p15:clr>
            <a:srgbClr val="F26B43"/>
          </p15:clr>
        </p15:guide>
        <p15:guide id="22" orient="horz" userDrawn="1">
          <p15:clr>
            <a:srgbClr val="F26B43"/>
          </p15:clr>
        </p15:guide>
        <p15:guide id="23" pos="5760" userDrawn="1">
          <p15:clr>
            <a:srgbClr val="F26B43"/>
          </p15:clr>
        </p15:guide>
        <p15:guide id="24" orient="horz" pos="3240" userDrawn="1">
          <p15:clr>
            <a:srgbClr val="F26B43"/>
          </p15:clr>
        </p15:guide>
        <p15:guide id="2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9.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1"/>
          <p:cNvPicPr>
            <a:picLocks noChangeAspect="1"/>
          </p:cNvPicPr>
          <p:nvPr/>
        </p:nvPicPr>
        <p:blipFill>
          <a:blip r:embed="rId3"/>
          <a:srcRect l="6904" t="6047" r="6904" b="5735"/>
          <a:stretch/>
        </p:blipFill>
        <p:spPr>
          <a:xfrm>
            <a:off x="1198414" y="77771"/>
            <a:ext cx="7945586" cy="4987957"/>
          </a:xfrm>
          <a:prstGeom prst="rect">
            <a:avLst/>
          </a:prstGeom>
        </p:spPr>
      </p:pic>
      <p:sp>
        <p:nvSpPr>
          <p:cNvPr id="9" name="Titre 8">
            <a:extLst>
              <a:ext uri="{FF2B5EF4-FFF2-40B4-BE49-F238E27FC236}">
                <a16:creationId xmlns:a16="http://schemas.microsoft.com/office/drawing/2014/main" id="{6AF2DA65-CF00-774A-9D7C-EEFA627B218F}"/>
              </a:ext>
            </a:extLst>
          </p:cNvPr>
          <p:cNvSpPr>
            <a:spLocks noGrp="1"/>
          </p:cNvSpPr>
          <p:nvPr>
            <p:ph type="ctrTitle"/>
          </p:nvPr>
        </p:nvSpPr>
        <p:spPr>
          <a:xfrm>
            <a:off x="386499" y="785335"/>
            <a:ext cx="4430598" cy="1920159"/>
          </a:xfrm>
        </p:spPr>
        <p:txBody>
          <a:bodyPr anchor="ctr">
            <a:noAutofit/>
          </a:bodyPr>
          <a:lstStyle/>
          <a:p>
            <a:pPr defTabSz="914400">
              <a:lnSpc>
                <a:spcPct val="100000"/>
              </a:lnSpc>
              <a:spcAft>
                <a:spcPct val="0"/>
              </a:spcAft>
              <a:buNone/>
            </a:pPr>
            <a:r>
              <a:rPr sz="2800" b="0"/>
              <a:t>Graph-Structured Multi-Agent Reinforcement Learning for Power Grid Topology Control</a:t>
            </a:r>
          </a:p>
        </p:txBody>
      </p:sp>
      <p:sp>
        <p:nvSpPr>
          <p:cNvPr id="10" name="Sous-titre 9">
            <a:extLst>
              <a:ext uri="{FF2B5EF4-FFF2-40B4-BE49-F238E27FC236}">
                <a16:creationId xmlns:a16="http://schemas.microsoft.com/office/drawing/2014/main" id="{2F4A7CFE-65FA-E249-9125-D938BCA44079}"/>
              </a:ext>
            </a:extLst>
          </p:cNvPr>
          <p:cNvSpPr>
            <a:spLocks noGrp="1"/>
          </p:cNvSpPr>
          <p:nvPr>
            <p:ph type="subTitle" idx="1"/>
          </p:nvPr>
        </p:nvSpPr>
        <p:spPr>
          <a:xfrm>
            <a:off x="4817097" y="2705494"/>
            <a:ext cx="1828800" cy="1568450"/>
          </a:xfrm>
        </p:spPr>
        <p:txBody>
          <a:bodyPr lIns="90000" anchor="ctr">
            <a:normAutofit/>
          </a:bodyPr>
          <a:lstStyle/>
          <a:p>
            <a:r>
              <a:rPr b="1"/>
              <a:t>Corentin Plumet</a:t>
            </a:r>
          </a:p>
        </p:txBody>
      </p:sp>
      <p:sp>
        <p:nvSpPr>
          <p:cNvPr id="3" name="Espace réservé du texte 2">
            <a:extLst>
              <a:ext uri="{FF2B5EF4-FFF2-40B4-BE49-F238E27FC236}">
                <a16:creationId xmlns:a16="http://schemas.microsoft.com/office/drawing/2014/main" id="{2AF0A55C-66AB-F046-AA02-AFC919A1C191}"/>
              </a:ext>
            </a:extLst>
          </p:cNvPr>
          <p:cNvSpPr>
            <a:spLocks noGrp="1"/>
          </p:cNvSpPr>
          <p:nvPr>
            <p:ph type="body" idx="11"/>
          </p:nvPr>
        </p:nvSpPr>
        <p:spPr>
          <a:xfrm>
            <a:off x="6400800" y="4683125"/>
            <a:ext cx="1828800" cy="460375"/>
          </a:xfrm>
        </p:spPr>
        <p:txBody>
          <a:bodyPr anchor="ctr">
            <a:normAutofit/>
          </a:bodyPr>
          <a:lstStyle/>
          <a:p>
            <a:r>
              <a:rPr b="1"/>
              <a:t>April 2026</a:t>
            </a:r>
          </a:p>
        </p:txBody>
      </p:sp>
      <p:pic>
        <p:nvPicPr>
          <p:cNvPr id="17" name="Picture 2"/>
          <p:cNvPicPr>
            <a:picLocks noChangeAspect="1"/>
          </p:cNvPicPr>
          <p:nvPr/>
        </p:nvPicPr>
        <p:blipFill>
          <a:blip r:embed="rId4"/>
          <a:srcRect/>
          <a:stretch>
            <a:fillRect/>
          </a:stretch>
        </p:blipFill>
        <p:spPr>
          <a:xfrm>
            <a:off x="1198414" y="77771"/>
            <a:ext cx="1002784" cy="557102"/>
          </a:xfrm>
          <a:prstGeom prst="rect">
            <a:avLst/>
          </a:prstGeom>
        </p:spPr>
      </p:pic>
    </p:spTree>
    <p:extLst>
      <p:ext uri="{BB962C8B-B14F-4D97-AF65-F5344CB8AC3E}">
        <p14:creationId xmlns:p14="http://schemas.microsoft.com/office/powerpoint/2010/main" val="2130171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6E8B52-9E99-EC82-06F1-E15ECF19401B}"/>
              </a:ext>
            </a:extLst>
          </p:cNvPr>
          <p:cNvSpPr>
            <a:spLocks noGrp="1"/>
          </p:cNvSpPr>
          <p:nvPr>
            <p:ph type="title"/>
          </p:nvPr>
        </p:nvSpPr>
        <p:spPr>
          <a:xfrm>
            <a:off x="904875" y="252828"/>
            <a:ext cx="7532115" cy="601301"/>
          </a:xfrm>
        </p:spPr>
        <p:txBody>
          <a:bodyPr>
            <a:normAutofit/>
          </a:bodyPr>
          <a:lstStyle/>
          <a:p>
            <a:r>
              <a:t>Motivation</a:t>
            </a:r>
          </a:p>
        </p:txBody>
      </p:sp>
      <p:sp>
        <p:nvSpPr>
          <p:cNvPr id="5" name="Espace réservé du numéro de diapositive 4">
            <a:extLst>
              <a:ext uri="{FF2B5EF4-FFF2-40B4-BE49-F238E27FC236}">
                <a16:creationId xmlns:a16="http://schemas.microsoft.com/office/drawing/2014/main" id="{ADD36B0A-6D13-5700-9201-3EFC5085E627}"/>
              </a:ext>
            </a:extLst>
          </p:cNvPr>
          <p:cNvSpPr>
            <a:spLocks noGrp="1"/>
          </p:cNvSpPr>
          <p:nvPr>
            <p:ph type="sldNum" idx="12"/>
          </p:nvPr>
        </p:nvSpPr>
        <p:spPr/>
        <p:txBody>
          <a:bodyPr/>
          <a:lstStyle/>
          <a:p>
            <a:r>
              <a:t>3</a:t>
            </a:r>
          </a:p>
        </p:txBody>
      </p:sp>
      <p:sp>
        <p:nvSpPr>
          <p:cNvPr id="4" name="ZoneTexte 3">
            <a:extLst>
              <a:ext uri="{FF2B5EF4-FFF2-40B4-BE49-F238E27FC236}">
                <a16:creationId xmlns:a16="http://schemas.microsoft.com/office/drawing/2014/main" id="{84DA45E1-08B4-7455-D2B5-79A6A6F76366}"/>
              </a:ext>
            </a:extLst>
          </p:cNvPr>
          <p:cNvSpPr>
            <a:spLocks noGrp="1"/>
          </p:cNvSpPr>
          <p:nvPr/>
        </p:nvSpPr>
        <p:spPr>
          <a:xfrm>
            <a:off x="547694" y="732371"/>
            <a:ext cx="8048612" cy="2422803"/>
          </a:xfrm>
          <a:prstGeom prst="roundRect">
            <a:avLst>
              <a:gd name="adj" fmla="val 9656"/>
            </a:avLst>
          </a:prstGeom>
          <a:solidFill>
            <a:schemeClr val="bg2">
              <a:lumMod val="20000"/>
              <a:lumOff val="80000"/>
            </a:schemeClr>
          </a:solidFill>
          <a:ln w="9525"/>
        </p:spPr>
        <p:style>
          <a:lnRef idx="2">
            <a:schemeClr val="dk1"/>
          </a:lnRef>
          <a:fillRef idx="1">
            <a:schemeClr val="lt1"/>
          </a:fillRef>
          <a:effectRef idx="0">
            <a:schemeClr val="dk1"/>
          </a:effectRef>
          <a:fontRef idx="minor">
            <a:schemeClr val="dk1"/>
          </a:fontRef>
        </p:style>
        <p:txBody>
          <a:bodyPr wrap="square">
            <a:spAutoFit/>
          </a:bodyPr>
          <a:lstStyle/>
          <a:p>
            <a:pPr>
              <a:buClr>
                <a:schemeClr val="accent1"/>
              </a:buClr>
              <a:buNone/>
            </a:pPr>
            <a:r>
              <a:rPr sz="1200" b="1" u="sng"/>
              <a:t>Motivation</a:t>
            </a:r>
          </a:p>
          <a:p>
            <a:pPr marL="628650" indent="-285750">
              <a:buClr>
                <a:schemeClr val="accent1"/>
              </a:buClr>
              <a:buFont typeface="Wingdings"/>
              <a:buChar char="§"/>
            </a:pPr>
            <a:r>
              <a:rPr sz="1200"/>
              <a:t>TSO need fast congestion management under renewable variability and unforeseen events.</a:t>
            </a:r>
          </a:p>
          <a:p>
            <a:pPr marL="628650" indent="-285750">
              <a:buClr>
                <a:schemeClr val="accent1"/>
              </a:buClr>
              <a:buFont typeface="Wingdings"/>
              <a:buChar char="§"/>
            </a:pPr>
            <a:r>
              <a:rPr sz="1200"/>
              <a:t>Topology actions are attractive because they can reroute flows before using costly redispatch.</a:t>
            </a:r>
          </a:p>
          <a:p>
            <a:pPr marL="628650" indent="-285750">
              <a:buClr>
                <a:schemeClr val="accent1"/>
              </a:buClr>
              <a:buFont typeface="Wingdings"/>
              <a:buChar char="§"/>
            </a:pPr>
            <a:endParaRPr sz="1200"/>
          </a:p>
          <a:p>
            <a:pPr>
              <a:buClr>
                <a:schemeClr val="accent1"/>
              </a:buClr>
              <a:buNone/>
            </a:pPr>
            <a:r>
              <a:rPr sz="1200" b="1" u="sng"/>
              <a:t>Problem Statement:</a:t>
            </a:r>
            <a:r>
              <a:rPr sz="1200" b="1"/>
              <a:t> Power grid operation requires:</a:t>
            </a:r>
          </a:p>
          <a:p>
            <a:pPr marL="628650" indent="-285750">
              <a:buClr>
                <a:schemeClr val="accent1"/>
              </a:buClr>
              <a:buFont typeface="Wingdings"/>
              <a:buChar char="§"/>
            </a:pPr>
            <a:r>
              <a:rPr sz="1200"/>
              <a:t>Real-time decisions under uncertainty</a:t>
            </a:r>
          </a:p>
          <a:p>
            <a:pPr marL="628650" indent="-285750">
              <a:buClr>
                <a:schemeClr val="accent1"/>
              </a:buClr>
              <a:buFont typeface="Wingdings"/>
              <a:buChar char="§"/>
            </a:pPr>
            <a:r>
              <a:rPr sz="1200"/>
              <a:t>Maintaining safety constraints (line limits, demand balance)</a:t>
            </a:r>
          </a:p>
          <a:p>
            <a:pPr marL="628650" indent="-285750">
              <a:buClr>
                <a:schemeClr val="accent1"/>
              </a:buClr>
              <a:buFont typeface="Wingdings"/>
              <a:buChar char="§"/>
            </a:pPr>
            <a:r>
              <a:rPr sz="1200"/>
              <a:t>Operating over large, combinatorial action spaces</a:t>
            </a:r>
          </a:p>
          <a:p>
            <a:pPr marL="628650" indent="-285750">
              <a:buClr>
                <a:schemeClr val="accent1"/>
              </a:buClr>
              <a:buFont typeface="Wingdings"/>
              <a:buChar char="§"/>
            </a:pPr>
            <a:endParaRPr sz="1200"/>
          </a:p>
          <a:p>
            <a:pPr>
              <a:buClr>
                <a:schemeClr val="accent1"/>
              </a:buClr>
              <a:buNone/>
            </a:pPr>
            <a:r>
              <a:rPr sz="1200" b="1" u="sng"/>
              <a:t>Limitations of current approaches</a:t>
            </a:r>
          </a:p>
          <a:p>
            <a:pPr marL="628650" indent="-285750">
              <a:buClr>
                <a:schemeClr val="accent1"/>
              </a:buClr>
              <a:buFont typeface="Wingdings"/>
              <a:buChar char="§"/>
            </a:pPr>
            <a:r>
              <a:rPr sz="1200"/>
              <a:t>Optimization (OPF) is not scalable and too slow</a:t>
            </a:r>
          </a:p>
          <a:p>
            <a:pPr marL="628650" indent="-285750">
              <a:buClr>
                <a:schemeClr val="accent1"/>
              </a:buClr>
              <a:buFont typeface="Wingdings"/>
              <a:buChar char="§"/>
            </a:pPr>
            <a:r>
              <a:rPr sz="1200"/>
              <a:t>Single-Agent RL: ignores decentralization </a:t>
            </a:r>
          </a:p>
        </p:txBody>
      </p:sp>
      <p:pic>
        <p:nvPicPr>
          <p:cNvPr id="13" name="Picture 2"/>
          <p:cNvPicPr>
            <a:picLocks noChangeAspect="1"/>
          </p:cNvPicPr>
          <p:nvPr/>
        </p:nvPicPr>
        <p:blipFill>
          <a:blip r:embed="rId3"/>
          <a:srcRect/>
          <a:stretch>
            <a:fillRect/>
          </a:stretch>
        </p:blipFill>
        <p:spPr>
          <a:xfrm>
            <a:off x="158055" y="379734"/>
            <a:ext cx="587504" cy="326391"/>
          </a:xfrm>
          <a:prstGeom prst="rect">
            <a:avLst/>
          </a:prstGeom>
        </p:spPr>
      </p:pic>
      <p:sp>
        <p:nvSpPr>
          <p:cNvPr id="8" name="ZoneTexte 7">
            <a:extLst>
              <a:ext uri="{FF2B5EF4-FFF2-40B4-BE49-F238E27FC236}">
                <a16:creationId xmlns:a16="http://schemas.microsoft.com/office/drawing/2014/main" id="{0E9A0574-EC40-8D34-A977-B5AB14EE623E}"/>
              </a:ext>
            </a:extLst>
          </p:cNvPr>
          <p:cNvSpPr>
            <a:spLocks noGrp="1"/>
          </p:cNvSpPr>
          <p:nvPr/>
        </p:nvSpPr>
        <p:spPr>
          <a:xfrm>
            <a:off x="547694" y="3442053"/>
            <a:ext cx="8048612" cy="1208842"/>
          </a:xfrm>
          <a:prstGeom prst="roundRect">
            <a:avLst/>
          </a:prstGeom>
          <a:solidFill>
            <a:srgbClr val="FEC9CC">
              <a:alpha val="20000"/>
            </a:srgbClr>
          </a:solidFill>
          <a:ln w="9525"/>
        </p:spPr>
        <p:style>
          <a:lnRef idx="2">
            <a:schemeClr val="accent1"/>
          </a:lnRef>
          <a:fillRef idx="1">
            <a:schemeClr val="lt1"/>
          </a:fillRef>
          <a:effectRef idx="0">
            <a:schemeClr val="accent1"/>
          </a:effectRef>
          <a:fontRef idx="minor">
            <a:schemeClr val="dk1"/>
          </a:fontRef>
        </p:style>
        <p:txBody>
          <a:bodyPr wrap="square">
            <a:spAutoFit/>
          </a:bodyPr>
          <a:lstStyle/>
          <a:p>
            <a:pPr>
              <a:spcAft>
                <a:spcPts val="600"/>
              </a:spcAft>
              <a:buClr>
                <a:schemeClr val="accent1"/>
              </a:buClr>
              <a:buNone/>
            </a:pPr>
            <a:r>
              <a:rPr sz="1200" b="1" u="sng">
                <a:solidFill>
                  <a:schemeClr val="tx1"/>
                </a:solidFill>
              </a:rPr>
              <a:t>Research Questions:</a:t>
            </a:r>
          </a:p>
          <a:p>
            <a:pPr marL="685800" indent="-342900" defTabSz="914400">
              <a:spcBef>
                <a:spcPct val="0"/>
              </a:spcBef>
              <a:buClr>
                <a:schemeClr val="accent1"/>
              </a:buClr>
              <a:buFont typeface="+mj-lt"/>
              <a:buAutoNum type="arabicPeriod"/>
            </a:pPr>
            <a:r>
              <a:rPr sz="1200">
                <a:solidFill>
                  <a:schemeClr val="tx1"/>
                </a:solidFill>
              </a:rPr>
              <a:t>Does a GNN encoder improve performance vs standard MARL baselines?</a:t>
            </a:r>
          </a:p>
          <a:p>
            <a:pPr marL="685800" indent="-342900" defTabSz="914400">
              <a:spcBef>
                <a:spcPct val="0"/>
              </a:spcBef>
              <a:buClr>
                <a:schemeClr val="accent1"/>
              </a:buClr>
              <a:buFont typeface="+mj-lt"/>
              <a:buAutoNum type="arabicPeriod"/>
            </a:pPr>
            <a:r>
              <a:rPr sz="1200">
                <a:solidFill>
                  <a:schemeClr val="tx1"/>
                </a:solidFill>
              </a:rPr>
              <a:t>Can a Multi agent approach match single agent approach under partial observability?</a:t>
            </a:r>
          </a:p>
          <a:p>
            <a:pPr marL="685800" indent="-342900" defTabSz="914400">
              <a:spcBef>
                <a:spcPct val="0"/>
              </a:spcBef>
              <a:buClr>
                <a:schemeClr val="accent1"/>
              </a:buClr>
              <a:buFont typeface="+mj-lt"/>
              <a:buAutoNum type="arabicPeriod"/>
            </a:pPr>
            <a:r>
              <a:rPr sz="1200">
                <a:solidFill>
                  <a:schemeClr val="tx1"/>
                </a:solidFill>
              </a:rPr>
              <a:t>Does any improvements generalize to larger grid (bus14 to bus 36)?</a:t>
            </a:r>
          </a:p>
          <a:p>
            <a:pPr marL="685800" indent="-342900" defTabSz="914400">
              <a:spcBef>
                <a:spcPct val="0"/>
              </a:spcBef>
              <a:buClr>
                <a:schemeClr val="accent1"/>
              </a:buClr>
              <a:buFont typeface="+mj-lt"/>
              <a:buAutoNum type="arabicPeriod"/>
            </a:pPr>
            <a:r>
              <a:rPr sz="1200">
                <a:solidFill>
                  <a:schemeClr val="tx1"/>
                </a:solidFill>
              </a:rPr>
              <a:t>Can the agent learn how to behave in a « human » operator way ?</a:t>
            </a:r>
          </a:p>
        </p:txBody>
      </p:sp>
    </p:spTree>
    <p:extLst>
      <p:ext uri="{BB962C8B-B14F-4D97-AF65-F5344CB8AC3E}">
        <p14:creationId xmlns:p14="http://schemas.microsoft.com/office/powerpoint/2010/main" val="870542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FF85F2-43E1-5BC9-F6FC-4BC0D12BF163}"/>
              </a:ext>
            </a:extLst>
          </p:cNvPr>
          <p:cNvSpPr>
            <a:spLocks noGrp="1"/>
          </p:cNvSpPr>
          <p:nvPr>
            <p:ph type="title"/>
          </p:nvPr>
        </p:nvSpPr>
        <p:spPr>
          <a:xfrm>
            <a:off x="904875" y="252828"/>
            <a:ext cx="7532115" cy="601301"/>
          </a:xfrm>
        </p:spPr>
        <p:txBody>
          <a:bodyPr>
            <a:normAutofit/>
          </a:bodyPr>
          <a:lstStyle/>
          <a:p>
            <a:r>
              <a:t>Literature Review</a:t>
            </a:r>
          </a:p>
        </p:txBody>
      </p:sp>
      <p:sp>
        <p:nvSpPr>
          <p:cNvPr id="5" name="Espace réservé du numéro de diapositive 4">
            <a:extLst>
              <a:ext uri="{FF2B5EF4-FFF2-40B4-BE49-F238E27FC236}">
                <a16:creationId xmlns:a16="http://schemas.microsoft.com/office/drawing/2014/main" id="{A11857BD-5FE2-E831-3D06-DD78DD8A82AA}"/>
              </a:ext>
            </a:extLst>
          </p:cNvPr>
          <p:cNvSpPr>
            <a:spLocks noGrp="1"/>
          </p:cNvSpPr>
          <p:nvPr>
            <p:ph type="sldNum" idx="12"/>
          </p:nvPr>
        </p:nvSpPr>
        <p:spPr/>
        <p:txBody>
          <a:bodyPr/>
          <a:lstStyle/>
          <a:p>
            <a:r>
              <a:t>5</a:t>
            </a:r>
          </a:p>
        </p:txBody>
      </p:sp>
      <p:pic>
        <p:nvPicPr>
          <p:cNvPr id="12" name="Picture 2"/>
          <p:cNvPicPr>
            <a:picLocks noChangeAspect="1"/>
          </p:cNvPicPr>
          <p:nvPr/>
        </p:nvPicPr>
        <p:blipFill>
          <a:blip r:embed="rId3"/>
          <a:srcRect/>
          <a:stretch>
            <a:fillRect/>
          </a:stretch>
        </p:blipFill>
        <p:spPr>
          <a:xfrm>
            <a:off x="158055" y="379734"/>
            <a:ext cx="587504" cy="326391"/>
          </a:xfrm>
          <a:prstGeom prst="rect">
            <a:avLst/>
          </a:prstGeom>
        </p:spPr>
      </p:pic>
      <p:sp>
        <p:nvSpPr>
          <p:cNvPr id="7" name="ppo-table-frame">
            <a:extLst>
              <a:ext uri="{FF2B5EF4-FFF2-40B4-BE49-F238E27FC236}">
                <a16:creationId xmlns:a16="http://schemas.microsoft.com/office/drawing/2014/main" id="{AFD2DFB7-94EA-D968-4193-6D28EF3204AC}"/>
              </a:ext>
            </a:extLst>
          </p:cNvPr>
          <p:cNvSpPr>
            <a:spLocks noGrp="1"/>
          </p:cNvSpPr>
          <p:nvPr/>
        </p:nvSpPr>
        <p:spPr>
          <a:xfrm>
            <a:off x="596630" y="706124"/>
            <a:ext cx="8125838" cy="4112310"/>
          </a:xfrm>
          <a:prstGeom prst="roundRect">
            <a:avLst>
              <a:gd name="adj" fmla="val 2703"/>
            </a:avLst>
          </a:prstGeom>
          <a:solidFill>
            <a:srgbClr val="FBFCFD"/>
          </a:solidFill>
          <a:ln w="9525">
            <a:solidFill>
              <a:srgbClr val="DDE4E8"/>
            </a:solidFill>
            <a:prstDash val="solid"/>
          </a:ln>
        </p:spPr>
        <p:txBody>
          <a:bodyPr/>
          <a:lstStyle/>
          <a:p>
            <a:endParaRPr/>
          </a:p>
        </p:txBody>
      </p:sp>
      <p:graphicFrame>
        <p:nvGraphicFramePr>
          <p:cNvPr id="14" name="Tableau 5"/>
          <p:cNvGraphicFramePr/>
          <p:nvPr/>
        </p:nvGraphicFramePr>
        <p:xfrm>
          <a:off x="707010" y="854129"/>
          <a:ext cx="7924227" cy="3844900"/>
        </p:xfrm>
        <a:graphic>
          <a:graphicData uri="http://schemas.openxmlformats.org/drawingml/2006/table">
            <a:tbl>
              <a:tblPr/>
              <a:tblGrid>
                <a:gridCol w="1942405">
                  <a:extLst>
                    <a:ext uri="{9D8B030D-6E8A-4147-A177-3AD203B41FA5}">
                      <a16:colId xmlns:a16="http://schemas.microsoft.com/office/drawing/2014/main" val="20000"/>
                    </a:ext>
                  </a:extLst>
                </a:gridCol>
                <a:gridCol w="1914039">
                  <a:extLst>
                    <a:ext uri="{9D8B030D-6E8A-4147-A177-3AD203B41FA5}">
                      <a16:colId xmlns:a16="http://schemas.microsoft.com/office/drawing/2014/main" val="20001"/>
                    </a:ext>
                  </a:extLst>
                </a:gridCol>
                <a:gridCol w="4067783">
                  <a:extLst>
                    <a:ext uri="{9D8B030D-6E8A-4147-A177-3AD203B41FA5}">
                      <a16:colId xmlns:a16="http://schemas.microsoft.com/office/drawing/2014/main" val="20002"/>
                    </a:ext>
                  </a:extLst>
                </a:gridCol>
              </a:tblGrid>
              <a:tr h="189411">
                <a:tc>
                  <a:txBody>
                    <a:bodyPr/>
                    <a:lstStyle/>
                    <a:p>
                      <a:pPr>
                        <a:buNone/>
                      </a:pPr>
                      <a:r>
                        <a:rPr sz="1000" b="1"/>
                        <a:t>Setting</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solidFill>
                  </a:tcPr>
                </a:tc>
                <a:tc>
                  <a:txBody>
                    <a:bodyPr/>
                    <a:lstStyle/>
                    <a:p>
                      <a:pPr>
                        <a:buNone/>
                      </a:pPr>
                      <a:r>
                        <a:rPr sz="1000" b="1"/>
                        <a:t>Representative work</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solidFill>
                  </a:tcPr>
                </a:tc>
                <a:tc>
                  <a:txBody>
                    <a:bodyPr/>
                    <a:lstStyle/>
                    <a:p>
                      <a:pPr>
                        <a:buNone/>
                      </a:pPr>
                      <a:r>
                        <a:rPr sz="1000" b="1"/>
                        <a:t>Main idea</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solidFill>
                  </a:tcPr>
                </a:tc>
                <a:extLst>
                  <a:ext uri="{0D108BD9-81ED-4DB2-BD59-A6C34878D82A}">
                    <a16:rowId xmlns:a16="http://schemas.microsoft.com/office/drawing/2014/main" val="10000"/>
                  </a:ext>
                </a:extLst>
              </a:tr>
              <a:tr h="632912">
                <a:tc>
                  <a:txBody>
                    <a:bodyPr/>
                    <a:lstStyle/>
                    <a:p>
                      <a:pPr>
                        <a:buNone/>
                      </a:pPr>
                      <a:r>
                        <a:rPr sz="1000" b="1"/>
                        <a:t>Single agent</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solidFill>
                  </a:tcPr>
                </a:tc>
                <a:tc>
                  <a:txBody>
                    <a:bodyPr/>
                    <a:lstStyle/>
                    <a:p>
                      <a:pPr>
                        <a:buNone/>
                      </a:pPr>
                      <a:r>
                        <a:rPr sz="1000"/>
                        <a:t>Subramanian et al. (2021)</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buNone/>
                      </a:pPr>
                      <a:r>
                        <a:rPr sz="1000"/>
                        <a:t>A centralized DRL agent selects topology changes on IEEE-14; demonstrated generalization across unseen chronics. Paper</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1"/>
                  </a:ext>
                </a:extLst>
              </a:tr>
              <a:tr h="632912">
                <a:tc>
                  <a:txBody>
                    <a:bodyPr/>
                    <a:lstStyle/>
                    <a:p>
                      <a:pPr>
                        <a:buNone/>
                      </a:pPr>
                      <a:r>
                        <a:rPr sz="1000" b="1"/>
                        <a:t>Single agent</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solidFill>
                  </a:tcPr>
                </a:tc>
                <a:tc>
                  <a:txBody>
                    <a:bodyPr/>
                    <a:lstStyle/>
                    <a:p>
                      <a:pPr>
                        <a:buNone/>
                      </a:pPr>
                      <a:r>
                        <a:rPr sz="1000"/>
                        <a:t>Yoon et al. (2021)</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buNone/>
                      </a:pPr>
                      <a:r>
                        <a:rPr sz="1000"/>
                        <a:t>Hierarchical SMAAC agent combining graph attention, action decomposition and afterstate evaluation; won L2RPN WCCI-2020. Paper</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2"/>
                  </a:ext>
                </a:extLst>
              </a:tr>
              <a:tr h="485078">
                <a:tc>
                  <a:txBody>
                    <a:bodyPr/>
                    <a:lstStyle/>
                    <a:p>
                      <a:pPr>
                        <a:buNone/>
                      </a:pPr>
                      <a:r>
                        <a:rPr sz="1000" b="1"/>
                        <a:t>Single agent + search</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solidFill>
                  </a:tcPr>
                </a:tc>
                <a:tc>
                  <a:txBody>
                    <a:bodyPr/>
                    <a:lstStyle/>
                    <a:p>
                      <a:pPr>
                        <a:buNone/>
                      </a:pPr>
                      <a:r>
                        <a:rPr sz="1000"/>
                        <a:t>Zhou et al. (2021)</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buNone/>
                      </a:pPr>
                      <a:r>
                        <a:rPr sz="1000"/>
                        <a:t>Policy proposes a small action set, then Grid2Op simulation filters and selects safe actions. Paper</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3"/>
                  </a:ext>
                </a:extLst>
              </a:tr>
              <a:tr h="632912">
                <a:tc>
                  <a:txBody>
                    <a:bodyPr/>
                    <a:lstStyle/>
                    <a:p>
                      <a:pPr>
                        <a:buNone/>
                      </a:pPr>
                      <a:r>
                        <a:rPr sz="1000" b="1"/>
                        <a:t>Multi-agent</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solidFill>
                  </a:tcPr>
                </a:tc>
                <a:tc>
                  <a:txBody>
                    <a:bodyPr/>
                    <a:lstStyle/>
                    <a:p>
                      <a:pPr>
                        <a:buNone/>
                      </a:pPr>
                      <a:r>
                        <a:rPr sz="1000"/>
                        <a:t>van der Sar et al. (2023)</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buNone/>
                      </a:pPr>
                      <a:r>
                        <a:rPr sz="1000"/>
                        <a:t>Substation-level agents trained using independent/dependent PPO or discrete SAC; competitive with single-agent RL on a small grid. Paper</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4"/>
                  </a:ext>
                </a:extLst>
              </a:tr>
              <a:tr h="632912">
                <a:tc>
                  <a:txBody>
                    <a:bodyPr/>
                    <a:lstStyle/>
                    <a:p>
                      <a:pPr>
                        <a:buNone/>
                      </a:pPr>
                      <a:r>
                        <a:rPr sz="1000" b="1"/>
                        <a:t>Coordinated multi-agent</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solidFill>
                  </a:tcPr>
                </a:tc>
                <a:tc>
                  <a:txBody>
                    <a:bodyPr/>
                    <a:lstStyle/>
                    <a:p>
                      <a:pPr>
                        <a:buNone/>
                      </a:pPr>
                      <a:r>
                        <a:rPr sz="1000"/>
                        <a:t>de Mol et al. (2025)</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buNone/>
                      </a:pPr>
                      <a:r>
                        <a:rPr sz="1000"/>
                        <a:t>Regional agents propose actions and a central coordinator selects one; improves scalability and sample efficiency, especially on harder grids. Paper</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5"/>
                  </a:ext>
                </a:extLst>
              </a:tr>
              <a:tr h="632912">
                <a:tc>
                  <a:txBody>
                    <a:bodyPr/>
                    <a:lstStyle/>
                    <a:p>
                      <a:pPr>
                        <a:buNone/>
                      </a:pPr>
                      <a:r>
                        <a:rPr sz="1000" b="1"/>
                        <a:t>Decentralized benchmark</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solidFill>
                  </a:tcPr>
                </a:tc>
                <a:tc>
                  <a:txBody>
                    <a:bodyPr/>
                    <a:lstStyle/>
                    <a:p>
                      <a:pPr>
                        <a:buNone/>
                      </a:pPr>
                      <a:r>
                        <a:rPr sz="1000"/>
                        <a:t>Marchesini et al. (2026)</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buNone/>
                      </a:pPr>
                      <a:r>
                        <a:rPr sz="1000"/>
                        <a:t>MARL2Grid-TR introduces configurable substation/generator agents, local observations and topology or redispatch tasks. Paper</a:t>
                      </a:r>
                    </a:p>
                  </a:txBody>
                  <a:tcPr marL="42862" marR="42862" marT="21431" marB="21431"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36989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E877BB-B63A-01AA-7630-A8104B9ADE7F}"/>
              </a:ext>
            </a:extLst>
          </p:cNvPr>
          <p:cNvSpPr>
            <a:spLocks noGrp="1"/>
          </p:cNvSpPr>
          <p:nvPr>
            <p:ph type="title"/>
          </p:nvPr>
        </p:nvSpPr>
        <p:spPr>
          <a:xfrm>
            <a:off x="904875" y="252828"/>
            <a:ext cx="7532115" cy="601301"/>
          </a:xfrm>
        </p:spPr>
        <p:txBody>
          <a:bodyPr>
            <a:normAutofit/>
          </a:bodyPr>
          <a:lstStyle/>
          <a:p>
            <a:r>
              <a:t>General Data Splitting and Actions</a:t>
            </a:r>
          </a:p>
        </p:txBody>
      </p:sp>
      <p:sp>
        <p:nvSpPr>
          <p:cNvPr id="5" name="Espace réservé du numéro de diapositive 4">
            <a:extLst>
              <a:ext uri="{FF2B5EF4-FFF2-40B4-BE49-F238E27FC236}">
                <a16:creationId xmlns:a16="http://schemas.microsoft.com/office/drawing/2014/main" id="{4D9646DF-EE8C-D9E7-BDEC-F127993C2DAD}"/>
              </a:ext>
            </a:extLst>
          </p:cNvPr>
          <p:cNvSpPr>
            <a:spLocks noGrp="1"/>
          </p:cNvSpPr>
          <p:nvPr>
            <p:ph type="sldNum" idx="12"/>
          </p:nvPr>
        </p:nvSpPr>
        <p:spPr/>
        <p:txBody>
          <a:bodyPr/>
          <a:lstStyle/>
          <a:p>
            <a:r>
              <a:t>8</a:t>
            </a:r>
          </a:p>
        </p:txBody>
      </p:sp>
      <p:pic>
        <p:nvPicPr>
          <p:cNvPr id="10" name="Picture 2"/>
          <p:cNvPicPr>
            <a:picLocks noChangeAspect="1"/>
          </p:cNvPicPr>
          <p:nvPr/>
        </p:nvPicPr>
        <p:blipFill>
          <a:blip r:embed="rId3"/>
          <a:srcRect/>
          <a:stretch>
            <a:fillRect/>
          </a:stretch>
        </p:blipFill>
        <p:spPr>
          <a:xfrm>
            <a:off x="158055" y="379734"/>
            <a:ext cx="587504" cy="326391"/>
          </a:xfrm>
          <a:prstGeom prst="rect">
            <a:avLst/>
          </a:prstGeom>
        </p:spPr>
      </p:pic>
      <p:pic>
        <p:nvPicPr>
          <p:cNvPr id="4" name="Image 3">
            <a:extLst>
              <a:ext uri="{FF2B5EF4-FFF2-40B4-BE49-F238E27FC236}">
                <a16:creationId xmlns:a16="http://schemas.microsoft.com/office/drawing/2014/main" id="{3D4D877A-0901-12BA-97EE-3E41A04DF633}"/>
              </a:ext>
            </a:extLst>
          </p:cNvPr>
          <p:cNvPicPr>
            <a:picLocks noChangeAspect="1"/>
          </p:cNvPicPr>
          <p:nvPr/>
        </p:nvPicPr>
        <p:blipFill>
          <a:blip r:embed="rId4"/>
          <a:stretch>
            <a:fillRect/>
          </a:stretch>
        </p:blipFill>
        <p:spPr>
          <a:xfrm>
            <a:off x="229776" y="854129"/>
            <a:ext cx="8684447" cy="4036543"/>
          </a:xfrm>
          <a:prstGeom prst="rect">
            <a:avLst/>
          </a:prstGeom>
        </p:spPr>
      </p:pic>
    </p:spTree>
    <p:extLst>
      <p:ext uri="{BB962C8B-B14F-4D97-AF65-F5344CB8AC3E}">
        <p14:creationId xmlns:p14="http://schemas.microsoft.com/office/powerpoint/2010/main" val="2768566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07702B-B513-D5D2-1B82-F66608F05626}"/>
              </a:ext>
            </a:extLst>
          </p:cNvPr>
          <p:cNvSpPr>
            <a:spLocks noGrp="1"/>
          </p:cNvSpPr>
          <p:nvPr>
            <p:ph type="title"/>
          </p:nvPr>
        </p:nvSpPr>
        <p:spPr>
          <a:xfrm>
            <a:off x="904875" y="252828"/>
            <a:ext cx="7532115" cy="601301"/>
          </a:xfrm>
        </p:spPr>
        <p:txBody>
          <a:bodyPr>
            <a:normAutofit/>
          </a:bodyPr>
          <a:lstStyle/>
          <a:p>
            <a:r>
              <a:t>IEEE 14: environment setup</a:t>
            </a:r>
          </a:p>
        </p:txBody>
      </p:sp>
      <p:sp>
        <p:nvSpPr>
          <p:cNvPr id="5" name="Espace réservé du numéro de diapositive 4">
            <a:extLst>
              <a:ext uri="{FF2B5EF4-FFF2-40B4-BE49-F238E27FC236}">
                <a16:creationId xmlns:a16="http://schemas.microsoft.com/office/drawing/2014/main" id="{CB0B4397-783A-8F4C-DCA5-A01E63B921AA}"/>
              </a:ext>
            </a:extLst>
          </p:cNvPr>
          <p:cNvSpPr>
            <a:spLocks noGrp="1"/>
          </p:cNvSpPr>
          <p:nvPr>
            <p:ph type="sldNum" idx="12"/>
          </p:nvPr>
        </p:nvSpPr>
        <p:spPr/>
        <p:txBody>
          <a:bodyPr/>
          <a:lstStyle/>
          <a:p>
            <a:r>
              <a:t>8</a:t>
            </a:r>
          </a:p>
        </p:txBody>
      </p:sp>
      <p:graphicFrame>
        <p:nvGraphicFramePr>
          <p:cNvPr id="23" name="Tableau 2"/>
          <p:cNvGraphicFramePr/>
          <p:nvPr/>
        </p:nvGraphicFramePr>
        <p:xfrm>
          <a:off x="413974" y="2143669"/>
          <a:ext cx="4158026" cy="1280160"/>
        </p:xfrm>
        <a:graphic>
          <a:graphicData uri="http://schemas.openxmlformats.org/drawingml/2006/table">
            <a:tbl>
              <a:tblPr>
                <a:tableStyleId>{9D7B26C5-4107-4FEC-AEDC-1716B250A1EF}</a:tableStyleId>
              </a:tblPr>
              <a:tblGrid>
                <a:gridCol w="848577">
                  <a:extLst>
                    <a:ext uri="{9D8B030D-6E8A-4147-A177-3AD203B41FA5}">
                      <a16:colId xmlns:a16="http://schemas.microsoft.com/office/drawing/2014/main" val="20000"/>
                    </a:ext>
                  </a:extLst>
                </a:gridCol>
                <a:gridCol w="1567672">
                  <a:extLst>
                    <a:ext uri="{9D8B030D-6E8A-4147-A177-3AD203B41FA5}">
                      <a16:colId xmlns:a16="http://schemas.microsoft.com/office/drawing/2014/main" val="20001"/>
                    </a:ext>
                  </a:extLst>
                </a:gridCol>
                <a:gridCol w="1741777">
                  <a:extLst>
                    <a:ext uri="{9D8B030D-6E8A-4147-A177-3AD203B41FA5}">
                      <a16:colId xmlns:a16="http://schemas.microsoft.com/office/drawing/2014/main" val="20002"/>
                    </a:ext>
                  </a:extLst>
                </a:gridCol>
              </a:tblGrid>
              <a:tr h="228725">
                <a:tc>
                  <a:txBody>
                    <a:bodyPr/>
                    <a:lstStyle/>
                    <a:p>
                      <a:pPr>
                        <a:buNone/>
                      </a:pPr>
                      <a:r>
                        <a:rPr sz="1200" b="1"/>
                        <a:t>Agent</a:t>
                      </a:r>
                    </a:p>
                  </a:txBody>
                  <a:tcPr anchor="ctr"/>
                </a:tc>
                <a:tc>
                  <a:txBody>
                    <a:bodyPr/>
                    <a:lstStyle/>
                    <a:p>
                      <a:pPr>
                        <a:buNone/>
                      </a:pPr>
                      <a:r>
                        <a:rPr sz="1200" b="1"/>
                        <a:t>Controlled substations</a:t>
                      </a:r>
                    </a:p>
                  </a:txBody>
                  <a:tcPr anchor="ctr"/>
                </a:tc>
                <a:tc>
                  <a:txBody>
                    <a:bodyPr/>
                    <a:lstStyle/>
                    <a:p>
                      <a:pPr>
                        <a:buNone/>
                      </a:pPr>
                      <a:r>
                        <a:rPr sz="1200" b="1"/>
                        <a:t>Local action space</a:t>
                      </a:r>
                    </a:p>
                  </a:txBody>
                  <a:tcPr anchor="ctr"/>
                </a:tc>
                <a:extLst>
                  <a:ext uri="{0D108BD9-81ED-4DB2-BD59-A6C34878D82A}">
                    <a16:rowId xmlns:a16="http://schemas.microsoft.com/office/drawing/2014/main" val="10000"/>
                  </a:ext>
                </a:extLst>
              </a:tr>
              <a:tr h="228725">
                <a:tc>
                  <a:txBody>
                    <a:bodyPr/>
                    <a:lstStyle/>
                    <a:p>
                      <a:pPr>
                        <a:buNone/>
                      </a:pPr>
                      <a:r>
                        <a:rPr sz="1200" b="1">
                          <a:solidFill>
                            <a:schemeClr val="tx1"/>
                          </a:solidFill>
                        </a:rPr>
                        <a:t>Agent 0</a:t>
                      </a:r>
                    </a:p>
                  </a:txBody>
                  <a:tcPr anchor="ctr">
                    <a:solidFill>
                      <a:schemeClr val="accent1">
                        <a:lumMod val="20000"/>
                        <a:lumOff val="80000"/>
                      </a:schemeClr>
                    </a:solidFill>
                  </a:tcPr>
                </a:tc>
                <a:tc>
                  <a:txBody>
                    <a:bodyPr/>
                    <a:lstStyle/>
                    <a:p>
                      <a:pPr>
                        <a:buNone/>
                      </a:pPr>
                      <a:r>
                        <a:rPr sz="1200"/>
                        <a:t>0, 1, 2, 4</a:t>
                      </a:r>
                    </a:p>
                  </a:txBody>
                  <a:tcPr anchor="ctr">
                    <a:solidFill>
                      <a:schemeClr val="accent1">
                        <a:lumMod val="20000"/>
                        <a:lumOff val="80000"/>
                      </a:schemeClr>
                    </a:solidFill>
                  </a:tcPr>
                </a:tc>
                <a:tc>
                  <a:txBody>
                    <a:bodyPr/>
                    <a:lstStyle/>
                    <a:p>
                      <a:pPr>
                        <a:buNone/>
                      </a:pPr>
                      <a:r>
                        <a:rPr sz="1200"/>
                        <a:t>61 actions</a:t>
                      </a:r>
                    </a:p>
                  </a:txBody>
                  <a:tcPr anchor="ctr">
                    <a:solidFill>
                      <a:schemeClr val="accent1">
                        <a:lumMod val="20000"/>
                        <a:lumOff val="80000"/>
                      </a:schemeClr>
                    </a:solidFill>
                  </a:tcPr>
                </a:tc>
                <a:extLst>
                  <a:ext uri="{0D108BD9-81ED-4DB2-BD59-A6C34878D82A}">
                    <a16:rowId xmlns:a16="http://schemas.microsoft.com/office/drawing/2014/main" val="10001"/>
                  </a:ext>
                </a:extLst>
              </a:tr>
              <a:tr h="228725">
                <a:tc>
                  <a:txBody>
                    <a:bodyPr/>
                    <a:lstStyle/>
                    <a:p>
                      <a:pPr>
                        <a:buNone/>
                      </a:pPr>
                      <a:r>
                        <a:rPr sz="1200" b="1">
                          <a:solidFill>
                            <a:schemeClr val="tx1"/>
                          </a:solidFill>
                        </a:rPr>
                        <a:t>Agent 1</a:t>
                      </a:r>
                    </a:p>
                  </a:txBody>
                  <a:tcPr anchor="ctr">
                    <a:solidFill>
                      <a:schemeClr val="accent5">
                        <a:lumMod val="20000"/>
                        <a:lumOff val="80000"/>
                      </a:schemeClr>
                    </a:solidFill>
                  </a:tcPr>
                </a:tc>
                <a:tc>
                  <a:txBody>
                    <a:bodyPr/>
                    <a:lstStyle/>
                    <a:p>
                      <a:pPr>
                        <a:buNone/>
                      </a:pPr>
                      <a:r>
                        <a:rPr sz="1200"/>
                        <a:t>3, 6, 7, 8</a:t>
                      </a:r>
                    </a:p>
                  </a:txBody>
                  <a:tcPr anchor="ctr">
                    <a:solidFill>
                      <a:schemeClr val="accent5">
                        <a:lumMod val="20000"/>
                        <a:lumOff val="80000"/>
                      </a:schemeClr>
                    </a:solidFill>
                  </a:tcPr>
                </a:tc>
                <a:tc>
                  <a:txBody>
                    <a:bodyPr/>
                    <a:lstStyle/>
                    <a:p>
                      <a:pPr>
                        <a:buNone/>
                      </a:pPr>
                      <a:r>
                        <a:rPr sz="1200"/>
                        <a:t>55 actions</a:t>
                      </a:r>
                    </a:p>
                  </a:txBody>
                  <a:tcPr anchor="ctr">
                    <a:solidFill>
                      <a:schemeClr val="accent5">
                        <a:lumMod val="20000"/>
                        <a:lumOff val="80000"/>
                      </a:schemeClr>
                    </a:solidFill>
                  </a:tcPr>
                </a:tc>
                <a:extLst>
                  <a:ext uri="{0D108BD9-81ED-4DB2-BD59-A6C34878D82A}">
                    <a16:rowId xmlns:a16="http://schemas.microsoft.com/office/drawing/2014/main" val="10002"/>
                  </a:ext>
                </a:extLst>
              </a:tr>
              <a:tr h="228725">
                <a:tc>
                  <a:txBody>
                    <a:bodyPr/>
                    <a:lstStyle/>
                    <a:p>
                      <a:pPr>
                        <a:buNone/>
                      </a:pPr>
                      <a:r>
                        <a:rPr sz="1200" b="1">
                          <a:solidFill>
                            <a:schemeClr val="tx1"/>
                          </a:solidFill>
                        </a:rPr>
                        <a:t>Agent 2</a:t>
                      </a:r>
                    </a:p>
                  </a:txBody>
                  <a:tcPr anchor="ctr">
                    <a:solidFill>
                      <a:srgbClr val="00A79F">
                        <a:alpha val="20000"/>
                      </a:srgbClr>
                    </a:solidFill>
                  </a:tcPr>
                </a:tc>
                <a:tc>
                  <a:txBody>
                    <a:bodyPr/>
                    <a:lstStyle/>
                    <a:p>
                      <a:pPr>
                        <a:buNone/>
                      </a:pPr>
                      <a:r>
                        <a:rPr sz="1200"/>
                        <a:t>5, 9, 10, 11, 12, 13</a:t>
                      </a:r>
                    </a:p>
                  </a:txBody>
                  <a:tcPr anchor="ctr">
                    <a:solidFill>
                      <a:srgbClr val="00A79F">
                        <a:alpha val="20000"/>
                      </a:srgbClr>
                    </a:solidFill>
                  </a:tcPr>
                </a:tc>
                <a:tc>
                  <a:txBody>
                    <a:bodyPr/>
                    <a:lstStyle/>
                    <a:p>
                      <a:pPr>
                        <a:buNone/>
                      </a:pPr>
                      <a:r>
                        <a:rPr sz="1200"/>
                        <a:t>89 actions</a:t>
                      </a:r>
                    </a:p>
                  </a:txBody>
                  <a:tcPr anchor="ctr">
                    <a:solidFill>
                      <a:srgbClr val="00A79F">
                        <a:alpha val="20000"/>
                      </a:srgbClr>
                    </a:solidFill>
                  </a:tcPr>
                </a:tc>
                <a:extLst>
                  <a:ext uri="{0D108BD9-81ED-4DB2-BD59-A6C34878D82A}">
                    <a16:rowId xmlns:a16="http://schemas.microsoft.com/office/drawing/2014/main" val="10003"/>
                  </a:ext>
                </a:extLst>
              </a:tr>
            </a:tbl>
          </a:graphicData>
        </a:graphic>
      </p:graphicFrame>
      <p:sp>
        <p:nvSpPr>
          <p:cNvPr id="16" name="ZoneTexte 15">
            <a:extLst>
              <a:ext uri="{FF2B5EF4-FFF2-40B4-BE49-F238E27FC236}">
                <a16:creationId xmlns:a16="http://schemas.microsoft.com/office/drawing/2014/main" id="{384ADD36-2ADA-8EDC-A274-D485A962BDED}"/>
              </a:ext>
            </a:extLst>
          </p:cNvPr>
          <p:cNvSpPr>
            <a:spLocks noGrp="1"/>
          </p:cNvSpPr>
          <p:nvPr/>
        </p:nvSpPr>
        <p:spPr>
          <a:xfrm>
            <a:off x="413975" y="3484195"/>
            <a:ext cx="4158025" cy="430887"/>
          </a:xfrm>
          <a:prstGeom prst="rect">
            <a:avLst/>
          </a:prstGeom>
          <a:noFill/>
        </p:spPr>
        <p:txBody>
          <a:bodyPr wrap="square">
            <a:spAutoFit/>
          </a:bodyPr>
          <a:lstStyle/>
          <a:p>
            <a:pPr algn="ctr">
              <a:buNone/>
            </a:pPr>
            <a:r>
              <a:rPr sz="1100" b="1" i="1">
                <a:latin typeface="Times New Roman"/>
                <a:ea typeface="Times New Roman"/>
                <a:cs typeface="Times New Roman"/>
              </a:rPr>
              <a:t>Table 1: Agent-to-substation assignments and action space for the local observation setup of bus14</a:t>
            </a:r>
          </a:p>
        </p:txBody>
      </p:sp>
      <p:pic>
        <p:nvPicPr>
          <p:cNvPr id="25" name="Picture 4"/>
          <p:cNvPicPr>
            <a:picLocks noChangeAspect="1"/>
          </p:cNvPicPr>
          <p:nvPr/>
        </p:nvPicPr>
        <p:blipFill>
          <a:blip r:embed="rId3"/>
          <a:srcRect/>
          <a:stretch>
            <a:fillRect/>
          </a:stretch>
        </p:blipFill>
        <p:spPr>
          <a:xfrm>
            <a:off x="5371232" y="1454762"/>
            <a:ext cx="3389210" cy="2360755"/>
          </a:xfrm>
          <a:prstGeom prst="rect">
            <a:avLst/>
          </a:prstGeom>
        </p:spPr>
      </p:pic>
      <p:sp>
        <p:nvSpPr>
          <p:cNvPr id="11" name="Ellipse 10">
            <a:extLst>
              <a:ext uri="{FF2B5EF4-FFF2-40B4-BE49-F238E27FC236}">
                <a16:creationId xmlns:a16="http://schemas.microsoft.com/office/drawing/2014/main" id="{59F05358-FA7C-8A01-E6B2-808671617B24}"/>
              </a:ext>
            </a:extLst>
          </p:cNvPr>
          <p:cNvSpPr>
            <a:spLocks noGrp="1"/>
          </p:cNvSpPr>
          <p:nvPr/>
        </p:nvSpPr>
        <p:spPr>
          <a:xfrm rot="382824">
            <a:off x="5052973" y="2674479"/>
            <a:ext cx="3305056" cy="1137142"/>
          </a:xfrm>
          <a:prstGeom prst="ellipse">
            <a:avLst/>
          </a:prstGeom>
          <a:solidFill>
            <a:srgbClr val="E30613">
              <a:alpha val="20000"/>
            </a:srgbClr>
          </a:solidFill>
          <a:ln w="38100"/>
        </p:spPr>
        <p:style>
          <a:lnRef idx="2">
            <a:schemeClr val="accent6"/>
          </a:lnRef>
          <a:fillRef idx="1">
            <a:schemeClr val="lt1"/>
          </a:fillRef>
          <a:effectRef idx="0">
            <a:schemeClr val="accent6"/>
          </a:effectRef>
          <a:fontRef idx="minor">
            <a:schemeClr val="dk1"/>
          </a:fontRef>
        </p:style>
        <p:txBody>
          <a:bodyPr anchor="ctr"/>
          <a:lstStyle/>
          <a:p>
            <a:pPr algn="ctr">
              <a:buNone/>
            </a:pPr>
            <a:endParaRPr/>
          </a:p>
        </p:txBody>
      </p:sp>
      <p:sp>
        <p:nvSpPr>
          <p:cNvPr id="12" name="Ellipse 11">
            <a:extLst>
              <a:ext uri="{FF2B5EF4-FFF2-40B4-BE49-F238E27FC236}">
                <a16:creationId xmlns:a16="http://schemas.microsoft.com/office/drawing/2014/main" id="{79833AAD-52F8-33A9-B062-355D86F3E6DC}"/>
              </a:ext>
            </a:extLst>
          </p:cNvPr>
          <p:cNvSpPr>
            <a:spLocks noGrp="1"/>
          </p:cNvSpPr>
          <p:nvPr/>
        </p:nvSpPr>
        <p:spPr>
          <a:xfrm rot="382824">
            <a:off x="7347899" y="2317457"/>
            <a:ext cx="1505389" cy="701748"/>
          </a:xfrm>
          <a:prstGeom prst="ellipse">
            <a:avLst/>
          </a:prstGeom>
          <a:solidFill>
            <a:schemeClr val="accent5">
              <a:alpha val="20000"/>
            </a:schemeClr>
          </a:solidFill>
          <a:ln w="38100">
            <a:solidFill>
              <a:schemeClr val="accent5"/>
            </a:solidFill>
          </a:ln>
        </p:spPr>
        <p:style>
          <a:lnRef idx="2">
            <a:schemeClr val="accent6"/>
          </a:lnRef>
          <a:fillRef idx="1">
            <a:schemeClr val="lt1"/>
          </a:fillRef>
          <a:effectRef idx="0">
            <a:schemeClr val="accent6"/>
          </a:effectRef>
          <a:fontRef idx="minor">
            <a:schemeClr val="dk1"/>
          </a:fontRef>
        </p:style>
        <p:txBody>
          <a:bodyPr anchor="ctr"/>
          <a:lstStyle/>
          <a:p>
            <a:pPr algn="ctr">
              <a:buNone/>
            </a:pPr>
            <a:endParaRPr/>
          </a:p>
        </p:txBody>
      </p:sp>
      <p:sp>
        <p:nvSpPr>
          <p:cNvPr id="13" name="Ellipse 12">
            <a:extLst>
              <a:ext uri="{FF2B5EF4-FFF2-40B4-BE49-F238E27FC236}">
                <a16:creationId xmlns:a16="http://schemas.microsoft.com/office/drawing/2014/main" id="{2162AEE4-43B2-1A64-76F9-1CB43AC68F3F}"/>
              </a:ext>
            </a:extLst>
          </p:cNvPr>
          <p:cNvSpPr>
            <a:spLocks noGrp="1"/>
          </p:cNvSpPr>
          <p:nvPr/>
        </p:nvSpPr>
        <p:spPr>
          <a:xfrm rot="21446684">
            <a:off x="5306781" y="1443277"/>
            <a:ext cx="2458611" cy="1165836"/>
          </a:xfrm>
          <a:prstGeom prst="ellipse">
            <a:avLst/>
          </a:prstGeom>
          <a:solidFill>
            <a:schemeClr val="accent2">
              <a:alpha val="20000"/>
            </a:schemeClr>
          </a:solidFill>
          <a:ln w="38100">
            <a:solidFill>
              <a:schemeClr val="accent2"/>
            </a:solidFill>
          </a:ln>
        </p:spPr>
        <p:style>
          <a:lnRef idx="2">
            <a:schemeClr val="accent6"/>
          </a:lnRef>
          <a:fillRef idx="1">
            <a:schemeClr val="lt1"/>
          </a:fillRef>
          <a:effectRef idx="0">
            <a:schemeClr val="accent6"/>
          </a:effectRef>
          <a:fontRef idx="minor">
            <a:schemeClr val="dk1"/>
          </a:fontRef>
        </p:style>
        <p:txBody>
          <a:bodyPr anchor="ctr"/>
          <a:lstStyle/>
          <a:p>
            <a:pPr algn="ctr">
              <a:buNone/>
            </a:pPr>
            <a:endParaRPr/>
          </a:p>
        </p:txBody>
      </p:sp>
      <p:sp>
        <p:nvSpPr>
          <p:cNvPr id="17" name="ZoneTexte 16">
            <a:extLst>
              <a:ext uri="{FF2B5EF4-FFF2-40B4-BE49-F238E27FC236}">
                <a16:creationId xmlns:a16="http://schemas.microsoft.com/office/drawing/2014/main" id="{BCC9E87C-4691-8667-8E1A-52BDD1B298C0}"/>
              </a:ext>
            </a:extLst>
          </p:cNvPr>
          <p:cNvSpPr>
            <a:spLocks noGrp="1"/>
          </p:cNvSpPr>
          <p:nvPr/>
        </p:nvSpPr>
        <p:spPr>
          <a:xfrm>
            <a:off x="5000025" y="3915082"/>
            <a:ext cx="3887594" cy="430887"/>
          </a:xfrm>
          <a:prstGeom prst="rect">
            <a:avLst/>
          </a:prstGeom>
          <a:noFill/>
        </p:spPr>
        <p:txBody>
          <a:bodyPr wrap="square">
            <a:spAutoFit/>
          </a:bodyPr>
          <a:lstStyle/>
          <a:p>
            <a:pPr algn="ctr">
              <a:buNone/>
            </a:pPr>
            <a:r>
              <a:rPr sz="1100" b="1" i="1">
                <a:latin typeface="Times New Roman"/>
                <a:ea typeface="Times New Roman"/>
                <a:cs typeface="Times New Roman"/>
              </a:rPr>
              <a:t>Fig 1: Substations controlled by each agents, l2rpn_sandbox environment</a:t>
            </a:r>
          </a:p>
        </p:txBody>
      </p:sp>
      <p:pic>
        <p:nvPicPr>
          <p:cNvPr id="30" name="Picture 2"/>
          <p:cNvPicPr>
            <a:picLocks noChangeAspect="1"/>
          </p:cNvPicPr>
          <p:nvPr/>
        </p:nvPicPr>
        <p:blipFill>
          <a:blip r:embed="rId4"/>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2782289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EA0D2E-C29B-B6B6-C524-2AD48170DF66}"/>
              </a:ext>
            </a:extLst>
          </p:cNvPr>
          <p:cNvSpPr>
            <a:spLocks noGrp="1"/>
          </p:cNvSpPr>
          <p:nvPr>
            <p:ph type="title"/>
          </p:nvPr>
        </p:nvSpPr>
        <p:spPr>
          <a:xfrm>
            <a:off x="904875" y="252828"/>
            <a:ext cx="7532115" cy="601301"/>
          </a:xfrm>
        </p:spPr>
        <p:txBody>
          <a:bodyPr>
            <a:normAutofit/>
          </a:bodyPr>
          <a:lstStyle/>
          <a:p>
            <a:r>
              <a:t>IEEE 14: Baseline, Original Hyperparameters</a:t>
            </a:r>
          </a:p>
        </p:txBody>
      </p:sp>
      <p:sp>
        <p:nvSpPr>
          <p:cNvPr id="5" name="Espace réservé du numéro de diapositive 4">
            <a:extLst>
              <a:ext uri="{FF2B5EF4-FFF2-40B4-BE49-F238E27FC236}">
                <a16:creationId xmlns:a16="http://schemas.microsoft.com/office/drawing/2014/main" id="{9F001702-6D56-EF0F-70AD-4407FF053C54}"/>
              </a:ext>
            </a:extLst>
          </p:cNvPr>
          <p:cNvSpPr>
            <a:spLocks noGrp="1"/>
          </p:cNvSpPr>
          <p:nvPr>
            <p:ph type="sldNum" idx="12"/>
          </p:nvPr>
        </p:nvSpPr>
        <p:spPr/>
        <p:txBody>
          <a:bodyPr/>
          <a:lstStyle/>
          <a:p>
            <a:r>
              <a:t>8</a:t>
            </a:r>
          </a:p>
        </p:txBody>
      </p:sp>
      <p:pic>
        <p:nvPicPr>
          <p:cNvPr id="18" name="Picture 2"/>
          <p:cNvPicPr>
            <a:picLocks noChangeAspect="1"/>
          </p:cNvPicPr>
          <p:nvPr/>
        </p:nvPicPr>
        <p:blipFill>
          <a:blip r:embed="rId3"/>
          <a:srcRect/>
          <a:stretch>
            <a:fillRect/>
          </a:stretch>
        </p:blipFill>
        <p:spPr>
          <a:xfrm>
            <a:off x="158055" y="379734"/>
            <a:ext cx="587504" cy="326391"/>
          </a:xfrm>
          <a:prstGeom prst="rect">
            <a:avLst/>
          </a:prstGeom>
        </p:spPr>
      </p:pic>
      <p:sp>
        <p:nvSpPr>
          <p:cNvPr id="3" name="training-network-table-frame">
            <a:extLst>
              <a:ext uri="{FF2B5EF4-FFF2-40B4-BE49-F238E27FC236}">
                <a16:creationId xmlns:a16="http://schemas.microsoft.com/office/drawing/2014/main" id="{11287035-067B-55CE-4106-2D39832D892D}"/>
              </a:ext>
            </a:extLst>
          </p:cNvPr>
          <p:cNvSpPr>
            <a:spLocks noGrp="1"/>
          </p:cNvSpPr>
          <p:nvPr/>
        </p:nvSpPr>
        <p:spPr>
          <a:xfrm>
            <a:off x="1000837" y="725677"/>
            <a:ext cx="3318401" cy="3943350"/>
          </a:xfrm>
          <a:prstGeom prst="roundRect">
            <a:avLst>
              <a:gd name="adj" fmla="val 2703"/>
            </a:avLst>
          </a:prstGeom>
          <a:solidFill>
            <a:srgbClr val="FBFCFD"/>
          </a:solidFill>
          <a:ln w="9525">
            <a:solidFill>
              <a:srgbClr val="DDE4E8"/>
            </a:solidFill>
            <a:prstDash val="solid"/>
          </a:ln>
        </p:spPr>
        <p:txBody>
          <a:bodyPr/>
          <a:lstStyle/>
          <a:p>
            <a:endParaRPr/>
          </a:p>
        </p:txBody>
      </p:sp>
      <p:sp>
        <p:nvSpPr>
          <p:cNvPr id="8" name="ppo-table-frame">
            <a:extLst>
              <a:ext uri="{FF2B5EF4-FFF2-40B4-BE49-F238E27FC236}">
                <a16:creationId xmlns:a16="http://schemas.microsoft.com/office/drawing/2014/main" id="{C6498A86-D25A-2D82-CCB4-3902014DE4F1}"/>
              </a:ext>
            </a:extLst>
          </p:cNvPr>
          <p:cNvSpPr>
            <a:spLocks noGrp="1"/>
          </p:cNvSpPr>
          <p:nvPr/>
        </p:nvSpPr>
        <p:spPr>
          <a:xfrm>
            <a:off x="4572000" y="725677"/>
            <a:ext cx="3726146" cy="3943350"/>
          </a:xfrm>
          <a:prstGeom prst="roundRect">
            <a:avLst>
              <a:gd name="adj" fmla="val 2703"/>
            </a:avLst>
          </a:prstGeom>
          <a:solidFill>
            <a:srgbClr val="FBFCFD"/>
          </a:solidFill>
          <a:ln w="9525">
            <a:solidFill>
              <a:srgbClr val="DDE4E8"/>
            </a:solidFill>
            <a:prstDash val="solid"/>
          </a:ln>
        </p:spPr>
        <p:txBody>
          <a:bodyPr/>
          <a:lstStyle/>
          <a:p>
            <a:endParaRPr/>
          </a:p>
        </p:txBody>
      </p:sp>
      <p:graphicFrame>
        <p:nvGraphicFramePr>
          <p:cNvPr id="21" name="Tableau 8"/>
          <p:cNvGraphicFramePr/>
          <p:nvPr/>
        </p:nvGraphicFramePr>
        <p:xfrm>
          <a:off x="1158851" y="854129"/>
          <a:ext cx="2985944" cy="3686445"/>
        </p:xfrm>
        <a:graphic>
          <a:graphicData uri="http://schemas.openxmlformats.org/drawingml/2006/table">
            <a:tbl>
              <a:tblPr/>
              <a:tblGrid>
                <a:gridCol w="1916267">
                  <a:extLst>
                    <a:ext uri="{9D8B030D-6E8A-4147-A177-3AD203B41FA5}">
                      <a16:colId xmlns:a16="http://schemas.microsoft.com/office/drawing/2014/main" val="20000"/>
                    </a:ext>
                  </a:extLst>
                </a:gridCol>
                <a:gridCol w="1069677">
                  <a:extLst>
                    <a:ext uri="{9D8B030D-6E8A-4147-A177-3AD203B41FA5}">
                      <a16:colId xmlns:a16="http://schemas.microsoft.com/office/drawing/2014/main" val="20001"/>
                    </a:ext>
                  </a:extLst>
                </a:gridCol>
              </a:tblGrid>
              <a:tr h="363885">
                <a:tc>
                  <a:txBody>
                    <a:bodyPr/>
                    <a:lstStyle/>
                    <a:p>
                      <a:r>
                        <a:rPr sz="1125" b="1">
                          <a:solidFill>
                            <a:srgbClr val="263641"/>
                          </a:solidFill>
                        </a:rPr>
                        <a:t>Hyperparameter</a:t>
                      </a:r>
                    </a:p>
                  </a:txBody>
                  <a:tcPr>
                    <a:solidFill>
                      <a:srgbClr val="F1F4F6"/>
                    </a:solidFill>
                  </a:tcPr>
                </a:tc>
                <a:tc>
                  <a:txBody>
                    <a:bodyPr/>
                    <a:lstStyle/>
                    <a:p>
                      <a:r>
                        <a:rPr sz="1125" b="1">
                          <a:solidFill>
                            <a:srgbClr val="263641"/>
                          </a:solidFill>
                        </a:rPr>
                        <a:t>Value</a:t>
                      </a:r>
                    </a:p>
                  </a:txBody>
                  <a:tcPr>
                    <a:solidFill>
                      <a:srgbClr val="F1F4F6"/>
                    </a:solidFill>
                  </a:tcPr>
                </a:tc>
                <a:extLst>
                  <a:ext uri="{0D108BD9-81ED-4DB2-BD59-A6C34878D82A}">
                    <a16:rowId xmlns:a16="http://schemas.microsoft.com/office/drawing/2014/main" val="10000"/>
                  </a:ext>
                </a:extLst>
              </a:tr>
              <a:tr h="363885">
                <a:tc gridSpan="2">
                  <a:txBody>
                    <a:bodyPr/>
                    <a:lstStyle/>
                    <a:p>
                      <a:r>
                        <a:rPr sz="1050" b="1">
                          <a:solidFill>
                            <a:srgbClr val="A75A24"/>
                          </a:solidFill>
                        </a:rPr>
                        <a:t>TRAINING</a:t>
                      </a:r>
                    </a:p>
                  </a:txBody>
                  <a:tcPr>
                    <a:solidFill>
                      <a:srgbClr val="FFF2E8"/>
                    </a:solidFill>
                  </a:tcPr>
                </a:tc>
                <a:tc hMerge="1">
                  <a:txBody>
                    <a:bodyPr/>
                    <a:lstStyle/>
                    <a:p>
                      <a:endParaRPr/>
                    </a:p>
                  </a:txBody>
                  <a:tcPr>
                    <a:solidFill>
                      <a:srgbClr val="FFFFFF"/>
                    </a:solidFill>
                  </a:tcPr>
                </a:tc>
                <a:extLst>
                  <a:ext uri="{0D108BD9-81ED-4DB2-BD59-A6C34878D82A}">
                    <a16:rowId xmlns:a16="http://schemas.microsoft.com/office/drawing/2014/main" val="10001"/>
                  </a:ext>
                </a:extLst>
              </a:tr>
              <a:tr h="363885">
                <a:tc>
                  <a:txBody>
                    <a:bodyPr/>
                    <a:lstStyle/>
                    <a:p>
                      <a:r>
                        <a:rPr sz="1050" b="0">
                          <a:solidFill>
                            <a:srgbClr val="415466"/>
                          </a:solidFill>
                        </a:rPr>
                        <a:t>Total timesteps</a:t>
                      </a:r>
                    </a:p>
                  </a:txBody>
                  <a:tcPr>
                    <a:solidFill>
                      <a:srgbClr val="FFFFFF"/>
                    </a:solidFill>
                  </a:tcPr>
                </a:tc>
                <a:tc>
                  <a:txBody>
                    <a:bodyPr/>
                    <a:lstStyle/>
                    <a:p>
                      <a:r>
                        <a:rPr sz="1125" b="0">
                          <a:solidFill>
                            <a:schemeClr val="tx1"/>
                          </a:solidFill>
                        </a:rPr>
                        <a:t>25M</a:t>
                      </a:r>
                    </a:p>
                  </a:txBody>
                  <a:tcPr>
                    <a:solidFill>
                      <a:srgbClr val="FFFFFF"/>
                    </a:solidFill>
                  </a:tcPr>
                </a:tc>
                <a:extLst>
                  <a:ext uri="{0D108BD9-81ED-4DB2-BD59-A6C34878D82A}">
                    <a16:rowId xmlns:a16="http://schemas.microsoft.com/office/drawing/2014/main" val="10002"/>
                  </a:ext>
                </a:extLst>
              </a:tr>
              <a:tr h="363885">
                <a:tc>
                  <a:txBody>
                    <a:bodyPr/>
                    <a:lstStyle/>
                    <a:p>
                      <a:r>
                        <a:rPr sz="1050" b="0">
                          <a:solidFill>
                            <a:srgbClr val="415466"/>
                          </a:solidFill>
                        </a:rPr>
                        <a:t>Rollout steps per environment</a:t>
                      </a:r>
                    </a:p>
                  </a:txBody>
                  <a:tcPr>
                    <a:solidFill>
                      <a:srgbClr val="FFFFFF"/>
                    </a:solidFill>
                  </a:tcPr>
                </a:tc>
                <a:tc>
                  <a:txBody>
                    <a:bodyPr/>
                    <a:lstStyle/>
                    <a:p>
                      <a:r>
                        <a:rPr sz="1050" b="0">
                          <a:solidFill>
                            <a:srgbClr val="415466"/>
                          </a:solidFill>
                        </a:rPr>
                        <a:t>2,000</a:t>
                      </a:r>
                    </a:p>
                  </a:txBody>
                  <a:tcPr>
                    <a:solidFill>
                      <a:srgbClr val="FFFFFF"/>
                    </a:solidFill>
                  </a:tcPr>
                </a:tc>
                <a:extLst>
                  <a:ext uri="{0D108BD9-81ED-4DB2-BD59-A6C34878D82A}">
                    <a16:rowId xmlns:a16="http://schemas.microsoft.com/office/drawing/2014/main" val="10003"/>
                  </a:ext>
                </a:extLst>
              </a:tr>
              <a:tr h="363885">
                <a:tc>
                  <a:txBody>
                    <a:bodyPr/>
                    <a:lstStyle/>
                    <a:p>
                      <a:r>
                        <a:rPr sz="1050" b="0">
                          <a:solidFill>
                            <a:srgbClr val="415466"/>
                          </a:solidFill>
                        </a:rPr>
                        <a:t>Total rollout batch</a:t>
                      </a:r>
                    </a:p>
                  </a:txBody>
                  <a:tcPr>
                    <a:solidFill>
                      <a:srgbClr val="FFFFFF"/>
                    </a:solidFill>
                  </a:tcPr>
                </a:tc>
                <a:tc>
                  <a:txBody>
                    <a:bodyPr/>
                    <a:lstStyle/>
                    <a:p>
                      <a:r>
                        <a:rPr sz="1125" b="0">
                          <a:solidFill>
                            <a:schemeClr val="tx1"/>
                          </a:solidFill>
                        </a:rPr>
                        <a:t>20,000</a:t>
                      </a:r>
                    </a:p>
                  </a:txBody>
                  <a:tcPr>
                    <a:solidFill>
                      <a:srgbClr val="FFFFFF"/>
                    </a:solidFill>
                  </a:tcPr>
                </a:tc>
                <a:extLst>
                  <a:ext uri="{0D108BD9-81ED-4DB2-BD59-A6C34878D82A}">
                    <a16:rowId xmlns:a16="http://schemas.microsoft.com/office/drawing/2014/main" val="10004"/>
                  </a:ext>
                </a:extLst>
              </a:tr>
              <a:tr h="363885">
                <a:tc>
                  <a:txBody>
                    <a:bodyPr/>
                    <a:lstStyle/>
                    <a:p>
                      <a:r>
                        <a:rPr sz="1050" b="0">
                          <a:solidFill>
                            <a:srgbClr val="415466"/>
                          </a:solidFill>
                        </a:rPr>
                        <a:t>Evaluation frequency</a:t>
                      </a:r>
                    </a:p>
                  </a:txBody>
                  <a:tcPr>
                    <a:solidFill>
                      <a:srgbClr val="FFFFFF"/>
                    </a:solidFill>
                  </a:tcPr>
                </a:tc>
                <a:tc>
                  <a:txBody>
                    <a:bodyPr/>
                    <a:lstStyle/>
                    <a:p>
                      <a:r>
                        <a:rPr sz="1050" b="0">
                          <a:solidFill>
                            <a:srgbClr val="415466"/>
                          </a:solidFill>
                        </a:rPr>
                        <a:t>80,000</a:t>
                      </a:r>
                    </a:p>
                  </a:txBody>
                  <a:tcPr>
                    <a:solidFill>
                      <a:srgbClr val="FFFFFF"/>
                    </a:solidFill>
                  </a:tcPr>
                </a:tc>
                <a:extLst>
                  <a:ext uri="{0D108BD9-81ED-4DB2-BD59-A6C34878D82A}">
                    <a16:rowId xmlns:a16="http://schemas.microsoft.com/office/drawing/2014/main" val="10005"/>
                  </a:ext>
                </a:extLst>
              </a:tr>
              <a:tr h="363885">
                <a:tc gridSpan="2">
                  <a:txBody>
                    <a:bodyPr/>
                    <a:lstStyle/>
                    <a:p>
                      <a:r>
                        <a:rPr sz="1050" b="1">
                          <a:solidFill>
                            <a:srgbClr val="276F9A"/>
                          </a:solidFill>
                        </a:rPr>
                        <a:t>NETWORK</a:t>
                      </a:r>
                    </a:p>
                  </a:txBody>
                  <a:tcPr>
                    <a:solidFill>
                      <a:srgbClr val="EAF3FA"/>
                    </a:solidFill>
                  </a:tcPr>
                </a:tc>
                <a:tc hMerge="1">
                  <a:txBody>
                    <a:bodyPr/>
                    <a:lstStyle/>
                    <a:p>
                      <a:endParaRPr/>
                    </a:p>
                  </a:txBody>
                  <a:tcPr>
                    <a:solidFill>
                      <a:srgbClr val="FFFFFF"/>
                    </a:solidFill>
                  </a:tcPr>
                </a:tc>
                <a:extLst>
                  <a:ext uri="{0D108BD9-81ED-4DB2-BD59-A6C34878D82A}">
                    <a16:rowId xmlns:a16="http://schemas.microsoft.com/office/drawing/2014/main" val="10006"/>
                  </a:ext>
                </a:extLst>
              </a:tr>
              <a:tr h="363885">
                <a:tc>
                  <a:txBody>
                    <a:bodyPr/>
                    <a:lstStyle/>
                    <a:p>
                      <a:r>
                        <a:rPr sz="1050" b="0">
                          <a:solidFill>
                            <a:srgbClr val="415466"/>
                          </a:solidFill>
                        </a:rPr>
                        <a:t>Actor architecture</a:t>
                      </a:r>
                    </a:p>
                  </a:txBody>
                  <a:tcPr>
                    <a:solidFill>
                      <a:srgbClr val="FFFFFF"/>
                    </a:solidFill>
                  </a:tcPr>
                </a:tc>
                <a:tc>
                  <a:txBody>
                    <a:bodyPr/>
                    <a:lstStyle/>
                    <a:p>
                      <a:r>
                        <a:rPr sz="1050" b="0">
                          <a:solidFill>
                            <a:srgbClr val="415466"/>
                          </a:solidFill>
                        </a:rPr>
                        <a:t>MLP · 256 × 3</a:t>
                      </a:r>
                    </a:p>
                  </a:txBody>
                  <a:tcPr>
                    <a:solidFill>
                      <a:srgbClr val="FFFFFF"/>
                    </a:solidFill>
                  </a:tcPr>
                </a:tc>
                <a:extLst>
                  <a:ext uri="{0D108BD9-81ED-4DB2-BD59-A6C34878D82A}">
                    <a16:rowId xmlns:a16="http://schemas.microsoft.com/office/drawing/2014/main" val="10007"/>
                  </a:ext>
                </a:extLst>
              </a:tr>
              <a:tr h="363885">
                <a:tc>
                  <a:txBody>
                    <a:bodyPr/>
                    <a:lstStyle/>
                    <a:p>
                      <a:r>
                        <a:rPr sz="1050" b="0">
                          <a:solidFill>
                            <a:srgbClr val="415466"/>
                          </a:solidFill>
                        </a:rPr>
                        <a:t>Critic architecture</a:t>
                      </a:r>
                    </a:p>
                  </a:txBody>
                  <a:tcPr>
                    <a:solidFill>
                      <a:srgbClr val="FFFFFF"/>
                    </a:solidFill>
                  </a:tcPr>
                </a:tc>
                <a:tc>
                  <a:txBody>
                    <a:bodyPr/>
                    <a:lstStyle/>
                    <a:p>
                      <a:r>
                        <a:rPr sz="1050" b="0">
                          <a:solidFill>
                            <a:srgbClr val="415466"/>
                          </a:solidFill>
                        </a:rPr>
                        <a:t>MLP · 256 × 3</a:t>
                      </a:r>
                    </a:p>
                  </a:txBody>
                  <a:tcPr>
                    <a:solidFill>
                      <a:srgbClr val="FFFFFF"/>
                    </a:solidFill>
                  </a:tcPr>
                </a:tc>
                <a:extLst>
                  <a:ext uri="{0D108BD9-81ED-4DB2-BD59-A6C34878D82A}">
                    <a16:rowId xmlns:a16="http://schemas.microsoft.com/office/drawing/2014/main" val="10008"/>
                  </a:ext>
                </a:extLst>
              </a:tr>
              <a:tr h="363885">
                <a:tc>
                  <a:txBody>
                    <a:bodyPr/>
                    <a:lstStyle/>
                    <a:p>
                      <a:r>
                        <a:rPr sz="1050" b="0">
                          <a:solidFill>
                            <a:srgbClr val="415466"/>
                          </a:solidFill>
                        </a:rPr>
                        <a:t>Activation</a:t>
                      </a:r>
                    </a:p>
                  </a:txBody>
                  <a:tcPr>
                    <a:solidFill>
                      <a:srgbClr val="FFFFFF"/>
                    </a:solidFill>
                  </a:tcPr>
                </a:tc>
                <a:tc>
                  <a:txBody>
                    <a:bodyPr/>
                    <a:lstStyle/>
                    <a:p>
                      <a:r>
                        <a:rPr sz="1050" b="0">
                          <a:solidFill>
                            <a:srgbClr val="415466"/>
                          </a:solidFill>
                        </a:rPr>
                        <a:t>ReLU</a:t>
                      </a:r>
                    </a:p>
                  </a:txBody>
                  <a:tcPr>
                    <a:solidFill>
                      <a:srgbClr val="FFFFFF"/>
                    </a:solidFill>
                  </a:tcPr>
                </a:tc>
                <a:extLst>
                  <a:ext uri="{0D108BD9-81ED-4DB2-BD59-A6C34878D82A}">
                    <a16:rowId xmlns:a16="http://schemas.microsoft.com/office/drawing/2014/main" val="10009"/>
                  </a:ext>
                </a:extLst>
              </a:tr>
            </a:tbl>
          </a:graphicData>
        </a:graphic>
      </p:graphicFrame>
      <p:graphicFrame>
        <p:nvGraphicFramePr>
          <p:cNvPr id="22" name="Tableau 9"/>
          <p:cNvGraphicFramePr/>
          <p:nvPr/>
        </p:nvGraphicFramePr>
        <p:xfrm>
          <a:off x="4724399" y="887601"/>
          <a:ext cx="3409239" cy="3644784"/>
        </p:xfrm>
        <a:graphic>
          <a:graphicData uri="http://schemas.openxmlformats.org/drawingml/2006/table">
            <a:tbl>
              <a:tblPr/>
              <a:tblGrid>
                <a:gridCol w="2185117">
                  <a:extLst>
                    <a:ext uri="{9D8B030D-6E8A-4147-A177-3AD203B41FA5}">
                      <a16:colId xmlns:a16="http://schemas.microsoft.com/office/drawing/2014/main" val="20000"/>
                    </a:ext>
                  </a:extLst>
                </a:gridCol>
                <a:gridCol w="1224122">
                  <a:extLst>
                    <a:ext uri="{9D8B030D-6E8A-4147-A177-3AD203B41FA5}">
                      <a16:colId xmlns:a16="http://schemas.microsoft.com/office/drawing/2014/main" val="20001"/>
                    </a:ext>
                  </a:extLst>
                </a:gridCol>
              </a:tblGrid>
              <a:tr h="259917">
                <a:tc>
                  <a:txBody>
                    <a:bodyPr/>
                    <a:lstStyle/>
                    <a:p>
                      <a:r>
                        <a:rPr sz="1125" b="1">
                          <a:solidFill>
                            <a:srgbClr val="263641"/>
                          </a:solidFill>
                        </a:rPr>
                        <a:t>Hyperparameter</a:t>
                      </a:r>
                    </a:p>
                  </a:txBody>
                  <a:tcPr>
                    <a:solidFill>
                      <a:srgbClr val="F1F4F6"/>
                    </a:solidFill>
                  </a:tcPr>
                </a:tc>
                <a:tc>
                  <a:txBody>
                    <a:bodyPr/>
                    <a:lstStyle/>
                    <a:p>
                      <a:r>
                        <a:rPr sz="1125" b="1">
                          <a:solidFill>
                            <a:srgbClr val="263641"/>
                          </a:solidFill>
                        </a:rPr>
                        <a:t>Value</a:t>
                      </a:r>
                    </a:p>
                  </a:txBody>
                  <a:tcPr>
                    <a:solidFill>
                      <a:srgbClr val="F1F4F6"/>
                    </a:solidFill>
                  </a:tcPr>
                </a:tc>
                <a:extLst>
                  <a:ext uri="{0D108BD9-81ED-4DB2-BD59-A6C34878D82A}">
                    <a16:rowId xmlns:a16="http://schemas.microsoft.com/office/drawing/2014/main" val="10000"/>
                  </a:ext>
                </a:extLst>
              </a:tr>
              <a:tr h="259917">
                <a:tc gridSpan="2">
                  <a:txBody>
                    <a:bodyPr/>
                    <a:lstStyle/>
                    <a:p>
                      <a:r>
                        <a:rPr sz="1050" b="1">
                          <a:solidFill>
                            <a:srgbClr val="80579E"/>
                          </a:solidFill>
                        </a:rPr>
                        <a:t>PPO OPTIMIZATION</a:t>
                      </a:r>
                    </a:p>
                  </a:txBody>
                  <a:tcPr>
                    <a:solidFill>
                      <a:srgbClr val="F2EAF8"/>
                    </a:solidFill>
                  </a:tcPr>
                </a:tc>
                <a:tc hMerge="1">
                  <a:txBody>
                    <a:bodyPr/>
                    <a:lstStyle/>
                    <a:p>
                      <a:endParaRPr/>
                    </a:p>
                  </a:txBody>
                  <a:tcPr>
                    <a:solidFill>
                      <a:srgbClr val="FFFFFF"/>
                    </a:solidFill>
                  </a:tcPr>
                </a:tc>
                <a:extLst>
                  <a:ext uri="{0D108BD9-81ED-4DB2-BD59-A6C34878D82A}">
                    <a16:rowId xmlns:a16="http://schemas.microsoft.com/office/drawing/2014/main" val="10001"/>
                  </a:ext>
                </a:extLst>
              </a:tr>
              <a:tr h="259917">
                <a:tc>
                  <a:txBody>
                    <a:bodyPr/>
                    <a:lstStyle/>
                    <a:p>
                      <a:r>
                        <a:rPr sz="1050" b="0">
                          <a:solidFill>
                            <a:srgbClr val="415466"/>
                          </a:solidFill>
                        </a:rPr>
                        <a:t>Actor learning rate</a:t>
                      </a:r>
                    </a:p>
                  </a:txBody>
                  <a:tcPr>
                    <a:solidFill>
                      <a:srgbClr val="FFFFFF"/>
                    </a:solidFill>
                  </a:tcPr>
                </a:tc>
                <a:tc>
                  <a:txBody>
                    <a:bodyPr/>
                    <a:lstStyle/>
                    <a:p>
                      <a:r>
                        <a:rPr sz="1050" b="0">
                          <a:solidFill>
                            <a:srgbClr val="415466"/>
                          </a:solidFill>
                        </a:rPr>
                        <a:t>3 × 10⁻⁵</a:t>
                      </a:r>
                    </a:p>
                  </a:txBody>
                  <a:tcPr>
                    <a:solidFill>
                      <a:srgbClr val="FFFFFF"/>
                    </a:solidFill>
                  </a:tcPr>
                </a:tc>
                <a:extLst>
                  <a:ext uri="{0D108BD9-81ED-4DB2-BD59-A6C34878D82A}">
                    <a16:rowId xmlns:a16="http://schemas.microsoft.com/office/drawing/2014/main" val="10002"/>
                  </a:ext>
                </a:extLst>
              </a:tr>
              <a:tr h="259917">
                <a:tc>
                  <a:txBody>
                    <a:bodyPr/>
                    <a:lstStyle/>
                    <a:p>
                      <a:r>
                        <a:rPr sz="1050" b="0">
                          <a:solidFill>
                            <a:srgbClr val="415466"/>
                          </a:solidFill>
                        </a:rPr>
                        <a:t>Critic learning rate</a:t>
                      </a:r>
                    </a:p>
                  </a:txBody>
                  <a:tcPr>
                    <a:solidFill>
                      <a:srgbClr val="FFFFFF"/>
                    </a:solidFill>
                  </a:tcPr>
                </a:tc>
                <a:tc>
                  <a:txBody>
                    <a:bodyPr/>
                    <a:lstStyle/>
                    <a:p>
                      <a:r>
                        <a:rPr sz="1050" b="0">
                          <a:solidFill>
                            <a:srgbClr val="415466"/>
                          </a:solidFill>
                        </a:rPr>
                        <a:t>3 × 10⁻⁵</a:t>
                      </a:r>
                    </a:p>
                  </a:txBody>
                  <a:tcPr>
                    <a:solidFill>
                      <a:srgbClr val="FFFFFF"/>
                    </a:solidFill>
                  </a:tcPr>
                </a:tc>
                <a:extLst>
                  <a:ext uri="{0D108BD9-81ED-4DB2-BD59-A6C34878D82A}">
                    <a16:rowId xmlns:a16="http://schemas.microsoft.com/office/drawing/2014/main" val="10003"/>
                  </a:ext>
                </a:extLst>
              </a:tr>
              <a:tr h="259917">
                <a:tc>
                  <a:txBody>
                    <a:bodyPr/>
                    <a:lstStyle/>
                    <a:p>
                      <a:r>
                        <a:rPr sz="1050" b="0">
                          <a:solidFill>
                            <a:srgbClr val="415466"/>
                          </a:solidFill>
                        </a:rPr>
                        <a:t>Learning-rate schedule</a:t>
                      </a:r>
                    </a:p>
                  </a:txBody>
                  <a:tcPr>
                    <a:solidFill>
                      <a:srgbClr val="FFFFFF"/>
                    </a:solidFill>
                  </a:tcPr>
                </a:tc>
                <a:tc>
                  <a:txBody>
                    <a:bodyPr/>
                    <a:lstStyle/>
                    <a:p>
                      <a:r>
                        <a:rPr sz="1050" b="0">
                          <a:solidFill>
                            <a:srgbClr val="415466"/>
                          </a:solidFill>
                        </a:rPr>
                        <a:t>Linear decay</a:t>
                      </a:r>
                    </a:p>
                  </a:txBody>
                  <a:tcPr>
                    <a:solidFill>
                      <a:srgbClr val="FFFFFF"/>
                    </a:solidFill>
                  </a:tcPr>
                </a:tc>
                <a:extLst>
                  <a:ext uri="{0D108BD9-81ED-4DB2-BD59-A6C34878D82A}">
                    <a16:rowId xmlns:a16="http://schemas.microsoft.com/office/drawing/2014/main" val="10004"/>
                  </a:ext>
                </a:extLst>
              </a:tr>
              <a:tr h="259917">
                <a:tc>
                  <a:txBody>
                    <a:bodyPr/>
                    <a:lstStyle/>
                    <a:p>
                      <a:r>
                        <a:rPr sz="1050" b="0">
                          <a:solidFill>
                            <a:srgbClr val="415466"/>
                          </a:solidFill>
                        </a:rPr>
                        <a:t>Discount factor  γ</a:t>
                      </a:r>
                    </a:p>
                  </a:txBody>
                  <a:tcPr>
                    <a:solidFill>
                      <a:srgbClr val="FFFFFF"/>
                    </a:solidFill>
                  </a:tcPr>
                </a:tc>
                <a:tc>
                  <a:txBody>
                    <a:bodyPr/>
                    <a:lstStyle/>
                    <a:p>
                      <a:r>
                        <a:rPr sz="1050" b="0">
                          <a:solidFill>
                            <a:srgbClr val="415466"/>
                          </a:solidFill>
                        </a:rPr>
                        <a:t>0.99</a:t>
                      </a:r>
                    </a:p>
                  </a:txBody>
                  <a:tcPr>
                    <a:solidFill>
                      <a:srgbClr val="FFFFFF"/>
                    </a:solidFill>
                  </a:tcPr>
                </a:tc>
                <a:extLst>
                  <a:ext uri="{0D108BD9-81ED-4DB2-BD59-A6C34878D82A}">
                    <a16:rowId xmlns:a16="http://schemas.microsoft.com/office/drawing/2014/main" val="10005"/>
                  </a:ext>
                </a:extLst>
              </a:tr>
              <a:tr h="259917">
                <a:tc>
                  <a:txBody>
                    <a:bodyPr/>
                    <a:lstStyle/>
                    <a:p>
                      <a:r>
                        <a:rPr sz="1050" b="0">
                          <a:solidFill>
                            <a:srgbClr val="415466"/>
                          </a:solidFill>
                        </a:rPr>
                        <a:t>GAE parameter  λ</a:t>
                      </a:r>
                    </a:p>
                  </a:txBody>
                  <a:tcPr>
                    <a:solidFill>
                      <a:srgbClr val="FFFFFF"/>
                    </a:solidFill>
                  </a:tcPr>
                </a:tc>
                <a:tc>
                  <a:txBody>
                    <a:bodyPr/>
                    <a:lstStyle/>
                    <a:p>
                      <a:r>
                        <a:rPr sz="1050" b="0">
                          <a:solidFill>
                            <a:srgbClr val="415466"/>
                          </a:solidFill>
                        </a:rPr>
                        <a:t>0.95</a:t>
                      </a:r>
                    </a:p>
                  </a:txBody>
                  <a:tcPr>
                    <a:solidFill>
                      <a:srgbClr val="FFFFFF"/>
                    </a:solidFill>
                  </a:tcPr>
                </a:tc>
                <a:extLst>
                  <a:ext uri="{0D108BD9-81ED-4DB2-BD59-A6C34878D82A}">
                    <a16:rowId xmlns:a16="http://schemas.microsoft.com/office/drawing/2014/main" val="10006"/>
                  </a:ext>
                </a:extLst>
              </a:tr>
              <a:tr h="259917">
                <a:tc>
                  <a:txBody>
                    <a:bodyPr/>
                    <a:lstStyle/>
                    <a:p>
                      <a:r>
                        <a:rPr sz="1050" b="0">
                          <a:solidFill>
                            <a:srgbClr val="415466"/>
                          </a:solidFill>
                        </a:rPr>
                        <a:t>Update epochs</a:t>
                      </a:r>
                    </a:p>
                  </a:txBody>
                  <a:tcPr>
                    <a:solidFill>
                      <a:srgbClr val="FFFFFF"/>
                    </a:solidFill>
                  </a:tcPr>
                </a:tc>
                <a:tc>
                  <a:txBody>
                    <a:bodyPr/>
                    <a:lstStyle/>
                    <a:p>
                      <a:r>
                        <a:rPr sz="1125" b="0">
                          <a:solidFill>
                            <a:schemeClr val="tx1"/>
                          </a:solidFill>
                        </a:rPr>
                        <a:t>80</a:t>
                      </a:r>
                    </a:p>
                  </a:txBody>
                  <a:tcPr>
                    <a:solidFill>
                      <a:srgbClr val="FFFFFF"/>
                    </a:solidFill>
                  </a:tcPr>
                </a:tc>
                <a:extLst>
                  <a:ext uri="{0D108BD9-81ED-4DB2-BD59-A6C34878D82A}">
                    <a16:rowId xmlns:a16="http://schemas.microsoft.com/office/drawing/2014/main" val="10007"/>
                  </a:ext>
                </a:extLst>
              </a:tr>
              <a:tr h="259917">
                <a:tc>
                  <a:txBody>
                    <a:bodyPr/>
                    <a:lstStyle/>
                    <a:p>
                      <a:r>
                        <a:rPr sz="1050" b="0">
                          <a:solidFill>
                            <a:srgbClr val="415466"/>
                          </a:solidFill>
                        </a:rPr>
                        <a:t>Minibatches</a:t>
                      </a:r>
                    </a:p>
                  </a:txBody>
                  <a:tcPr>
                    <a:solidFill>
                      <a:srgbClr val="FFFFFF"/>
                    </a:solidFill>
                  </a:tcPr>
                </a:tc>
                <a:tc>
                  <a:txBody>
                    <a:bodyPr/>
                    <a:lstStyle/>
                    <a:p>
                      <a:r>
                        <a:rPr sz="1050" b="0">
                          <a:solidFill>
                            <a:srgbClr val="415466"/>
                          </a:solidFill>
                        </a:rPr>
                        <a:t>4</a:t>
                      </a:r>
                    </a:p>
                  </a:txBody>
                  <a:tcPr>
                    <a:solidFill>
                      <a:srgbClr val="FFFFFF"/>
                    </a:solidFill>
                  </a:tcPr>
                </a:tc>
                <a:extLst>
                  <a:ext uri="{0D108BD9-81ED-4DB2-BD59-A6C34878D82A}">
                    <a16:rowId xmlns:a16="http://schemas.microsoft.com/office/drawing/2014/main" val="10008"/>
                  </a:ext>
                </a:extLst>
              </a:tr>
              <a:tr h="259917">
                <a:tc>
                  <a:txBody>
                    <a:bodyPr/>
                    <a:lstStyle/>
                    <a:p>
                      <a:r>
                        <a:rPr sz="1050" b="0">
                          <a:solidFill>
                            <a:srgbClr val="415466"/>
                          </a:solidFill>
                        </a:rPr>
                        <a:t>Clip coefficient  ε</a:t>
                      </a:r>
                    </a:p>
                  </a:txBody>
                  <a:tcPr>
                    <a:solidFill>
                      <a:srgbClr val="FFFFFF"/>
                    </a:solidFill>
                  </a:tcPr>
                </a:tc>
                <a:tc>
                  <a:txBody>
                    <a:bodyPr/>
                    <a:lstStyle/>
                    <a:p>
                      <a:r>
                        <a:rPr sz="1050" b="0">
                          <a:solidFill>
                            <a:srgbClr val="415466"/>
                          </a:solidFill>
                        </a:rPr>
                        <a:t>0.20</a:t>
                      </a:r>
                    </a:p>
                  </a:txBody>
                  <a:tcPr>
                    <a:solidFill>
                      <a:srgbClr val="FFFFFF"/>
                    </a:solidFill>
                  </a:tcPr>
                </a:tc>
                <a:extLst>
                  <a:ext uri="{0D108BD9-81ED-4DB2-BD59-A6C34878D82A}">
                    <a16:rowId xmlns:a16="http://schemas.microsoft.com/office/drawing/2014/main" val="10009"/>
                  </a:ext>
                </a:extLst>
              </a:tr>
              <a:tr h="259917">
                <a:tc>
                  <a:txBody>
                    <a:bodyPr/>
                    <a:lstStyle/>
                    <a:p>
                      <a:r>
                        <a:rPr sz="1050" b="0">
                          <a:solidFill>
                            <a:srgbClr val="415466"/>
                          </a:solidFill>
                        </a:rPr>
                        <a:t>Target KL</a:t>
                      </a:r>
                    </a:p>
                  </a:txBody>
                  <a:tcPr>
                    <a:solidFill>
                      <a:srgbClr val="FFFFFF"/>
                    </a:solidFill>
                  </a:tcPr>
                </a:tc>
                <a:tc>
                  <a:txBody>
                    <a:bodyPr/>
                    <a:lstStyle/>
                    <a:p>
                      <a:r>
                        <a:rPr sz="1050" b="0">
                          <a:solidFill>
                            <a:srgbClr val="415466"/>
                          </a:solidFill>
                        </a:rPr>
                        <a:t>0.02</a:t>
                      </a:r>
                    </a:p>
                  </a:txBody>
                  <a:tcPr>
                    <a:solidFill>
                      <a:srgbClr val="FFFFFF"/>
                    </a:solidFill>
                  </a:tcPr>
                </a:tc>
                <a:extLst>
                  <a:ext uri="{0D108BD9-81ED-4DB2-BD59-A6C34878D82A}">
                    <a16:rowId xmlns:a16="http://schemas.microsoft.com/office/drawing/2014/main" val="10010"/>
                  </a:ext>
                </a:extLst>
              </a:tr>
              <a:tr h="259917">
                <a:tc>
                  <a:txBody>
                    <a:bodyPr/>
                    <a:lstStyle/>
                    <a:p>
                      <a:r>
                        <a:rPr sz="1050" b="0">
                          <a:solidFill>
                            <a:srgbClr val="415466"/>
                          </a:solidFill>
                        </a:rPr>
                        <a:t>Maximum gradient norm</a:t>
                      </a:r>
                    </a:p>
                  </a:txBody>
                  <a:tcPr>
                    <a:solidFill>
                      <a:srgbClr val="FFFFFF"/>
                    </a:solidFill>
                  </a:tcPr>
                </a:tc>
                <a:tc>
                  <a:txBody>
                    <a:bodyPr/>
                    <a:lstStyle/>
                    <a:p>
                      <a:r>
                        <a:rPr sz="1050" b="0">
                          <a:solidFill>
                            <a:srgbClr val="415466"/>
                          </a:solidFill>
                        </a:rPr>
                        <a:t>10.0</a:t>
                      </a:r>
                    </a:p>
                  </a:txBody>
                  <a:tcPr>
                    <a:solidFill>
                      <a:srgbClr val="FFFFFF"/>
                    </a:solidFill>
                  </a:tcPr>
                </a:tc>
                <a:extLst>
                  <a:ext uri="{0D108BD9-81ED-4DB2-BD59-A6C34878D82A}">
                    <a16:rowId xmlns:a16="http://schemas.microsoft.com/office/drawing/2014/main" val="10011"/>
                  </a:ext>
                </a:extLst>
              </a:tr>
              <a:tr h="259917">
                <a:tc>
                  <a:txBody>
                    <a:bodyPr/>
                    <a:lstStyle/>
                    <a:p>
                      <a:r>
                        <a:rPr sz="1050" b="0">
                          <a:solidFill>
                            <a:srgbClr val="415466"/>
                          </a:solidFill>
                        </a:rPr>
                        <a:t>Entropy coefficient</a:t>
                      </a:r>
                    </a:p>
                  </a:txBody>
                  <a:tcPr>
                    <a:solidFill>
                      <a:srgbClr val="FFFFFF"/>
                    </a:solidFill>
                  </a:tcPr>
                </a:tc>
                <a:tc>
                  <a:txBody>
                    <a:bodyPr/>
                    <a:lstStyle/>
                    <a:p>
                      <a:r>
                        <a:rPr sz="1050" b="0">
                          <a:solidFill>
                            <a:srgbClr val="415466"/>
                          </a:solidFill>
                        </a:rPr>
                        <a:t>0.01</a:t>
                      </a:r>
                    </a:p>
                  </a:txBody>
                  <a:tcPr>
                    <a:solidFill>
                      <a:srgbClr val="FFFFFF"/>
                    </a:solidFill>
                  </a:tcPr>
                </a:tc>
                <a:extLst>
                  <a:ext uri="{0D108BD9-81ED-4DB2-BD59-A6C34878D82A}">
                    <a16:rowId xmlns:a16="http://schemas.microsoft.com/office/drawing/2014/main" val="10012"/>
                  </a:ext>
                </a:extLst>
              </a:tr>
              <a:tr h="259917">
                <a:tc>
                  <a:txBody>
                    <a:bodyPr/>
                    <a:lstStyle/>
                    <a:p>
                      <a:r>
                        <a:rPr sz="1050" b="0">
                          <a:solidFill>
                            <a:srgbClr val="415466"/>
                          </a:solidFill>
                        </a:rPr>
                        <a:t>Value-loss coefficient</a:t>
                      </a:r>
                    </a:p>
                  </a:txBody>
                  <a:tcPr>
                    <a:solidFill>
                      <a:srgbClr val="FFFFFF"/>
                    </a:solidFill>
                  </a:tcPr>
                </a:tc>
                <a:tc>
                  <a:txBody>
                    <a:bodyPr/>
                    <a:lstStyle/>
                    <a:p>
                      <a:r>
                        <a:rPr sz="1050" b="0">
                          <a:solidFill>
                            <a:srgbClr val="415466"/>
                          </a:solidFill>
                        </a:rPr>
                        <a:t>0.50</a:t>
                      </a:r>
                    </a:p>
                  </a:txBody>
                  <a:tcPr>
                    <a:solidFill>
                      <a:srgbClr val="FFFFFF"/>
                    </a:solidFill>
                  </a:tcPr>
                </a:tc>
                <a:extLst>
                  <a:ext uri="{0D108BD9-81ED-4DB2-BD59-A6C34878D82A}">
                    <a16:rowId xmlns:a16="http://schemas.microsoft.com/office/drawing/2014/main" val="10013"/>
                  </a:ext>
                </a:extLst>
              </a:tr>
            </a:tbl>
          </a:graphicData>
        </a:graphic>
      </p:graphicFrame>
      <p:sp>
        <p:nvSpPr>
          <p:cNvPr id="11" name="slide3-source">
            <a:extLst>
              <a:ext uri="{FF2B5EF4-FFF2-40B4-BE49-F238E27FC236}">
                <a16:creationId xmlns:a16="http://schemas.microsoft.com/office/drawing/2014/main" id="{779E0984-960F-2D8D-B2A4-A9D357F72930}"/>
              </a:ext>
            </a:extLst>
          </p:cNvPr>
          <p:cNvSpPr>
            <a:spLocks noGrp="1"/>
          </p:cNvSpPr>
          <p:nvPr/>
        </p:nvSpPr>
        <p:spPr>
          <a:xfrm>
            <a:off x="443593" y="6024358"/>
            <a:ext cx="4004140" cy="159866"/>
          </a:xfrm>
          <a:prstGeom prst="rect">
            <a:avLst/>
          </a:prstGeom>
          <a:noFill/>
          <a:ln w="0">
            <a:noFill/>
            <a:prstDash val="solid"/>
          </a:ln>
        </p:spPr>
        <p:txBody>
          <a:bodyPr anchor="ctr"/>
          <a:lstStyle/>
          <a:p>
            <a:pPr algn="l">
              <a:buNone/>
              <a:defRPr sz="825" b="0">
                <a:solidFill>
                  <a:srgbClr val="77838C"/>
                </a:solidFill>
              </a:defRPr>
            </a:pPr>
            <a:r>
              <a:rPr sz="825" b="0">
                <a:solidFill>
                  <a:srgbClr val="77838C"/>
                </a:solidFill>
              </a:rPr>
              <a:t>Source: original IEEE-14 MAPPO baseline hyperparameters</a:t>
            </a:r>
          </a:p>
        </p:txBody>
      </p:sp>
      <p:sp>
        <p:nvSpPr>
          <p:cNvPr id="12" name="ZoneTexte 11">
            <a:extLst>
              <a:ext uri="{FF2B5EF4-FFF2-40B4-BE49-F238E27FC236}">
                <a16:creationId xmlns:a16="http://schemas.microsoft.com/office/drawing/2014/main" id="{E8085237-4A98-1100-32E8-BD1A1B971CF5}"/>
              </a:ext>
            </a:extLst>
          </p:cNvPr>
          <p:cNvSpPr>
            <a:spLocks noGrp="1"/>
          </p:cNvSpPr>
          <p:nvPr/>
        </p:nvSpPr>
        <p:spPr>
          <a:xfrm>
            <a:off x="1000837" y="4702499"/>
            <a:ext cx="7297309" cy="261610"/>
          </a:xfrm>
          <a:prstGeom prst="rect">
            <a:avLst/>
          </a:prstGeom>
          <a:noFill/>
        </p:spPr>
        <p:txBody>
          <a:bodyPr wrap="square">
            <a:spAutoFit/>
          </a:bodyPr>
          <a:lstStyle/>
          <a:p>
            <a:pPr algn="ctr">
              <a:buNone/>
            </a:pPr>
            <a:r>
              <a:rPr sz="1100" b="1" i="1">
                <a:latin typeface="Times New Roman"/>
                <a:ea typeface="Times New Roman"/>
                <a:cs typeface="Times New Roman"/>
              </a:rPr>
              <a:t>Table 2: original parameters of the baseline paper for MAPPO training</a:t>
            </a:r>
          </a:p>
        </p:txBody>
      </p:sp>
    </p:spTree>
    <p:extLst>
      <p:ext uri="{BB962C8B-B14F-4D97-AF65-F5344CB8AC3E}">
        <p14:creationId xmlns:p14="http://schemas.microsoft.com/office/powerpoint/2010/main" val="375139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6CE0B2-DC77-BF95-C7D7-4555FD7EA8A6}"/>
              </a:ext>
            </a:extLst>
          </p:cNvPr>
          <p:cNvSpPr>
            <a:spLocks noGrp="1"/>
          </p:cNvSpPr>
          <p:nvPr>
            <p:ph type="title"/>
          </p:nvPr>
        </p:nvSpPr>
        <p:spPr>
          <a:xfrm>
            <a:off x="904875" y="252828"/>
            <a:ext cx="7532115" cy="601301"/>
          </a:xfrm>
        </p:spPr>
        <p:txBody>
          <a:bodyPr>
            <a:normAutofit/>
          </a:bodyPr>
          <a:lstStyle/>
          <a:p>
            <a:r>
              <a:t>IEEE 14: Baseline, New Hyperparameters</a:t>
            </a:r>
          </a:p>
        </p:txBody>
      </p:sp>
      <p:sp>
        <p:nvSpPr>
          <p:cNvPr id="5" name="Espace réservé du numéro de diapositive 4">
            <a:extLst>
              <a:ext uri="{FF2B5EF4-FFF2-40B4-BE49-F238E27FC236}">
                <a16:creationId xmlns:a16="http://schemas.microsoft.com/office/drawing/2014/main" id="{5A0664C5-A31A-B317-7639-715439E0809C}"/>
              </a:ext>
            </a:extLst>
          </p:cNvPr>
          <p:cNvSpPr>
            <a:spLocks noGrp="1"/>
          </p:cNvSpPr>
          <p:nvPr>
            <p:ph type="sldNum" idx="12"/>
          </p:nvPr>
        </p:nvSpPr>
        <p:spPr/>
        <p:txBody>
          <a:bodyPr/>
          <a:lstStyle/>
          <a:p>
            <a:r>
              <a:t>8</a:t>
            </a:r>
          </a:p>
        </p:txBody>
      </p:sp>
      <p:pic>
        <p:nvPicPr>
          <p:cNvPr id="18" name="Picture 2"/>
          <p:cNvPicPr>
            <a:picLocks noChangeAspect="1"/>
          </p:cNvPicPr>
          <p:nvPr/>
        </p:nvPicPr>
        <p:blipFill>
          <a:blip r:embed="rId3"/>
          <a:srcRect/>
          <a:stretch>
            <a:fillRect/>
          </a:stretch>
        </p:blipFill>
        <p:spPr>
          <a:xfrm>
            <a:off x="158055" y="379734"/>
            <a:ext cx="587504" cy="326391"/>
          </a:xfrm>
          <a:prstGeom prst="rect">
            <a:avLst/>
          </a:prstGeom>
        </p:spPr>
      </p:pic>
      <p:sp>
        <p:nvSpPr>
          <p:cNvPr id="3" name="training-network-table-frame">
            <a:extLst>
              <a:ext uri="{FF2B5EF4-FFF2-40B4-BE49-F238E27FC236}">
                <a16:creationId xmlns:a16="http://schemas.microsoft.com/office/drawing/2014/main" id="{6D5872DE-B72B-114E-8406-62777918D4E7}"/>
              </a:ext>
            </a:extLst>
          </p:cNvPr>
          <p:cNvSpPr>
            <a:spLocks noGrp="1"/>
          </p:cNvSpPr>
          <p:nvPr/>
        </p:nvSpPr>
        <p:spPr>
          <a:xfrm>
            <a:off x="293794" y="1014127"/>
            <a:ext cx="4906187" cy="3123947"/>
          </a:xfrm>
          <a:prstGeom prst="roundRect">
            <a:avLst>
              <a:gd name="adj" fmla="val 2703"/>
            </a:avLst>
          </a:prstGeom>
          <a:solidFill>
            <a:srgbClr val="FBFCFD"/>
          </a:solidFill>
          <a:ln w="9525">
            <a:solidFill>
              <a:srgbClr val="DDE4E8"/>
            </a:solidFill>
            <a:prstDash val="solid"/>
          </a:ln>
        </p:spPr>
        <p:txBody>
          <a:bodyPr/>
          <a:lstStyle/>
          <a:p>
            <a:endParaRPr/>
          </a:p>
        </p:txBody>
      </p:sp>
      <p:graphicFrame>
        <p:nvGraphicFramePr>
          <p:cNvPr id="20" name="Tableau 8"/>
          <p:cNvGraphicFramePr/>
          <p:nvPr/>
        </p:nvGraphicFramePr>
        <p:xfrm>
          <a:off x="451807" y="1142579"/>
          <a:ext cx="4601870" cy="2858339"/>
        </p:xfrm>
        <a:graphic>
          <a:graphicData uri="http://schemas.openxmlformats.org/drawingml/2006/table">
            <a:tbl>
              <a:tblPr/>
              <a:tblGrid>
                <a:gridCol w="2399034">
                  <a:extLst>
                    <a:ext uri="{9D8B030D-6E8A-4147-A177-3AD203B41FA5}">
                      <a16:colId xmlns:a16="http://schemas.microsoft.com/office/drawing/2014/main" val="20000"/>
                    </a:ext>
                  </a:extLst>
                </a:gridCol>
                <a:gridCol w="1050692">
                  <a:extLst>
                    <a:ext uri="{9D8B030D-6E8A-4147-A177-3AD203B41FA5}">
                      <a16:colId xmlns:a16="http://schemas.microsoft.com/office/drawing/2014/main" val="20001"/>
                    </a:ext>
                  </a:extLst>
                </a:gridCol>
                <a:gridCol w="1152144">
                  <a:extLst>
                    <a:ext uri="{9D8B030D-6E8A-4147-A177-3AD203B41FA5}">
                      <a16:colId xmlns:a16="http://schemas.microsoft.com/office/drawing/2014/main" val="20002"/>
                    </a:ext>
                  </a:extLst>
                </a:gridCol>
              </a:tblGrid>
              <a:tr h="259849">
                <a:tc>
                  <a:txBody>
                    <a:bodyPr/>
                    <a:lstStyle/>
                    <a:p>
                      <a:r>
                        <a:rPr sz="1000" b="1">
                          <a:solidFill>
                            <a:srgbClr val="263641"/>
                          </a:solidFill>
                        </a:rPr>
                        <a:t>Hyperparameter</a:t>
                      </a:r>
                    </a:p>
                  </a:txBody>
                  <a:tcPr>
                    <a:solidFill>
                      <a:srgbClr val="F1F4F6"/>
                    </a:solidFill>
                  </a:tcPr>
                </a:tc>
                <a:tc>
                  <a:txBody>
                    <a:bodyPr/>
                    <a:lstStyle/>
                    <a:p>
                      <a:r>
                        <a:rPr sz="1000" b="1">
                          <a:solidFill>
                            <a:srgbClr val="263641"/>
                          </a:solidFill>
                        </a:rPr>
                        <a:t>New Value</a:t>
                      </a:r>
                    </a:p>
                  </a:txBody>
                  <a:tcPr>
                    <a:solidFill>
                      <a:srgbClr val="F1F4F6"/>
                    </a:solidFill>
                  </a:tcPr>
                </a:tc>
                <a:tc>
                  <a:txBody>
                    <a:bodyPr/>
                    <a:lstStyle/>
                    <a:p>
                      <a:r>
                        <a:rPr sz="1000" b="1">
                          <a:solidFill>
                            <a:srgbClr val="263641"/>
                          </a:solidFill>
                        </a:rPr>
                        <a:t>Paper Baseline</a:t>
                      </a:r>
                    </a:p>
                  </a:txBody>
                  <a:tcPr>
                    <a:solidFill>
                      <a:srgbClr val="F1F4F6"/>
                    </a:solidFill>
                  </a:tcPr>
                </a:tc>
                <a:extLst>
                  <a:ext uri="{0D108BD9-81ED-4DB2-BD59-A6C34878D82A}">
                    <a16:rowId xmlns:a16="http://schemas.microsoft.com/office/drawing/2014/main" val="10000"/>
                  </a:ext>
                </a:extLst>
              </a:tr>
              <a:tr h="259849">
                <a:tc gridSpan="3">
                  <a:txBody>
                    <a:bodyPr/>
                    <a:lstStyle/>
                    <a:p>
                      <a:r>
                        <a:rPr sz="1000" b="1">
                          <a:solidFill>
                            <a:srgbClr val="A75A24"/>
                          </a:solidFill>
                        </a:rPr>
                        <a:t>Environment</a:t>
                      </a:r>
                    </a:p>
                  </a:txBody>
                  <a:tcPr>
                    <a:solidFill>
                      <a:srgbClr val="BFD730">
                        <a:alpha val="20000"/>
                      </a:srgbClr>
                    </a:solidFill>
                  </a:tcPr>
                </a:tc>
                <a:tc hMerge="1">
                  <a:txBody>
                    <a:bodyPr/>
                    <a:lstStyle/>
                    <a:p>
                      <a:endParaRPr/>
                    </a:p>
                  </a:txBody>
                  <a:tcPr>
                    <a:solidFill>
                      <a:srgbClr val="FFFFFF"/>
                    </a:solidFill>
                  </a:tcPr>
                </a:tc>
                <a:tc hMerge="1">
                  <a:txBody>
                    <a:bodyPr/>
                    <a:lstStyle/>
                    <a:p>
                      <a:endParaRPr/>
                    </a:p>
                  </a:txBody>
                  <a:tcPr/>
                </a:tc>
                <a:extLst>
                  <a:ext uri="{0D108BD9-81ED-4DB2-BD59-A6C34878D82A}">
                    <a16:rowId xmlns:a16="http://schemas.microsoft.com/office/drawing/2014/main" val="10001"/>
                  </a:ext>
                </a:extLst>
              </a:tr>
              <a:tr h="259849">
                <a:tc>
                  <a:txBody>
                    <a:bodyPr/>
                    <a:lstStyle/>
                    <a:p>
                      <a:r>
                        <a:rPr sz="1000" b="0">
                          <a:solidFill>
                            <a:srgbClr val="415466"/>
                          </a:solidFill>
                        </a:rPr>
                        <a:t>n_envs (number parallel environment)</a:t>
                      </a:r>
                    </a:p>
                  </a:txBody>
                  <a:tcPr>
                    <a:solidFill>
                      <a:srgbClr val="FFFFFF"/>
                    </a:solidFill>
                  </a:tcPr>
                </a:tc>
                <a:tc>
                  <a:txBody>
                    <a:bodyPr/>
                    <a:lstStyle/>
                    <a:p>
                      <a:r>
                        <a:rPr sz="1000" b="0">
                          <a:solidFill>
                            <a:schemeClr val="tx1"/>
                          </a:solidFill>
                        </a:rPr>
                        <a:t>20</a:t>
                      </a:r>
                    </a:p>
                  </a:txBody>
                  <a:tcPr>
                    <a:solidFill>
                      <a:srgbClr val="FFFFFF"/>
                    </a:solidFill>
                  </a:tcPr>
                </a:tc>
                <a:tc>
                  <a:txBody>
                    <a:bodyPr/>
                    <a:lstStyle/>
                    <a:p>
                      <a:r>
                        <a:rPr sz="1000" b="0">
                          <a:solidFill>
                            <a:schemeClr val="tx1"/>
                          </a:solidFill>
                        </a:rPr>
                        <a:t>10</a:t>
                      </a:r>
                    </a:p>
                  </a:txBody>
                  <a:tcPr>
                    <a:solidFill>
                      <a:srgbClr val="FFFFFF"/>
                    </a:solidFill>
                  </a:tcPr>
                </a:tc>
                <a:extLst>
                  <a:ext uri="{0D108BD9-81ED-4DB2-BD59-A6C34878D82A}">
                    <a16:rowId xmlns:a16="http://schemas.microsoft.com/office/drawing/2014/main" val="10002"/>
                  </a:ext>
                </a:extLst>
              </a:tr>
              <a:tr h="259849">
                <a:tc gridSpan="3">
                  <a:txBody>
                    <a:bodyPr/>
                    <a:lstStyle/>
                    <a:p>
                      <a:r>
                        <a:rPr sz="1000" b="1">
                          <a:solidFill>
                            <a:srgbClr val="80579E"/>
                          </a:solidFill>
                        </a:rPr>
                        <a:t>PPO OPTIMIZATION</a:t>
                      </a:r>
                    </a:p>
                  </a:txBody>
                  <a:tcPr>
                    <a:solidFill>
                      <a:srgbClr val="7030A0">
                        <a:alpha val="9804"/>
                      </a:srgbClr>
                    </a:solidFill>
                  </a:tcPr>
                </a:tc>
                <a:tc hMerge="1">
                  <a:txBody>
                    <a:bodyPr/>
                    <a:lstStyle/>
                    <a:p>
                      <a:endParaRPr/>
                    </a:p>
                  </a:txBody>
                  <a:tcPr>
                    <a:solidFill>
                      <a:srgbClr val="FFFFFF"/>
                    </a:solidFill>
                  </a:tcPr>
                </a:tc>
                <a:tc hMerge="1">
                  <a:txBody>
                    <a:bodyPr/>
                    <a:lstStyle/>
                    <a:p>
                      <a:endParaRPr/>
                    </a:p>
                  </a:txBody>
                  <a:tcPr/>
                </a:tc>
                <a:extLst>
                  <a:ext uri="{0D108BD9-81ED-4DB2-BD59-A6C34878D82A}">
                    <a16:rowId xmlns:a16="http://schemas.microsoft.com/office/drawing/2014/main" val="10003"/>
                  </a:ext>
                </a:extLst>
              </a:tr>
              <a:tr h="259849">
                <a:tc>
                  <a:txBody>
                    <a:bodyPr/>
                    <a:lstStyle/>
                    <a:p>
                      <a:r>
                        <a:rPr sz="1000" b="0">
                          <a:solidFill>
                            <a:srgbClr val="415466"/>
                          </a:solidFill>
                        </a:rPr>
                        <a:t>Total time step</a:t>
                      </a:r>
                    </a:p>
                  </a:txBody>
                  <a:tcPr>
                    <a:solidFill>
                      <a:srgbClr val="FFFFFF"/>
                    </a:solidFill>
                  </a:tcPr>
                </a:tc>
                <a:tc>
                  <a:txBody>
                    <a:bodyPr/>
                    <a:lstStyle/>
                    <a:p>
                      <a:r>
                        <a:rPr sz="1000" b="0">
                          <a:solidFill>
                            <a:schemeClr val="tx1"/>
                          </a:solidFill>
                        </a:rPr>
                        <a:t>20,000,000</a:t>
                      </a:r>
                    </a:p>
                  </a:txBody>
                  <a:tcPr>
                    <a:solidFill>
                      <a:srgbClr val="FFFFFF"/>
                    </a:solidFill>
                  </a:tcPr>
                </a:tc>
                <a:tc>
                  <a:txBody>
                    <a:bodyPr/>
                    <a:lstStyle/>
                    <a:p>
                      <a:r>
                        <a:rPr sz="1000" b="0">
                          <a:solidFill>
                            <a:schemeClr val="tx1"/>
                          </a:solidFill>
                        </a:rPr>
                        <a:t>25,000,000</a:t>
                      </a:r>
                    </a:p>
                  </a:txBody>
                  <a:tcPr>
                    <a:solidFill>
                      <a:srgbClr val="FFFFFF"/>
                    </a:solidFill>
                  </a:tcPr>
                </a:tc>
                <a:extLst>
                  <a:ext uri="{0D108BD9-81ED-4DB2-BD59-A6C34878D82A}">
                    <a16:rowId xmlns:a16="http://schemas.microsoft.com/office/drawing/2014/main" val="10004"/>
                  </a:ext>
                </a:extLst>
              </a:tr>
              <a:tr h="259849">
                <a:tc>
                  <a:txBody>
                    <a:bodyPr/>
                    <a:lstStyle/>
                    <a:p>
                      <a:r>
                        <a:rPr sz="1000" b="0">
                          <a:solidFill>
                            <a:srgbClr val="415466"/>
                          </a:solidFill>
                        </a:rPr>
                        <a:t>Actor learning rate</a:t>
                      </a:r>
                    </a:p>
                  </a:txBody>
                  <a:tcPr>
                    <a:solidFill>
                      <a:srgbClr val="FFFFFF"/>
                    </a:solidFill>
                  </a:tcPr>
                </a:tc>
                <a:tc>
                  <a:txBody>
                    <a:bodyPr/>
                    <a:lstStyle/>
                    <a:p>
                      <a:r>
                        <a:rPr sz="1000" b="0">
                          <a:solidFill>
                            <a:srgbClr val="415466"/>
                          </a:solidFill>
                        </a:rPr>
                        <a:t>1e-4</a:t>
                      </a:r>
                    </a:p>
                  </a:txBody>
                  <a:tcPr>
                    <a:solidFill>
                      <a:srgbClr val="FFFFFF"/>
                    </a:solidFill>
                  </a:tcPr>
                </a:tc>
                <a:tc>
                  <a:txBody>
                    <a:bodyPr/>
                    <a:lstStyle/>
                    <a:p>
                      <a:r>
                        <a:rPr sz="1000" b="0">
                          <a:solidFill>
                            <a:srgbClr val="415466"/>
                          </a:solidFill>
                        </a:rPr>
                        <a:t>3e-5</a:t>
                      </a:r>
                    </a:p>
                  </a:txBody>
                  <a:tcPr>
                    <a:solidFill>
                      <a:srgbClr val="FFFFFF"/>
                    </a:solidFill>
                  </a:tcPr>
                </a:tc>
                <a:extLst>
                  <a:ext uri="{0D108BD9-81ED-4DB2-BD59-A6C34878D82A}">
                    <a16:rowId xmlns:a16="http://schemas.microsoft.com/office/drawing/2014/main" val="10005"/>
                  </a:ext>
                </a:extLst>
              </a:tr>
              <a:tr h="259849">
                <a:tc>
                  <a:txBody>
                    <a:bodyPr/>
                    <a:lstStyle/>
                    <a:p>
                      <a:r>
                        <a:rPr sz="1000" b="0">
                          <a:solidFill>
                            <a:srgbClr val="415466"/>
                          </a:solidFill>
                        </a:rPr>
                        <a:t>Critic architecture</a:t>
                      </a:r>
                    </a:p>
                  </a:txBody>
                  <a:tcPr>
                    <a:solidFill>
                      <a:srgbClr val="FFFFFF"/>
                    </a:solidFill>
                  </a:tcPr>
                </a:tc>
                <a:tc>
                  <a:txBody>
                    <a:bodyPr/>
                    <a:lstStyle/>
                    <a:p>
                      <a:r>
                        <a:rPr sz="1000" b="0">
                          <a:solidFill>
                            <a:srgbClr val="415466"/>
                          </a:solidFill>
                        </a:rPr>
                        <a:t>1e-4</a:t>
                      </a:r>
                    </a:p>
                  </a:txBody>
                  <a:tcPr>
                    <a:solidFill>
                      <a:srgbClr val="FFFFFF"/>
                    </a:solidFill>
                  </a:tcPr>
                </a:tc>
                <a:tc>
                  <a:txBody>
                    <a:bodyPr/>
                    <a:lstStyle/>
                    <a:p>
                      <a:r>
                        <a:rPr sz="1000" b="0">
                          <a:solidFill>
                            <a:srgbClr val="415466"/>
                          </a:solidFill>
                        </a:rPr>
                        <a:t>3e-5</a:t>
                      </a:r>
                    </a:p>
                  </a:txBody>
                  <a:tcPr>
                    <a:solidFill>
                      <a:srgbClr val="FFFFFF"/>
                    </a:solidFill>
                  </a:tcPr>
                </a:tc>
                <a:extLst>
                  <a:ext uri="{0D108BD9-81ED-4DB2-BD59-A6C34878D82A}">
                    <a16:rowId xmlns:a16="http://schemas.microsoft.com/office/drawing/2014/main" val="10006"/>
                  </a:ext>
                </a:extLst>
              </a:tr>
              <a:tr h="259849">
                <a:tc>
                  <a:txBody>
                    <a:bodyPr/>
                    <a:lstStyle/>
                    <a:p>
                      <a:r>
                        <a:rPr sz="1000" b="0">
                          <a:solidFill>
                            <a:srgbClr val="415466"/>
                          </a:solidFill>
                        </a:rPr>
                        <a:t>Gamma</a:t>
                      </a:r>
                    </a:p>
                  </a:txBody>
                  <a:tcPr>
                    <a:solidFill>
                      <a:srgbClr val="FFFFFF"/>
                    </a:solidFill>
                  </a:tcPr>
                </a:tc>
                <a:tc>
                  <a:txBody>
                    <a:bodyPr/>
                    <a:lstStyle/>
                    <a:p>
                      <a:r>
                        <a:rPr sz="1000" b="0">
                          <a:solidFill>
                            <a:srgbClr val="415466"/>
                          </a:solidFill>
                        </a:rPr>
                        <a:t>0.9</a:t>
                      </a:r>
                    </a:p>
                  </a:txBody>
                  <a:tcPr>
                    <a:solidFill>
                      <a:srgbClr val="FFFFFF"/>
                    </a:solidFill>
                  </a:tcPr>
                </a:tc>
                <a:tc>
                  <a:txBody>
                    <a:bodyPr/>
                    <a:lstStyle/>
                    <a:p>
                      <a:r>
                        <a:rPr sz="1000" b="0">
                          <a:solidFill>
                            <a:srgbClr val="415466"/>
                          </a:solidFill>
                        </a:rPr>
                        <a:t>0.99</a:t>
                      </a:r>
                    </a:p>
                  </a:txBody>
                  <a:tcPr>
                    <a:solidFill>
                      <a:srgbClr val="FFFFFF"/>
                    </a:solidFill>
                  </a:tcPr>
                </a:tc>
                <a:extLst>
                  <a:ext uri="{0D108BD9-81ED-4DB2-BD59-A6C34878D82A}">
                    <a16:rowId xmlns:a16="http://schemas.microsoft.com/office/drawing/2014/main" val="10007"/>
                  </a:ext>
                </a:extLst>
              </a:tr>
              <a:tr h="259849">
                <a:tc>
                  <a:txBody>
                    <a:bodyPr/>
                    <a:lstStyle/>
                    <a:p>
                      <a:r>
                        <a:rPr sz="1000" b="0">
                          <a:solidFill>
                            <a:srgbClr val="415466"/>
                          </a:solidFill>
                        </a:rPr>
                        <a:t>Update epochs</a:t>
                      </a:r>
                    </a:p>
                  </a:txBody>
                  <a:tcPr>
                    <a:solidFill>
                      <a:srgbClr val="FFFFFF"/>
                    </a:solidFill>
                  </a:tcPr>
                </a:tc>
                <a:tc>
                  <a:txBody>
                    <a:bodyPr/>
                    <a:lstStyle/>
                    <a:p>
                      <a:r>
                        <a:rPr sz="1000" b="0">
                          <a:solidFill>
                            <a:srgbClr val="415466"/>
                          </a:solidFill>
                        </a:rPr>
                        <a:t>10</a:t>
                      </a:r>
                    </a:p>
                  </a:txBody>
                  <a:tcPr>
                    <a:solidFill>
                      <a:srgbClr val="FFFFFF"/>
                    </a:solidFill>
                  </a:tcPr>
                </a:tc>
                <a:tc>
                  <a:txBody>
                    <a:bodyPr/>
                    <a:lstStyle/>
                    <a:p>
                      <a:r>
                        <a:rPr sz="1000" b="0">
                          <a:solidFill>
                            <a:srgbClr val="415466"/>
                          </a:solidFill>
                        </a:rPr>
                        <a:t>80</a:t>
                      </a:r>
                    </a:p>
                  </a:txBody>
                  <a:tcPr>
                    <a:solidFill>
                      <a:srgbClr val="FFFFFF"/>
                    </a:solidFill>
                  </a:tcPr>
                </a:tc>
                <a:extLst>
                  <a:ext uri="{0D108BD9-81ED-4DB2-BD59-A6C34878D82A}">
                    <a16:rowId xmlns:a16="http://schemas.microsoft.com/office/drawing/2014/main" val="10008"/>
                  </a:ext>
                </a:extLst>
              </a:tr>
              <a:tr h="259849">
                <a:tc>
                  <a:txBody>
                    <a:bodyPr/>
                    <a:lstStyle/>
                    <a:p>
                      <a:r>
                        <a:rPr sz="1000" b="0">
                          <a:solidFill>
                            <a:srgbClr val="415466"/>
                          </a:solidFill>
                        </a:rPr>
                        <a:t>Minibatches</a:t>
                      </a:r>
                    </a:p>
                  </a:txBody>
                  <a:tcPr>
                    <a:solidFill>
                      <a:srgbClr val="FFFFFF"/>
                    </a:solidFill>
                  </a:tcPr>
                </a:tc>
                <a:tc>
                  <a:txBody>
                    <a:bodyPr/>
                    <a:lstStyle/>
                    <a:p>
                      <a:r>
                        <a:rPr sz="1000" b="0">
                          <a:solidFill>
                            <a:srgbClr val="415466"/>
                          </a:solidFill>
                        </a:rPr>
                        <a:t>16</a:t>
                      </a:r>
                    </a:p>
                  </a:txBody>
                  <a:tcPr>
                    <a:solidFill>
                      <a:srgbClr val="FFFFFF"/>
                    </a:solidFill>
                  </a:tcPr>
                </a:tc>
                <a:tc>
                  <a:txBody>
                    <a:bodyPr/>
                    <a:lstStyle/>
                    <a:p>
                      <a:r>
                        <a:rPr sz="1000" b="0">
                          <a:solidFill>
                            <a:srgbClr val="415466"/>
                          </a:solidFill>
                        </a:rPr>
                        <a:t>4</a:t>
                      </a:r>
                    </a:p>
                  </a:txBody>
                  <a:tcPr>
                    <a:solidFill>
                      <a:srgbClr val="FFFFFF"/>
                    </a:solidFill>
                  </a:tcPr>
                </a:tc>
                <a:extLst>
                  <a:ext uri="{0D108BD9-81ED-4DB2-BD59-A6C34878D82A}">
                    <a16:rowId xmlns:a16="http://schemas.microsoft.com/office/drawing/2014/main" val="10009"/>
                  </a:ext>
                </a:extLst>
              </a:tr>
              <a:tr h="259849">
                <a:tc>
                  <a:txBody>
                    <a:bodyPr/>
                    <a:lstStyle/>
                    <a:p>
                      <a:r>
                        <a:rPr sz="1000" b="0">
                          <a:solidFill>
                            <a:srgbClr val="415466"/>
                          </a:solidFill>
                        </a:rPr>
                        <a:t>Maximum gradient norm</a:t>
                      </a:r>
                    </a:p>
                  </a:txBody>
                  <a:tcPr>
                    <a:solidFill>
                      <a:srgbClr val="FFFFFF"/>
                    </a:solidFill>
                  </a:tcPr>
                </a:tc>
                <a:tc>
                  <a:txBody>
                    <a:bodyPr/>
                    <a:lstStyle/>
                    <a:p>
                      <a:r>
                        <a:rPr sz="1000" b="0">
                          <a:solidFill>
                            <a:srgbClr val="415466"/>
                          </a:solidFill>
                        </a:rPr>
                        <a:t>1.0</a:t>
                      </a:r>
                    </a:p>
                  </a:txBody>
                  <a:tcPr>
                    <a:solidFill>
                      <a:srgbClr val="FFFFFF"/>
                    </a:solidFill>
                  </a:tcPr>
                </a:tc>
                <a:tc>
                  <a:txBody>
                    <a:bodyPr/>
                    <a:lstStyle/>
                    <a:p>
                      <a:r>
                        <a:rPr sz="1000" b="0">
                          <a:solidFill>
                            <a:srgbClr val="415466"/>
                          </a:solidFill>
                        </a:rPr>
                        <a:t>10.0</a:t>
                      </a:r>
                    </a:p>
                  </a:txBody>
                  <a:tcPr>
                    <a:solidFill>
                      <a:srgbClr val="FFFFFF"/>
                    </a:solidFill>
                  </a:tcPr>
                </a:tc>
                <a:extLst>
                  <a:ext uri="{0D108BD9-81ED-4DB2-BD59-A6C34878D82A}">
                    <a16:rowId xmlns:a16="http://schemas.microsoft.com/office/drawing/2014/main" val="10010"/>
                  </a:ext>
                </a:extLst>
              </a:tr>
            </a:tbl>
          </a:graphicData>
        </a:graphic>
      </p:graphicFrame>
      <p:sp>
        <p:nvSpPr>
          <p:cNvPr id="11" name="slide3-source">
            <a:extLst>
              <a:ext uri="{FF2B5EF4-FFF2-40B4-BE49-F238E27FC236}">
                <a16:creationId xmlns:a16="http://schemas.microsoft.com/office/drawing/2014/main" id="{D36EFE27-96F7-5C96-76E7-6D01DAD19BAF}"/>
              </a:ext>
            </a:extLst>
          </p:cNvPr>
          <p:cNvSpPr>
            <a:spLocks noGrp="1"/>
          </p:cNvSpPr>
          <p:nvPr/>
        </p:nvSpPr>
        <p:spPr>
          <a:xfrm>
            <a:off x="443593" y="6024358"/>
            <a:ext cx="4004140" cy="159866"/>
          </a:xfrm>
          <a:prstGeom prst="rect">
            <a:avLst/>
          </a:prstGeom>
          <a:noFill/>
          <a:ln w="0">
            <a:noFill/>
            <a:prstDash val="solid"/>
          </a:ln>
        </p:spPr>
        <p:txBody>
          <a:bodyPr anchor="ctr"/>
          <a:lstStyle/>
          <a:p>
            <a:pPr algn="l">
              <a:buNone/>
              <a:defRPr sz="825" b="0">
                <a:solidFill>
                  <a:srgbClr val="77838C"/>
                </a:solidFill>
              </a:defRPr>
            </a:pPr>
            <a:r>
              <a:rPr sz="825" b="0">
                <a:solidFill>
                  <a:srgbClr val="77838C"/>
                </a:solidFill>
              </a:rPr>
              <a:t>Source: original IEEE-14 MAPPO baseline hyperparameters</a:t>
            </a:r>
          </a:p>
        </p:txBody>
      </p:sp>
      <p:sp>
        <p:nvSpPr>
          <p:cNvPr id="6" name="ZoneTexte 5">
            <a:extLst>
              <a:ext uri="{FF2B5EF4-FFF2-40B4-BE49-F238E27FC236}">
                <a16:creationId xmlns:a16="http://schemas.microsoft.com/office/drawing/2014/main" id="{5356D57D-B1F9-F9B7-28D7-C6729FBABBCA}"/>
              </a:ext>
            </a:extLst>
          </p:cNvPr>
          <p:cNvSpPr>
            <a:spLocks noGrp="1"/>
          </p:cNvSpPr>
          <p:nvPr/>
        </p:nvSpPr>
        <p:spPr>
          <a:xfrm>
            <a:off x="293794" y="4138074"/>
            <a:ext cx="4906187" cy="261610"/>
          </a:xfrm>
          <a:prstGeom prst="rect">
            <a:avLst/>
          </a:prstGeom>
          <a:noFill/>
        </p:spPr>
        <p:txBody>
          <a:bodyPr wrap="square">
            <a:spAutoFit/>
          </a:bodyPr>
          <a:lstStyle/>
          <a:p>
            <a:pPr algn="ctr">
              <a:buNone/>
            </a:pPr>
            <a:r>
              <a:rPr sz="1100" b="1" i="1">
                <a:latin typeface="Times New Roman"/>
                <a:ea typeface="Times New Roman"/>
                <a:cs typeface="Times New Roman"/>
              </a:rPr>
              <a:t>Table 3: new hyperparameters for MAPPO training </a:t>
            </a:r>
          </a:p>
        </p:txBody>
      </p:sp>
      <p:sp>
        <p:nvSpPr>
          <p:cNvPr id="13" name="ZoneTexte 12">
            <a:extLst>
              <a:ext uri="{FF2B5EF4-FFF2-40B4-BE49-F238E27FC236}">
                <a16:creationId xmlns:a16="http://schemas.microsoft.com/office/drawing/2014/main" id="{F26CE563-2BDA-4FF4-C2FA-4A90B4AD8825}"/>
              </a:ext>
            </a:extLst>
          </p:cNvPr>
          <p:cNvSpPr>
            <a:spLocks noGrp="1"/>
          </p:cNvSpPr>
          <p:nvPr/>
        </p:nvSpPr>
        <p:spPr>
          <a:xfrm>
            <a:off x="5630160" y="1448036"/>
            <a:ext cx="3220046" cy="2247424"/>
          </a:xfrm>
          <a:prstGeom prst="roundRect">
            <a:avLst/>
          </a:prstGeom>
          <a:solidFill>
            <a:srgbClr val="FEC9CC">
              <a:alpha val="20000"/>
            </a:srgbClr>
          </a:solidFill>
          <a:ln w="9525"/>
        </p:spPr>
        <p:style>
          <a:lnRef idx="2">
            <a:schemeClr val="accent1"/>
          </a:lnRef>
          <a:fillRef idx="1">
            <a:schemeClr val="lt1"/>
          </a:fillRef>
          <a:effectRef idx="0">
            <a:schemeClr val="accent1"/>
          </a:effectRef>
          <a:fontRef idx="minor">
            <a:schemeClr val="dk1"/>
          </a:fontRef>
        </p:style>
        <p:txBody>
          <a:bodyPr wrap="square">
            <a:spAutoFit/>
          </a:bodyPr>
          <a:lstStyle/>
          <a:p>
            <a:pPr>
              <a:buClr>
                <a:schemeClr val="accent1"/>
              </a:buClr>
              <a:buNone/>
            </a:pPr>
            <a:r>
              <a:rPr sz="1400" b="1" u="sng" dirty="0"/>
              <a:t>Structural changes</a:t>
            </a:r>
          </a:p>
          <a:p>
            <a:pPr marL="628650" indent="-285750">
              <a:buClr>
                <a:schemeClr val="accent1"/>
              </a:buClr>
              <a:buFont typeface="Wingdings"/>
              <a:buChar char="§"/>
            </a:pPr>
            <a:endParaRPr sz="1400" b="1" u="sng" dirty="0"/>
          </a:p>
          <a:p>
            <a:pPr marL="628650" indent="-285750">
              <a:buClr>
                <a:schemeClr val="accent1"/>
              </a:buClr>
              <a:buFont typeface="Wingdings"/>
              <a:buChar char="§"/>
            </a:pPr>
            <a:r>
              <a:rPr sz="1400" dirty="0"/>
              <a:t>Reward Normalization (how does it work ?)</a:t>
            </a:r>
          </a:p>
          <a:p>
            <a:pPr marL="628650" indent="-285750">
              <a:buClr>
                <a:schemeClr val="accent1"/>
              </a:buClr>
              <a:buFont typeface="Wingdings"/>
              <a:buChar char="§"/>
            </a:pPr>
            <a:r>
              <a:rPr sz="1400" dirty="0"/>
              <a:t>Do-Nothing initialization prior</a:t>
            </a:r>
          </a:p>
          <a:p>
            <a:pPr marL="628650" indent="-285750">
              <a:buClr>
                <a:schemeClr val="accent1"/>
              </a:buClr>
              <a:buFont typeface="Wingdings"/>
              <a:buChar char="§"/>
            </a:pPr>
            <a:r>
              <a:rPr sz="1400" dirty="0"/>
              <a:t>1 critic update per batch instead of </a:t>
            </a:r>
            <a:r>
              <a:rPr sz="1400" dirty="0" err="1"/>
              <a:t>n_agent</a:t>
            </a:r>
            <a:endParaRPr sz="1400" dirty="0"/>
          </a:p>
          <a:p>
            <a:pPr marL="628650" indent="-285750">
              <a:buClr>
                <a:schemeClr val="accent1"/>
              </a:buClr>
              <a:buFont typeface="Wingdings"/>
              <a:buChar char="§"/>
            </a:pPr>
            <a:r>
              <a:rPr sz="1400" dirty="0"/>
              <a:t>Extra shaping rewards ???</a:t>
            </a:r>
          </a:p>
        </p:txBody>
      </p:sp>
    </p:spTree>
    <p:extLst>
      <p:ext uri="{BB962C8B-B14F-4D97-AF65-F5344CB8AC3E}">
        <p14:creationId xmlns:p14="http://schemas.microsoft.com/office/powerpoint/2010/main" val="563722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1C4B46-6311-755E-8A76-11FA60DF0081}"/>
              </a:ext>
            </a:extLst>
          </p:cNvPr>
          <p:cNvSpPr>
            <a:spLocks noGrp="1"/>
          </p:cNvSpPr>
          <p:nvPr>
            <p:ph type="title"/>
          </p:nvPr>
        </p:nvSpPr>
        <p:spPr>
          <a:xfrm>
            <a:off x="904875" y="252828"/>
            <a:ext cx="7532115" cy="601301"/>
          </a:xfrm>
        </p:spPr>
        <p:txBody>
          <a:bodyPr>
            <a:normAutofit/>
          </a:bodyPr>
          <a:lstStyle/>
          <a:p>
            <a:r>
              <a:t>IEEE 14: Baseline, Results</a:t>
            </a:r>
          </a:p>
        </p:txBody>
      </p:sp>
      <p:sp>
        <p:nvSpPr>
          <p:cNvPr id="5" name="Espace réservé du numéro de diapositive 4">
            <a:extLst>
              <a:ext uri="{FF2B5EF4-FFF2-40B4-BE49-F238E27FC236}">
                <a16:creationId xmlns:a16="http://schemas.microsoft.com/office/drawing/2014/main" id="{C025C3BF-613C-FFBB-7690-00D4D28A0950}"/>
              </a:ext>
            </a:extLst>
          </p:cNvPr>
          <p:cNvSpPr>
            <a:spLocks noGrp="1"/>
          </p:cNvSpPr>
          <p:nvPr>
            <p:ph type="sldNum" idx="12"/>
          </p:nvPr>
        </p:nvSpPr>
        <p:spPr/>
        <p:txBody>
          <a:bodyPr/>
          <a:lstStyle/>
          <a:p>
            <a:r>
              <a:t>8</a:t>
            </a:r>
          </a:p>
        </p:txBody>
      </p:sp>
      <p:pic>
        <p:nvPicPr>
          <p:cNvPr id="14" name="Image 7"/>
          <p:cNvPicPr>
            <a:picLocks noChangeAspect="1"/>
          </p:cNvPicPr>
          <p:nvPr/>
        </p:nvPicPr>
        <p:blipFill>
          <a:blip r:embed="rId3"/>
          <a:srcRect t="8482"/>
          <a:stretch>
            <a:fillRect/>
          </a:stretch>
        </p:blipFill>
        <p:spPr>
          <a:xfrm>
            <a:off x="295626" y="942872"/>
            <a:ext cx="8552747" cy="3453687"/>
          </a:xfrm>
          <a:prstGeom prst="rect">
            <a:avLst/>
          </a:prstGeom>
        </p:spPr>
      </p:pic>
      <p:sp>
        <p:nvSpPr>
          <p:cNvPr id="9" name="ZoneTexte 8">
            <a:extLst>
              <a:ext uri="{FF2B5EF4-FFF2-40B4-BE49-F238E27FC236}">
                <a16:creationId xmlns:a16="http://schemas.microsoft.com/office/drawing/2014/main" id="{A6EF4B83-36F1-3F91-AE8E-9879D34EC013}"/>
              </a:ext>
            </a:extLst>
          </p:cNvPr>
          <p:cNvSpPr>
            <a:spLocks noGrp="1"/>
          </p:cNvSpPr>
          <p:nvPr/>
        </p:nvSpPr>
        <p:spPr>
          <a:xfrm>
            <a:off x="295626" y="4396560"/>
            <a:ext cx="8651680" cy="261610"/>
          </a:xfrm>
          <a:prstGeom prst="rect">
            <a:avLst/>
          </a:prstGeom>
          <a:noFill/>
        </p:spPr>
        <p:txBody>
          <a:bodyPr wrap="square">
            <a:spAutoFit/>
          </a:bodyPr>
          <a:lstStyle/>
          <a:p>
            <a:pPr algn="ctr">
              <a:buNone/>
            </a:pPr>
            <a:r>
              <a:rPr sz="1100" b="1" i="1">
                <a:latin typeface="Times New Roman"/>
                <a:ea typeface="Times New Roman"/>
                <a:cs typeface="Times New Roman"/>
              </a:rPr>
              <a:t>Fig 2: Episodic survival during trainin of the paper baseline vs our baselines with new hyperparameter and structure</a:t>
            </a:r>
          </a:p>
        </p:txBody>
      </p:sp>
      <p:pic>
        <p:nvPicPr>
          <p:cNvPr id="16" name="Picture 2"/>
          <p:cNvPicPr>
            <a:picLocks noChangeAspect="1"/>
          </p:cNvPicPr>
          <p:nvPr/>
        </p:nvPicPr>
        <p:blipFill>
          <a:blip r:embed="rId4"/>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3972167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2187C4-56DF-7108-BD9C-65FC9DD82D58}"/>
              </a:ext>
            </a:extLst>
          </p:cNvPr>
          <p:cNvSpPr>
            <a:spLocks noGrp="1"/>
          </p:cNvSpPr>
          <p:nvPr>
            <p:ph type="title"/>
          </p:nvPr>
        </p:nvSpPr>
        <p:spPr>
          <a:xfrm>
            <a:off x="904875" y="252828"/>
            <a:ext cx="7532115" cy="601301"/>
          </a:xfrm>
        </p:spPr>
        <p:txBody>
          <a:bodyPr>
            <a:normAutofit/>
          </a:bodyPr>
          <a:lstStyle/>
          <a:p>
            <a:r>
              <a:t>IEEE 14: Graph variations, structure</a:t>
            </a:r>
          </a:p>
        </p:txBody>
      </p:sp>
      <p:sp>
        <p:nvSpPr>
          <p:cNvPr id="5" name="Espace réservé du numéro de diapositive 4">
            <a:extLst>
              <a:ext uri="{FF2B5EF4-FFF2-40B4-BE49-F238E27FC236}">
                <a16:creationId xmlns:a16="http://schemas.microsoft.com/office/drawing/2014/main" id="{2701FA93-E4C4-035F-3BEE-7A685B206F69}"/>
              </a:ext>
            </a:extLst>
          </p:cNvPr>
          <p:cNvSpPr>
            <a:spLocks noGrp="1"/>
          </p:cNvSpPr>
          <p:nvPr>
            <p:ph type="sldNum" idx="12"/>
          </p:nvPr>
        </p:nvSpPr>
        <p:spPr/>
        <p:txBody>
          <a:bodyPr/>
          <a:lstStyle/>
          <a:p>
            <a:r>
              <a:t>8</a:t>
            </a:r>
          </a:p>
        </p:txBody>
      </p:sp>
      <p:pic>
        <p:nvPicPr>
          <p:cNvPr id="10" name="Picture 2"/>
          <p:cNvPicPr>
            <a:picLocks noChangeAspect="1"/>
          </p:cNvPicPr>
          <p:nvPr/>
        </p:nvPicPr>
        <p:blipFill>
          <a:blip r:embed="rId3"/>
          <a:srcRect/>
          <a:stretch>
            <a:fillRect/>
          </a:stretch>
        </p:blipFill>
        <p:spPr>
          <a:xfrm>
            <a:off x="158055" y="379734"/>
            <a:ext cx="587504" cy="326391"/>
          </a:xfrm>
          <a:prstGeom prst="rect">
            <a:avLst/>
          </a:prstGeom>
        </p:spPr>
      </p:pic>
      <p:pic>
        <p:nvPicPr>
          <p:cNvPr id="11" name="Image 5140"/>
          <p:cNvPicPr>
            <a:picLocks noChangeAspect="1"/>
          </p:cNvPicPr>
          <p:nvPr/>
        </p:nvPicPr>
        <p:blipFill>
          <a:blip r:embed="rId4"/>
          <a:stretch>
            <a:fillRect/>
          </a:stretch>
        </p:blipFill>
        <p:spPr>
          <a:xfrm>
            <a:off x="160212" y="720681"/>
            <a:ext cx="8823575" cy="4169991"/>
          </a:xfrm>
          <a:prstGeom prst="rect">
            <a:avLst/>
          </a:prstGeom>
        </p:spPr>
      </p:pic>
    </p:spTree>
    <p:extLst>
      <p:ext uri="{BB962C8B-B14F-4D97-AF65-F5344CB8AC3E}">
        <p14:creationId xmlns:p14="http://schemas.microsoft.com/office/powerpoint/2010/main" val="98147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p:cNvPicPr>
            <a:picLocks noChangeAspect="1"/>
          </p:cNvPicPr>
          <p:nvPr/>
        </p:nvPicPr>
        <p:blipFill>
          <a:blip r:embed="rId3"/>
          <a:srcRect/>
          <a:stretch>
            <a:fillRect/>
          </a:stretch>
        </p:blipFill>
        <p:spPr>
          <a:xfrm>
            <a:off x="158055" y="379734"/>
            <a:ext cx="587504" cy="326391"/>
          </a:xfrm>
          <a:prstGeom prst="rect">
            <a:avLst/>
          </a:prstGeom>
        </p:spPr>
      </p:pic>
      <p:sp>
        <p:nvSpPr>
          <p:cNvPr id="10" name="training-network-table-frame">
            <a:extLst>
              <a:ext uri="{FF2B5EF4-FFF2-40B4-BE49-F238E27FC236}">
                <a16:creationId xmlns:a16="http://schemas.microsoft.com/office/drawing/2014/main" id="{7F9EEECA-031F-23BC-9421-F14BA558B315}"/>
              </a:ext>
            </a:extLst>
          </p:cNvPr>
          <p:cNvSpPr>
            <a:spLocks noGrp="1"/>
          </p:cNvSpPr>
          <p:nvPr/>
        </p:nvSpPr>
        <p:spPr>
          <a:xfrm>
            <a:off x="707010" y="640081"/>
            <a:ext cx="7924228" cy="4068973"/>
          </a:xfrm>
          <a:prstGeom prst="roundRect">
            <a:avLst>
              <a:gd name="adj" fmla="val 2703"/>
            </a:avLst>
          </a:prstGeom>
          <a:solidFill>
            <a:srgbClr val="FBFCFD"/>
          </a:solidFill>
          <a:ln w="9525">
            <a:solidFill>
              <a:srgbClr val="DDE4E8"/>
            </a:solidFill>
            <a:prstDash val="solid"/>
          </a:ln>
        </p:spPr>
        <p:txBody>
          <a:bodyPr/>
          <a:lstStyle/>
          <a:p>
            <a:endParaRPr/>
          </a:p>
        </p:txBody>
      </p:sp>
      <p:sp>
        <p:nvSpPr>
          <p:cNvPr id="2" name="Titre 1">
            <a:extLst>
              <a:ext uri="{FF2B5EF4-FFF2-40B4-BE49-F238E27FC236}">
                <a16:creationId xmlns:a16="http://schemas.microsoft.com/office/drawing/2014/main" id="{9D9612A4-0B12-1517-06D3-E39843A07631}"/>
              </a:ext>
            </a:extLst>
          </p:cNvPr>
          <p:cNvSpPr>
            <a:spLocks noGrp="1"/>
          </p:cNvSpPr>
          <p:nvPr>
            <p:ph type="title"/>
          </p:nvPr>
        </p:nvSpPr>
        <p:spPr>
          <a:xfrm>
            <a:off x="904875" y="252828"/>
            <a:ext cx="7532115" cy="601301"/>
          </a:xfrm>
        </p:spPr>
        <p:txBody>
          <a:bodyPr>
            <a:normAutofit/>
          </a:bodyPr>
          <a:lstStyle/>
          <a:p>
            <a:r>
              <a:t>Observation features</a:t>
            </a:r>
          </a:p>
        </p:txBody>
      </p:sp>
      <p:sp>
        <p:nvSpPr>
          <p:cNvPr id="5" name="Espace réservé du numéro de diapositive 4">
            <a:extLst>
              <a:ext uri="{FF2B5EF4-FFF2-40B4-BE49-F238E27FC236}">
                <a16:creationId xmlns:a16="http://schemas.microsoft.com/office/drawing/2014/main" id="{249F4045-02EE-BC22-914F-19B7E3ADE5B6}"/>
              </a:ext>
            </a:extLst>
          </p:cNvPr>
          <p:cNvSpPr>
            <a:spLocks noGrp="1"/>
          </p:cNvSpPr>
          <p:nvPr>
            <p:ph type="sldNum" idx="12"/>
          </p:nvPr>
        </p:nvSpPr>
        <p:spPr/>
        <p:txBody>
          <a:bodyPr/>
          <a:lstStyle/>
          <a:p>
            <a:r>
              <a:t>8</a:t>
            </a:r>
          </a:p>
        </p:txBody>
      </p:sp>
      <p:graphicFrame>
        <p:nvGraphicFramePr>
          <p:cNvPr id="17" name="Tableau 5"/>
          <p:cNvGraphicFramePr/>
          <p:nvPr/>
        </p:nvGraphicFramePr>
        <p:xfrm>
          <a:off x="903066" y="788504"/>
          <a:ext cx="7532115" cy="3790119"/>
        </p:xfrm>
        <a:graphic>
          <a:graphicData uri="http://schemas.openxmlformats.org/drawingml/2006/table">
            <a:tbl>
              <a:tblPr>
                <a:tableStyleId>{9D7B26C5-4107-4FEC-AEDC-1716B250A1EF}</a:tableStyleId>
              </a:tblPr>
              <a:tblGrid>
                <a:gridCol w="1964690">
                  <a:extLst>
                    <a:ext uri="{9D8B030D-6E8A-4147-A177-3AD203B41FA5}">
                      <a16:colId xmlns:a16="http://schemas.microsoft.com/office/drawing/2014/main" val="20000"/>
                    </a:ext>
                  </a:extLst>
                </a:gridCol>
                <a:gridCol w="3056720">
                  <a:extLst>
                    <a:ext uri="{9D8B030D-6E8A-4147-A177-3AD203B41FA5}">
                      <a16:colId xmlns:a16="http://schemas.microsoft.com/office/drawing/2014/main" val="20001"/>
                    </a:ext>
                  </a:extLst>
                </a:gridCol>
                <a:gridCol w="2510705">
                  <a:extLst>
                    <a:ext uri="{9D8B030D-6E8A-4147-A177-3AD203B41FA5}">
                      <a16:colId xmlns:a16="http://schemas.microsoft.com/office/drawing/2014/main" val="20002"/>
                    </a:ext>
                  </a:extLst>
                </a:gridCol>
              </a:tblGrid>
              <a:tr h="223732">
                <a:tc>
                  <a:txBody>
                    <a:bodyPr/>
                    <a:lstStyle/>
                    <a:p>
                      <a:pPr>
                        <a:buNone/>
                      </a:pPr>
                      <a:r>
                        <a:rPr sz="1150" b="1"/>
                        <a:t>Feature category</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b="1"/>
                        <a:t>Observation variables</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b="1"/>
                        <a:t>Graph feature attribution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extLst>
                  <a:ext uri="{0D108BD9-81ED-4DB2-BD59-A6C34878D82A}">
                    <a16:rowId xmlns:a16="http://schemas.microsoft.com/office/drawing/2014/main" val="10000"/>
                  </a:ext>
                </a:extLst>
              </a:tr>
              <a:tr h="223732">
                <a:tc>
                  <a:txBody>
                    <a:bodyPr/>
                    <a:lstStyle/>
                    <a:p>
                      <a:pPr>
                        <a:buNone/>
                      </a:pPr>
                      <a:r>
                        <a:rPr sz="1150" b="1"/>
                        <a:t>Generation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gen_p, gen_theta</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Node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01"/>
                  </a:ext>
                </a:extLst>
              </a:tr>
              <a:tr h="223732">
                <a:tc>
                  <a:txBody>
                    <a:bodyPr/>
                    <a:lstStyle/>
                    <a:p>
                      <a:pPr>
                        <a:buNone/>
                      </a:pPr>
                      <a:r>
                        <a:rPr sz="1150" b="1"/>
                        <a:t>Demand</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load_p, load_theta</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Node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02"/>
                  </a:ext>
                </a:extLst>
              </a:tr>
              <a:tr h="223732">
                <a:tc>
                  <a:txBody>
                    <a:bodyPr/>
                    <a:lstStyle/>
                    <a:p>
                      <a:pPr>
                        <a:buNone/>
                      </a:pPr>
                      <a:r>
                        <a:rPr sz="1150" b="1"/>
                        <a:t>Line loading</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rho</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Edge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03"/>
                  </a:ext>
                </a:extLst>
              </a:tr>
              <a:tr h="223732">
                <a:tc>
                  <a:txBody>
                    <a:bodyPr/>
                    <a:lstStyle/>
                    <a:p>
                      <a:pPr>
                        <a:buNone/>
                      </a:pPr>
                      <a:r>
                        <a:rPr sz="1150" b="1"/>
                        <a:t>Line status</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line_status</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Edge + mask</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04"/>
                  </a:ext>
                </a:extLst>
              </a:tr>
              <a:tr h="223732">
                <a:tc>
                  <a:txBody>
                    <a:bodyPr/>
                    <a:lstStyle/>
                    <a:p>
                      <a:pPr>
                        <a:buNone/>
                      </a:pPr>
                      <a:r>
                        <a:rPr sz="1150" b="1"/>
                        <a:t>Overload duration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timestep_overflow</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Edge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05"/>
                  </a:ext>
                </a:extLst>
              </a:tr>
              <a:tr h="227872">
                <a:tc>
                  <a:txBody>
                    <a:bodyPr/>
                    <a:lstStyle/>
                    <a:p>
                      <a:pPr>
                        <a:buNone/>
                      </a:pPr>
                      <a:r>
                        <a:rPr sz="1150" b="1"/>
                        <a:t>Line cooldown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time_before_cooldown_line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Edge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06"/>
                  </a:ext>
                </a:extLst>
              </a:tr>
              <a:tr h="227872">
                <a:tc>
                  <a:txBody>
                    <a:bodyPr/>
                    <a:lstStyle/>
                    <a:p>
                      <a:pPr>
                        <a:buNone/>
                      </a:pPr>
                      <a:r>
                        <a:rPr sz="1150" b="1"/>
                        <a:t>Substation cooldown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time_before_cooldown_sub</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Node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07"/>
                  </a:ext>
                </a:extLst>
              </a:tr>
              <a:tr h="223732">
                <a:tc>
                  <a:txBody>
                    <a:bodyPr/>
                    <a:lstStyle/>
                    <a:p>
                      <a:pPr>
                        <a:buNone/>
                      </a:pPr>
                      <a:r>
                        <a:rPr sz="1150" b="1"/>
                        <a:t>Topology</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topo_vect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Busbar nodes + edge mask</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08"/>
                  </a:ext>
                </a:extLst>
              </a:tr>
              <a:tr h="426343">
                <a:tc>
                  <a:txBody>
                    <a:bodyPr/>
                    <a:lstStyle/>
                    <a:p>
                      <a:pPr>
                        <a:buNone/>
                      </a:pPr>
                      <a:r>
                        <a:rPr sz="1150" b="1"/>
                        <a:t>Maintenance forecast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time_next_maintenance, duration_next_maintenance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Edge (for WCCI36)</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09"/>
                  </a:ext>
                </a:extLst>
              </a:tr>
              <a:tr h="557018">
                <a:tc>
                  <a:txBody>
                    <a:bodyPr/>
                    <a:lstStyle/>
                    <a:p>
                      <a:pPr>
                        <a:buNone/>
                      </a:pPr>
                      <a:r>
                        <a:rPr sz="1150" b="1"/>
                        <a:t>Redispatch state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target_dispatch, actual_dispatch, gen_margin_up/down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10"/>
                  </a:ext>
                </a:extLst>
              </a:tr>
              <a:tr h="557018">
                <a:tc>
                  <a:txBody>
                    <a:bodyPr/>
                    <a:lstStyle/>
                    <a:p>
                      <a:pPr>
                        <a:buNone/>
                      </a:pPr>
                      <a:r>
                        <a:rPr sz="1150" b="1"/>
                        <a:t>Curtailment state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gen_p_before_curtail, curtailment, curtailment_limit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11"/>
                  </a:ext>
                </a:extLst>
              </a:tr>
              <a:tr h="227872">
                <a:tc>
                  <a:txBody>
                    <a:bodyPr/>
                    <a:lstStyle/>
                    <a:p>
                      <a:pPr>
                        <a:buNone/>
                      </a:pPr>
                      <a:r>
                        <a:rPr sz="1150" b="1"/>
                        <a:t>Controlled region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t>Agent’s assigned substations</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domain_mask node feature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extLst>
                  <a:ext uri="{0D108BD9-81ED-4DB2-BD59-A6C34878D82A}">
                    <a16:rowId xmlns:a16="http://schemas.microsoft.com/office/drawing/2014/main" val="10012"/>
                  </a:ext>
                </a:extLst>
              </a:tr>
            </a:tbl>
          </a:graphicData>
        </a:graphic>
      </p:graphicFrame>
      <p:sp>
        <p:nvSpPr>
          <p:cNvPr id="8" name="ZoneTexte 7">
            <a:extLst>
              <a:ext uri="{FF2B5EF4-FFF2-40B4-BE49-F238E27FC236}">
                <a16:creationId xmlns:a16="http://schemas.microsoft.com/office/drawing/2014/main" id="{1D17DAA7-336D-AA1C-B7A0-83ACC3EA5589}"/>
              </a:ext>
            </a:extLst>
          </p:cNvPr>
          <p:cNvSpPr>
            <a:spLocks noGrp="1"/>
          </p:cNvSpPr>
          <p:nvPr/>
        </p:nvSpPr>
        <p:spPr>
          <a:xfrm>
            <a:off x="805942" y="4728710"/>
            <a:ext cx="7532115" cy="261610"/>
          </a:xfrm>
          <a:prstGeom prst="rect">
            <a:avLst/>
          </a:prstGeom>
          <a:noFill/>
        </p:spPr>
        <p:txBody>
          <a:bodyPr wrap="square">
            <a:spAutoFit/>
          </a:bodyPr>
          <a:lstStyle/>
          <a:p>
            <a:pPr algn="ctr">
              <a:buNone/>
            </a:pPr>
            <a:r>
              <a:rPr sz="1100" b="1" i="1">
                <a:latin typeface="Times New Roman"/>
                <a:ea typeface="Times New Roman"/>
                <a:cs typeface="Times New Roman"/>
              </a:rPr>
              <a:t>Table 4: Observation features available and how they are used in a graph representation </a:t>
            </a:r>
          </a:p>
        </p:txBody>
      </p:sp>
    </p:spTree>
    <p:extLst>
      <p:ext uri="{BB962C8B-B14F-4D97-AF65-F5344CB8AC3E}">
        <p14:creationId xmlns:p14="http://schemas.microsoft.com/office/powerpoint/2010/main" val="3710022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02504E-BA31-9D2D-7114-05C56BC4F6F8}"/>
              </a:ext>
            </a:extLst>
          </p:cNvPr>
          <p:cNvSpPr>
            <a:spLocks noGrp="1"/>
          </p:cNvSpPr>
          <p:nvPr>
            <p:ph type="title"/>
          </p:nvPr>
        </p:nvSpPr>
        <p:spPr>
          <a:xfrm>
            <a:off x="904875" y="252828"/>
            <a:ext cx="7532115" cy="601301"/>
          </a:xfrm>
        </p:spPr>
        <p:txBody>
          <a:bodyPr>
            <a:normAutofit/>
          </a:bodyPr>
          <a:lstStyle/>
          <a:p>
            <a:r>
              <a:t>IEEE 14: Graph variations, results</a:t>
            </a:r>
          </a:p>
        </p:txBody>
      </p:sp>
      <p:sp>
        <p:nvSpPr>
          <p:cNvPr id="5" name="Espace réservé du numéro de diapositive 4">
            <a:extLst>
              <a:ext uri="{FF2B5EF4-FFF2-40B4-BE49-F238E27FC236}">
                <a16:creationId xmlns:a16="http://schemas.microsoft.com/office/drawing/2014/main" id="{73923868-B019-6134-ABA8-0CA2C18C5D0B}"/>
              </a:ext>
            </a:extLst>
          </p:cNvPr>
          <p:cNvSpPr>
            <a:spLocks noGrp="1"/>
          </p:cNvSpPr>
          <p:nvPr>
            <p:ph type="sldNum" idx="12"/>
          </p:nvPr>
        </p:nvSpPr>
        <p:spPr/>
        <p:txBody>
          <a:bodyPr/>
          <a:lstStyle/>
          <a:p>
            <a:r>
              <a:t>8</a:t>
            </a:r>
          </a:p>
        </p:txBody>
      </p:sp>
      <p:pic>
        <p:nvPicPr>
          <p:cNvPr id="23" name="Image 16"/>
          <p:cNvPicPr>
            <a:picLocks noChangeAspect="1"/>
          </p:cNvPicPr>
          <p:nvPr/>
        </p:nvPicPr>
        <p:blipFill>
          <a:blip r:embed="rId3"/>
          <a:stretch>
            <a:fillRect/>
          </a:stretch>
        </p:blipFill>
        <p:spPr>
          <a:xfrm>
            <a:off x="368202" y="854129"/>
            <a:ext cx="8605459" cy="3796526"/>
          </a:xfrm>
          <a:prstGeom prst="rect">
            <a:avLst/>
          </a:prstGeom>
        </p:spPr>
      </p:pic>
      <p:sp>
        <p:nvSpPr>
          <p:cNvPr id="18" name="ZoneTexte 17">
            <a:extLst>
              <a:ext uri="{FF2B5EF4-FFF2-40B4-BE49-F238E27FC236}">
                <a16:creationId xmlns:a16="http://schemas.microsoft.com/office/drawing/2014/main" id="{8DFD1DE1-AEE6-0B24-84CD-806B9375475E}"/>
              </a:ext>
            </a:extLst>
          </p:cNvPr>
          <p:cNvSpPr>
            <a:spLocks noGrp="1"/>
          </p:cNvSpPr>
          <p:nvPr/>
        </p:nvSpPr>
        <p:spPr>
          <a:xfrm>
            <a:off x="368202" y="4650655"/>
            <a:ext cx="8605459" cy="261610"/>
          </a:xfrm>
          <a:prstGeom prst="rect">
            <a:avLst/>
          </a:prstGeom>
          <a:noFill/>
        </p:spPr>
        <p:txBody>
          <a:bodyPr wrap="square">
            <a:spAutoFit/>
          </a:bodyPr>
          <a:lstStyle/>
          <a:p>
            <a:pPr algn="ctr">
              <a:buNone/>
            </a:pPr>
            <a:r>
              <a:rPr sz="1100" b="1" i="1">
                <a:latin typeface="Times New Roman"/>
                <a:ea typeface="Times New Roman"/>
                <a:cs typeface="Times New Roman"/>
              </a:rPr>
              <a:t>Fig 3: Episodic survival during training of different GINE architecture compared to the baseline </a:t>
            </a:r>
          </a:p>
        </p:txBody>
      </p:sp>
      <p:pic>
        <p:nvPicPr>
          <p:cNvPr id="25" name="Picture 2"/>
          <p:cNvPicPr>
            <a:picLocks noChangeAspect="1"/>
          </p:cNvPicPr>
          <p:nvPr/>
        </p:nvPicPr>
        <p:blipFill>
          <a:blip r:embed="rId4"/>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841609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E0621E-9764-FBDE-B8B8-4FE37C12DB67}"/>
              </a:ext>
            </a:extLst>
          </p:cNvPr>
          <p:cNvSpPr>
            <a:spLocks noGrp="1"/>
          </p:cNvSpPr>
          <p:nvPr>
            <p:ph type="title"/>
          </p:nvPr>
        </p:nvSpPr>
        <p:spPr>
          <a:xfrm>
            <a:off x="904875" y="252828"/>
            <a:ext cx="7532115" cy="601301"/>
          </a:xfrm>
        </p:spPr>
        <p:txBody>
          <a:bodyPr>
            <a:normAutofit/>
          </a:bodyPr>
          <a:lstStyle/>
          <a:p>
            <a:r>
              <a:t>IEEE 14: Graph variations, results</a:t>
            </a:r>
          </a:p>
        </p:txBody>
      </p:sp>
      <p:sp>
        <p:nvSpPr>
          <p:cNvPr id="5" name="Espace réservé du numéro de diapositive 4">
            <a:extLst>
              <a:ext uri="{FF2B5EF4-FFF2-40B4-BE49-F238E27FC236}">
                <a16:creationId xmlns:a16="http://schemas.microsoft.com/office/drawing/2014/main" id="{C55CD4A4-ED38-3F4A-4001-0CD2AD12CA12}"/>
              </a:ext>
            </a:extLst>
          </p:cNvPr>
          <p:cNvSpPr>
            <a:spLocks noGrp="1"/>
          </p:cNvSpPr>
          <p:nvPr>
            <p:ph type="sldNum" idx="12"/>
          </p:nvPr>
        </p:nvSpPr>
        <p:spPr/>
        <p:txBody>
          <a:bodyPr/>
          <a:lstStyle/>
          <a:p>
            <a:r>
              <a:t>8</a:t>
            </a:r>
          </a:p>
        </p:txBody>
      </p:sp>
      <p:pic>
        <p:nvPicPr>
          <p:cNvPr id="10" name="Image 2"/>
          <p:cNvPicPr>
            <a:picLocks noChangeAspect="1"/>
          </p:cNvPicPr>
          <p:nvPr/>
        </p:nvPicPr>
        <p:blipFill>
          <a:blip r:embed="rId3"/>
          <a:stretch>
            <a:fillRect/>
          </a:stretch>
        </p:blipFill>
        <p:spPr>
          <a:xfrm>
            <a:off x="711884" y="1026729"/>
            <a:ext cx="7725106" cy="3090042"/>
          </a:xfrm>
          <a:prstGeom prst="rect">
            <a:avLst/>
          </a:prstGeom>
        </p:spPr>
      </p:pic>
      <p:sp>
        <p:nvSpPr>
          <p:cNvPr id="4" name="ZoneTexte 3">
            <a:extLst>
              <a:ext uri="{FF2B5EF4-FFF2-40B4-BE49-F238E27FC236}">
                <a16:creationId xmlns:a16="http://schemas.microsoft.com/office/drawing/2014/main" id="{F6707DE5-10FF-1679-D1AA-6F032805CB89}"/>
              </a:ext>
            </a:extLst>
          </p:cNvPr>
          <p:cNvSpPr>
            <a:spLocks noGrp="1"/>
          </p:cNvSpPr>
          <p:nvPr/>
        </p:nvSpPr>
        <p:spPr>
          <a:xfrm>
            <a:off x="711885" y="4158566"/>
            <a:ext cx="7919354" cy="261610"/>
          </a:xfrm>
          <a:prstGeom prst="rect">
            <a:avLst/>
          </a:prstGeom>
          <a:noFill/>
        </p:spPr>
        <p:txBody>
          <a:bodyPr wrap="square">
            <a:spAutoFit/>
          </a:bodyPr>
          <a:lstStyle/>
          <a:p>
            <a:pPr algn="ctr">
              <a:buNone/>
            </a:pPr>
            <a:r>
              <a:rPr sz="1100" b="1" i="1">
                <a:latin typeface="Times New Roman"/>
                <a:ea typeface="Times New Roman"/>
                <a:cs typeface="Times New Roman"/>
              </a:rPr>
              <a:t>Fig 4: Episodic survival during training of different GINE architecture compared to the baseline </a:t>
            </a:r>
          </a:p>
        </p:txBody>
      </p:sp>
      <p:pic>
        <p:nvPicPr>
          <p:cNvPr id="12" name="Picture 2"/>
          <p:cNvPicPr>
            <a:picLocks noChangeAspect="1"/>
          </p:cNvPicPr>
          <p:nvPr/>
        </p:nvPicPr>
        <p:blipFill>
          <a:blip r:embed="rId4"/>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2042593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8945A9-30C2-90A7-C06D-18DCA44C69AF}"/>
              </a:ext>
            </a:extLst>
          </p:cNvPr>
          <p:cNvSpPr>
            <a:spLocks noGrp="1"/>
          </p:cNvSpPr>
          <p:nvPr>
            <p:ph type="title"/>
          </p:nvPr>
        </p:nvSpPr>
        <p:spPr>
          <a:xfrm>
            <a:off x="904875" y="252828"/>
            <a:ext cx="7532115" cy="601301"/>
          </a:xfrm>
        </p:spPr>
        <p:txBody>
          <a:bodyPr>
            <a:normAutofit/>
          </a:bodyPr>
          <a:lstStyle/>
          <a:p>
            <a:r>
              <a:t>IEEE 14: Realistic behavior</a:t>
            </a:r>
          </a:p>
        </p:txBody>
      </p:sp>
      <p:sp>
        <p:nvSpPr>
          <p:cNvPr id="5" name="Espace réservé du numéro de diapositive 4">
            <a:extLst>
              <a:ext uri="{FF2B5EF4-FFF2-40B4-BE49-F238E27FC236}">
                <a16:creationId xmlns:a16="http://schemas.microsoft.com/office/drawing/2014/main" id="{429CA700-ECA0-E0B8-1BA9-9708A2F1FF5A}"/>
              </a:ext>
            </a:extLst>
          </p:cNvPr>
          <p:cNvSpPr>
            <a:spLocks noGrp="1"/>
          </p:cNvSpPr>
          <p:nvPr>
            <p:ph type="sldNum" idx="12"/>
          </p:nvPr>
        </p:nvSpPr>
        <p:spPr/>
        <p:txBody>
          <a:bodyPr/>
          <a:lstStyle/>
          <a:p>
            <a:r>
              <a:t>8</a:t>
            </a:r>
          </a:p>
        </p:txBody>
      </p:sp>
      <p:sp>
        <p:nvSpPr>
          <p:cNvPr id="4" name="ZoneTexte 3">
            <a:extLst>
              <a:ext uri="{FF2B5EF4-FFF2-40B4-BE49-F238E27FC236}">
                <a16:creationId xmlns:a16="http://schemas.microsoft.com/office/drawing/2014/main" id="{8E175029-1CFE-97C0-DD6F-E343EB5A65EF}"/>
              </a:ext>
            </a:extLst>
          </p:cNvPr>
          <p:cNvSpPr>
            <a:spLocks noGrp="1"/>
          </p:cNvSpPr>
          <p:nvPr/>
        </p:nvSpPr>
        <p:spPr>
          <a:xfrm>
            <a:off x="547693" y="4484423"/>
            <a:ext cx="8048612" cy="306467"/>
          </a:xfrm>
          <a:prstGeom prst="roundRect">
            <a:avLst/>
          </a:prstGeom>
          <a:solidFill>
            <a:srgbClr val="FEC9CC">
              <a:alpha val="20000"/>
            </a:srgbClr>
          </a:solidFill>
          <a:ln w="9525"/>
        </p:spPr>
        <p:style>
          <a:lnRef idx="2">
            <a:schemeClr val="accent1"/>
          </a:lnRef>
          <a:fillRef idx="1">
            <a:schemeClr val="lt1"/>
          </a:fillRef>
          <a:effectRef idx="0">
            <a:schemeClr val="accent1"/>
          </a:effectRef>
          <a:fontRef idx="minor">
            <a:schemeClr val="dk1"/>
          </a:fontRef>
        </p:style>
        <p:txBody>
          <a:bodyPr wrap="square">
            <a:spAutoFit/>
          </a:bodyPr>
          <a:lstStyle/>
          <a:p>
            <a:pPr>
              <a:buClr>
                <a:schemeClr val="accent1"/>
              </a:buClr>
              <a:buNone/>
            </a:pPr>
            <a:r>
              <a:rPr sz="1200" b="1" u="sng"/>
              <a:t>Objective:</a:t>
            </a:r>
            <a:r>
              <a:rPr sz="1200"/>
              <a:t> Determine if using a GNN Actor/Critic can be useful, and match the simple MLP performance </a:t>
            </a:r>
          </a:p>
        </p:txBody>
      </p:sp>
      <p:sp>
        <p:nvSpPr>
          <p:cNvPr id="6" name="ZoneTexte 5">
            <a:extLst>
              <a:ext uri="{FF2B5EF4-FFF2-40B4-BE49-F238E27FC236}">
                <a16:creationId xmlns:a16="http://schemas.microsoft.com/office/drawing/2014/main" id="{A736EFB1-3544-1F91-D931-5DFE54E90BA6}"/>
              </a:ext>
            </a:extLst>
          </p:cNvPr>
          <p:cNvSpPr>
            <a:spLocks noGrp="1"/>
          </p:cNvSpPr>
          <p:nvPr/>
        </p:nvSpPr>
        <p:spPr>
          <a:xfrm>
            <a:off x="582626" y="854129"/>
            <a:ext cx="8048612" cy="510778"/>
          </a:xfrm>
          <a:prstGeom prst="roundRect">
            <a:avLst/>
          </a:prstGeom>
          <a:solidFill>
            <a:schemeClr val="bg2">
              <a:lumMod val="20000"/>
              <a:lumOff val="80000"/>
            </a:schemeClr>
          </a:solidFill>
          <a:ln w="9525"/>
        </p:spPr>
        <p:style>
          <a:lnRef idx="2">
            <a:schemeClr val="dk1"/>
          </a:lnRef>
          <a:fillRef idx="1">
            <a:schemeClr val="lt1"/>
          </a:fillRef>
          <a:effectRef idx="0">
            <a:schemeClr val="dk1"/>
          </a:effectRef>
          <a:fontRef idx="minor">
            <a:schemeClr val="dk1"/>
          </a:fontRef>
        </p:style>
        <p:txBody>
          <a:bodyPr wrap="square">
            <a:spAutoFit/>
          </a:bodyPr>
          <a:lstStyle/>
          <a:p>
            <a:pPr>
              <a:buClr>
                <a:schemeClr val="accent1"/>
              </a:buClr>
              <a:buNone/>
            </a:pPr>
            <a:r>
              <a:rPr sz="1200" b="1" u="sng"/>
              <a:t>Statement:</a:t>
            </a:r>
            <a:r>
              <a:rPr sz="1200"/>
              <a:t> The simple MLP baseline might have good performances but the agents act too much, and it is not a sustainable behavior in a realistic scenario.</a:t>
            </a:r>
          </a:p>
        </p:txBody>
      </p:sp>
      <p:pic>
        <p:nvPicPr>
          <p:cNvPr id="19" name="Image 10"/>
          <p:cNvPicPr>
            <a:picLocks noChangeAspect="1"/>
          </p:cNvPicPr>
          <p:nvPr/>
        </p:nvPicPr>
        <p:blipFill>
          <a:blip r:embed="rId3"/>
          <a:srcRect t="11173"/>
          <a:stretch>
            <a:fillRect/>
          </a:stretch>
        </p:blipFill>
        <p:spPr>
          <a:xfrm>
            <a:off x="2152667" y="1604427"/>
            <a:ext cx="4838663" cy="2289327"/>
          </a:xfrm>
          <a:prstGeom prst="rect">
            <a:avLst/>
          </a:prstGeom>
        </p:spPr>
      </p:pic>
      <p:sp>
        <p:nvSpPr>
          <p:cNvPr id="12" name="ZoneTexte 11">
            <a:extLst>
              <a:ext uri="{FF2B5EF4-FFF2-40B4-BE49-F238E27FC236}">
                <a16:creationId xmlns:a16="http://schemas.microsoft.com/office/drawing/2014/main" id="{D7111ECB-756D-AB47-FDFE-3684F8E1C87E}"/>
              </a:ext>
            </a:extLst>
          </p:cNvPr>
          <p:cNvSpPr>
            <a:spLocks noGrp="1"/>
          </p:cNvSpPr>
          <p:nvPr/>
        </p:nvSpPr>
        <p:spPr>
          <a:xfrm>
            <a:off x="2152667" y="3858484"/>
            <a:ext cx="4838663" cy="430887"/>
          </a:xfrm>
          <a:prstGeom prst="rect">
            <a:avLst/>
          </a:prstGeom>
          <a:noFill/>
        </p:spPr>
        <p:txBody>
          <a:bodyPr wrap="square">
            <a:spAutoFit/>
          </a:bodyPr>
          <a:lstStyle/>
          <a:p>
            <a:pPr algn="ctr">
              <a:buNone/>
            </a:pPr>
            <a:r>
              <a:rPr sz="1100" b="1" i="1">
                <a:latin typeface="Times New Roman"/>
                <a:ea typeface="Times New Roman"/>
                <a:cs typeface="Times New Roman"/>
              </a:rPr>
              <a:t>Fig 5: Average of the action 0 usage over seeds at best-checkpoints for the mlp baseline</a:t>
            </a:r>
          </a:p>
        </p:txBody>
      </p:sp>
      <p:pic>
        <p:nvPicPr>
          <p:cNvPr id="21" name="Picture 2"/>
          <p:cNvPicPr>
            <a:picLocks noChangeAspect="1"/>
          </p:cNvPicPr>
          <p:nvPr/>
        </p:nvPicPr>
        <p:blipFill>
          <a:blip r:embed="rId4"/>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45278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A90E28-AED0-3F8D-1219-DD4B7EF8D9C2}"/>
              </a:ext>
            </a:extLst>
          </p:cNvPr>
          <p:cNvSpPr>
            <a:spLocks noGrp="1"/>
          </p:cNvSpPr>
          <p:nvPr>
            <p:ph type="title"/>
          </p:nvPr>
        </p:nvSpPr>
        <p:spPr>
          <a:xfrm>
            <a:off x="904875" y="252828"/>
            <a:ext cx="7532115" cy="601301"/>
          </a:xfrm>
        </p:spPr>
        <p:txBody>
          <a:bodyPr>
            <a:normAutofit/>
          </a:bodyPr>
          <a:lstStyle/>
          <a:p>
            <a:r>
              <a:t>IEEE 14: Realistic behavior — gating</a:t>
            </a:r>
          </a:p>
        </p:txBody>
      </p:sp>
      <p:sp>
        <p:nvSpPr>
          <p:cNvPr id="5" name="Espace réservé du numéro de diapositive 4">
            <a:extLst>
              <a:ext uri="{FF2B5EF4-FFF2-40B4-BE49-F238E27FC236}">
                <a16:creationId xmlns:a16="http://schemas.microsoft.com/office/drawing/2014/main" id="{24752180-AD6F-AEF2-99EA-215F337B8ECF}"/>
              </a:ext>
            </a:extLst>
          </p:cNvPr>
          <p:cNvSpPr>
            <a:spLocks noGrp="1"/>
          </p:cNvSpPr>
          <p:nvPr>
            <p:ph type="sldNum" idx="12"/>
          </p:nvPr>
        </p:nvSpPr>
        <p:spPr/>
        <p:txBody>
          <a:bodyPr/>
          <a:lstStyle/>
          <a:p>
            <a:r>
              <a:t>8</a:t>
            </a:r>
          </a:p>
        </p:txBody>
      </p:sp>
      <p:sp>
        <p:nvSpPr>
          <p:cNvPr id="6" name="ZoneTexte 5">
            <a:extLst>
              <a:ext uri="{FF2B5EF4-FFF2-40B4-BE49-F238E27FC236}">
                <a16:creationId xmlns:a16="http://schemas.microsoft.com/office/drawing/2014/main" id="{88721C37-0EDB-13F3-1AD4-60341822B9F8}"/>
              </a:ext>
            </a:extLst>
          </p:cNvPr>
          <p:cNvSpPr>
            <a:spLocks noGrp="1"/>
          </p:cNvSpPr>
          <p:nvPr/>
        </p:nvSpPr>
        <p:spPr>
          <a:xfrm>
            <a:off x="582626" y="812111"/>
            <a:ext cx="8048612" cy="1532334"/>
          </a:xfrm>
          <a:prstGeom prst="roundRect">
            <a:avLst/>
          </a:prstGeom>
          <a:solidFill>
            <a:schemeClr val="bg2">
              <a:lumMod val="20000"/>
              <a:lumOff val="80000"/>
            </a:schemeClr>
          </a:solidFill>
          <a:ln w="9525"/>
        </p:spPr>
        <p:style>
          <a:lnRef idx="2">
            <a:schemeClr val="dk1"/>
          </a:lnRef>
          <a:fillRef idx="1">
            <a:schemeClr val="lt1"/>
          </a:fillRef>
          <a:effectRef idx="0">
            <a:schemeClr val="dk1"/>
          </a:effectRef>
          <a:fontRef idx="minor">
            <a:schemeClr val="dk1"/>
          </a:fontRef>
        </p:style>
        <p:txBody>
          <a:bodyPr wrap="square" lIns="91440" tIns="45720" rIns="91440" bIns="45720" anchor="t">
            <a:normAutofit/>
          </a:bodyPr>
          <a:lstStyle/>
          <a:p>
            <a:pPr algn="l">
              <a:spcAft>
                <a:spcPts val="5"/>
              </a:spcAft>
              <a:defRPr sz="1200">
                <a:solidFill>
                  <a:srgbClr val="413C3A"/>
                </a:solidFill>
                <a:latin typeface="Arial"/>
                <a:ea typeface="Arial"/>
                <a:cs typeface="Arial"/>
              </a:defRPr>
            </a:pPr>
            <a:r>
              <a:rPr sz="1200" b="1" u="sng">
                <a:solidFill>
                  <a:srgbClr val="413C3A"/>
                </a:solidFill>
                <a:latin typeface="Arial"/>
                <a:ea typeface="Arial"/>
                <a:cs typeface="Arial"/>
              </a:rPr>
              <a:t>Evaluation-time rho override</a:t>
            </a:r>
            <a:r>
              <a:rPr sz="1200" i="1">
                <a:solidFill>
                  <a:srgbClr val="413C3A"/>
                </a:solidFill>
                <a:latin typeface="Arial"/>
                <a:ea typeface="Arial"/>
                <a:cs typeface="Arial"/>
              </a:rPr>
              <a:t>  [Lehna et al., 2023]</a:t>
            </a:r>
          </a:p>
          <a:p>
            <a:pPr algn="l">
              <a:spcAft>
                <a:spcPts val="3"/>
              </a:spcAft>
              <a:defRPr sz="1200">
                <a:solidFill>
                  <a:srgbClr val="413C3A"/>
                </a:solidFill>
                <a:latin typeface="Arial"/>
                <a:ea typeface="Arial"/>
                <a:cs typeface="Arial"/>
              </a:defRPr>
            </a:pPr>
            <a:r>
              <a:rPr sz="1200" b="1">
                <a:solidFill>
                  <a:srgbClr val="413C3A"/>
                </a:solidFill>
                <a:latin typeface="Arial"/>
                <a:ea typeface="Arial"/>
                <a:cs typeface="Arial"/>
              </a:rPr>
              <a:t>Local: </a:t>
            </a:r>
            <a:r>
              <a:rPr sz="1200">
                <a:solidFill>
                  <a:srgbClr val="413C3A"/>
                </a:solidFill>
                <a:latin typeface="Arial"/>
                <a:ea typeface="Arial"/>
                <a:cs typeface="Arial"/>
              </a:rPr>
              <a:t>ρlocal(i) = max{ρℓ : line ℓ touches region i}</a:t>
            </a:r>
          </a:p>
          <a:p>
            <a:pPr algn="l">
              <a:spcAft>
                <a:spcPts val="3"/>
              </a:spcAft>
              <a:defRPr sz="1200">
                <a:solidFill>
                  <a:srgbClr val="413C3A"/>
                </a:solidFill>
                <a:latin typeface="Arial"/>
                <a:ea typeface="Arial"/>
                <a:cs typeface="Arial"/>
              </a:defRPr>
            </a:pPr>
            <a:r>
              <a:rPr sz="1200" b="1">
                <a:solidFill>
                  <a:srgbClr val="413C3A"/>
                </a:solidFill>
                <a:latin typeface="Arial"/>
                <a:ea typeface="Arial"/>
                <a:cs typeface="Arial"/>
              </a:rPr>
              <a:t>Global: </a:t>
            </a:r>
            <a:r>
              <a:rPr sz="1200">
                <a:solidFill>
                  <a:srgbClr val="413C3A"/>
                </a:solidFill>
                <a:latin typeface="Arial"/>
                <a:ea typeface="Arial"/>
                <a:cs typeface="Arial"/>
              </a:rPr>
              <a:t>ρglobal = maxℓ ρℓ</a:t>
            </a:r>
          </a:p>
          <a:p>
            <a:pPr algn="l">
              <a:spcAft>
                <a:spcPts val="3"/>
              </a:spcAft>
              <a:defRPr sz="1200">
                <a:solidFill>
                  <a:srgbClr val="413C3A"/>
                </a:solidFill>
                <a:latin typeface="Arial"/>
                <a:ea typeface="Arial"/>
                <a:cs typeface="Arial"/>
              </a:defRPr>
            </a:pPr>
            <a:r>
              <a:rPr sz="1200">
                <a:solidFill>
                  <a:srgbClr val="413C3A"/>
                </a:solidFill>
                <a:latin typeface="Arial"/>
                <a:ea typeface="Arial"/>
                <a:cs typeface="Arial"/>
              </a:rPr>
              <a:t>aexec(i)=0 if the selected ρ&lt;0.90; otherwise execute the policy proposal ā(i).</a:t>
            </a:r>
          </a:p>
          <a:p>
            <a:pPr algn="l">
              <a:spcAft>
                <a:spcPts val="0"/>
              </a:spcAft>
              <a:defRPr sz="1200">
                <a:solidFill>
                  <a:srgbClr val="413C3A"/>
                </a:solidFill>
                <a:latin typeface="Arial"/>
                <a:ea typeface="Arial"/>
                <a:cs typeface="Arial"/>
              </a:defRPr>
            </a:pPr>
            <a:r>
              <a:rPr sz="1200" b="1">
                <a:solidFill>
                  <a:srgbClr val="413C3A"/>
                </a:solidFill>
                <a:latin typeface="Arial"/>
                <a:ea typeface="Arial"/>
                <a:cs typeface="Arial"/>
              </a:rPr>
              <a:t>Diagnostic only: </a:t>
            </a:r>
            <a:r>
              <a:rPr sz="1200">
                <a:solidFill>
                  <a:srgbClr val="413C3A"/>
                </a:solidFill>
                <a:latin typeface="Arial"/>
                <a:ea typeface="Arial"/>
                <a:cs typeface="Arial"/>
              </a:rPr>
              <a:t>training is unchanged; deterministic evaluation is overridden.</a:t>
            </a:r>
          </a:p>
        </p:txBody>
      </p:sp>
      <p:sp>
        <p:nvSpPr>
          <p:cNvPr id="10" name="ZoneTexte 9">
            <a:extLst>
              <a:ext uri="{FF2B5EF4-FFF2-40B4-BE49-F238E27FC236}">
                <a16:creationId xmlns:a16="http://schemas.microsoft.com/office/drawing/2014/main" id="{CF8A4C86-3A64-3356-0A13-04FFDDB79083}"/>
              </a:ext>
            </a:extLst>
          </p:cNvPr>
          <p:cNvSpPr>
            <a:spLocks noGrp="1"/>
          </p:cNvSpPr>
          <p:nvPr/>
        </p:nvSpPr>
        <p:spPr>
          <a:xfrm>
            <a:off x="582626" y="2797741"/>
            <a:ext cx="8048612" cy="1940957"/>
          </a:xfrm>
          <a:prstGeom prst="roundRect">
            <a:avLst>
              <a:gd name="adj" fmla="val 12898"/>
            </a:avLst>
          </a:prstGeom>
          <a:solidFill>
            <a:schemeClr val="bg2">
              <a:lumMod val="20000"/>
              <a:lumOff val="80000"/>
            </a:schemeClr>
          </a:solidFill>
          <a:ln w="9525"/>
        </p:spPr>
        <p:style>
          <a:lnRef idx="2">
            <a:schemeClr val="dk1"/>
          </a:lnRef>
          <a:fillRef idx="1">
            <a:schemeClr val="lt1"/>
          </a:fillRef>
          <a:effectRef idx="0">
            <a:schemeClr val="dk1"/>
          </a:effectRef>
          <a:fontRef idx="minor">
            <a:schemeClr val="dk1"/>
          </a:fontRef>
        </p:style>
        <p:txBody>
          <a:bodyPr wrap="square" lIns="91440" tIns="45720" rIns="91440" bIns="45720" anchor="t">
            <a:normAutofit/>
          </a:bodyPr>
          <a:lstStyle/>
          <a:p>
            <a:pPr algn="l">
              <a:spcAft>
                <a:spcPts val="5"/>
              </a:spcAft>
              <a:defRPr sz="1200">
                <a:solidFill>
                  <a:srgbClr val="413C3A"/>
                </a:solidFill>
                <a:latin typeface="Arial"/>
                <a:ea typeface="Arial"/>
                <a:cs typeface="Arial"/>
              </a:defRPr>
            </a:pPr>
            <a:r>
              <a:rPr sz="1200" b="1" u="sng">
                <a:solidFill>
                  <a:srgbClr val="413C3A"/>
                </a:solidFill>
                <a:latin typeface="Arial"/>
                <a:ea typeface="Arial"/>
                <a:cs typeface="Arial"/>
              </a:rPr>
              <a:t>Intervention-gated actor</a:t>
            </a:r>
            <a:r>
              <a:rPr sz="1200" i="1">
                <a:solidFill>
                  <a:srgbClr val="413C3A"/>
                </a:solidFill>
                <a:latin typeface="Arial"/>
                <a:ea typeface="Arial"/>
                <a:cs typeface="Arial"/>
              </a:rPr>
              <a:t>  [Manczak et al., 2023; van der Sar et al., 2023]</a:t>
            </a:r>
          </a:p>
          <a:p>
            <a:pPr algn="l">
              <a:spcAft>
                <a:spcPts val="3"/>
              </a:spcAft>
              <a:defRPr sz="1200">
                <a:solidFill>
                  <a:srgbClr val="413C3A"/>
                </a:solidFill>
                <a:latin typeface="Arial"/>
                <a:ea typeface="Arial"/>
                <a:cs typeface="Arial"/>
              </a:defRPr>
            </a:pPr>
            <a:r>
              <a:rPr sz="1200">
                <a:solidFill>
                  <a:srgbClr val="413C3A"/>
                </a:solidFill>
                <a:latin typeface="Arial"/>
                <a:ea typeface="Arial"/>
                <a:cs typeface="Arial"/>
              </a:rPr>
              <a:t>Two heads: πgate(g|o), g∈{0,1};  πnonidle(b|o), b∈{1,…,|Aᵢ|−1}.</a:t>
            </a:r>
          </a:p>
          <a:p>
            <a:pPr algn="l">
              <a:spcAft>
                <a:spcPts val="3"/>
              </a:spcAft>
              <a:defRPr sz="1200">
                <a:solidFill>
                  <a:srgbClr val="413C3A"/>
                </a:solidFill>
                <a:latin typeface="Arial"/>
                <a:ea typeface="Arial"/>
                <a:cs typeface="Arial"/>
              </a:defRPr>
            </a:pPr>
            <a:r>
              <a:rPr sz="1200" b="1">
                <a:solidFill>
                  <a:srgbClr val="413C3A"/>
                </a:solidFill>
                <a:latin typeface="Arial"/>
                <a:ea typeface="Arial"/>
                <a:cs typeface="Arial"/>
              </a:rPr>
              <a:t>Final-action MAP: </a:t>
            </a:r>
            <a:r>
              <a:rPr sz="1200">
                <a:solidFill>
                  <a:srgbClr val="413C3A"/>
                </a:solidFill>
                <a:latin typeface="Arial"/>
                <a:ea typeface="Arial"/>
                <a:cs typeface="Arial"/>
              </a:rPr>
              <a:t>P(aᵢ=0)=P(gᵢ=0);  P(aᵢ&gt;0)=P(gᵢ=1)P(bᵢ=aᵢ | gᵢ=1).</a:t>
            </a:r>
          </a:p>
          <a:p>
            <a:pPr algn="l">
              <a:spcAft>
                <a:spcPts val="3"/>
              </a:spcAft>
              <a:defRPr sz="1200">
                <a:solidFill>
                  <a:srgbClr val="413C3A"/>
                </a:solidFill>
                <a:latin typeface="Arial"/>
                <a:ea typeface="Arial"/>
                <a:cs typeface="Arial"/>
              </a:defRPr>
            </a:pPr>
            <a:r>
              <a:rPr sz="1200" b="1">
                <a:solidFill>
                  <a:srgbClr val="413C3A"/>
                </a:solidFill>
                <a:latin typeface="Arial"/>
                <a:ea typeface="Arial"/>
                <a:cs typeface="Arial"/>
              </a:rPr>
              <a:t>Hierarchical greedy: </a:t>
            </a:r>
            <a:r>
              <a:rPr sz="1200">
                <a:solidFill>
                  <a:srgbClr val="413C3A"/>
                </a:solidFill>
                <a:latin typeface="Arial"/>
                <a:ea typeface="Arial"/>
                <a:cs typeface="Arial"/>
              </a:rPr>
              <a:t>choose 0 if P(gᵢ=0)&gt;P(gᵢ=1); otherwise argmax over the non-idle head.</a:t>
            </a:r>
          </a:p>
          <a:p>
            <a:pPr algn="l">
              <a:spcAft>
                <a:spcPts val="0"/>
              </a:spcAft>
              <a:defRPr sz="1200">
                <a:solidFill>
                  <a:srgbClr val="413C3A"/>
                </a:solidFill>
                <a:latin typeface="Arial"/>
                <a:ea typeface="Arial"/>
                <a:cs typeface="Arial"/>
              </a:defRPr>
            </a:pPr>
            <a:r>
              <a:rPr sz="1200" b="1">
                <a:solidFill>
                  <a:srgbClr val="413C3A"/>
                </a:solidFill>
                <a:latin typeface="Arial"/>
                <a:ea typeface="Arial"/>
                <a:cs typeface="Arial"/>
              </a:rPr>
              <a:t>Execution remains decentralized: </a:t>
            </a:r>
            <a:r>
              <a:rPr sz="1200">
                <a:solidFill>
                  <a:srgbClr val="413C3A"/>
                </a:solidFill>
                <a:latin typeface="Arial"/>
                <a:ea typeface="Arial"/>
                <a:cs typeface="Arial"/>
              </a:rPr>
              <a:t>no coordinator or inter-agent communication.</a:t>
            </a:r>
          </a:p>
        </p:txBody>
      </p:sp>
      <p:pic>
        <p:nvPicPr>
          <p:cNvPr id="16" name="Picture 2"/>
          <p:cNvPicPr>
            <a:picLocks noChangeAspect="1"/>
          </p:cNvPicPr>
          <p:nvPr/>
        </p:nvPicPr>
        <p:blipFill>
          <a:blip r:embed="rId3"/>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1532691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778B01-04C6-D23D-41C9-505F04CB5055}"/>
              </a:ext>
            </a:extLst>
          </p:cNvPr>
          <p:cNvSpPr>
            <a:spLocks noGrp="1"/>
          </p:cNvSpPr>
          <p:nvPr>
            <p:ph type="title"/>
          </p:nvPr>
        </p:nvSpPr>
        <p:spPr>
          <a:xfrm>
            <a:off x="904875" y="252828"/>
            <a:ext cx="7532115" cy="601301"/>
          </a:xfrm>
        </p:spPr>
        <p:txBody>
          <a:bodyPr>
            <a:normAutofit/>
          </a:bodyPr>
          <a:lstStyle/>
          <a:p>
            <a:r>
              <a:t>IEEE 14: Realistic behavior — sparse control</a:t>
            </a:r>
          </a:p>
        </p:txBody>
      </p:sp>
      <p:sp>
        <p:nvSpPr>
          <p:cNvPr id="5" name="Espace réservé du numéro de diapositive 4">
            <a:extLst>
              <a:ext uri="{FF2B5EF4-FFF2-40B4-BE49-F238E27FC236}">
                <a16:creationId xmlns:a16="http://schemas.microsoft.com/office/drawing/2014/main" id="{F02D4C97-4051-6643-3304-895598CB172C}"/>
              </a:ext>
            </a:extLst>
          </p:cNvPr>
          <p:cNvSpPr>
            <a:spLocks noGrp="1"/>
          </p:cNvSpPr>
          <p:nvPr>
            <p:ph type="sldNum" idx="12"/>
          </p:nvPr>
        </p:nvSpPr>
        <p:spPr/>
        <p:txBody>
          <a:bodyPr/>
          <a:lstStyle/>
          <a:p>
            <a:r>
              <a:t>8</a:t>
            </a:r>
          </a:p>
        </p:txBody>
      </p:sp>
      <p:sp>
        <p:nvSpPr>
          <p:cNvPr id="6" name="ZoneTexte 5">
            <a:extLst>
              <a:ext uri="{FF2B5EF4-FFF2-40B4-BE49-F238E27FC236}">
                <a16:creationId xmlns:a16="http://schemas.microsoft.com/office/drawing/2014/main" id="{80B3E6E3-1CD3-1977-0B54-CC558148253D}"/>
              </a:ext>
            </a:extLst>
          </p:cNvPr>
          <p:cNvSpPr>
            <a:spLocks noGrp="1"/>
          </p:cNvSpPr>
          <p:nvPr/>
        </p:nvSpPr>
        <p:spPr>
          <a:xfrm>
            <a:off x="582626" y="758927"/>
            <a:ext cx="8048612" cy="1251406"/>
          </a:xfrm>
          <a:prstGeom prst="roundRect">
            <a:avLst/>
          </a:prstGeom>
          <a:solidFill>
            <a:schemeClr val="bg2">
              <a:lumMod val="20000"/>
              <a:lumOff val="80000"/>
            </a:schemeClr>
          </a:solidFill>
          <a:ln w="9525"/>
        </p:spPr>
        <p:style>
          <a:lnRef idx="2">
            <a:schemeClr val="dk1"/>
          </a:lnRef>
          <a:fillRef idx="1">
            <a:schemeClr val="lt1"/>
          </a:fillRef>
          <a:effectRef idx="0">
            <a:schemeClr val="dk1"/>
          </a:effectRef>
          <a:fontRef idx="minor">
            <a:schemeClr val="dk1"/>
          </a:fontRef>
        </p:style>
        <p:txBody>
          <a:bodyPr wrap="square" lIns="91440" tIns="45720" rIns="91440" bIns="45720" anchor="t">
            <a:normAutofit/>
          </a:bodyPr>
          <a:lstStyle/>
          <a:p>
            <a:pPr algn="l">
              <a:spcAft>
                <a:spcPts val="5"/>
              </a:spcAft>
              <a:defRPr sz="1200">
                <a:solidFill>
                  <a:srgbClr val="413C3A"/>
                </a:solidFill>
                <a:latin typeface="Arial"/>
                <a:ea typeface="Arial"/>
                <a:cs typeface="Arial"/>
              </a:defRPr>
            </a:pPr>
            <a:r>
              <a:rPr sz="1200" b="1" u="sng" dirty="0">
                <a:solidFill>
                  <a:srgbClr val="413C3A"/>
                </a:solidFill>
                <a:latin typeface="Arial"/>
                <a:ea typeface="Arial"/>
                <a:cs typeface="Arial"/>
              </a:rPr>
              <a:t>Fixed topology cost</a:t>
            </a:r>
            <a:r>
              <a:rPr sz="1200" i="1" dirty="0">
                <a:solidFill>
                  <a:srgbClr val="413C3A"/>
                </a:solidFill>
                <a:latin typeface="Arial"/>
                <a:ea typeface="Arial"/>
                <a:cs typeface="Arial"/>
              </a:rPr>
              <a:t>  [Lautenbacher et al., 2025]</a:t>
            </a:r>
          </a:p>
          <a:p>
            <a:pPr algn="l">
              <a:spcAft>
                <a:spcPts val="3"/>
              </a:spcAft>
              <a:defRPr sz="1200">
                <a:solidFill>
                  <a:srgbClr val="413C3A"/>
                </a:solidFill>
                <a:latin typeface="Arial"/>
                <a:ea typeface="Arial"/>
                <a:cs typeface="Arial"/>
              </a:defRPr>
            </a:pPr>
            <a:r>
              <a:rPr sz="1200" dirty="0">
                <a:solidFill>
                  <a:srgbClr val="413C3A"/>
                </a:solidFill>
                <a:latin typeface="Arial"/>
                <a:ea typeface="Arial"/>
                <a:cs typeface="Arial"/>
              </a:rPr>
              <a:t>r′(</a:t>
            </a:r>
            <a:r>
              <a:rPr sz="1200" dirty="0" err="1">
                <a:solidFill>
                  <a:srgbClr val="413C3A"/>
                </a:solidFill>
                <a:latin typeface="Arial"/>
                <a:ea typeface="Arial"/>
                <a:cs typeface="Arial"/>
              </a:rPr>
              <a:t>i,t</a:t>
            </a:r>
            <a:r>
              <a:rPr sz="1200" dirty="0">
                <a:solidFill>
                  <a:srgbClr val="413C3A"/>
                </a:solidFill>
                <a:latin typeface="Arial"/>
                <a:ea typeface="Arial"/>
                <a:cs typeface="Arial"/>
              </a:rPr>
              <a:t>) = r(</a:t>
            </a:r>
            <a:r>
              <a:rPr sz="1200" dirty="0" err="1">
                <a:solidFill>
                  <a:srgbClr val="413C3A"/>
                </a:solidFill>
                <a:latin typeface="Arial"/>
                <a:ea typeface="Arial"/>
                <a:cs typeface="Arial"/>
              </a:rPr>
              <a:t>i,t</a:t>
            </a:r>
            <a:r>
              <a:rPr sz="1200" dirty="0">
                <a:solidFill>
                  <a:srgbClr val="413C3A"/>
                </a:solidFill>
                <a:latin typeface="Arial"/>
                <a:ea typeface="Arial"/>
                <a:cs typeface="Arial"/>
              </a:rPr>
              <a:t>) − </a:t>
            </a:r>
            <a:r>
              <a:rPr sz="1200" dirty="0" err="1">
                <a:solidFill>
                  <a:srgbClr val="413C3A"/>
                </a:solidFill>
                <a:latin typeface="Arial"/>
                <a:ea typeface="Arial"/>
                <a:cs typeface="Arial"/>
              </a:rPr>
              <a:t>λfixed</a:t>
            </a:r>
            <a:r>
              <a:rPr sz="1200" dirty="0">
                <a:solidFill>
                  <a:srgbClr val="413C3A"/>
                </a:solidFill>
                <a:latin typeface="Arial"/>
                <a:ea typeface="Arial"/>
                <a:cs typeface="Arial"/>
              </a:rPr>
              <a:t> · I[a(</a:t>
            </a:r>
            <a:r>
              <a:rPr sz="1200" dirty="0" err="1">
                <a:solidFill>
                  <a:srgbClr val="413C3A"/>
                </a:solidFill>
                <a:latin typeface="Arial"/>
                <a:ea typeface="Arial"/>
                <a:cs typeface="Arial"/>
              </a:rPr>
              <a:t>i,t</a:t>
            </a:r>
            <a:r>
              <a:rPr sz="1200" dirty="0">
                <a:solidFill>
                  <a:srgbClr val="413C3A"/>
                </a:solidFill>
                <a:latin typeface="Arial"/>
                <a:ea typeface="Arial"/>
                <a:cs typeface="Arial"/>
              </a:rPr>
              <a:t>)≠0]</a:t>
            </a:r>
          </a:p>
          <a:p>
            <a:pPr algn="l">
              <a:spcAft>
                <a:spcPts val="0"/>
              </a:spcAft>
              <a:defRPr sz="1200">
                <a:solidFill>
                  <a:srgbClr val="413C3A"/>
                </a:solidFill>
                <a:latin typeface="Arial"/>
                <a:ea typeface="Arial"/>
                <a:cs typeface="Arial"/>
              </a:defRPr>
            </a:pPr>
            <a:r>
              <a:rPr sz="1200" dirty="0">
                <a:solidFill>
                  <a:srgbClr val="413C3A"/>
                </a:solidFill>
                <a:latin typeface="Arial"/>
                <a:ea typeface="Arial"/>
                <a:cs typeface="Arial"/>
              </a:rPr>
              <a:t>Flat or gated actor; the training reward changes, but evaluation uses the learned policy without an override.</a:t>
            </a:r>
          </a:p>
        </p:txBody>
      </p:sp>
      <p:sp>
        <p:nvSpPr>
          <p:cNvPr id="3" name="ZoneTexte 2">
            <a:extLst>
              <a:ext uri="{FF2B5EF4-FFF2-40B4-BE49-F238E27FC236}">
                <a16:creationId xmlns:a16="http://schemas.microsoft.com/office/drawing/2014/main" id="{EA983F73-0672-E5E3-5B38-25B36DF26BE6}"/>
              </a:ext>
            </a:extLst>
          </p:cNvPr>
          <p:cNvSpPr>
            <a:spLocks noGrp="1"/>
          </p:cNvSpPr>
          <p:nvPr/>
        </p:nvSpPr>
        <p:spPr>
          <a:xfrm>
            <a:off x="582626" y="2258898"/>
            <a:ext cx="8048612" cy="1251406"/>
          </a:xfrm>
          <a:prstGeom prst="roundRect">
            <a:avLst/>
          </a:prstGeom>
          <a:solidFill>
            <a:schemeClr val="bg2">
              <a:lumMod val="20000"/>
              <a:lumOff val="80000"/>
            </a:schemeClr>
          </a:solidFill>
          <a:ln w="9525">
            <a:solidFill>
              <a:schemeClr val="tx1"/>
            </a:solidFill>
          </a:ln>
        </p:spPr>
        <p:style>
          <a:lnRef idx="2">
            <a:schemeClr val="dk1"/>
          </a:lnRef>
          <a:fillRef idx="1">
            <a:schemeClr val="lt1"/>
          </a:fillRef>
          <a:effectRef idx="0">
            <a:schemeClr val="dk1"/>
          </a:effectRef>
          <a:fontRef idx="minor">
            <a:schemeClr val="dk1"/>
          </a:fontRef>
        </p:style>
        <p:txBody>
          <a:bodyPr wrap="square" lIns="91440" tIns="45720" rIns="91440" bIns="45720" anchor="t">
            <a:normAutofit/>
          </a:bodyPr>
          <a:lstStyle/>
          <a:p>
            <a:pPr algn="l">
              <a:spcAft>
                <a:spcPts val="5"/>
              </a:spcAft>
              <a:defRPr sz="1200">
                <a:solidFill>
                  <a:srgbClr val="413C3A"/>
                </a:solidFill>
                <a:latin typeface="Arial"/>
                <a:ea typeface="Arial"/>
                <a:cs typeface="Arial"/>
              </a:defRPr>
            </a:pPr>
            <a:r>
              <a:rPr sz="1200" b="1" u="sng">
                <a:solidFill>
                  <a:srgbClr val="413C3A"/>
                </a:solidFill>
                <a:latin typeface="Arial"/>
                <a:ea typeface="Arial"/>
                <a:cs typeface="Arial"/>
              </a:rPr>
              <a:t>Adaptive intervention budget</a:t>
            </a:r>
            <a:r>
              <a:rPr sz="1200" i="1">
                <a:solidFill>
                  <a:srgbClr val="413C3A"/>
                </a:solidFill>
                <a:latin typeface="Arial"/>
                <a:ea typeface="Arial"/>
                <a:cs typeface="Arial"/>
              </a:rPr>
              <a:t>  [Achiam et al., 2017; Carrara et al., 2019; Stooke et al., 2020]</a:t>
            </a:r>
          </a:p>
          <a:p>
            <a:pPr algn="l">
              <a:spcAft>
                <a:spcPts val="3"/>
              </a:spcAft>
              <a:defRPr sz="1200">
                <a:solidFill>
                  <a:srgbClr val="413C3A"/>
                </a:solidFill>
                <a:latin typeface="Arial"/>
                <a:ea typeface="Arial"/>
                <a:cs typeface="Arial"/>
              </a:defRPr>
            </a:pPr>
            <a:r>
              <a:rPr sz="1200">
                <a:solidFill>
                  <a:srgbClr val="413C3A"/>
                </a:solidFill>
                <a:latin typeface="Arial"/>
                <a:ea typeface="Arial"/>
                <a:cs typeface="Arial"/>
              </a:rPr>
              <a:t>cᵢ = I[aᵢ≠0] · σ(k(ρsafe−ρlocal(i))),     r′ᵢ = rᵢ−λᵢcᵢ</a:t>
            </a:r>
          </a:p>
          <a:p>
            <a:pPr algn="l">
              <a:spcAft>
                <a:spcPts val="3"/>
              </a:spcAft>
              <a:defRPr sz="1200">
                <a:solidFill>
                  <a:srgbClr val="413C3A"/>
                </a:solidFill>
                <a:latin typeface="Arial"/>
                <a:ea typeface="Arial"/>
                <a:cs typeface="Arial"/>
              </a:defRPr>
            </a:pPr>
            <a:r>
              <a:rPr sz="1200">
                <a:solidFill>
                  <a:srgbClr val="413C3A"/>
                </a:solidFill>
                <a:latin typeface="Arial"/>
                <a:ea typeface="Arial"/>
                <a:cs typeface="Arial"/>
              </a:rPr>
              <a:t>λᵢ ← clip(λᵢ + η(Ĉᵢ−d), 0, λmax)</a:t>
            </a:r>
          </a:p>
          <a:p>
            <a:pPr algn="l">
              <a:spcAft>
                <a:spcPts val="0"/>
              </a:spcAft>
              <a:defRPr sz="1200">
                <a:solidFill>
                  <a:srgbClr val="413C3A"/>
                </a:solidFill>
                <a:latin typeface="Arial"/>
                <a:ea typeface="Arial"/>
                <a:cs typeface="Arial"/>
              </a:defRPr>
            </a:pPr>
            <a:r>
              <a:rPr sz="1200">
                <a:solidFill>
                  <a:srgbClr val="413C3A"/>
                </a:solidFill>
                <a:latin typeface="Arial"/>
                <a:ea typeface="Arial"/>
                <a:cs typeface="Arial"/>
              </a:rPr>
              <a:t>The local penalty self-tunes toward E[cᵢ]≤d; actions stay available during training.</a:t>
            </a:r>
          </a:p>
        </p:txBody>
      </p:sp>
      <p:sp>
        <p:nvSpPr>
          <p:cNvPr id="4" name="ZoneTexte 3">
            <a:extLst>
              <a:ext uri="{FF2B5EF4-FFF2-40B4-BE49-F238E27FC236}">
                <a16:creationId xmlns:a16="http://schemas.microsoft.com/office/drawing/2014/main" id="{711BABD1-5E14-BB91-E818-44044F9C8029}"/>
              </a:ext>
            </a:extLst>
          </p:cNvPr>
          <p:cNvSpPr>
            <a:spLocks noGrp="1"/>
          </p:cNvSpPr>
          <p:nvPr/>
        </p:nvSpPr>
        <p:spPr>
          <a:xfrm>
            <a:off x="582626" y="3748821"/>
            <a:ext cx="8048612" cy="1021556"/>
          </a:xfrm>
          <a:prstGeom prst="roundRect">
            <a:avLst/>
          </a:prstGeom>
          <a:solidFill>
            <a:schemeClr val="bg2">
              <a:lumMod val="20000"/>
              <a:lumOff val="80000"/>
            </a:schemeClr>
          </a:solidFill>
          <a:ln w="9525">
            <a:solidFill>
              <a:schemeClr val="tx1"/>
            </a:solidFill>
          </a:ln>
        </p:spPr>
        <p:style>
          <a:lnRef idx="2">
            <a:schemeClr val="dk1"/>
          </a:lnRef>
          <a:fillRef idx="1">
            <a:schemeClr val="lt1"/>
          </a:fillRef>
          <a:effectRef idx="0">
            <a:schemeClr val="dk1"/>
          </a:effectRef>
          <a:fontRef idx="minor">
            <a:schemeClr val="dk1"/>
          </a:fontRef>
        </p:style>
        <p:txBody>
          <a:bodyPr wrap="square" lIns="91440" tIns="45720" rIns="91440" bIns="45720" anchor="t">
            <a:normAutofit/>
          </a:bodyPr>
          <a:lstStyle/>
          <a:p>
            <a:pPr algn="l">
              <a:spcAft>
                <a:spcPts val="5"/>
              </a:spcAft>
              <a:defRPr sz="1200">
                <a:solidFill>
                  <a:srgbClr val="413C3A"/>
                </a:solidFill>
                <a:latin typeface="Arial"/>
                <a:ea typeface="Arial"/>
                <a:cs typeface="Arial"/>
              </a:defRPr>
            </a:pPr>
            <a:r>
              <a:rPr sz="1200" b="1" u="sng">
                <a:solidFill>
                  <a:srgbClr val="413C3A"/>
                </a:solidFill>
                <a:latin typeface="Arial"/>
                <a:ea typeface="Arial"/>
                <a:cs typeface="Arial"/>
              </a:rPr>
              <a:t>Imitation learning — behavior-cloning warm start</a:t>
            </a:r>
          </a:p>
          <a:p>
            <a:pPr algn="l">
              <a:spcAft>
                <a:spcPts val="3"/>
              </a:spcAft>
              <a:defRPr sz="1200">
                <a:solidFill>
                  <a:srgbClr val="413C3A"/>
                </a:solidFill>
                <a:latin typeface="Arial"/>
                <a:ea typeface="Arial"/>
                <a:cs typeface="Arial"/>
              </a:defRPr>
            </a:pPr>
            <a:r>
              <a:rPr sz="1200">
                <a:solidFill>
                  <a:srgbClr val="413C3A"/>
                </a:solidFill>
                <a:latin typeface="Arial"/>
                <a:ea typeface="Arial"/>
                <a:cs typeface="Arial"/>
              </a:rPr>
              <a:t>Dᵢ={(oᵢ,aᵢheur)},     LBC = −E(o,a)∼Dᵢ [log πᵢ(a|o)]</a:t>
            </a:r>
          </a:p>
          <a:p>
            <a:pPr algn="l">
              <a:spcAft>
                <a:spcPts val="0"/>
              </a:spcAft>
              <a:defRPr sz="1200">
                <a:solidFill>
                  <a:srgbClr val="413C3A"/>
                </a:solidFill>
                <a:latin typeface="Arial"/>
                <a:ea typeface="Arial"/>
                <a:cs typeface="Arial"/>
              </a:defRPr>
            </a:pPr>
            <a:r>
              <a:rPr sz="1200">
                <a:solidFill>
                  <a:srgbClr val="413C3A"/>
                </a:solidFill>
                <a:latin typeface="Arial"/>
                <a:ea typeface="Arial"/>
                <a:cs typeface="Arial"/>
              </a:rPr>
              <a:t>Fine-tune each local actor on heuristic demonstrations, then continue decentralized MAPPO training.</a:t>
            </a:r>
          </a:p>
        </p:txBody>
      </p:sp>
      <p:pic>
        <p:nvPicPr>
          <p:cNvPr id="13" name="Picture 2"/>
          <p:cNvPicPr>
            <a:picLocks noChangeAspect="1"/>
          </p:cNvPicPr>
          <p:nvPr/>
        </p:nvPicPr>
        <p:blipFill>
          <a:blip r:embed="rId3"/>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1067067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FE353C-16D2-A81D-FC6E-A4CB9E68F188}"/>
              </a:ext>
            </a:extLst>
          </p:cNvPr>
          <p:cNvSpPr>
            <a:spLocks noGrp="1"/>
          </p:cNvSpPr>
          <p:nvPr>
            <p:ph type="title"/>
          </p:nvPr>
        </p:nvSpPr>
        <p:spPr>
          <a:xfrm>
            <a:off x="904875" y="252828"/>
            <a:ext cx="7532115" cy="601301"/>
          </a:xfrm>
        </p:spPr>
        <p:txBody>
          <a:bodyPr>
            <a:normAutofit/>
          </a:bodyPr>
          <a:lstStyle/>
          <a:p>
            <a:r>
              <a:t>IEEE 14: Realistic behavior, Results</a:t>
            </a:r>
          </a:p>
        </p:txBody>
      </p:sp>
      <p:sp>
        <p:nvSpPr>
          <p:cNvPr id="5" name="Espace réservé du numéro de diapositive 4">
            <a:extLst>
              <a:ext uri="{FF2B5EF4-FFF2-40B4-BE49-F238E27FC236}">
                <a16:creationId xmlns:a16="http://schemas.microsoft.com/office/drawing/2014/main" id="{B50D8023-1647-6D9D-B161-43DED8AD34A1}"/>
              </a:ext>
            </a:extLst>
          </p:cNvPr>
          <p:cNvSpPr>
            <a:spLocks noGrp="1"/>
          </p:cNvSpPr>
          <p:nvPr>
            <p:ph type="sldNum" idx="12"/>
          </p:nvPr>
        </p:nvSpPr>
        <p:spPr/>
        <p:txBody>
          <a:bodyPr/>
          <a:lstStyle/>
          <a:p>
            <a:r>
              <a:t>8</a:t>
            </a:r>
          </a:p>
        </p:txBody>
      </p:sp>
      <p:pic>
        <p:nvPicPr>
          <p:cNvPr id="28" name="Image 10"/>
          <p:cNvPicPr>
            <a:picLocks noChangeAspect="1"/>
          </p:cNvPicPr>
          <p:nvPr/>
        </p:nvPicPr>
        <p:blipFill>
          <a:blip r:embed="rId3"/>
          <a:stretch>
            <a:fillRect/>
          </a:stretch>
        </p:blipFill>
        <p:spPr>
          <a:xfrm>
            <a:off x="199046" y="1045845"/>
            <a:ext cx="4471886" cy="1665346"/>
          </a:xfrm>
          <a:prstGeom prst="rect">
            <a:avLst/>
          </a:prstGeom>
        </p:spPr>
      </p:pic>
      <p:sp>
        <p:nvSpPr>
          <p:cNvPr id="17" name="ZoneTexte 16">
            <a:extLst>
              <a:ext uri="{FF2B5EF4-FFF2-40B4-BE49-F238E27FC236}">
                <a16:creationId xmlns:a16="http://schemas.microsoft.com/office/drawing/2014/main" id="{0FA6F1CF-13A5-17D7-0F14-DA18D31B1836}"/>
              </a:ext>
            </a:extLst>
          </p:cNvPr>
          <p:cNvSpPr>
            <a:spLocks noGrp="1"/>
          </p:cNvSpPr>
          <p:nvPr/>
        </p:nvSpPr>
        <p:spPr>
          <a:xfrm>
            <a:off x="199046" y="2732874"/>
            <a:ext cx="4471887" cy="261610"/>
          </a:xfrm>
          <a:prstGeom prst="rect">
            <a:avLst/>
          </a:prstGeom>
          <a:noFill/>
        </p:spPr>
        <p:txBody>
          <a:bodyPr wrap="square">
            <a:spAutoFit/>
          </a:bodyPr>
          <a:lstStyle/>
          <a:p>
            <a:pPr algn="ctr">
              <a:buNone/>
            </a:pPr>
            <a:r>
              <a:rPr sz="1100" b="1" i="1">
                <a:latin typeface="Times New Roman"/>
                <a:ea typeface="Times New Roman"/>
                <a:cs typeface="Times New Roman"/>
              </a:rPr>
              <a:t>Fig 6: Episodic survival during training, heuristic overrides</a:t>
            </a:r>
          </a:p>
        </p:txBody>
      </p:sp>
      <p:pic>
        <p:nvPicPr>
          <p:cNvPr id="30" name="Image 15"/>
          <p:cNvPicPr>
            <a:picLocks noChangeAspect="1"/>
          </p:cNvPicPr>
          <p:nvPr/>
        </p:nvPicPr>
        <p:blipFill>
          <a:blip r:embed="rId4"/>
          <a:srcRect t="12341"/>
          <a:stretch>
            <a:fillRect/>
          </a:stretch>
        </p:blipFill>
        <p:spPr>
          <a:xfrm>
            <a:off x="4916589" y="1067526"/>
            <a:ext cx="4028365" cy="1665347"/>
          </a:xfrm>
          <a:prstGeom prst="rect">
            <a:avLst/>
          </a:prstGeom>
        </p:spPr>
      </p:pic>
      <p:sp>
        <p:nvSpPr>
          <p:cNvPr id="18" name="ZoneTexte 17">
            <a:extLst>
              <a:ext uri="{FF2B5EF4-FFF2-40B4-BE49-F238E27FC236}">
                <a16:creationId xmlns:a16="http://schemas.microsoft.com/office/drawing/2014/main" id="{77DAB8FB-C2F5-2609-028B-78DACD4A2B94}"/>
              </a:ext>
            </a:extLst>
          </p:cNvPr>
          <p:cNvSpPr>
            <a:spLocks noGrp="1"/>
          </p:cNvSpPr>
          <p:nvPr/>
        </p:nvSpPr>
        <p:spPr>
          <a:xfrm>
            <a:off x="4916589" y="2732874"/>
            <a:ext cx="4028365" cy="261610"/>
          </a:xfrm>
          <a:prstGeom prst="rect">
            <a:avLst/>
          </a:prstGeom>
          <a:noFill/>
        </p:spPr>
        <p:txBody>
          <a:bodyPr wrap="square">
            <a:spAutoFit/>
          </a:bodyPr>
          <a:lstStyle/>
          <a:p>
            <a:pPr algn="ctr">
              <a:buNone/>
            </a:pPr>
            <a:r>
              <a:rPr sz="1100" b="1" i="1">
                <a:latin typeface="Times New Roman"/>
                <a:ea typeface="Times New Roman"/>
                <a:cs typeface="Times New Roman"/>
              </a:rPr>
              <a:t>Fig 7: action-0 fraction per agent, heurisitc overrides</a:t>
            </a:r>
          </a:p>
        </p:txBody>
      </p:sp>
      <p:pic>
        <p:nvPicPr>
          <p:cNvPr id="32" name="Image 14"/>
          <p:cNvPicPr>
            <a:picLocks noChangeAspect="1"/>
          </p:cNvPicPr>
          <p:nvPr/>
        </p:nvPicPr>
        <p:blipFill>
          <a:blip r:embed="rId5"/>
          <a:srcRect t="21061"/>
          <a:stretch>
            <a:fillRect/>
          </a:stretch>
        </p:blipFill>
        <p:spPr>
          <a:xfrm>
            <a:off x="322495" y="3557015"/>
            <a:ext cx="8499009" cy="959839"/>
          </a:xfrm>
          <a:prstGeom prst="rect">
            <a:avLst/>
          </a:prstGeom>
        </p:spPr>
      </p:pic>
      <p:sp>
        <p:nvSpPr>
          <p:cNvPr id="21" name="ZoneTexte 20">
            <a:extLst>
              <a:ext uri="{FF2B5EF4-FFF2-40B4-BE49-F238E27FC236}">
                <a16:creationId xmlns:a16="http://schemas.microsoft.com/office/drawing/2014/main" id="{B3BA5A9A-BE07-1AA4-4C57-4ABCA0C84B02}"/>
              </a:ext>
            </a:extLst>
          </p:cNvPr>
          <p:cNvSpPr>
            <a:spLocks noGrp="1"/>
          </p:cNvSpPr>
          <p:nvPr/>
        </p:nvSpPr>
        <p:spPr>
          <a:xfrm>
            <a:off x="322495" y="4386050"/>
            <a:ext cx="8499009" cy="261610"/>
          </a:xfrm>
          <a:prstGeom prst="rect">
            <a:avLst/>
          </a:prstGeom>
          <a:noFill/>
        </p:spPr>
        <p:txBody>
          <a:bodyPr wrap="square">
            <a:spAutoFit/>
          </a:bodyPr>
          <a:lstStyle/>
          <a:p>
            <a:pPr algn="ctr">
              <a:buNone/>
            </a:pPr>
            <a:r>
              <a:rPr sz="1100" b="1" i="1">
                <a:latin typeface="Times New Roman"/>
                <a:ea typeface="Times New Roman"/>
                <a:cs typeface="Times New Roman"/>
              </a:rPr>
              <a:t>Table 5: Full-test summary for heuristic overrides </a:t>
            </a:r>
          </a:p>
        </p:txBody>
      </p:sp>
      <p:pic>
        <p:nvPicPr>
          <p:cNvPr id="34" name="Picture 2"/>
          <p:cNvPicPr>
            <a:picLocks noChangeAspect="1"/>
          </p:cNvPicPr>
          <p:nvPr/>
        </p:nvPicPr>
        <p:blipFill>
          <a:blip r:embed="rId6"/>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1921131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FB3613-2CF7-F7C0-DEA0-812E38930799}"/>
              </a:ext>
            </a:extLst>
          </p:cNvPr>
          <p:cNvSpPr>
            <a:spLocks noGrp="1"/>
          </p:cNvSpPr>
          <p:nvPr>
            <p:ph type="title"/>
          </p:nvPr>
        </p:nvSpPr>
        <p:spPr>
          <a:xfrm>
            <a:off x="904875" y="252828"/>
            <a:ext cx="7532115" cy="601301"/>
          </a:xfrm>
        </p:spPr>
        <p:txBody>
          <a:bodyPr>
            <a:normAutofit/>
          </a:bodyPr>
          <a:lstStyle/>
          <a:p>
            <a:r>
              <a:t>IEEE 14: Realistic behavior, Results</a:t>
            </a:r>
          </a:p>
        </p:txBody>
      </p:sp>
      <p:sp>
        <p:nvSpPr>
          <p:cNvPr id="5" name="Espace réservé du numéro de diapositive 4">
            <a:extLst>
              <a:ext uri="{FF2B5EF4-FFF2-40B4-BE49-F238E27FC236}">
                <a16:creationId xmlns:a16="http://schemas.microsoft.com/office/drawing/2014/main" id="{AC92FCAC-F7BA-8DCD-A087-4FB7EAA8F91C}"/>
              </a:ext>
            </a:extLst>
          </p:cNvPr>
          <p:cNvSpPr>
            <a:spLocks noGrp="1"/>
          </p:cNvSpPr>
          <p:nvPr>
            <p:ph type="sldNum" idx="12"/>
          </p:nvPr>
        </p:nvSpPr>
        <p:spPr/>
        <p:txBody>
          <a:bodyPr/>
          <a:lstStyle/>
          <a:p>
            <a:r>
              <a:t>8</a:t>
            </a:r>
          </a:p>
        </p:txBody>
      </p:sp>
      <p:pic>
        <p:nvPicPr>
          <p:cNvPr id="25" name="Image 12"/>
          <p:cNvPicPr>
            <a:picLocks noChangeAspect="1"/>
          </p:cNvPicPr>
          <p:nvPr/>
        </p:nvPicPr>
        <p:blipFill>
          <a:blip r:embed="rId3"/>
          <a:srcRect t="19748"/>
          <a:stretch>
            <a:fillRect/>
          </a:stretch>
        </p:blipFill>
        <p:spPr>
          <a:xfrm>
            <a:off x="423227" y="3454223"/>
            <a:ext cx="8285296" cy="1039914"/>
          </a:xfrm>
          <a:prstGeom prst="rect">
            <a:avLst/>
          </a:prstGeom>
        </p:spPr>
      </p:pic>
      <p:sp>
        <p:nvSpPr>
          <p:cNvPr id="15" name="ZoneTexte 14">
            <a:extLst>
              <a:ext uri="{FF2B5EF4-FFF2-40B4-BE49-F238E27FC236}">
                <a16:creationId xmlns:a16="http://schemas.microsoft.com/office/drawing/2014/main" id="{E329B919-AC87-11F3-6BF8-B9FF40E28BA6}"/>
              </a:ext>
            </a:extLst>
          </p:cNvPr>
          <p:cNvSpPr>
            <a:spLocks noGrp="1"/>
          </p:cNvSpPr>
          <p:nvPr/>
        </p:nvSpPr>
        <p:spPr>
          <a:xfrm>
            <a:off x="423227" y="4488085"/>
            <a:ext cx="8285296" cy="261609"/>
          </a:xfrm>
          <a:prstGeom prst="rect">
            <a:avLst/>
          </a:prstGeom>
          <a:noFill/>
        </p:spPr>
        <p:txBody>
          <a:bodyPr wrap="square">
            <a:spAutoFit/>
          </a:bodyPr>
          <a:lstStyle/>
          <a:p>
            <a:pPr algn="ctr">
              <a:buNone/>
            </a:pPr>
            <a:r>
              <a:rPr sz="1100" b="1" i="1">
                <a:latin typeface="Times New Roman"/>
                <a:ea typeface="Times New Roman"/>
                <a:cs typeface="Times New Roman"/>
              </a:rPr>
              <a:t>Table 6: Full-test summary for intervention gated actors</a:t>
            </a:r>
          </a:p>
        </p:txBody>
      </p:sp>
      <p:pic>
        <p:nvPicPr>
          <p:cNvPr id="27" name="Image 11"/>
          <p:cNvPicPr>
            <a:picLocks noChangeAspect="1"/>
          </p:cNvPicPr>
          <p:nvPr/>
        </p:nvPicPr>
        <p:blipFill>
          <a:blip r:embed="rId4"/>
          <a:stretch>
            <a:fillRect/>
          </a:stretch>
        </p:blipFill>
        <p:spPr>
          <a:xfrm>
            <a:off x="0" y="1066022"/>
            <a:ext cx="4565875" cy="1697351"/>
          </a:xfrm>
          <a:prstGeom prst="rect">
            <a:avLst/>
          </a:prstGeom>
        </p:spPr>
      </p:pic>
      <p:sp>
        <p:nvSpPr>
          <p:cNvPr id="17" name="ZoneTexte 16">
            <a:extLst>
              <a:ext uri="{FF2B5EF4-FFF2-40B4-BE49-F238E27FC236}">
                <a16:creationId xmlns:a16="http://schemas.microsoft.com/office/drawing/2014/main" id="{5E80EC67-C654-571D-52D6-F6810A88E8AC}"/>
              </a:ext>
            </a:extLst>
          </p:cNvPr>
          <p:cNvSpPr>
            <a:spLocks noGrp="1"/>
          </p:cNvSpPr>
          <p:nvPr/>
        </p:nvSpPr>
        <p:spPr>
          <a:xfrm>
            <a:off x="172904" y="2766924"/>
            <a:ext cx="4498028" cy="261610"/>
          </a:xfrm>
          <a:prstGeom prst="rect">
            <a:avLst/>
          </a:prstGeom>
          <a:noFill/>
        </p:spPr>
        <p:txBody>
          <a:bodyPr wrap="square">
            <a:spAutoFit/>
          </a:bodyPr>
          <a:lstStyle/>
          <a:p>
            <a:pPr algn="ctr">
              <a:buNone/>
            </a:pPr>
            <a:r>
              <a:rPr sz="1100" b="1" i="1">
                <a:latin typeface="Times New Roman"/>
                <a:ea typeface="Times New Roman"/>
                <a:cs typeface="Times New Roman"/>
              </a:rPr>
              <a:t>Fig 8: Episodic survival during training, intervention gated actors</a:t>
            </a:r>
          </a:p>
        </p:txBody>
      </p:sp>
      <p:pic>
        <p:nvPicPr>
          <p:cNvPr id="29" name="Image 13"/>
          <p:cNvPicPr>
            <a:picLocks noChangeAspect="1"/>
          </p:cNvPicPr>
          <p:nvPr/>
        </p:nvPicPr>
        <p:blipFill>
          <a:blip r:embed="rId5"/>
          <a:stretch>
            <a:fillRect/>
          </a:stretch>
        </p:blipFill>
        <p:spPr>
          <a:xfrm>
            <a:off x="4565877" y="691929"/>
            <a:ext cx="4578124" cy="2207388"/>
          </a:xfrm>
          <a:prstGeom prst="rect">
            <a:avLst/>
          </a:prstGeom>
        </p:spPr>
      </p:pic>
      <p:sp>
        <p:nvSpPr>
          <p:cNvPr id="18" name="ZoneTexte 17">
            <a:extLst>
              <a:ext uri="{FF2B5EF4-FFF2-40B4-BE49-F238E27FC236}">
                <a16:creationId xmlns:a16="http://schemas.microsoft.com/office/drawing/2014/main" id="{3520F926-647D-90F4-F6B4-E9DE77B3F527}"/>
              </a:ext>
            </a:extLst>
          </p:cNvPr>
          <p:cNvSpPr>
            <a:spLocks noGrp="1"/>
          </p:cNvSpPr>
          <p:nvPr/>
        </p:nvSpPr>
        <p:spPr>
          <a:xfrm>
            <a:off x="4565876" y="2899317"/>
            <a:ext cx="4578124" cy="261610"/>
          </a:xfrm>
          <a:prstGeom prst="rect">
            <a:avLst/>
          </a:prstGeom>
          <a:noFill/>
        </p:spPr>
        <p:txBody>
          <a:bodyPr wrap="square">
            <a:spAutoFit/>
          </a:bodyPr>
          <a:lstStyle/>
          <a:p>
            <a:pPr algn="ctr">
              <a:buNone/>
            </a:pPr>
            <a:r>
              <a:rPr sz="1100" b="1" i="1">
                <a:latin typeface="Times New Roman"/>
                <a:ea typeface="Times New Roman"/>
                <a:cs typeface="Times New Roman"/>
              </a:rPr>
              <a:t>Fig 9: action-0 fraction per agent, intervention gated actors </a:t>
            </a:r>
          </a:p>
        </p:txBody>
      </p:sp>
      <p:pic>
        <p:nvPicPr>
          <p:cNvPr id="31" name="Picture 2"/>
          <p:cNvPicPr>
            <a:picLocks noChangeAspect="1"/>
          </p:cNvPicPr>
          <p:nvPr/>
        </p:nvPicPr>
        <p:blipFill>
          <a:blip r:embed="rId6"/>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1442724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43C432-60D2-05A7-3988-39DDB093467D}"/>
              </a:ext>
            </a:extLst>
          </p:cNvPr>
          <p:cNvSpPr>
            <a:spLocks noGrp="1"/>
          </p:cNvSpPr>
          <p:nvPr>
            <p:ph type="title"/>
          </p:nvPr>
        </p:nvSpPr>
        <p:spPr>
          <a:xfrm>
            <a:off x="904875" y="252828"/>
            <a:ext cx="7532115" cy="601301"/>
          </a:xfrm>
        </p:spPr>
        <p:txBody>
          <a:bodyPr>
            <a:normAutofit/>
          </a:bodyPr>
          <a:lstStyle/>
          <a:p>
            <a:r>
              <a:t>IEEE 14: Realistic behavior, Results</a:t>
            </a:r>
          </a:p>
        </p:txBody>
      </p:sp>
      <p:sp>
        <p:nvSpPr>
          <p:cNvPr id="5" name="Espace réservé du numéro de diapositive 4">
            <a:extLst>
              <a:ext uri="{FF2B5EF4-FFF2-40B4-BE49-F238E27FC236}">
                <a16:creationId xmlns:a16="http://schemas.microsoft.com/office/drawing/2014/main" id="{60D476FA-AD1F-637A-1A6A-64F07CA63600}"/>
              </a:ext>
            </a:extLst>
          </p:cNvPr>
          <p:cNvSpPr>
            <a:spLocks noGrp="1"/>
          </p:cNvSpPr>
          <p:nvPr>
            <p:ph type="sldNum" idx="12"/>
          </p:nvPr>
        </p:nvSpPr>
        <p:spPr/>
        <p:txBody>
          <a:bodyPr/>
          <a:lstStyle/>
          <a:p>
            <a:r>
              <a:t>8</a:t>
            </a:r>
          </a:p>
        </p:txBody>
      </p:sp>
      <p:pic>
        <p:nvPicPr>
          <p:cNvPr id="33" name="Image 8"/>
          <p:cNvPicPr>
            <a:picLocks noChangeAspect="1"/>
          </p:cNvPicPr>
          <p:nvPr/>
        </p:nvPicPr>
        <p:blipFill>
          <a:blip r:embed="rId3"/>
          <a:stretch>
            <a:fillRect/>
          </a:stretch>
        </p:blipFill>
        <p:spPr>
          <a:xfrm>
            <a:off x="339248" y="1111871"/>
            <a:ext cx="4331684" cy="1617162"/>
          </a:xfrm>
          <a:prstGeom prst="rect">
            <a:avLst/>
          </a:prstGeom>
        </p:spPr>
      </p:pic>
      <p:pic>
        <p:nvPicPr>
          <p:cNvPr id="34" name="Image 14"/>
          <p:cNvPicPr>
            <a:picLocks noChangeAspect="1"/>
          </p:cNvPicPr>
          <p:nvPr/>
        </p:nvPicPr>
        <p:blipFill>
          <a:blip r:embed="rId4"/>
          <a:stretch>
            <a:fillRect/>
          </a:stretch>
        </p:blipFill>
        <p:spPr>
          <a:xfrm>
            <a:off x="1281958" y="5480890"/>
            <a:ext cx="6056627" cy="1138397"/>
          </a:xfrm>
          <a:prstGeom prst="rect">
            <a:avLst/>
          </a:prstGeom>
        </p:spPr>
      </p:pic>
      <p:pic>
        <p:nvPicPr>
          <p:cNvPr id="35" name="Image 15"/>
          <p:cNvPicPr>
            <a:picLocks noChangeAspect="1"/>
          </p:cNvPicPr>
          <p:nvPr/>
        </p:nvPicPr>
        <p:blipFill>
          <a:blip r:embed="rId5"/>
          <a:srcRect t="16879"/>
          <a:stretch>
            <a:fillRect/>
          </a:stretch>
        </p:blipFill>
        <p:spPr>
          <a:xfrm>
            <a:off x="506883" y="3537459"/>
            <a:ext cx="8328098" cy="1240151"/>
          </a:xfrm>
          <a:prstGeom prst="rect">
            <a:avLst/>
          </a:prstGeom>
        </p:spPr>
      </p:pic>
      <p:pic>
        <p:nvPicPr>
          <p:cNvPr id="36" name="Image 19"/>
          <p:cNvPicPr>
            <a:picLocks noChangeAspect="1"/>
          </p:cNvPicPr>
          <p:nvPr/>
        </p:nvPicPr>
        <p:blipFill>
          <a:blip r:embed="rId6"/>
          <a:stretch>
            <a:fillRect/>
          </a:stretch>
        </p:blipFill>
        <p:spPr>
          <a:xfrm>
            <a:off x="4975691" y="918223"/>
            <a:ext cx="4055897" cy="2004458"/>
          </a:xfrm>
          <a:prstGeom prst="rect">
            <a:avLst/>
          </a:prstGeom>
        </p:spPr>
      </p:pic>
      <p:sp>
        <p:nvSpPr>
          <p:cNvPr id="23" name="ZoneTexte 22">
            <a:extLst>
              <a:ext uri="{FF2B5EF4-FFF2-40B4-BE49-F238E27FC236}">
                <a16:creationId xmlns:a16="http://schemas.microsoft.com/office/drawing/2014/main" id="{CFA44D49-2A04-ADB8-0861-7075B57C0906}"/>
              </a:ext>
            </a:extLst>
          </p:cNvPr>
          <p:cNvSpPr>
            <a:spLocks noGrp="1"/>
          </p:cNvSpPr>
          <p:nvPr/>
        </p:nvSpPr>
        <p:spPr>
          <a:xfrm>
            <a:off x="339248" y="2766924"/>
            <a:ext cx="4331684" cy="261610"/>
          </a:xfrm>
          <a:prstGeom prst="rect">
            <a:avLst/>
          </a:prstGeom>
          <a:noFill/>
        </p:spPr>
        <p:txBody>
          <a:bodyPr wrap="square">
            <a:spAutoFit/>
          </a:bodyPr>
          <a:lstStyle/>
          <a:p>
            <a:pPr algn="ctr">
              <a:buNone/>
            </a:pPr>
            <a:r>
              <a:rPr sz="1100" b="1" i="1">
                <a:latin typeface="Times New Roman"/>
                <a:ea typeface="Times New Roman"/>
                <a:cs typeface="Times New Roman"/>
              </a:rPr>
              <a:t>Fig 10: Episodic survival during training, flat intervention penalty</a:t>
            </a:r>
          </a:p>
        </p:txBody>
      </p:sp>
      <p:sp>
        <p:nvSpPr>
          <p:cNvPr id="24" name="ZoneTexte 23">
            <a:extLst>
              <a:ext uri="{FF2B5EF4-FFF2-40B4-BE49-F238E27FC236}">
                <a16:creationId xmlns:a16="http://schemas.microsoft.com/office/drawing/2014/main" id="{1F076CE7-61DB-9D82-5EFB-F7DE9FC78620}"/>
              </a:ext>
            </a:extLst>
          </p:cNvPr>
          <p:cNvSpPr>
            <a:spLocks noGrp="1"/>
          </p:cNvSpPr>
          <p:nvPr/>
        </p:nvSpPr>
        <p:spPr>
          <a:xfrm>
            <a:off x="4975690" y="2830387"/>
            <a:ext cx="4055897" cy="261610"/>
          </a:xfrm>
          <a:prstGeom prst="rect">
            <a:avLst/>
          </a:prstGeom>
          <a:noFill/>
        </p:spPr>
        <p:txBody>
          <a:bodyPr wrap="square">
            <a:spAutoFit/>
          </a:bodyPr>
          <a:lstStyle/>
          <a:p>
            <a:pPr algn="ctr">
              <a:buNone/>
            </a:pPr>
            <a:r>
              <a:rPr sz="1100" b="1" i="1">
                <a:latin typeface="Times New Roman"/>
                <a:ea typeface="Times New Roman"/>
                <a:cs typeface="Times New Roman"/>
              </a:rPr>
              <a:t>Fig 11: action-0 fraction per agent, flat intervention penalty</a:t>
            </a:r>
          </a:p>
        </p:txBody>
      </p:sp>
      <p:sp>
        <p:nvSpPr>
          <p:cNvPr id="25" name="ZoneTexte 24">
            <a:extLst>
              <a:ext uri="{FF2B5EF4-FFF2-40B4-BE49-F238E27FC236}">
                <a16:creationId xmlns:a16="http://schemas.microsoft.com/office/drawing/2014/main" id="{0D81D0D6-D129-422B-58A2-9A7AA9E43451}"/>
              </a:ext>
            </a:extLst>
          </p:cNvPr>
          <p:cNvSpPr>
            <a:spLocks noGrp="1"/>
          </p:cNvSpPr>
          <p:nvPr/>
        </p:nvSpPr>
        <p:spPr>
          <a:xfrm>
            <a:off x="506882" y="4669832"/>
            <a:ext cx="8328098" cy="261610"/>
          </a:xfrm>
          <a:prstGeom prst="rect">
            <a:avLst/>
          </a:prstGeom>
          <a:noFill/>
        </p:spPr>
        <p:txBody>
          <a:bodyPr wrap="square">
            <a:spAutoFit/>
          </a:bodyPr>
          <a:lstStyle/>
          <a:p>
            <a:pPr algn="ctr">
              <a:buNone/>
            </a:pPr>
            <a:r>
              <a:rPr sz="1100" b="1" i="1">
                <a:latin typeface="Times New Roman"/>
                <a:ea typeface="Times New Roman"/>
                <a:cs typeface="Times New Roman"/>
              </a:rPr>
              <a:t>Table 7: Full-test summary for flat intervention penalty</a:t>
            </a:r>
          </a:p>
        </p:txBody>
      </p:sp>
      <p:pic>
        <p:nvPicPr>
          <p:cNvPr id="40" name="Picture 2"/>
          <p:cNvPicPr>
            <a:picLocks noChangeAspect="1"/>
          </p:cNvPicPr>
          <p:nvPr/>
        </p:nvPicPr>
        <p:blipFill>
          <a:blip r:embed="rId7"/>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2126931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2866C-DE17-77EC-6B13-673AC3FBEBDE}"/>
              </a:ext>
            </a:extLst>
          </p:cNvPr>
          <p:cNvSpPr>
            <a:spLocks noGrp="1"/>
          </p:cNvSpPr>
          <p:nvPr>
            <p:ph type="title"/>
          </p:nvPr>
        </p:nvSpPr>
        <p:spPr>
          <a:xfrm>
            <a:off x="904875" y="252828"/>
            <a:ext cx="7532115" cy="601301"/>
          </a:xfrm>
        </p:spPr>
        <p:txBody>
          <a:bodyPr>
            <a:normAutofit/>
          </a:bodyPr>
          <a:lstStyle/>
          <a:p>
            <a:r>
              <a:t>IEEE 14: Realistic behavior, Results</a:t>
            </a:r>
          </a:p>
        </p:txBody>
      </p:sp>
      <p:sp>
        <p:nvSpPr>
          <p:cNvPr id="5" name="Espace réservé du numéro de diapositive 4">
            <a:extLst>
              <a:ext uri="{FF2B5EF4-FFF2-40B4-BE49-F238E27FC236}">
                <a16:creationId xmlns:a16="http://schemas.microsoft.com/office/drawing/2014/main" id="{237DF865-FCD2-96A2-1BC9-C0D65AE82B56}"/>
              </a:ext>
            </a:extLst>
          </p:cNvPr>
          <p:cNvSpPr>
            <a:spLocks noGrp="1"/>
          </p:cNvSpPr>
          <p:nvPr>
            <p:ph type="sldNum" idx="12"/>
          </p:nvPr>
        </p:nvSpPr>
        <p:spPr/>
        <p:txBody>
          <a:bodyPr/>
          <a:lstStyle/>
          <a:p>
            <a:r>
              <a:t>8</a:t>
            </a:r>
          </a:p>
        </p:txBody>
      </p:sp>
      <p:pic>
        <p:nvPicPr>
          <p:cNvPr id="15" name="Image 9"/>
          <p:cNvPicPr>
            <a:picLocks noChangeAspect="1"/>
          </p:cNvPicPr>
          <p:nvPr/>
        </p:nvPicPr>
        <p:blipFill>
          <a:blip r:embed="rId3"/>
          <a:stretch>
            <a:fillRect/>
          </a:stretch>
        </p:blipFill>
        <p:spPr>
          <a:xfrm>
            <a:off x="98932" y="1025207"/>
            <a:ext cx="4572000" cy="1758496"/>
          </a:xfrm>
          <a:prstGeom prst="rect">
            <a:avLst/>
          </a:prstGeom>
        </p:spPr>
      </p:pic>
      <p:sp>
        <p:nvSpPr>
          <p:cNvPr id="3" name="ZoneTexte 2">
            <a:extLst>
              <a:ext uri="{FF2B5EF4-FFF2-40B4-BE49-F238E27FC236}">
                <a16:creationId xmlns:a16="http://schemas.microsoft.com/office/drawing/2014/main" id="{E68C98FC-2A4B-18F1-8506-18D30B106053}"/>
              </a:ext>
            </a:extLst>
          </p:cNvPr>
          <p:cNvSpPr>
            <a:spLocks noGrp="1"/>
          </p:cNvSpPr>
          <p:nvPr/>
        </p:nvSpPr>
        <p:spPr>
          <a:xfrm>
            <a:off x="98932" y="2802021"/>
            <a:ext cx="4572000" cy="297118"/>
          </a:xfrm>
          <a:prstGeom prst="rect">
            <a:avLst/>
          </a:prstGeom>
          <a:noFill/>
        </p:spPr>
        <p:txBody>
          <a:bodyPr wrap="square">
            <a:spAutoFit/>
          </a:bodyPr>
          <a:lstStyle/>
          <a:p>
            <a:pPr algn="ctr">
              <a:buNone/>
            </a:pPr>
            <a:r>
              <a:rPr sz="1100" b="1" i="1">
                <a:latin typeface="Times New Roman"/>
                <a:ea typeface="Times New Roman"/>
                <a:cs typeface="Times New Roman"/>
              </a:rPr>
              <a:t>Fig 12: Episodic survival during training, gated intervention penalty</a:t>
            </a:r>
          </a:p>
        </p:txBody>
      </p:sp>
      <p:pic>
        <p:nvPicPr>
          <p:cNvPr id="17" name="Image 20"/>
          <p:cNvPicPr>
            <a:picLocks noChangeAspect="1"/>
          </p:cNvPicPr>
          <p:nvPr/>
        </p:nvPicPr>
        <p:blipFill>
          <a:blip r:embed="rId4"/>
          <a:srcRect t="12194"/>
          <a:stretch>
            <a:fillRect/>
          </a:stretch>
        </p:blipFill>
        <p:spPr>
          <a:xfrm>
            <a:off x="4764961" y="955887"/>
            <a:ext cx="4379038" cy="1825795"/>
          </a:xfrm>
          <a:prstGeom prst="rect">
            <a:avLst/>
          </a:prstGeom>
        </p:spPr>
      </p:pic>
      <p:sp>
        <p:nvSpPr>
          <p:cNvPr id="4" name="ZoneTexte 3">
            <a:extLst>
              <a:ext uri="{FF2B5EF4-FFF2-40B4-BE49-F238E27FC236}">
                <a16:creationId xmlns:a16="http://schemas.microsoft.com/office/drawing/2014/main" id="{A8620D8C-60DD-997B-294D-1EC778ED358E}"/>
              </a:ext>
            </a:extLst>
          </p:cNvPr>
          <p:cNvSpPr>
            <a:spLocks noGrp="1"/>
          </p:cNvSpPr>
          <p:nvPr/>
        </p:nvSpPr>
        <p:spPr>
          <a:xfrm>
            <a:off x="4764960" y="2807433"/>
            <a:ext cx="4280751" cy="291707"/>
          </a:xfrm>
          <a:prstGeom prst="rect">
            <a:avLst/>
          </a:prstGeom>
          <a:noFill/>
        </p:spPr>
        <p:txBody>
          <a:bodyPr wrap="square">
            <a:spAutoFit/>
          </a:bodyPr>
          <a:lstStyle/>
          <a:p>
            <a:pPr algn="ctr">
              <a:buNone/>
            </a:pPr>
            <a:r>
              <a:rPr sz="1100" b="1" i="1">
                <a:latin typeface="Times New Roman"/>
                <a:ea typeface="Times New Roman"/>
                <a:cs typeface="Times New Roman"/>
              </a:rPr>
              <a:t>Fig 13: action-0 fraction per agent, gated intervention penalty</a:t>
            </a:r>
          </a:p>
        </p:txBody>
      </p:sp>
      <p:pic>
        <p:nvPicPr>
          <p:cNvPr id="19" name="Image 14"/>
          <p:cNvPicPr>
            <a:picLocks noChangeAspect="1"/>
          </p:cNvPicPr>
          <p:nvPr/>
        </p:nvPicPr>
        <p:blipFill>
          <a:blip r:embed="rId5"/>
          <a:srcRect t="19408"/>
          <a:stretch>
            <a:fillRect/>
          </a:stretch>
        </p:blipFill>
        <p:spPr>
          <a:xfrm>
            <a:off x="401388" y="3512397"/>
            <a:ext cx="8539088" cy="1293499"/>
          </a:xfrm>
          <a:prstGeom prst="rect">
            <a:avLst/>
          </a:prstGeom>
        </p:spPr>
      </p:pic>
      <p:sp>
        <p:nvSpPr>
          <p:cNvPr id="8" name="ZoneTexte 7">
            <a:extLst>
              <a:ext uri="{FF2B5EF4-FFF2-40B4-BE49-F238E27FC236}">
                <a16:creationId xmlns:a16="http://schemas.microsoft.com/office/drawing/2014/main" id="{1D8E934C-1DBD-9889-9777-F3C9D4BFB579}"/>
              </a:ext>
            </a:extLst>
          </p:cNvPr>
          <p:cNvSpPr>
            <a:spLocks noGrp="1"/>
          </p:cNvSpPr>
          <p:nvPr/>
        </p:nvSpPr>
        <p:spPr>
          <a:xfrm>
            <a:off x="401387" y="4669832"/>
            <a:ext cx="8539087" cy="261610"/>
          </a:xfrm>
          <a:prstGeom prst="rect">
            <a:avLst/>
          </a:prstGeom>
          <a:noFill/>
        </p:spPr>
        <p:txBody>
          <a:bodyPr wrap="square">
            <a:spAutoFit/>
          </a:bodyPr>
          <a:lstStyle/>
          <a:p>
            <a:pPr algn="ctr">
              <a:buNone/>
            </a:pPr>
            <a:r>
              <a:rPr sz="1100" b="1" i="1">
                <a:latin typeface="Times New Roman"/>
                <a:ea typeface="Times New Roman"/>
                <a:cs typeface="Times New Roman"/>
              </a:rPr>
              <a:t>Table 8: Full-test summary for gated intervention penalty</a:t>
            </a:r>
          </a:p>
        </p:txBody>
      </p:sp>
      <p:pic>
        <p:nvPicPr>
          <p:cNvPr id="21" name="Picture 2"/>
          <p:cNvPicPr>
            <a:picLocks noChangeAspect="1"/>
          </p:cNvPicPr>
          <p:nvPr/>
        </p:nvPicPr>
        <p:blipFill>
          <a:blip r:embed="rId6"/>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339203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A6C078-A971-1F1A-4675-14B840C84153}"/>
              </a:ext>
            </a:extLst>
          </p:cNvPr>
          <p:cNvSpPr>
            <a:spLocks noGrp="1"/>
          </p:cNvSpPr>
          <p:nvPr>
            <p:ph type="title"/>
          </p:nvPr>
        </p:nvSpPr>
        <p:spPr>
          <a:xfrm>
            <a:off x="904875" y="252828"/>
            <a:ext cx="7532115" cy="601301"/>
          </a:xfrm>
        </p:spPr>
        <p:txBody>
          <a:bodyPr>
            <a:normAutofit/>
          </a:bodyPr>
          <a:lstStyle/>
          <a:p>
            <a:r>
              <a:t>IEEE 14: Realistic behavior, Results</a:t>
            </a:r>
          </a:p>
        </p:txBody>
      </p:sp>
      <p:sp>
        <p:nvSpPr>
          <p:cNvPr id="5" name="Espace réservé du numéro de diapositive 4">
            <a:extLst>
              <a:ext uri="{FF2B5EF4-FFF2-40B4-BE49-F238E27FC236}">
                <a16:creationId xmlns:a16="http://schemas.microsoft.com/office/drawing/2014/main" id="{3DC5C6FB-18D4-2CBD-22E0-0D0C29C3076F}"/>
              </a:ext>
            </a:extLst>
          </p:cNvPr>
          <p:cNvSpPr>
            <a:spLocks noGrp="1"/>
          </p:cNvSpPr>
          <p:nvPr>
            <p:ph type="sldNum" idx="12"/>
          </p:nvPr>
        </p:nvSpPr>
        <p:spPr/>
        <p:txBody>
          <a:bodyPr/>
          <a:lstStyle/>
          <a:p>
            <a:r>
              <a:t>8</a:t>
            </a:r>
          </a:p>
        </p:txBody>
      </p:sp>
      <p:pic>
        <p:nvPicPr>
          <p:cNvPr id="24" name="Image 9"/>
          <p:cNvPicPr>
            <a:picLocks noChangeAspect="1"/>
          </p:cNvPicPr>
          <p:nvPr/>
        </p:nvPicPr>
        <p:blipFill>
          <a:blip r:embed="rId3"/>
          <a:srcRect t="16224"/>
          <a:stretch>
            <a:fillRect/>
          </a:stretch>
        </p:blipFill>
        <p:spPr>
          <a:xfrm>
            <a:off x="685800" y="3458094"/>
            <a:ext cx="7772400" cy="1407605"/>
          </a:xfrm>
          <a:prstGeom prst="rect">
            <a:avLst/>
          </a:prstGeom>
        </p:spPr>
      </p:pic>
      <p:pic>
        <p:nvPicPr>
          <p:cNvPr id="25" name="Image 5"/>
          <p:cNvPicPr>
            <a:picLocks noChangeAspect="1"/>
          </p:cNvPicPr>
          <p:nvPr/>
        </p:nvPicPr>
        <p:blipFill>
          <a:blip r:embed="rId4"/>
          <a:stretch>
            <a:fillRect/>
          </a:stretch>
        </p:blipFill>
        <p:spPr>
          <a:xfrm>
            <a:off x="222965" y="994279"/>
            <a:ext cx="4278386" cy="1764613"/>
          </a:xfrm>
          <a:prstGeom prst="rect">
            <a:avLst/>
          </a:prstGeom>
        </p:spPr>
      </p:pic>
      <p:sp>
        <p:nvSpPr>
          <p:cNvPr id="13" name="ZoneTexte 12">
            <a:extLst>
              <a:ext uri="{FF2B5EF4-FFF2-40B4-BE49-F238E27FC236}">
                <a16:creationId xmlns:a16="http://schemas.microsoft.com/office/drawing/2014/main" id="{6896FDEE-D802-F894-4DC1-B3612D660DFD}"/>
              </a:ext>
            </a:extLst>
          </p:cNvPr>
          <p:cNvSpPr>
            <a:spLocks noGrp="1"/>
          </p:cNvSpPr>
          <p:nvPr/>
        </p:nvSpPr>
        <p:spPr>
          <a:xfrm>
            <a:off x="222965" y="2714546"/>
            <a:ext cx="4349036" cy="430887"/>
          </a:xfrm>
          <a:prstGeom prst="rect">
            <a:avLst/>
          </a:prstGeom>
          <a:noFill/>
        </p:spPr>
        <p:txBody>
          <a:bodyPr wrap="square">
            <a:spAutoFit/>
          </a:bodyPr>
          <a:lstStyle/>
          <a:p>
            <a:pPr algn="ctr">
              <a:buNone/>
            </a:pPr>
            <a:r>
              <a:rPr sz="1100" b="1" i="1">
                <a:latin typeface="Times New Roman"/>
                <a:ea typeface="Times New Roman"/>
                <a:cs typeface="Times New Roman"/>
              </a:rPr>
              <a:t>Fig 14: Episodic survival during training, adaptative intervention budget</a:t>
            </a:r>
          </a:p>
        </p:txBody>
      </p:sp>
      <p:pic>
        <p:nvPicPr>
          <p:cNvPr id="27" name="Image 11"/>
          <p:cNvPicPr>
            <a:picLocks noChangeAspect="1"/>
          </p:cNvPicPr>
          <p:nvPr/>
        </p:nvPicPr>
        <p:blipFill>
          <a:blip r:embed="rId5"/>
          <a:srcRect t="9314"/>
          <a:stretch>
            <a:fillRect/>
          </a:stretch>
        </p:blipFill>
        <p:spPr>
          <a:xfrm>
            <a:off x="4642651" y="935329"/>
            <a:ext cx="4125816" cy="1789285"/>
          </a:xfrm>
          <a:prstGeom prst="rect">
            <a:avLst/>
          </a:prstGeom>
        </p:spPr>
      </p:pic>
      <p:sp>
        <p:nvSpPr>
          <p:cNvPr id="14" name="ZoneTexte 13">
            <a:extLst>
              <a:ext uri="{FF2B5EF4-FFF2-40B4-BE49-F238E27FC236}">
                <a16:creationId xmlns:a16="http://schemas.microsoft.com/office/drawing/2014/main" id="{09340FDC-7FD7-589E-4FDE-94AA05CE4D61}"/>
              </a:ext>
            </a:extLst>
          </p:cNvPr>
          <p:cNvSpPr>
            <a:spLocks noGrp="1"/>
          </p:cNvSpPr>
          <p:nvPr/>
        </p:nvSpPr>
        <p:spPr>
          <a:xfrm>
            <a:off x="4642651" y="2738122"/>
            <a:ext cx="4125816" cy="261610"/>
          </a:xfrm>
          <a:prstGeom prst="rect">
            <a:avLst/>
          </a:prstGeom>
          <a:noFill/>
        </p:spPr>
        <p:txBody>
          <a:bodyPr wrap="square">
            <a:spAutoFit/>
          </a:bodyPr>
          <a:lstStyle/>
          <a:p>
            <a:pPr algn="ctr">
              <a:buNone/>
            </a:pPr>
            <a:r>
              <a:rPr sz="1100" b="1" i="1">
                <a:latin typeface="Times New Roman"/>
                <a:ea typeface="Times New Roman"/>
                <a:cs typeface="Times New Roman"/>
              </a:rPr>
              <a:t>Fig 15: action-0 fraction per agent, adaptative intervention budget</a:t>
            </a:r>
          </a:p>
        </p:txBody>
      </p:sp>
      <p:sp>
        <p:nvSpPr>
          <p:cNvPr id="17" name="ZoneTexte 16">
            <a:extLst>
              <a:ext uri="{FF2B5EF4-FFF2-40B4-BE49-F238E27FC236}">
                <a16:creationId xmlns:a16="http://schemas.microsoft.com/office/drawing/2014/main" id="{C72B9A28-FFA1-5E54-014C-2BE6D2896D42}"/>
              </a:ext>
            </a:extLst>
          </p:cNvPr>
          <p:cNvSpPr>
            <a:spLocks noGrp="1"/>
          </p:cNvSpPr>
          <p:nvPr/>
        </p:nvSpPr>
        <p:spPr>
          <a:xfrm>
            <a:off x="685800" y="4722524"/>
            <a:ext cx="7751190" cy="261610"/>
          </a:xfrm>
          <a:prstGeom prst="rect">
            <a:avLst/>
          </a:prstGeom>
          <a:noFill/>
        </p:spPr>
        <p:txBody>
          <a:bodyPr wrap="square">
            <a:spAutoFit/>
          </a:bodyPr>
          <a:lstStyle/>
          <a:p>
            <a:pPr algn="ctr">
              <a:buNone/>
            </a:pPr>
            <a:r>
              <a:rPr sz="1100" b="1" i="1">
                <a:latin typeface="Times New Roman"/>
                <a:ea typeface="Times New Roman"/>
                <a:cs typeface="Times New Roman"/>
              </a:rPr>
              <a:t>Table 9: Full-test summary adaptative intervention budget</a:t>
            </a:r>
          </a:p>
        </p:txBody>
      </p:sp>
      <p:pic>
        <p:nvPicPr>
          <p:cNvPr id="30" name="Picture 2"/>
          <p:cNvPicPr>
            <a:picLocks noChangeAspect="1"/>
          </p:cNvPicPr>
          <p:nvPr/>
        </p:nvPicPr>
        <p:blipFill>
          <a:blip r:embed="rId6"/>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3987101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75064D-09B2-F7B9-69E7-86991DA32C17}"/>
              </a:ext>
            </a:extLst>
          </p:cNvPr>
          <p:cNvSpPr>
            <a:spLocks noGrp="1"/>
          </p:cNvSpPr>
          <p:nvPr>
            <p:ph type="title"/>
          </p:nvPr>
        </p:nvSpPr>
        <p:spPr>
          <a:xfrm>
            <a:off x="904875" y="252828"/>
            <a:ext cx="7532115" cy="601301"/>
          </a:xfrm>
        </p:spPr>
        <p:txBody>
          <a:bodyPr>
            <a:normAutofit/>
          </a:bodyPr>
          <a:lstStyle/>
          <a:p>
            <a:r>
              <a:t>IEEE 14: Realistic behavior, Results</a:t>
            </a:r>
          </a:p>
        </p:txBody>
      </p:sp>
      <p:sp>
        <p:nvSpPr>
          <p:cNvPr id="5" name="Espace réservé du numéro de diapositive 4">
            <a:extLst>
              <a:ext uri="{FF2B5EF4-FFF2-40B4-BE49-F238E27FC236}">
                <a16:creationId xmlns:a16="http://schemas.microsoft.com/office/drawing/2014/main" id="{1F9E5C4D-A6F5-95AA-D1B3-8348562697E2}"/>
              </a:ext>
            </a:extLst>
          </p:cNvPr>
          <p:cNvSpPr>
            <a:spLocks noGrp="1"/>
          </p:cNvSpPr>
          <p:nvPr>
            <p:ph type="sldNum" idx="12"/>
          </p:nvPr>
        </p:nvSpPr>
        <p:spPr/>
        <p:txBody>
          <a:bodyPr/>
          <a:lstStyle/>
          <a:p>
            <a:r>
              <a:t>8</a:t>
            </a:r>
          </a:p>
        </p:txBody>
      </p:sp>
      <p:pic>
        <p:nvPicPr>
          <p:cNvPr id="18" name="Image 8"/>
          <p:cNvPicPr>
            <a:picLocks noChangeAspect="1"/>
          </p:cNvPicPr>
          <p:nvPr/>
        </p:nvPicPr>
        <p:blipFill>
          <a:blip r:embed="rId3"/>
          <a:srcRect t="9624"/>
          <a:stretch>
            <a:fillRect/>
          </a:stretch>
        </p:blipFill>
        <p:spPr>
          <a:xfrm>
            <a:off x="1995293" y="854129"/>
            <a:ext cx="5132203" cy="2283396"/>
          </a:xfrm>
          <a:prstGeom prst="rect">
            <a:avLst/>
          </a:prstGeom>
        </p:spPr>
      </p:pic>
      <p:sp>
        <p:nvSpPr>
          <p:cNvPr id="11" name="ZoneTexte 10">
            <a:extLst>
              <a:ext uri="{FF2B5EF4-FFF2-40B4-BE49-F238E27FC236}">
                <a16:creationId xmlns:a16="http://schemas.microsoft.com/office/drawing/2014/main" id="{30F5CE1D-1EAF-1821-68BC-911EB25F3F15}"/>
              </a:ext>
            </a:extLst>
          </p:cNvPr>
          <p:cNvSpPr>
            <a:spLocks noGrp="1"/>
          </p:cNvSpPr>
          <p:nvPr/>
        </p:nvSpPr>
        <p:spPr>
          <a:xfrm>
            <a:off x="1995293" y="3016911"/>
            <a:ext cx="5132202" cy="261610"/>
          </a:xfrm>
          <a:prstGeom prst="rect">
            <a:avLst/>
          </a:prstGeom>
          <a:noFill/>
        </p:spPr>
        <p:txBody>
          <a:bodyPr wrap="square">
            <a:spAutoFit/>
          </a:bodyPr>
          <a:lstStyle/>
          <a:p>
            <a:pPr algn="ctr">
              <a:buNone/>
            </a:pPr>
            <a:r>
              <a:rPr sz="1100" b="1" i="1">
                <a:latin typeface="Times New Roman"/>
                <a:ea typeface="Times New Roman"/>
                <a:cs typeface="Times New Roman"/>
              </a:rPr>
              <a:t>Fig 15: action-0 fraction per agent, student/teacher</a:t>
            </a:r>
          </a:p>
        </p:txBody>
      </p:sp>
      <p:pic>
        <p:nvPicPr>
          <p:cNvPr id="20" name="Image 9"/>
          <p:cNvPicPr>
            <a:picLocks noChangeAspect="1"/>
          </p:cNvPicPr>
          <p:nvPr/>
        </p:nvPicPr>
        <p:blipFill>
          <a:blip r:embed="rId4"/>
          <a:srcRect t="18539"/>
          <a:stretch>
            <a:fillRect/>
          </a:stretch>
        </p:blipFill>
        <p:spPr>
          <a:xfrm>
            <a:off x="685800" y="3491202"/>
            <a:ext cx="7772400" cy="1253404"/>
          </a:xfrm>
          <a:prstGeom prst="rect">
            <a:avLst/>
          </a:prstGeom>
        </p:spPr>
      </p:pic>
      <p:sp>
        <p:nvSpPr>
          <p:cNvPr id="12" name="ZoneTexte 11">
            <a:extLst>
              <a:ext uri="{FF2B5EF4-FFF2-40B4-BE49-F238E27FC236}">
                <a16:creationId xmlns:a16="http://schemas.microsoft.com/office/drawing/2014/main" id="{06D4A8C8-6DD3-D1BC-E3EA-392EFB1D3312}"/>
              </a:ext>
            </a:extLst>
          </p:cNvPr>
          <p:cNvSpPr>
            <a:spLocks noGrp="1"/>
          </p:cNvSpPr>
          <p:nvPr/>
        </p:nvSpPr>
        <p:spPr>
          <a:xfrm>
            <a:off x="685800" y="4629062"/>
            <a:ext cx="7751190" cy="261610"/>
          </a:xfrm>
          <a:prstGeom prst="rect">
            <a:avLst/>
          </a:prstGeom>
          <a:noFill/>
        </p:spPr>
        <p:txBody>
          <a:bodyPr wrap="square">
            <a:spAutoFit/>
          </a:bodyPr>
          <a:lstStyle/>
          <a:p>
            <a:pPr algn="ctr">
              <a:buNone/>
            </a:pPr>
            <a:r>
              <a:rPr sz="1100" b="1" i="1">
                <a:latin typeface="Times New Roman"/>
                <a:ea typeface="Times New Roman"/>
                <a:cs typeface="Times New Roman"/>
              </a:rPr>
              <a:t>Table 10: Full-test summary, student/teacher</a:t>
            </a:r>
          </a:p>
        </p:txBody>
      </p:sp>
      <p:pic>
        <p:nvPicPr>
          <p:cNvPr id="22" name="Picture 2"/>
          <p:cNvPicPr>
            <a:picLocks noChangeAspect="1"/>
          </p:cNvPicPr>
          <p:nvPr/>
        </p:nvPicPr>
        <p:blipFill>
          <a:blip r:embed="rId5"/>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1863189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3B7666-58D5-3E86-9503-EDD0BC159FF2}"/>
              </a:ext>
            </a:extLst>
          </p:cNvPr>
          <p:cNvSpPr>
            <a:spLocks noGrp="1"/>
          </p:cNvSpPr>
          <p:nvPr>
            <p:ph type="title"/>
          </p:nvPr>
        </p:nvSpPr>
        <p:spPr>
          <a:xfrm>
            <a:off x="904875" y="252828"/>
            <a:ext cx="7532115" cy="601301"/>
          </a:xfrm>
        </p:spPr>
        <p:txBody>
          <a:bodyPr>
            <a:normAutofit/>
          </a:bodyPr>
          <a:lstStyle/>
          <a:p>
            <a:r>
              <a:t>IEEE 14: Realistic behavior, Results</a:t>
            </a:r>
          </a:p>
        </p:txBody>
      </p:sp>
      <p:sp>
        <p:nvSpPr>
          <p:cNvPr id="5" name="Espace réservé du numéro de diapositive 4">
            <a:extLst>
              <a:ext uri="{FF2B5EF4-FFF2-40B4-BE49-F238E27FC236}">
                <a16:creationId xmlns:a16="http://schemas.microsoft.com/office/drawing/2014/main" id="{F22887F8-B17A-C2FE-E3AB-B72A6F4A05CF}"/>
              </a:ext>
            </a:extLst>
          </p:cNvPr>
          <p:cNvSpPr>
            <a:spLocks noGrp="1"/>
          </p:cNvSpPr>
          <p:nvPr>
            <p:ph type="sldNum" idx="12"/>
          </p:nvPr>
        </p:nvSpPr>
        <p:spPr/>
        <p:txBody>
          <a:bodyPr/>
          <a:lstStyle/>
          <a:p>
            <a:r>
              <a:t>8</a:t>
            </a:r>
          </a:p>
        </p:txBody>
      </p:sp>
      <p:pic>
        <p:nvPicPr>
          <p:cNvPr id="14" name="Image 7"/>
          <p:cNvPicPr>
            <a:picLocks noChangeAspect="1"/>
          </p:cNvPicPr>
          <p:nvPr/>
        </p:nvPicPr>
        <p:blipFill>
          <a:blip r:embed="rId3"/>
          <a:srcRect t="13893"/>
          <a:stretch>
            <a:fillRect/>
          </a:stretch>
        </p:blipFill>
        <p:spPr>
          <a:xfrm>
            <a:off x="1629278" y="1381539"/>
            <a:ext cx="6083308" cy="3133490"/>
          </a:xfrm>
          <a:prstGeom prst="rect">
            <a:avLst/>
          </a:prstGeom>
        </p:spPr>
      </p:pic>
      <p:sp>
        <p:nvSpPr>
          <p:cNvPr id="9" name="ZoneTexte 8">
            <a:extLst>
              <a:ext uri="{FF2B5EF4-FFF2-40B4-BE49-F238E27FC236}">
                <a16:creationId xmlns:a16="http://schemas.microsoft.com/office/drawing/2014/main" id="{9F9DC808-BFCE-9C33-95EA-ADABFAA6884F}"/>
              </a:ext>
            </a:extLst>
          </p:cNvPr>
          <p:cNvSpPr>
            <a:spLocks noGrp="1"/>
          </p:cNvSpPr>
          <p:nvPr/>
        </p:nvSpPr>
        <p:spPr>
          <a:xfrm>
            <a:off x="1629278" y="4515029"/>
            <a:ext cx="6807712" cy="261610"/>
          </a:xfrm>
          <a:prstGeom prst="rect">
            <a:avLst/>
          </a:prstGeom>
          <a:noFill/>
        </p:spPr>
        <p:txBody>
          <a:bodyPr wrap="square">
            <a:spAutoFit/>
          </a:bodyPr>
          <a:lstStyle/>
          <a:p>
            <a:pPr algn="ctr">
              <a:buNone/>
            </a:pPr>
            <a:r>
              <a:rPr sz="1100" b="1" i="1">
                <a:latin typeface="Times New Roman"/>
                <a:ea typeface="Times New Roman"/>
                <a:cs typeface="Times New Roman"/>
              </a:rPr>
              <a:t>Fig 16: Action-0 / episodic survival tradeoff for all runs</a:t>
            </a:r>
          </a:p>
        </p:txBody>
      </p:sp>
      <p:pic>
        <p:nvPicPr>
          <p:cNvPr id="16" name="Picture 2"/>
          <p:cNvPicPr>
            <a:picLocks noChangeAspect="1"/>
          </p:cNvPicPr>
          <p:nvPr/>
        </p:nvPicPr>
        <p:blipFill>
          <a:blip r:embed="rId4"/>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3583981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3BC768-5E5F-346E-BB48-3EC6D35259AA}"/>
              </a:ext>
            </a:extLst>
          </p:cNvPr>
          <p:cNvSpPr>
            <a:spLocks noGrp="1"/>
          </p:cNvSpPr>
          <p:nvPr>
            <p:ph type="title"/>
          </p:nvPr>
        </p:nvSpPr>
        <p:spPr>
          <a:xfrm>
            <a:off x="904875" y="252828"/>
            <a:ext cx="7532115" cy="601301"/>
          </a:xfrm>
        </p:spPr>
        <p:txBody>
          <a:bodyPr>
            <a:normAutofit/>
          </a:bodyPr>
          <a:lstStyle/>
          <a:p>
            <a:r>
              <a:t>WCCI 2020 (36 substations): environment setup</a:t>
            </a:r>
          </a:p>
        </p:txBody>
      </p:sp>
      <p:sp>
        <p:nvSpPr>
          <p:cNvPr id="5" name="Espace réservé du numéro de diapositive 4">
            <a:extLst>
              <a:ext uri="{FF2B5EF4-FFF2-40B4-BE49-F238E27FC236}">
                <a16:creationId xmlns:a16="http://schemas.microsoft.com/office/drawing/2014/main" id="{AD481400-AE95-5FD3-E128-AC8F61962A1B}"/>
              </a:ext>
            </a:extLst>
          </p:cNvPr>
          <p:cNvSpPr>
            <a:spLocks noGrp="1"/>
          </p:cNvSpPr>
          <p:nvPr>
            <p:ph type="sldNum" idx="12"/>
          </p:nvPr>
        </p:nvSpPr>
        <p:spPr/>
        <p:txBody>
          <a:bodyPr/>
          <a:lstStyle/>
          <a:p>
            <a:r>
              <a:t>8</a:t>
            </a:r>
          </a:p>
        </p:txBody>
      </p:sp>
      <p:graphicFrame>
        <p:nvGraphicFramePr>
          <p:cNvPr id="24" name="Tableau 3"/>
          <p:cNvGraphicFramePr/>
          <p:nvPr/>
        </p:nvGraphicFramePr>
        <p:xfrm>
          <a:off x="214377" y="1557365"/>
          <a:ext cx="4357624" cy="2279280"/>
        </p:xfrm>
        <a:graphic>
          <a:graphicData uri="http://schemas.openxmlformats.org/drawingml/2006/table">
            <a:tbl>
              <a:tblPr>
                <a:tableStyleId>{9D7B26C5-4107-4FEC-AEDC-1716B250A1EF}</a:tableStyleId>
              </a:tblPr>
              <a:tblGrid>
                <a:gridCol w="833027">
                  <a:extLst>
                    <a:ext uri="{9D8B030D-6E8A-4147-A177-3AD203B41FA5}">
                      <a16:colId xmlns:a16="http://schemas.microsoft.com/office/drawing/2014/main" val="20000"/>
                    </a:ext>
                  </a:extLst>
                </a:gridCol>
                <a:gridCol w="1818423">
                  <a:extLst>
                    <a:ext uri="{9D8B030D-6E8A-4147-A177-3AD203B41FA5}">
                      <a16:colId xmlns:a16="http://schemas.microsoft.com/office/drawing/2014/main" val="20001"/>
                    </a:ext>
                  </a:extLst>
                </a:gridCol>
                <a:gridCol w="1706174">
                  <a:extLst>
                    <a:ext uri="{9D8B030D-6E8A-4147-A177-3AD203B41FA5}">
                      <a16:colId xmlns:a16="http://schemas.microsoft.com/office/drawing/2014/main" val="20002"/>
                    </a:ext>
                  </a:extLst>
                </a:gridCol>
              </a:tblGrid>
              <a:tr h="454960">
                <a:tc>
                  <a:txBody>
                    <a:bodyPr/>
                    <a:lstStyle/>
                    <a:p>
                      <a:pPr>
                        <a:buNone/>
                      </a:pPr>
                      <a:r>
                        <a:rPr sz="1200" b="1"/>
                        <a:t>Agent</a:t>
                      </a:r>
                    </a:p>
                  </a:txBody>
                  <a:tcPr anchor="ctr"/>
                </a:tc>
                <a:tc>
                  <a:txBody>
                    <a:bodyPr/>
                    <a:lstStyle/>
                    <a:p>
                      <a:pPr>
                        <a:buNone/>
                      </a:pPr>
                      <a:r>
                        <a:rPr sz="1200" b="1"/>
                        <a:t>Controlled substations</a:t>
                      </a:r>
                    </a:p>
                  </a:txBody>
                  <a:tcPr anchor="ctr"/>
                </a:tc>
                <a:tc>
                  <a:txBody>
                    <a:bodyPr/>
                    <a:lstStyle/>
                    <a:p>
                      <a:pPr>
                        <a:buNone/>
                      </a:pPr>
                      <a:r>
                        <a:rPr sz="1200" b="1"/>
                        <a:t>Local discrete action space</a:t>
                      </a:r>
                    </a:p>
                  </a:txBody>
                  <a:tcPr anchor="ctr"/>
                </a:tc>
                <a:extLst>
                  <a:ext uri="{0D108BD9-81ED-4DB2-BD59-A6C34878D82A}">
                    <a16:rowId xmlns:a16="http://schemas.microsoft.com/office/drawing/2014/main" val="10000"/>
                  </a:ext>
                </a:extLst>
              </a:tr>
              <a:tr h="454960">
                <a:tc>
                  <a:txBody>
                    <a:bodyPr/>
                    <a:lstStyle/>
                    <a:p>
                      <a:pPr>
                        <a:buNone/>
                      </a:pPr>
                      <a:r>
                        <a:rPr sz="1200" b="1"/>
                        <a:t>Agent 0</a:t>
                      </a:r>
                    </a:p>
                  </a:txBody>
                  <a:tcPr anchor="ctr">
                    <a:solidFill>
                      <a:schemeClr val="accent1">
                        <a:lumMod val="20000"/>
                        <a:lumOff val="80000"/>
                      </a:schemeClr>
                    </a:solidFill>
                  </a:tcPr>
                </a:tc>
                <a:tc>
                  <a:txBody>
                    <a:bodyPr/>
                    <a:lstStyle/>
                    <a:p>
                      <a:pPr>
                        <a:buNone/>
                      </a:pPr>
                      <a:r>
                        <a:rPr sz="1200"/>
                        <a:t>0, 1, 2, 3, 4</a:t>
                      </a:r>
                    </a:p>
                  </a:txBody>
                  <a:tcPr anchor="ctr">
                    <a:solidFill>
                      <a:schemeClr val="accent1">
                        <a:lumMod val="20000"/>
                        <a:lumOff val="80000"/>
                      </a:schemeClr>
                    </a:solidFill>
                  </a:tcPr>
                </a:tc>
                <a:tc>
                  <a:txBody>
                    <a:bodyPr/>
                    <a:lstStyle/>
                    <a:p>
                      <a:pPr>
                        <a:buNone/>
                      </a:pPr>
                      <a:r>
                        <a:rPr sz="1200"/>
                        <a:t>77 actions</a:t>
                      </a:r>
                    </a:p>
                  </a:txBody>
                  <a:tcPr anchor="ctr">
                    <a:solidFill>
                      <a:schemeClr val="accent1">
                        <a:lumMod val="20000"/>
                        <a:lumOff val="80000"/>
                      </a:schemeClr>
                    </a:solidFill>
                  </a:tcPr>
                </a:tc>
                <a:extLst>
                  <a:ext uri="{0D108BD9-81ED-4DB2-BD59-A6C34878D82A}">
                    <a16:rowId xmlns:a16="http://schemas.microsoft.com/office/drawing/2014/main" val="10001"/>
                  </a:ext>
                </a:extLst>
              </a:tr>
              <a:tr h="454960">
                <a:tc>
                  <a:txBody>
                    <a:bodyPr/>
                    <a:lstStyle/>
                    <a:p>
                      <a:pPr>
                        <a:buNone/>
                      </a:pPr>
                      <a:r>
                        <a:rPr sz="1200" b="1"/>
                        <a:t>Agent 1</a:t>
                      </a:r>
                    </a:p>
                  </a:txBody>
                  <a:tcPr anchor="ctr">
                    <a:solidFill>
                      <a:schemeClr val="accent5">
                        <a:lumMod val="20000"/>
                        <a:lumOff val="80000"/>
                      </a:schemeClr>
                    </a:solidFill>
                  </a:tcPr>
                </a:tc>
                <a:tc>
                  <a:txBody>
                    <a:bodyPr/>
                    <a:lstStyle/>
                    <a:p>
                      <a:pPr>
                        <a:buNone/>
                      </a:pPr>
                      <a:r>
                        <a:rPr sz="1200"/>
                        <a:t>6, 7, 8, 9, 16</a:t>
                      </a:r>
                    </a:p>
                  </a:txBody>
                  <a:tcPr anchor="ctr">
                    <a:solidFill>
                      <a:schemeClr val="accent5">
                        <a:lumMod val="20000"/>
                        <a:lumOff val="80000"/>
                      </a:schemeClr>
                    </a:solidFill>
                  </a:tcPr>
                </a:tc>
                <a:tc>
                  <a:txBody>
                    <a:bodyPr/>
                    <a:lstStyle/>
                    <a:p>
                      <a:pPr>
                        <a:buNone/>
                      </a:pPr>
                      <a:r>
                        <a:rPr sz="1200"/>
                        <a:t>65,642 actions</a:t>
                      </a:r>
                    </a:p>
                  </a:txBody>
                  <a:tcPr anchor="ctr">
                    <a:solidFill>
                      <a:schemeClr val="accent5">
                        <a:lumMod val="20000"/>
                        <a:lumOff val="80000"/>
                      </a:schemeClr>
                    </a:solidFill>
                  </a:tcPr>
                </a:tc>
                <a:extLst>
                  <a:ext uri="{0D108BD9-81ED-4DB2-BD59-A6C34878D82A}">
                    <a16:rowId xmlns:a16="http://schemas.microsoft.com/office/drawing/2014/main" val="10002"/>
                  </a:ext>
                </a:extLst>
              </a:tr>
              <a:tr h="454960">
                <a:tc>
                  <a:txBody>
                    <a:bodyPr/>
                    <a:lstStyle/>
                    <a:p>
                      <a:pPr>
                        <a:buNone/>
                      </a:pPr>
                      <a:r>
                        <a:rPr sz="1200" b="1"/>
                        <a:t>Agent 2</a:t>
                      </a:r>
                    </a:p>
                  </a:txBody>
                  <a:tcPr anchor="ctr">
                    <a:solidFill>
                      <a:srgbClr val="00A79F">
                        <a:alpha val="20000"/>
                      </a:srgbClr>
                    </a:solidFill>
                  </a:tcPr>
                </a:tc>
                <a:tc>
                  <a:txBody>
                    <a:bodyPr/>
                    <a:lstStyle/>
                    <a:p>
                      <a:pPr>
                        <a:buNone/>
                      </a:pPr>
                      <a:r>
                        <a:rPr sz="1200"/>
                        <a:t>5, 10, 11, 12, 13, 14, 15, 32, 35</a:t>
                      </a:r>
                    </a:p>
                  </a:txBody>
                  <a:tcPr anchor="ctr">
                    <a:solidFill>
                      <a:srgbClr val="00A79F">
                        <a:alpha val="20000"/>
                      </a:srgbClr>
                    </a:solidFill>
                  </a:tcPr>
                </a:tc>
                <a:tc>
                  <a:txBody>
                    <a:bodyPr/>
                    <a:lstStyle/>
                    <a:p>
                      <a:pPr>
                        <a:buNone/>
                      </a:pPr>
                      <a:r>
                        <a:rPr sz="1200"/>
                        <a:t>127 actions</a:t>
                      </a:r>
                    </a:p>
                  </a:txBody>
                  <a:tcPr anchor="ctr">
                    <a:solidFill>
                      <a:srgbClr val="00A79F">
                        <a:alpha val="20000"/>
                      </a:srgbClr>
                    </a:solidFill>
                  </a:tcPr>
                </a:tc>
                <a:extLst>
                  <a:ext uri="{0D108BD9-81ED-4DB2-BD59-A6C34878D82A}">
                    <a16:rowId xmlns:a16="http://schemas.microsoft.com/office/drawing/2014/main" val="10003"/>
                  </a:ext>
                </a:extLst>
              </a:tr>
              <a:tr h="454960">
                <a:tc>
                  <a:txBody>
                    <a:bodyPr/>
                    <a:lstStyle/>
                    <a:p>
                      <a:pPr>
                        <a:buNone/>
                      </a:pPr>
                      <a:r>
                        <a:rPr sz="1200" b="1"/>
                        <a:t>Agent 3</a:t>
                      </a:r>
                    </a:p>
                  </a:txBody>
                  <a:tcPr anchor="ctr">
                    <a:solidFill>
                      <a:srgbClr val="0070C0">
                        <a:alpha val="20000"/>
                      </a:srgbClr>
                    </a:solidFill>
                  </a:tcPr>
                </a:tc>
                <a:tc>
                  <a:txBody>
                    <a:bodyPr/>
                    <a:lstStyle/>
                    <a:p>
                      <a:pPr>
                        <a:buNone/>
                      </a:pPr>
                      <a:r>
                        <a:rPr sz="1200"/>
                        <a:t>17–31, 33, 34</a:t>
                      </a:r>
                    </a:p>
                  </a:txBody>
                  <a:tcPr anchor="ctr">
                    <a:solidFill>
                      <a:srgbClr val="0070C0">
                        <a:alpha val="20000"/>
                      </a:srgbClr>
                    </a:solidFill>
                  </a:tcPr>
                </a:tc>
                <a:tc>
                  <a:txBody>
                    <a:bodyPr/>
                    <a:lstStyle/>
                    <a:p>
                      <a:pPr>
                        <a:buNone/>
                      </a:pPr>
                      <a:r>
                        <a:rPr sz="1200"/>
                        <a:t>1,119 actions</a:t>
                      </a:r>
                    </a:p>
                  </a:txBody>
                  <a:tcPr anchor="ctr">
                    <a:solidFill>
                      <a:srgbClr val="0070C0">
                        <a:alpha val="20000"/>
                      </a:srgbClr>
                    </a:solidFill>
                  </a:tcPr>
                </a:tc>
                <a:extLst>
                  <a:ext uri="{0D108BD9-81ED-4DB2-BD59-A6C34878D82A}">
                    <a16:rowId xmlns:a16="http://schemas.microsoft.com/office/drawing/2014/main" val="10004"/>
                  </a:ext>
                </a:extLst>
              </a:tr>
            </a:tbl>
          </a:graphicData>
        </a:graphic>
      </p:graphicFrame>
      <p:sp>
        <p:nvSpPr>
          <p:cNvPr id="17" name="ZoneTexte 16">
            <a:extLst>
              <a:ext uri="{FF2B5EF4-FFF2-40B4-BE49-F238E27FC236}">
                <a16:creationId xmlns:a16="http://schemas.microsoft.com/office/drawing/2014/main" id="{DB465458-E3A3-DFD9-610D-AF718A3ED8BE}"/>
              </a:ext>
            </a:extLst>
          </p:cNvPr>
          <p:cNvSpPr>
            <a:spLocks noGrp="1"/>
          </p:cNvSpPr>
          <p:nvPr/>
        </p:nvSpPr>
        <p:spPr>
          <a:xfrm>
            <a:off x="214378" y="3836645"/>
            <a:ext cx="4357622" cy="430887"/>
          </a:xfrm>
          <a:prstGeom prst="rect">
            <a:avLst/>
          </a:prstGeom>
          <a:noFill/>
        </p:spPr>
        <p:txBody>
          <a:bodyPr wrap="square">
            <a:spAutoFit/>
          </a:bodyPr>
          <a:lstStyle/>
          <a:p>
            <a:pPr algn="ctr">
              <a:buNone/>
            </a:pPr>
            <a:r>
              <a:rPr sz="1100" b="1" i="1">
                <a:latin typeface="Times New Roman"/>
                <a:ea typeface="Times New Roman"/>
                <a:cs typeface="Times New Roman"/>
              </a:rPr>
              <a:t>Table 11: Agent-to-substation assignments and action space for the local observation setup of WCCI</a:t>
            </a:r>
          </a:p>
        </p:txBody>
      </p:sp>
      <p:pic>
        <p:nvPicPr>
          <p:cNvPr id="26" name="Picture 2"/>
          <p:cNvPicPr>
            <a:picLocks noChangeAspect="1"/>
          </p:cNvPicPr>
          <p:nvPr/>
        </p:nvPicPr>
        <p:blipFill>
          <a:blip r:embed="rId3"/>
          <a:srcRect/>
          <a:stretch>
            <a:fillRect/>
          </a:stretch>
        </p:blipFill>
        <p:spPr>
          <a:xfrm>
            <a:off x="4872038" y="1443466"/>
            <a:ext cx="4078442" cy="2513798"/>
          </a:xfrm>
          <a:prstGeom prst="rect">
            <a:avLst/>
          </a:prstGeom>
        </p:spPr>
      </p:pic>
      <p:sp>
        <p:nvSpPr>
          <p:cNvPr id="9" name="Forme libre 8">
            <a:extLst>
              <a:ext uri="{FF2B5EF4-FFF2-40B4-BE49-F238E27FC236}">
                <a16:creationId xmlns:a16="http://schemas.microsoft.com/office/drawing/2014/main" id="{1DA91C47-5F24-04A5-4536-62649AC2A875}"/>
              </a:ext>
            </a:extLst>
          </p:cNvPr>
          <p:cNvSpPr>
            <a:spLocks noGrp="1"/>
          </p:cNvSpPr>
          <p:nvPr/>
        </p:nvSpPr>
        <p:spPr>
          <a:xfrm>
            <a:off x="5731658" y="1581940"/>
            <a:ext cx="1856210" cy="1523560"/>
          </a:xfrm>
          <a:custGeom>
            <a:avLst/>
            <a:gdLst>
              <a:gd name="csX0" fmla="*/ 991312 w 2281727"/>
              <a:gd name="csY0" fmla="*/ 0 h 1709159"/>
              <a:gd name="csX1" fmla="*/ 0 w 2281727"/>
              <a:gd name="csY1" fmla="*/ 401652 h 1709159"/>
              <a:gd name="csX2" fmla="*/ 17092 w 2281727"/>
              <a:gd name="csY2" fmla="*/ 734938 h 1709159"/>
              <a:gd name="csX3" fmla="*/ 333286 w 2281727"/>
              <a:gd name="csY3" fmla="*/ 837488 h 1709159"/>
              <a:gd name="csX4" fmla="*/ 1102408 w 2281727"/>
              <a:gd name="csY4" fmla="*/ 623843 h 1709159"/>
              <a:gd name="csX5" fmla="*/ 1845892 w 2281727"/>
              <a:gd name="csY5" fmla="*/ 1709159 h 1709159"/>
              <a:gd name="csX6" fmla="*/ 2281727 w 2281727"/>
              <a:gd name="csY6" fmla="*/ 1529697 h 1709159"/>
              <a:gd name="csX7" fmla="*/ 1640793 w 2281727"/>
              <a:gd name="csY7" fmla="*/ 846034 h 1709159"/>
              <a:gd name="csX8" fmla="*/ 1367327 w 2281727"/>
              <a:gd name="csY8" fmla="*/ 230736 h 1709159"/>
              <a:gd name="csX9" fmla="*/ 991312 w 2281727"/>
              <a:gd name="csY9" fmla="*/ 0 h 1709159"/>
            </a:gdLst>
            <a:ahLst/>
            <a:cxnLst/>
            <a:rect l="l" t="t" r="r" b="b"/>
            <a:pathLst>
              <a:path w="2281727" h="1709159">
                <a:moveTo>
                  <a:pt x="991312" y="0"/>
                </a:moveTo>
                <a:lnTo>
                  <a:pt x="0" y="401652"/>
                </a:lnTo>
                <a:lnTo>
                  <a:pt x="17092" y="734938"/>
                </a:lnTo>
                <a:lnTo>
                  <a:pt x="333286" y="837488"/>
                </a:lnTo>
                <a:lnTo>
                  <a:pt x="1102408" y="623843"/>
                </a:lnTo>
                <a:lnTo>
                  <a:pt x="1845892" y="1709159"/>
                </a:lnTo>
                <a:lnTo>
                  <a:pt x="2281727" y="1529697"/>
                </a:lnTo>
                <a:lnTo>
                  <a:pt x="1640793" y="846034"/>
                </a:lnTo>
                <a:lnTo>
                  <a:pt x="1367327" y="230736"/>
                </a:lnTo>
                <a:lnTo>
                  <a:pt x="991312" y="0"/>
                </a:lnTo>
                <a:close/>
              </a:path>
            </a:pathLst>
          </a:custGeom>
          <a:solidFill>
            <a:srgbClr val="F39869">
              <a:alpha val="20000"/>
            </a:srgbClr>
          </a:solidFill>
        </p:spPr>
        <p:style>
          <a:lnRef idx="2">
            <a:schemeClr val="accent5"/>
          </a:lnRef>
          <a:fillRef idx="1">
            <a:schemeClr val="lt1"/>
          </a:fillRef>
          <a:effectRef idx="0">
            <a:schemeClr val="accent5"/>
          </a:effectRef>
          <a:fontRef idx="minor">
            <a:schemeClr val="dk1"/>
          </a:fontRef>
        </p:style>
        <p:txBody>
          <a:bodyPr anchor="ctr"/>
          <a:lstStyle/>
          <a:p>
            <a:pPr algn="ctr">
              <a:buNone/>
            </a:pPr>
            <a:endParaRPr/>
          </a:p>
        </p:txBody>
      </p:sp>
      <p:sp>
        <p:nvSpPr>
          <p:cNvPr id="13" name="Forme libre 12">
            <a:extLst>
              <a:ext uri="{FF2B5EF4-FFF2-40B4-BE49-F238E27FC236}">
                <a16:creationId xmlns:a16="http://schemas.microsoft.com/office/drawing/2014/main" id="{546729E0-F572-5697-A31B-97FC2AA76EF6}"/>
              </a:ext>
            </a:extLst>
          </p:cNvPr>
          <p:cNvSpPr>
            <a:spLocks noGrp="1"/>
          </p:cNvSpPr>
          <p:nvPr/>
        </p:nvSpPr>
        <p:spPr>
          <a:xfrm>
            <a:off x="5974982" y="2160893"/>
            <a:ext cx="2238575" cy="1759711"/>
          </a:xfrm>
          <a:custGeom>
            <a:avLst/>
            <a:gdLst>
              <a:gd name="csX0" fmla="*/ 803304 w 2811566"/>
              <a:gd name="csY0" fmla="*/ 0 h 1862983"/>
              <a:gd name="csX1" fmla="*/ 299102 w 2811566"/>
              <a:gd name="csY1" fmla="*/ 290557 h 1862983"/>
              <a:gd name="csX2" fmla="*/ 0 w 2811566"/>
              <a:gd name="csY2" fmla="*/ 1179319 h 1862983"/>
              <a:gd name="csX3" fmla="*/ 1256231 w 2811566"/>
              <a:gd name="csY3" fmla="*/ 1768979 h 1862983"/>
              <a:gd name="csX4" fmla="*/ 2717562 w 2811566"/>
              <a:gd name="csY4" fmla="*/ 1862983 h 1862983"/>
              <a:gd name="csX5" fmla="*/ 2811566 w 2811566"/>
              <a:gd name="csY5" fmla="*/ 1555334 h 1862983"/>
              <a:gd name="csX6" fmla="*/ 1794616 w 2811566"/>
              <a:gd name="csY6" fmla="*/ 1427147 h 1862983"/>
              <a:gd name="csX7" fmla="*/ 803304 w 2811566"/>
              <a:gd name="csY7" fmla="*/ 0 h 1862983"/>
              <a:gd name="csX0" fmla="*/ 803304 w 2811566"/>
              <a:gd name="csY0" fmla="*/ 0 h 1862983"/>
              <a:gd name="csX1" fmla="*/ 418743 w 2811566"/>
              <a:gd name="csY1" fmla="*/ 264920 h 1862983"/>
              <a:gd name="csX2" fmla="*/ 0 w 2811566"/>
              <a:gd name="csY2" fmla="*/ 1179319 h 1862983"/>
              <a:gd name="csX3" fmla="*/ 1256231 w 2811566"/>
              <a:gd name="csY3" fmla="*/ 1768979 h 1862983"/>
              <a:gd name="csX4" fmla="*/ 2717562 w 2811566"/>
              <a:gd name="csY4" fmla="*/ 1862983 h 1862983"/>
              <a:gd name="csX5" fmla="*/ 2811566 w 2811566"/>
              <a:gd name="csY5" fmla="*/ 1555334 h 1862983"/>
              <a:gd name="csX6" fmla="*/ 1794616 w 2811566"/>
              <a:gd name="csY6" fmla="*/ 1427147 h 1862983"/>
              <a:gd name="csX7" fmla="*/ 803304 w 2811566"/>
              <a:gd name="csY7" fmla="*/ 0 h 1862983"/>
              <a:gd name="csX0" fmla="*/ 863125 w 2811566"/>
              <a:gd name="csY0" fmla="*/ 0 h 1974078"/>
              <a:gd name="csX1" fmla="*/ 418743 w 2811566"/>
              <a:gd name="csY1" fmla="*/ 376015 h 1974078"/>
              <a:gd name="csX2" fmla="*/ 0 w 2811566"/>
              <a:gd name="csY2" fmla="*/ 1290414 h 1974078"/>
              <a:gd name="csX3" fmla="*/ 1256231 w 2811566"/>
              <a:gd name="csY3" fmla="*/ 1880074 h 1974078"/>
              <a:gd name="csX4" fmla="*/ 2717562 w 2811566"/>
              <a:gd name="csY4" fmla="*/ 1974078 h 1974078"/>
              <a:gd name="csX5" fmla="*/ 2811566 w 2811566"/>
              <a:gd name="csY5" fmla="*/ 1666429 h 1974078"/>
              <a:gd name="csX6" fmla="*/ 1794616 w 2811566"/>
              <a:gd name="csY6" fmla="*/ 1538242 h 1974078"/>
              <a:gd name="csX7" fmla="*/ 863125 w 2811566"/>
              <a:gd name="csY7" fmla="*/ 0 h 1974078"/>
              <a:gd name="csX0" fmla="*/ 863125 w 2811566"/>
              <a:gd name="csY0" fmla="*/ 0 h 1974078"/>
              <a:gd name="csX1" fmla="*/ 418743 w 2811566"/>
              <a:gd name="csY1" fmla="*/ 376015 h 1974078"/>
              <a:gd name="csX2" fmla="*/ 0 w 2811566"/>
              <a:gd name="csY2" fmla="*/ 1290414 h 1974078"/>
              <a:gd name="csX3" fmla="*/ 1256231 w 2811566"/>
              <a:gd name="csY3" fmla="*/ 1880074 h 1974078"/>
              <a:gd name="csX4" fmla="*/ 2717562 w 2811566"/>
              <a:gd name="csY4" fmla="*/ 1974078 h 1974078"/>
              <a:gd name="csX5" fmla="*/ 2811566 w 2811566"/>
              <a:gd name="csY5" fmla="*/ 1666429 h 1974078"/>
              <a:gd name="csX6" fmla="*/ 1837345 w 2811566"/>
              <a:gd name="csY6" fmla="*/ 1538242 h 1974078"/>
              <a:gd name="csX7" fmla="*/ 863125 w 2811566"/>
              <a:gd name="csY7" fmla="*/ 0 h 1974078"/>
              <a:gd name="csX0" fmla="*/ 863125 w 2811566"/>
              <a:gd name="csY0" fmla="*/ 0 h 1974078"/>
              <a:gd name="csX1" fmla="*/ 418743 w 2811566"/>
              <a:gd name="csY1" fmla="*/ 376015 h 1974078"/>
              <a:gd name="csX2" fmla="*/ 0 w 2811566"/>
              <a:gd name="csY2" fmla="*/ 1290414 h 1974078"/>
              <a:gd name="csX3" fmla="*/ 1256231 w 2811566"/>
              <a:gd name="csY3" fmla="*/ 1880074 h 1974078"/>
              <a:gd name="csX4" fmla="*/ 2717562 w 2811566"/>
              <a:gd name="csY4" fmla="*/ 1974078 h 1974078"/>
              <a:gd name="csX5" fmla="*/ 2811566 w 2811566"/>
              <a:gd name="csY5" fmla="*/ 1666429 h 1974078"/>
              <a:gd name="csX6" fmla="*/ 1837345 w 2811566"/>
              <a:gd name="csY6" fmla="*/ 1538242 h 1974078"/>
              <a:gd name="csX7" fmla="*/ 863125 w 2811566"/>
              <a:gd name="csY7" fmla="*/ 0 h 1974078"/>
              <a:gd name="csX0" fmla="*/ 863125 w 2811566"/>
              <a:gd name="csY0" fmla="*/ 0 h 1974078"/>
              <a:gd name="csX1" fmla="*/ 418743 w 2811566"/>
              <a:gd name="csY1" fmla="*/ 376015 h 1974078"/>
              <a:gd name="csX2" fmla="*/ 0 w 2811566"/>
              <a:gd name="csY2" fmla="*/ 1290414 h 1974078"/>
              <a:gd name="csX3" fmla="*/ 1256231 w 2811566"/>
              <a:gd name="csY3" fmla="*/ 1880074 h 1974078"/>
              <a:gd name="csX4" fmla="*/ 2717562 w 2811566"/>
              <a:gd name="csY4" fmla="*/ 1974078 h 1974078"/>
              <a:gd name="csX5" fmla="*/ 2811566 w 2811566"/>
              <a:gd name="csY5" fmla="*/ 1666429 h 1974078"/>
              <a:gd name="csX6" fmla="*/ 1845890 w 2811566"/>
              <a:gd name="csY6" fmla="*/ 1538242 h 1974078"/>
              <a:gd name="csX7" fmla="*/ 863125 w 2811566"/>
              <a:gd name="csY7" fmla="*/ 0 h 1974078"/>
              <a:gd name="csX0" fmla="*/ 863125 w 2811566"/>
              <a:gd name="csY0" fmla="*/ 0 h 1974078"/>
              <a:gd name="csX1" fmla="*/ 239281 w 2811566"/>
              <a:gd name="csY1" fmla="*/ 162370 h 1974078"/>
              <a:gd name="csX2" fmla="*/ 0 w 2811566"/>
              <a:gd name="csY2" fmla="*/ 1290414 h 1974078"/>
              <a:gd name="csX3" fmla="*/ 1256231 w 2811566"/>
              <a:gd name="csY3" fmla="*/ 1880074 h 1974078"/>
              <a:gd name="csX4" fmla="*/ 2717562 w 2811566"/>
              <a:gd name="csY4" fmla="*/ 1974078 h 1974078"/>
              <a:gd name="csX5" fmla="*/ 2811566 w 2811566"/>
              <a:gd name="csY5" fmla="*/ 1666429 h 1974078"/>
              <a:gd name="csX6" fmla="*/ 1845890 w 2811566"/>
              <a:gd name="csY6" fmla="*/ 1538242 h 1974078"/>
              <a:gd name="csX7" fmla="*/ 863125 w 2811566"/>
              <a:gd name="csY7" fmla="*/ 0 h 1974078"/>
              <a:gd name="csX0" fmla="*/ 803304 w 2751745"/>
              <a:gd name="csY0" fmla="*/ 0 h 1974078"/>
              <a:gd name="csX1" fmla="*/ 179460 w 2751745"/>
              <a:gd name="csY1" fmla="*/ 162370 h 1974078"/>
              <a:gd name="csX2" fmla="*/ 0 w 2751745"/>
              <a:gd name="csY2" fmla="*/ 1307506 h 1974078"/>
              <a:gd name="csX3" fmla="*/ 1196410 w 2751745"/>
              <a:gd name="csY3" fmla="*/ 1880074 h 1974078"/>
              <a:gd name="csX4" fmla="*/ 2657741 w 2751745"/>
              <a:gd name="csY4" fmla="*/ 1974078 h 1974078"/>
              <a:gd name="csX5" fmla="*/ 2751745 w 2751745"/>
              <a:gd name="csY5" fmla="*/ 1666429 h 1974078"/>
              <a:gd name="csX6" fmla="*/ 1786069 w 2751745"/>
              <a:gd name="csY6" fmla="*/ 1538242 h 1974078"/>
              <a:gd name="csX7" fmla="*/ 803304 w 2751745"/>
              <a:gd name="csY7" fmla="*/ 0 h 1974078"/>
            </a:gdLst>
            <a:ahLst/>
            <a:cxnLst/>
            <a:rect l="l" t="t" r="r" b="b"/>
            <a:pathLst>
              <a:path w="2751745" h="1974078">
                <a:moveTo>
                  <a:pt x="803304" y="0"/>
                </a:moveTo>
                <a:lnTo>
                  <a:pt x="179460" y="162370"/>
                </a:lnTo>
                <a:lnTo>
                  <a:pt x="0" y="1307506"/>
                </a:lnTo>
                <a:lnTo>
                  <a:pt x="1196410" y="1880074"/>
                </a:lnTo>
                <a:lnTo>
                  <a:pt x="2657741" y="1974078"/>
                </a:lnTo>
                <a:lnTo>
                  <a:pt x="2751745" y="1666429"/>
                </a:lnTo>
                <a:lnTo>
                  <a:pt x="1786069" y="1538242"/>
                </a:lnTo>
                <a:cubicBezTo>
                  <a:pt x="1546787" y="1042586"/>
                  <a:pt x="1128044" y="512747"/>
                  <a:pt x="803304" y="0"/>
                </a:cubicBezTo>
                <a:close/>
              </a:path>
            </a:pathLst>
          </a:custGeom>
          <a:solidFill>
            <a:srgbClr val="00A79F">
              <a:alpha val="20000"/>
            </a:srgb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Forme libre 13">
            <a:extLst>
              <a:ext uri="{FF2B5EF4-FFF2-40B4-BE49-F238E27FC236}">
                <a16:creationId xmlns:a16="http://schemas.microsoft.com/office/drawing/2014/main" id="{9CCD1DFA-62A5-5F4D-7130-224BBE26DE8B}"/>
              </a:ext>
            </a:extLst>
          </p:cNvPr>
          <p:cNvSpPr>
            <a:spLocks noGrp="1"/>
          </p:cNvSpPr>
          <p:nvPr/>
        </p:nvSpPr>
        <p:spPr>
          <a:xfrm>
            <a:off x="6878754" y="1498144"/>
            <a:ext cx="2050869" cy="2140601"/>
          </a:xfrm>
          <a:custGeom>
            <a:avLst/>
            <a:gdLst>
              <a:gd name="csX0" fmla="*/ 2196269 w 2409914"/>
              <a:gd name="csY0" fmla="*/ 8546 h 2409914"/>
              <a:gd name="csX1" fmla="*/ 410198 w 2409914"/>
              <a:gd name="csY1" fmla="*/ 0 h 2409914"/>
              <a:gd name="csX2" fmla="*/ 0 w 2409914"/>
              <a:gd name="csY2" fmla="*/ 358924 h 2409914"/>
              <a:gd name="csX3" fmla="*/ 119641 w 2409914"/>
              <a:gd name="csY3" fmla="*/ 914400 h 2409914"/>
              <a:gd name="csX4" fmla="*/ 811850 w 2409914"/>
              <a:gd name="csY4" fmla="*/ 1615155 h 2409914"/>
              <a:gd name="csX5" fmla="*/ 769121 w 2409914"/>
              <a:gd name="csY5" fmla="*/ 1683522 h 2409914"/>
              <a:gd name="csX6" fmla="*/ 350377 w 2409914"/>
              <a:gd name="csY6" fmla="*/ 1854438 h 2409914"/>
              <a:gd name="csX7" fmla="*/ 598205 w 2409914"/>
              <a:gd name="csY7" fmla="*/ 2273182 h 2409914"/>
              <a:gd name="csX8" fmla="*/ 1674975 w 2409914"/>
              <a:gd name="csY8" fmla="*/ 2409914 h 2409914"/>
              <a:gd name="csX9" fmla="*/ 2409914 w 2409914"/>
              <a:gd name="csY9" fmla="*/ 1991170 h 2409914"/>
              <a:gd name="csX10" fmla="*/ 2341547 w 2409914"/>
              <a:gd name="csY10" fmla="*/ 982767 h 2409914"/>
              <a:gd name="csX11" fmla="*/ 2196269 w 2409914"/>
              <a:gd name="csY11" fmla="*/ 8546 h 2409914"/>
              <a:gd name="csX0" fmla="*/ 2196269 w 2409914"/>
              <a:gd name="csY0" fmla="*/ 8546 h 2409914"/>
              <a:gd name="csX1" fmla="*/ 410198 w 2409914"/>
              <a:gd name="csY1" fmla="*/ 0 h 2409914"/>
              <a:gd name="csX2" fmla="*/ 0 w 2409914"/>
              <a:gd name="csY2" fmla="*/ 358924 h 2409914"/>
              <a:gd name="csX3" fmla="*/ 119641 w 2409914"/>
              <a:gd name="csY3" fmla="*/ 914400 h 2409914"/>
              <a:gd name="csX4" fmla="*/ 811850 w 2409914"/>
              <a:gd name="csY4" fmla="*/ 1615155 h 2409914"/>
              <a:gd name="csX5" fmla="*/ 769121 w 2409914"/>
              <a:gd name="csY5" fmla="*/ 1683522 h 2409914"/>
              <a:gd name="csX6" fmla="*/ 307648 w 2409914"/>
              <a:gd name="csY6" fmla="*/ 1820255 h 2409914"/>
              <a:gd name="csX7" fmla="*/ 598205 w 2409914"/>
              <a:gd name="csY7" fmla="*/ 2273182 h 2409914"/>
              <a:gd name="csX8" fmla="*/ 1674975 w 2409914"/>
              <a:gd name="csY8" fmla="*/ 2409914 h 2409914"/>
              <a:gd name="csX9" fmla="*/ 2409914 w 2409914"/>
              <a:gd name="csY9" fmla="*/ 1991170 h 2409914"/>
              <a:gd name="csX10" fmla="*/ 2341547 w 2409914"/>
              <a:gd name="csY10" fmla="*/ 982767 h 2409914"/>
              <a:gd name="csX11" fmla="*/ 2196269 w 2409914"/>
              <a:gd name="csY11" fmla="*/ 8546 h 2409914"/>
              <a:gd name="csX0" fmla="*/ 2196269 w 2409914"/>
              <a:gd name="csY0" fmla="*/ 8546 h 2409914"/>
              <a:gd name="csX1" fmla="*/ 410198 w 2409914"/>
              <a:gd name="csY1" fmla="*/ 0 h 2409914"/>
              <a:gd name="csX2" fmla="*/ 0 w 2409914"/>
              <a:gd name="csY2" fmla="*/ 358924 h 2409914"/>
              <a:gd name="csX3" fmla="*/ 119641 w 2409914"/>
              <a:gd name="csY3" fmla="*/ 914400 h 2409914"/>
              <a:gd name="csX4" fmla="*/ 811850 w 2409914"/>
              <a:gd name="csY4" fmla="*/ 1615155 h 2409914"/>
              <a:gd name="csX5" fmla="*/ 769121 w 2409914"/>
              <a:gd name="csY5" fmla="*/ 1632247 h 2409914"/>
              <a:gd name="csX6" fmla="*/ 307648 w 2409914"/>
              <a:gd name="csY6" fmla="*/ 1820255 h 2409914"/>
              <a:gd name="csX7" fmla="*/ 598205 w 2409914"/>
              <a:gd name="csY7" fmla="*/ 2273182 h 2409914"/>
              <a:gd name="csX8" fmla="*/ 1674975 w 2409914"/>
              <a:gd name="csY8" fmla="*/ 2409914 h 2409914"/>
              <a:gd name="csX9" fmla="*/ 2409914 w 2409914"/>
              <a:gd name="csY9" fmla="*/ 1991170 h 2409914"/>
              <a:gd name="csX10" fmla="*/ 2341547 w 2409914"/>
              <a:gd name="csY10" fmla="*/ 982767 h 2409914"/>
              <a:gd name="csX11" fmla="*/ 2196269 w 2409914"/>
              <a:gd name="csY11" fmla="*/ 8546 h 2409914"/>
              <a:gd name="csX0" fmla="*/ 2196269 w 2409914"/>
              <a:gd name="csY0" fmla="*/ 8546 h 2409914"/>
              <a:gd name="csX1" fmla="*/ 410198 w 2409914"/>
              <a:gd name="csY1" fmla="*/ 0 h 2409914"/>
              <a:gd name="csX2" fmla="*/ 0 w 2409914"/>
              <a:gd name="csY2" fmla="*/ 358924 h 2409914"/>
              <a:gd name="csX3" fmla="*/ 119641 w 2409914"/>
              <a:gd name="csY3" fmla="*/ 914400 h 2409914"/>
              <a:gd name="csX4" fmla="*/ 692209 w 2409914"/>
              <a:gd name="csY4" fmla="*/ 1521151 h 2409914"/>
              <a:gd name="csX5" fmla="*/ 769121 w 2409914"/>
              <a:gd name="csY5" fmla="*/ 1632247 h 2409914"/>
              <a:gd name="csX6" fmla="*/ 307648 w 2409914"/>
              <a:gd name="csY6" fmla="*/ 1820255 h 2409914"/>
              <a:gd name="csX7" fmla="*/ 598205 w 2409914"/>
              <a:gd name="csY7" fmla="*/ 2273182 h 2409914"/>
              <a:gd name="csX8" fmla="*/ 1674975 w 2409914"/>
              <a:gd name="csY8" fmla="*/ 2409914 h 2409914"/>
              <a:gd name="csX9" fmla="*/ 2409914 w 2409914"/>
              <a:gd name="csY9" fmla="*/ 1991170 h 2409914"/>
              <a:gd name="csX10" fmla="*/ 2341547 w 2409914"/>
              <a:gd name="csY10" fmla="*/ 982767 h 2409914"/>
              <a:gd name="csX11" fmla="*/ 2196269 w 2409914"/>
              <a:gd name="csY11" fmla="*/ 8546 h 2409914"/>
              <a:gd name="csX0" fmla="*/ 2315910 w 2529555"/>
              <a:gd name="csY0" fmla="*/ 8546 h 2409914"/>
              <a:gd name="csX1" fmla="*/ 529839 w 2529555"/>
              <a:gd name="csY1" fmla="*/ 0 h 2409914"/>
              <a:gd name="csX2" fmla="*/ 119641 w 2529555"/>
              <a:gd name="csY2" fmla="*/ 358924 h 2409914"/>
              <a:gd name="csX3" fmla="*/ 0 w 2529555"/>
              <a:gd name="csY3" fmla="*/ 401653 h 2409914"/>
              <a:gd name="csX4" fmla="*/ 239282 w 2529555"/>
              <a:gd name="csY4" fmla="*/ 914400 h 2409914"/>
              <a:gd name="csX5" fmla="*/ 811850 w 2529555"/>
              <a:gd name="csY5" fmla="*/ 1521151 h 2409914"/>
              <a:gd name="csX6" fmla="*/ 888762 w 2529555"/>
              <a:gd name="csY6" fmla="*/ 1632247 h 2409914"/>
              <a:gd name="csX7" fmla="*/ 427289 w 2529555"/>
              <a:gd name="csY7" fmla="*/ 1820255 h 2409914"/>
              <a:gd name="csX8" fmla="*/ 717846 w 2529555"/>
              <a:gd name="csY8" fmla="*/ 2273182 h 2409914"/>
              <a:gd name="csX9" fmla="*/ 1794616 w 2529555"/>
              <a:gd name="csY9" fmla="*/ 2409914 h 2409914"/>
              <a:gd name="csX10" fmla="*/ 2529555 w 2529555"/>
              <a:gd name="csY10" fmla="*/ 1991170 h 2409914"/>
              <a:gd name="csX11" fmla="*/ 2461188 w 2529555"/>
              <a:gd name="csY11" fmla="*/ 982767 h 2409914"/>
              <a:gd name="csX12" fmla="*/ 2315910 w 2529555"/>
              <a:gd name="csY12" fmla="*/ 8546 h 2409914"/>
              <a:gd name="csX0" fmla="*/ 2307364 w 2521009"/>
              <a:gd name="csY0" fmla="*/ 8546 h 2409914"/>
              <a:gd name="csX1" fmla="*/ 521293 w 2521009"/>
              <a:gd name="csY1" fmla="*/ 0 h 2409914"/>
              <a:gd name="csX2" fmla="*/ 111095 w 2521009"/>
              <a:gd name="csY2" fmla="*/ 358924 h 2409914"/>
              <a:gd name="csX3" fmla="*/ 0 w 2521009"/>
              <a:gd name="csY3" fmla="*/ 367470 h 2409914"/>
              <a:gd name="csX4" fmla="*/ 230736 w 2521009"/>
              <a:gd name="csY4" fmla="*/ 914400 h 2409914"/>
              <a:gd name="csX5" fmla="*/ 803304 w 2521009"/>
              <a:gd name="csY5" fmla="*/ 1521151 h 2409914"/>
              <a:gd name="csX6" fmla="*/ 880216 w 2521009"/>
              <a:gd name="csY6" fmla="*/ 1632247 h 2409914"/>
              <a:gd name="csX7" fmla="*/ 418743 w 2521009"/>
              <a:gd name="csY7" fmla="*/ 1820255 h 2409914"/>
              <a:gd name="csX8" fmla="*/ 709300 w 2521009"/>
              <a:gd name="csY8" fmla="*/ 2273182 h 2409914"/>
              <a:gd name="csX9" fmla="*/ 1786070 w 2521009"/>
              <a:gd name="csY9" fmla="*/ 2409914 h 2409914"/>
              <a:gd name="csX10" fmla="*/ 2521009 w 2521009"/>
              <a:gd name="csY10" fmla="*/ 1991170 h 2409914"/>
              <a:gd name="csX11" fmla="*/ 2452642 w 2521009"/>
              <a:gd name="csY11" fmla="*/ 982767 h 2409914"/>
              <a:gd name="csX12" fmla="*/ 2307364 w 2521009"/>
              <a:gd name="csY12" fmla="*/ 8546 h 2409914"/>
              <a:gd name="csX0" fmla="*/ 2307364 w 2521009"/>
              <a:gd name="csY0" fmla="*/ 8546 h 2409914"/>
              <a:gd name="csX1" fmla="*/ 521293 w 2521009"/>
              <a:gd name="csY1" fmla="*/ 0 h 2409914"/>
              <a:gd name="csX2" fmla="*/ 119641 w 2521009"/>
              <a:gd name="csY2" fmla="*/ 162370 h 2409914"/>
              <a:gd name="csX3" fmla="*/ 0 w 2521009"/>
              <a:gd name="csY3" fmla="*/ 367470 h 2409914"/>
              <a:gd name="csX4" fmla="*/ 230736 w 2521009"/>
              <a:gd name="csY4" fmla="*/ 914400 h 2409914"/>
              <a:gd name="csX5" fmla="*/ 803304 w 2521009"/>
              <a:gd name="csY5" fmla="*/ 1521151 h 2409914"/>
              <a:gd name="csX6" fmla="*/ 880216 w 2521009"/>
              <a:gd name="csY6" fmla="*/ 1632247 h 2409914"/>
              <a:gd name="csX7" fmla="*/ 418743 w 2521009"/>
              <a:gd name="csY7" fmla="*/ 1820255 h 2409914"/>
              <a:gd name="csX8" fmla="*/ 709300 w 2521009"/>
              <a:gd name="csY8" fmla="*/ 2273182 h 2409914"/>
              <a:gd name="csX9" fmla="*/ 1786070 w 2521009"/>
              <a:gd name="csY9" fmla="*/ 2409914 h 2409914"/>
              <a:gd name="csX10" fmla="*/ 2521009 w 2521009"/>
              <a:gd name="csY10" fmla="*/ 1991170 h 2409914"/>
              <a:gd name="csX11" fmla="*/ 2452642 w 2521009"/>
              <a:gd name="csY11" fmla="*/ 982767 h 2409914"/>
              <a:gd name="csX12" fmla="*/ 2307364 w 2521009"/>
              <a:gd name="csY12" fmla="*/ 8546 h 2409914"/>
              <a:gd name="csX0" fmla="*/ 2307364 w 2521009"/>
              <a:gd name="csY0" fmla="*/ 8546 h 2401368"/>
              <a:gd name="csX1" fmla="*/ 521293 w 2521009"/>
              <a:gd name="csY1" fmla="*/ 0 h 2401368"/>
              <a:gd name="csX2" fmla="*/ 119641 w 2521009"/>
              <a:gd name="csY2" fmla="*/ 162370 h 2401368"/>
              <a:gd name="csX3" fmla="*/ 0 w 2521009"/>
              <a:gd name="csY3" fmla="*/ 367470 h 2401368"/>
              <a:gd name="csX4" fmla="*/ 230736 w 2521009"/>
              <a:gd name="csY4" fmla="*/ 914400 h 2401368"/>
              <a:gd name="csX5" fmla="*/ 803304 w 2521009"/>
              <a:gd name="csY5" fmla="*/ 1521151 h 2401368"/>
              <a:gd name="csX6" fmla="*/ 880216 w 2521009"/>
              <a:gd name="csY6" fmla="*/ 1632247 h 2401368"/>
              <a:gd name="csX7" fmla="*/ 418743 w 2521009"/>
              <a:gd name="csY7" fmla="*/ 1820255 h 2401368"/>
              <a:gd name="csX8" fmla="*/ 709300 w 2521009"/>
              <a:gd name="csY8" fmla="*/ 2273182 h 2401368"/>
              <a:gd name="csX9" fmla="*/ 1649337 w 2521009"/>
              <a:gd name="csY9" fmla="*/ 2401368 h 2401368"/>
              <a:gd name="csX10" fmla="*/ 2521009 w 2521009"/>
              <a:gd name="csY10" fmla="*/ 1991170 h 2401368"/>
              <a:gd name="csX11" fmla="*/ 2452642 w 2521009"/>
              <a:gd name="csY11" fmla="*/ 982767 h 2401368"/>
              <a:gd name="csX12" fmla="*/ 2307364 w 2521009"/>
              <a:gd name="csY12" fmla="*/ 8546 h 2401368"/>
            </a:gdLst>
            <a:ahLst/>
            <a:cxnLst/>
            <a:rect l="l" t="t" r="r" b="b"/>
            <a:pathLst>
              <a:path w="2521009" h="2401368">
                <a:moveTo>
                  <a:pt x="2307364" y="8546"/>
                </a:moveTo>
                <a:lnTo>
                  <a:pt x="521293" y="0"/>
                </a:lnTo>
                <a:lnTo>
                  <a:pt x="119641" y="162370"/>
                </a:lnTo>
                <a:cubicBezTo>
                  <a:pt x="119641" y="176613"/>
                  <a:pt x="0" y="353227"/>
                  <a:pt x="0" y="367470"/>
                </a:cubicBezTo>
                <a:lnTo>
                  <a:pt x="230736" y="914400"/>
                </a:lnTo>
                <a:lnTo>
                  <a:pt x="803304" y="1521151"/>
                </a:lnTo>
                <a:lnTo>
                  <a:pt x="880216" y="1632247"/>
                </a:lnTo>
                <a:lnTo>
                  <a:pt x="418743" y="1820255"/>
                </a:lnTo>
                <a:lnTo>
                  <a:pt x="709300" y="2273182"/>
                </a:lnTo>
                <a:lnTo>
                  <a:pt x="1649337" y="2401368"/>
                </a:lnTo>
                <a:lnTo>
                  <a:pt x="2521009" y="1991170"/>
                </a:lnTo>
                <a:lnTo>
                  <a:pt x="2452642" y="982767"/>
                </a:lnTo>
                <a:lnTo>
                  <a:pt x="2307364" y="8546"/>
                </a:lnTo>
                <a:close/>
              </a:path>
            </a:pathLst>
          </a:custGeom>
          <a:solidFill>
            <a:srgbClr val="0070C0">
              <a:alpha val="20000"/>
            </a:srgb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Forme libre 14">
            <a:extLst>
              <a:ext uri="{FF2B5EF4-FFF2-40B4-BE49-F238E27FC236}">
                <a16:creationId xmlns:a16="http://schemas.microsoft.com/office/drawing/2014/main" id="{68A5FDBA-8AB4-908A-1E9E-576F910C2BE7}"/>
              </a:ext>
            </a:extLst>
          </p:cNvPr>
          <p:cNvSpPr>
            <a:spLocks noGrp="1"/>
          </p:cNvSpPr>
          <p:nvPr/>
        </p:nvSpPr>
        <p:spPr>
          <a:xfrm>
            <a:off x="4897406" y="2160892"/>
            <a:ext cx="1209665" cy="1135052"/>
          </a:xfrm>
          <a:custGeom>
            <a:avLst/>
            <a:gdLst>
              <a:gd name="csX0" fmla="*/ 119641 w 1486968"/>
              <a:gd name="csY0" fmla="*/ 17092 h 1273324"/>
              <a:gd name="csX1" fmla="*/ 0 w 1486968"/>
              <a:gd name="csY1" fmla="*/ 1025496 h 1273324"/>
              <a:gd name="csX2" fmla="*/ 1316052 w 1486968"/>
              <a:gd name="csY2" fmla="*/ 1273324 h 1273324"/>
              <a:gd name="csX3" fmla="*/ 1486968 w 1486968"/>
              <a:gd name="csY3" fmla="*/ 162370 h 1273324"/>
              <a:gd name="csX4" fmla="*/ 1350235 w 1486968"/>
              <a:gd name="csY4" fmla="*/ 205099 h 1273324"/>
              <a:gd name="csX5" fmla="*/ 803305 w 1486968"/>
              <a:gd name="csY5" fmla="*/ 0 h 1273324"/>
              <a:gd name="csX6" fmla="*/ 119641 w 1486968"/>
              <a:gd name="csY6" fmla="*/ 17092 h 1273324"/>
            </a:gdLst>
            <a:ahLst/>
            <a:cxnLst/>
            <a:rect l="l" t="t" r="r" b="b"/>
            <a:pathLst>
              <a:path w="1486968" h="1273324">
                <a:moveTo>
                  <a:pt x="119641" y="17092"/>
                </a:moveTo>
                <a:lnTo>
                  <a:pt x="0" y="1025496"/>
                </a:lnTo>
                <a:lnTo>
                  <a:pt x="1316052" y="1273324"/>
                </a:lnTo>
                <a:lnTo>
                  <a:pt x="1486968" y="162370"/>
                </a:lnTo>
                <a:lnTo>
                  <a:pt x="1350235" y="205099"/>
                </a:lnTo>
                <a:lnTo>
                  <a:pt x="803305" y="0"/>
                </a:lnTo>
                <a:lnTo>
                  <a:pt x="119641" y="17092"/>
                </a:lnTo>
                <a:close/>
              </a:path>
            </a:pathLst>
          </a:custGeom>
          <a:solidFill>
            <a:srgbClr val="E30613">
              <a:alpha val="20000"/>
            </a:srgb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ZoneTexte 17">
            <a:extLst>
              <a:ext uri="{FF2B5EF4-FFF2-40B4-BE49-F238E27FC236}">
                <a16:creationId xmlns:a16="http://schemas.microsoft.com/office/drawing/2014/main" id="{FDEE8891-9B54-065D-96AC-DE1BE73C5ED2}"/>
              </a:ext>
            </a:extLst>
          </p:cNvPr>
          <p:cNvSpPr>
            <a:spLocks noGrp="1"/>
          </p:cNvSpPr>
          <p:nvPr/>
        </p:nvSpPr>
        <p:spPr>
          <a:xfrm>
            <a:off x="4872038" y="3962277"/>
            <a:ext cx="4078442" cy="261610"/>
          </a:xfrm>
          <a:prstGeom prst="rect">
            <a:avLst/>
          </a:prstGeom>
          <a:noFill/>
        </p:spPr>
        <p:txBody>
          <a:bodyPr wrap="square">
            <a:spAutoFit/>
          </a:bodyPr>
          <a:lstStyle/>
          <a:p>
            <a:pPr algn="ctr">
              <a:buNone/>
            </a:pPr>
            <a:r>
              <a:rPr sz="1100" b="1" i="1">
                <a:latin typeface="Times New Roman"/>
                <a:ea typeface="Times New Roman"/>
                <a:cs typeface="Times New Roman"/>
              </a:rPr>
              <a:t>Fig 17: Substations controlled by each agents WCCI environment</a:t>
            </a:r>
          </a:p>
        </p:txBody>
      </p:sp>
      <p:pic>
        <p:nvPicPr>
          <p:cNvPr id="32" name="Picture 2"/>
          <p:cNvPicPr>
            <a:picLocks noChangeAspect="1"/>
          </p:cNvPicPr>
          <p:nvPr/>
        </p:nvPicPr>
        <p:blipFill>
          <a:blip r:embed="rId4"/>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1405504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F1ADCC-D5EA-E82F-5B58-772253DFF9C4}"/>
              </a:ext>
            </a:extLst>
          </p:cNvPr>
          <p:cNvSpPr>
            <a:spLocks noGrp="1"/>
          </p:cNvSpPr>
          <p:nvPr>
            <p:ph type="title"/>
          </p:nvPr>
        </p:nvSpPr>
        <p:spPr>
          <a:xfrm>
            <a:off x="904875" y="252828"/>
            <a:ext cx="7532115" cy="601301"/>
          </a:xfrm>
        </p:spPr>
        <p:txBody>
          <a:bodyPr>
            <a:normAutofit fontScale="90000"/>
          </a:bodyPr>
          <a:lstStyle/>
          <a:p>
            <a:r>
              <a:t>WCCI 2020 (36 substations): Action Space Reduction</a:t>
            </a:r>
          </a:p>
        </p:txBody>
      </p:sp>
      <p:sp>
        <p:nvSpPr>
          <p:cNvPr id="5" name="Espace réservé du numéro de diapositive 4">
            <a:extLst>
              <a:ext uri="{FF2B5EF4-FFF2-40B4-BE49-F238E27FC236}">
                <a16:creationId xmlns:a16="http://schemas.microsoft.com/office/drawing/2014/main" id="{05621B9C-5EBE-0DED-DE64-EF550DE38009}"/>
              </a:ext>
            </a:extLst>
          </p:cNvPr>
          <p:cNvSpPr>
            <a:spLocks noGrp="1"/>
          </p:cNvSpPr>
          <p:nvPr>
            <p:ph type="sldNum" idx="12"/>
          </p:nvPr>
        </p:nvSpPr>
        <p:spPr/>
        <p:txBody>
          <a:bodyPr/>
          <a:lstStyle/>
          <a:p>
            <a:r>
              <a:t>8</a:t>
            </a:r>
          </a:p>
        </p:txBody>
      </p:sp>
      <mc:AlternateContent xmlns:mc="http://schemas.openxmlformats.org/markup-compatibility/2006">
        <mc:Choice xmlns:a14="http://schemas.microsoft.com/office/drawing/2010/main" Requires="a14">
          <p:sp>
            <p:nvSpPr>
              <p:cNvPr id="6" name="ZoneTexte 5">
                <a:extLst>
                  <a:ext uri="{FF2B5EF4-FFF2-40B4-BE49-F238E27FC236}">
                    <a16:creationId xmlns:a16="http://schemas.microsoft.com/office/drawing/2014/main" id="{367828DD-8E93-EFAA-9526-E9537E45FD81}"/>
                  </a:ext>
                </a:extLst>
              </p:cNvPr>
              <p:cNvSpPr>
                <a:spLocks noGrp="1"/>
              </p:cNvSpPr>
              <p:nvPr/>
            </p:nvSpPr>
            <p:spPr>
              <a:xfrm>
                <a:off x="526993" y="787734"/>
                <a:ext cx="8127347" cy="2470698"/>
              </a:xfrm>
              <a:prstGeom prst="roundRect">
                <a:avLst>
                  <a:gd name="adj" fmla="val 14100"/>
                </a:avLst>
              </a:prstGeom>
              <a:solidFill>
                <a:schemeClr val="bg2">
                  <a:lumMod val="20000"/>
                  <a:lumOff val="80000"/>
                </a:schemeClr>
              </a:solidFill>
              <a:ln w="9525"/>
            </p:spPr>
            <p:style>
              <a:lnRef idx="2">
                <a:schemeClr val="dk1"/>
              </a:lnRef>
              <a:fillRef idx="1">
                <a:schemeClr val="lt1"/>
              </a:fillRef>
              <a:effectRef idx="0">
                <a:schemeClr val="dk1"/>
              </a:effectRef>
              <a:fontRef idx="minor">
                <a:schemeClr val="dk1"/>
              </a:fontRef>
            </p:style>
            <p:txBody>
              <a:bodyPr wrap="square">
                <a:spAutoFit/>
              </a:bodyPr>
              <a:lstStyle/>
              <a:p>
                <a:pPr>
                  <a:spcAft>
                    <a:spcPts val="600"/>
                  </a:spcAft>
                  <a:buFont typeface="+mj-lt"/>
                  <a:buAutoNum type="arabicPeriod"/>
                </a:pPr>
                <a:r>
                  <a:rPr sz="1100" b="1"/>
                  <a:t> Collect risky states: </a:t>
                </a:r>
                <a:r>
                  <a:rPr sz="1100"/>
                  <a:t>During rollouts, keep states where:</a:t>
                </a:r>
              </a:p>
              <a:p>
                <a:pPr>
                  <a:buNone/>
                </a:pPr>
                <a14:m>
                  <m:oMathPara xmlns:m="http://schemas.openxmlformats.org/officeDocument/2006/math">
                    <m:oMathParaPr>
                      <m:jc m:val="centerGroup"/>
                    </m:oMathParaPr>
                    <m:oMath xmlns:m="http://schemas.openxmlformats.org/officeDocument/2006/math">
                      <m:sSub>
                        <m:sSubPr>
                          <m:ctrlPr>
                            <a:rPr lang="fr-CH" sz="1100">
                              <a:latin typeface="Cambria Math" panose="02040503050406030204" pitchFamily="18" charset="0"/>
                              <a:ea typeface="Cambria Math"/>
                              <a:cs typeface="Cambria Math"/>
                            </a:rPr>
                          </m:ctrlPr>
                        </m:sSubPr>
                        <m:e>
                          <m:r>
                            <a:rPr lang="fr-CH" sz="1100" i="1">
                              <a:latin typeface="Cambria Math"/>
                              <a:ea typeface="Cambria Math"/>
                              <a:cs typeface="Cambria Math"/>
                            </a:rPr>
                            <m:t>𝜌</m:t>
                          </m:r>
                        </m:e>
                        <m:sub>
                          <m:r>
                            <a:rPr lang="fr-CH" sz="1100" i="1">
                              <a:latin typeface="Cambria Math"/>
                              <a:ea typeface="Cambria Math"/>
                              <a:cs typeface="Cambria Math"/>
                            </a:rPr>
                            <m:t>𝑚𝑎𝑥</m:t>
                          </m:r>
                        </m:sub>
                      </m:sSub>
                      <m:r>
                        <a:rPr lang="fr-CH" sz="1100" i="1">
                          <a:latin typeface="Cambria Math"/>
                          <a:ea typeface="Cambria Math"/>
                          <a:cs typeface="Cambria Math"/>
                        </a:rPr>
                        <m:t>&gt;0.90</m:t>
                      </m:r>
                    </m:oMath>
                  </m:oMathPara>
                </a14:m>
                <a:endParaRPr sz="1100"/>
              </a:p>
              <a:p>
                <a:pPr>
                  <a:buNone/>
                </a:pPr>
                <a:endParaRPr sz="1100"/>
              </a:p>
              <a:p>
                <a:pPr>
                  <a:spcAft>
                    <a:spcPts val="600"/>
                  </a:spcAft>
                  <a:buNone/>
                </a:pPr>
                <a:r>
                  <a:rPr sz="1100" b="1"/>
                  <a:t>2. Simulate candidate actions: </a:t>
                </a:r>
                <a:r>
                  <a:rPr sz="1100"/>
                  <a:t>For each agent action, compare its outcome to do-nothing:</a:t>
                </a:r>
              </a:p>
              <a:p>
                <a:pPr>
                  <a:buNone/>
                </a:pPr>
                <a14:m>
                  <m:oMathPara xmlns:m="http://schemas.openxmlformats.org/officeDocument/2006/math">
                    <m:oMathParaPr>
                      <m:jc m:val="centerGroup"/>
                    </m:oMathParaPr>
                    <m:oMath xmlns:m="http://schemas.openxmlformats.org/officeDocument/2006/math">
                      <m:r>
                        <a:rPr lang="fr-CH" sz="1100">
                          <a:latin typeface="Cambria Math"/>
                          <a:ea typeface="Cambria Math"/>
                          <a:cs typeface="Cambria Math"/>
                        </a:rPr>
                        <m:t>𝛥</m:t>
                      </m:r>
                      <m:d>
                        <m:dPr>
                          <m:ctrlPr>
                            <a:rPr lang="fr-CH" sz="1100" i="1">
                              <a:latin typeface="Cambria Math" panose="02040503050406030204" pitchFamily="18" charset="0"/>
                              <a:ea typeface="Cambria Math"/>
                              <a:cs typeface="Cambria Math"/>
                            </a:rPr>
                          </m:ctrlPr>
                        </m:dPr>
                        <m:e>
                          <m:r>
                            <a:rPr lang="fr-CH" sz="1100" i="1">
                              <a:latin typeface="Cambria Math"/>
                              <a:ea typeface="Cambria Math"/>
                              <a:cs typeface="Cambria Math"/>
                            </a:rPr>
                            <m:t>𝑠</m:t>
                          </m:r>
                          <m:r>
                            <a:rPr lang="fr-CH" sz="1100" i="1">
                              <a:latin typeface="Cambria Math"/>
                              <a:ea typeface="Cambria Math"/>
                              <a:cs typeface="Cambria Math"/>
                            </a:rPr>
                            <m:t>,</m:t>
                          </m:r>
                          <m:r>
                            <a:rPr lang="fr-CH" sz="1100" i="1">
                              <a:latin typeface="Cambria Math"/>
                              <a:ea typeface="Cambria Math"/>
                              <a:cs typeface="Cambria Math"/>
                            </a:rPr>
                            <m:t>𝑎</m:t>
                          </m:r>
                        </m:e>
                      </m:d>
                      <m:r>
                        <a:rPr lang="fr-CH" sz="1100" i="1">
                          <a:latin typeface="Cambria Math"/>
                          <a:ea typeface="Cambria Math"/>
                          <a:cs typeface="Cambria Math"/>
                        </a:rPr>
                        <m:t>=</m:t>
                      </m:r>
                      <m:sSub>
                        <m:sSubPr>
                          <m:ctrlPr>
                            <a:rPr lang="fr-CH" sz="1100" i="1">
                              <a:latin typeface="Cambria Math" panose="02040503050406030204" pitchFamily="18" charset="0"/>
                              <a:ea typeface="Cambria Math"/>
                              <a:cs typeface="Cambria Math"/>
                            </a:rPr>
                          </m:ctrlPr>
                        </m:sSubPr>
                        <m:e>
                          <m:r>
                            <a:rPr lang="fr-CH" sz="1100" i="1">
                              <a:latin typeface="Cambria Math"/>
                              <a:ea typeface="Cambria Math"/>
                              <a:cs typeface="Cambria Math"/>
                            </a:rPr>
                            <m:t>𝜌</m:t>
                          </m:r>
                        </m:e>
                        <m:sub>
                          <m:r>
                            <a:rPr lang="fr-CH" sz="1100">
                              <a:latin typeface="Cambria Math"/>
                              <a:ea typeface="Cambria Math"/>
                              <a:cs typeface="Cambria Math"/>
                            </a:rPr>
                            <m:t>𝑎𝑓𝑡𝑒𝑟</m:t>
                          </m:r>
                        </m:sub>
                      </m:sSub>
                      <m:d>
                        <m:dPr>
                          <m:ctrlPr>
                            <a:rPr lang="fr-CH" sz="1100" i="1">
                              <a:latin typeface="Cambria Math" panose="02040503050406030204" pitchFamily="18" charset="0"/>
                              <a:ea typeface="Cambria Math"/>
                              <a:cs typeface="Cambria Math"/>
                            </a:rPr>
                          </m:ctrlPr>
                        </m:dPr>
                        <m:e>
                          <m:r>
                            <a:rPr lang="fr-CH" sz="1100" i="1">
                              <a:latin typeface="Cambria Math"/>
                              <a:ea typeface="Cambria Math"/>
                              <a:cs typeface="Cambria Math"/>
                            </a:rPr>
                            <m:t>𝑠</m:t>
                          </m:r>
                          <m:r>
                            <a:rPr lang="fr-CH" sz="1100" i="1">
                              <a:latin typeface="Cambria Math"/>
                              <a:ea typeface="Cambria Math"/>
                              <a:cs typeface="Cambria Math"/>
                            </a:rPr>
                            <m:t>,</m:t>
                          </m:r>
                          <m:r>
                            <a:rPr lang="fr-CH" sz="1100" i="1">
                              <a:latin typeface="Cambria Math"/>
                              <a:ea typeface="Cambria Math"/>
                              <a:cs typeface="Cambria Math"/>
                            </a:rPr>
                            <m:t>𝑎</m:t>
                          </m:r>
                        </m:e>
                      </m:d>
                      <m:r>
                        <a:rPr lang="fr-CH" sz="1100" i="1">
                          <a:latin typeface="Cambria Math"/>
                          <a:ea typeface="Cambria Math"/>
                          <a:cs typeface="Cambria Math"/>
                        </a:rPr>
                        <m:t>−</m:t>
                      </m:r>
                      <m:sSub>
                        <m:sSubPr>
                          <m:ctrlPr>
                            <a:rPr lang="fr-CH" sz="1100" i="1">
                              <a:latin typeface="Cambria Math" panose="02040503050406030204" pitchFamily="18" charset="0"/>
                              <a:ea typeface="Cambria Math"/>
                              <a:cs typeface="Cambria Math"/>
                            </a:rPr>
                          </m:ctrlPr>
                        </m:sSubPr>
                        <m:e>
                          <m:r>
                            <a:rPr lang="fr-CH" sz="1100" i="1">
                              <a:latin typeface="Cambria Math"/>
                              <a:ea typeface="Cambria Math"/>
                              <a:cs typeface="Cambria Math"/>
                            </a:rPr>
                            <m:t>𝜌</m:t>
                          </m:r>
                        </m:e>
                        <m:sub>
                          <m:r>
                            <a:rPr lang="fr-CH" sz="1100">
                              <a:latin typeface="Cambria Math"/>
                              <a:ea typeface="Cambria Math"/>
                              <a:cs typeface="Cambria Math"/>
                            </a:rPr>
                            <m:t>𝑎𝑓𝑡𝑒𝑟</m:t>
                          </m:r>
                        </m:sub>
                      </m:sSub>
                      <m:d>
                        <m:dPr>
                          <m:ctrlPr>
                            <a:rPr lang="fr-CH" sz="1100" i="1">
                              <a:latin typeface="Cambria Math" panose="02040503050406030204" pitchFamily="18" charset="0"/>
                              <a:ea typeface="Cambria Math"/>
                              <a:cs typeface="Cambria Math"/>
                            </a:rPr>
                          </m:ctrlPr>
                        </m:dPr>
                        <m:e>
                          <m:r>
                            <a:rPr lang="fr-CH" sz="1100" i="1">
                              <a:latin typeface="Cambria Math"/>
                              <a:ea typeface="Cambria Math"/>
                              <a:cs typeface="Cambria Math"/>
                            </a:rPr>
                            <m:t>𝑠</m:t>
                          </m:r>
                          <m:r>
                            <a:rPr lang="fr-CH" sz="1100" i="1">
                              <a:latin typeface="Cambria Math"/>
                              <a:ea typeface="Cambria Math"/>
                              <a:cs typeface="Cambria Math"/>
                            </a:rPr>
                            <m:t>,0</m:t>
                          </m:r>
                        </m:e>
                      </m:d>
                    </m:oMath>
                  </m:oMathPara>
                </a14:m>
                <a:endParaRPr sz="1100"/>
              </a:p>
              <a:p>
                <a:pPr>
                  <a:buNone/>
                </a:pPr>
                <a:endParaRPr sz="1100"/>
              </a:p>
              <a:p>
                <a:r>
                  <a:rPr sz="1100" b="1"/>
                  <a:t>3. Score actions: </a:t>
                </a:r>
                <a:r>
                  <a:rPr sz="1100"/>
                  <a:t>For each action:</a:t>
                </a:r>
              </a:p>
              <a:p>
                <a:pPr>
                  <a:buNone/>
                </a:pPr>
                <a14:m>
                  <m:oMathPara xmlns:m="http://schemas.openxmlformats.org/officeDocument/2006/math">
                    <m:oMathParaPr>
                      <m:jc m:val="centerGroup"/>
                    </m:oMathParaPr>
                    <m:oMath xmlns:m="http://schemas.openxmlformats.org/officeDocument/2006/math">
                      <m:r>
                        <a:rPr lang="fr-CH" sz="1100">
                          <a:latin typeface="Cambria Math"/>
                          <a:ea typeface="Cambria Math"/>
                          <a:cs typeface="Cambria Math"/>
                        </a:rPr>
                        <m:t>𝑠𝑐𝑜𝑟𝑒</m:t>
                      </m:r>
                      <m:d>
                        <m:dPr>
                          <m:ctrlPr>
                            <a:rPr lang="fr-CH" sz="1100" i="1">
                              <a:latin typeface="Cambria Math" panose="02040503050406030204" pitchFamily="18" charset="0"/>
                              <a:ea typeface="Cambria Math"/>
                              <a:cs typeface="Cambria Math"/>
                            </a:rPr>
                          </m:ctrlPr>
                        </m:dPr>
                        <m:e>
                          <m:r>
                            <a:rPr lang="fr-CH" sz="1100" i="1">
                              <a:latin typeface="Cambria Math"/>
                              <a:ea typeface="Cambria Math"/>
                              <a:cs typeface="Cambria Math"/>
                            </a:rPr>
                            <m:t>𝑎</m:t>
                          </m:r>
                        </m:e>
                      </m:d>
                      <m:r>
                        <a:rPr lang="fr-CH" sz="1100" i="1">
                          <a:latin typeface="Cambria Math"/>
                          <a:ea typeface="Cambria Math"/>
                          <a:cs typeface="Cambria Math"/>
                        </a:rPr>
                        <m:t>=</m:t>
                      </m:r>
                      <m:f>
                        <m:fPr>
                          <m:ctrlPr>
                            <a:rPr lang="fr-CH" sz="1100" i="1">
                              <a:latin typeface="Cambria Math" panose="02040503050406030204" pitchFamily="18" charset="0"/>
                              <a:ea typeface="Cambria Math"/>
                              <a:cs typeface="Cambria Math"/>
                            </a:rPr>
                          </m:ctrlPr>
                        </m:fPr>
                        <m:num>
                          <m:r>
                            <a:rPr lang="fr-CH" sz="1100" i="1">
                              <a:latin typeface="Cambria Math"/>
                              <a:ea typeface="Cambria Math"/>
                              <a:cs typeface="Cambria Math"/>
                            </a:rPr>
                            <m:t>#</m:t>
                          </m:r>
                          <m:r>
                            <a:rPr lang="fr-CH" sz="1100">
                              <a:latin typeface="Cambria Math"/>
                              <a:ea typeface="Cambria Math"/>
                              <a:cs typeface="Cambria Math"/>
                            </a:rPr>
                            <m:t>𝑡𝑖𝑚𝑒𝑠</m:t>
                          </m:r>
                          <m:r>
                            <a:rPr lang="fr-CH" sz="1100">
                              <a:latin typeface="Cambria Math"/>
                              <a:ea typeface="Cambria Math"/>
                              <a:cs typeface="Cambria Math"/>
                            </a:rPr>
                            <m:t> </m:t>
                          </m:r>
                          <m:r>
                            <a:rPr lang="fr-CH" sz="1100">
                              <a:latin typeface="Cambria Math"/>
                              <a:ea typeface="Cambria Math"/>
                              <a:cs typeface="Cambria Math"/>
                            </a:rPr>
                            <m:t>𝑎𝑐𝑡𝑖𝑜𝑛</m:t>
                          </m:r>
                          <m:r>
                            <a:rPr lang="fr-CH" sz="1100">
                              <a:latin typeface="Cambria Math"/>
                              <a:ea typeface="Cambria Math"/>
                              <a:cs typeface="Cambria Math"/>
                            </a:rPr>
                            <m:t> </m:t>
                          </m:r>
                          <m:r>
                            <a:rPr lang="fr-CH" sz="1100">
                              <a:latin typeface="Cambria Math"/>
                              <a:ea typeface="Cambria Math"/>
                              <a:cs typeface="Cambria Math"/>
                            </a:rPr>
                            <m:t>𝑖𝑚𝑝𝑟𝑜𝑣𝑒𝑠</m:t>
                          </m:r>
                          <m:r>
                            <a:rPr lang="fr-CH" sz="1100">
                              <a:latin typeface="Cambria Math"/>
                              <a:ea typeface="Cambria Math"/>
                              <a:cs typeface="Cambria Math"/>
                            </a:rPr>
                            <m:t> </m:t>
                          </m:r>
                          <m:r>
                            <a:rPr lang="fr-CH" sz="1100">
                              <a:latin typeface="Cambria Math"/>
                              <a:ea typeface="Cambria Math"/>
                              <a:cs typeface="Cambria Math"/>
                            </a:rPr>
                            <m:t>𝑡h𝑒</m:t>
                          </m:r>
                          <m:r>
                            <a:rPr lang="fr-CH" sz="1100">
                              <a:latin typeface="Cambria Math"/>
                              <a:ea typeface="Cambria Math"/>
                              <a:cs typeface="Cambria Math"/>
                            </a:rPr>
                            <m:t> </m:t>
                          </m:r>
                          <m:r>
                            <a:rPr lang="fr-CH" sz="1100">
                              <a:latin typeface="Cambria Math"/>
                              <a:ea typeface="Cambria Math"/>
                              <a:cs typeface="Cambria Math"/>
                            </a:rPr>
                            <m:t>𝑔𝑟𝑖𝑑</m:t>
                          </m:r>
                        </m:num>
                        <m:den>
                          <m:r>
                            <a:rPr lang="fr-CH" sz="1100" i="1">
                              <a:latin typeface="Cambria Math"/>
                              <a:ea typeface="Cambria Math"/>
                              <a:cs typeface="Cambria Math"/>
                            </a:rPr>
                            <m:t>#</m:t>
                          </m:r>
                          <m:r>
                            <a:rPr lang="fr-CH" sz="1100">
                              <a:latin typeface="Cambria Math"/>
                              <a:ea typeface="Cambria Math"/>
                              <a:cs typeface="Cambria Math"/>
                            </a:rPr>
                            <m:t>𝑡𝑖𝑚𝑒𝑠</m:t>
                          </m:r>
                          <m:r>
                            <a:rPr lang="fr-CH" sz="1100">
                              <a:latin typeface="Cambria Math"/>
                              <a:ea typeface="Cambria Math"/>
                              <a:cs typeface="Cambria Math"/>
                            </a:rPr>
                            <m:t> </m:t>
                          </m:r>
                          <m:r>
                            <a:rPr lang="fr-CH" sz="1100">
                              <a:latin typeface="Cambria Math"/>
                              <a:ea typeface="Cambria Math"/>
                              <a:cs typeface="Cambria Math"/>
                            </a:rPr>
                            <m:t>𝑎𝑐𝑡𝑖𝑜𝑛</m:t>
                          </m:r>
                          <m:r>
                            <a:rPr lang="fr-CH" sz="1100">
                              <a:latin typeface="Cambria Math"/>
                              <a:ea typeface="Cambria Math"/>
                              <a:cs typeface="Cambria Math"/>
                            </a:rPr>
                            <m:t> </m:t>
                          </m:r>
                          <m:r>
                            <a:rPr lang="fr-CH" sz="1100">
                              <a:latin typeface="Cambria Math"/>
                              <a:ea typeface="Cambria Math"/>
                              <a:cs typeface="Cambria Math"/>
                            </a:rPr>
                            <m:t>𝑤𝑎𝑠</m:t>
                          </m:r>
                          <m:r>
                            <a:rPr lang="fr-CH" sz="1100">
                              <a:latin typeface="Cambria Math"/>
                              <a:ea typeface="Cambria Math"/>
                              <a:cs typeface="Cambria Math"/>
                            </a:rPr>
                            <m:t> </m:t>
                          </m:r>
                          <m:r>
                            <a:rPr lang="fr-CH" sz="1100">
                              <a:latin typeface="Cambria Math"/>
                              <a:ea typeface="Cambria Math"/>
                              <a:cs typeface="Cambria Math"/>
                            </a:rPr>
                            <m:t>𝑡𝑒𝑠𝑡𝑒𝑑</m:t>
                          </m:r>
                        </m:den>
                      </m:f>
                    </m:oMath>
                  </m:oMathPara>
                </a14:m>
                <a:endParaRPr sz="1100"/>
              </a:p>
              <a:p>
                <a:pPr>
                  <a:buNone/>
                </a:pPr>
                <a:endParaRPr sz="1100"/>
              </a:p>
              <a:p>
                <a:r>
                  <a:rPr sz="1100" b="1"/>
                  <a:t>4. Keep best actions per agent: </a:t>
                </a:r>
                <a:r>
                  <a:rPr sz="1100"/>
                  <a:t>Keep all small-agent actions, and only top-K actions for large agents. Do-nothing action is always kept.</a:t>
                </a:r>
              </a:p>
            </p:txBody>
          </p:sp>
        </mc:Choice>
        <mc:Fallback>
          <p:sp>
            <p:nvSpPr>
              <p:cNvPr id="6" name="ZoneTexte 5">
                <a:extLst>
                  <a:ext uri="{FF2B5EF4-FFF2-40B4-BE49-F238E27FC236}">
                    <a16:creationId xmlns:a16="http://schemas.microsoft.com/office/drawing/2014/main" id="{367828DD-8E93-EFAA-9526-E9537E45FD81}"/>
                  </a:ext>
                </a:extLst>
              </p:cNvPr>
              <p:cNvSpPr>
                <a:spLocks noGrp="1" noRot="1" noChangeAspect="1" noMove="1" noResize="1" noEditPoints="1" noAdjustHandles="1" noChangeArrowheads="1" noChangeShapeType="1" noTextEdit="1"/>
              </p:cNvSpPr>
              <p:nvPr/>
            </p:nvSpPr>
            <p:spPr>
              <a:xfrm>
                <a:off x="526993" y="787734"/>
                <a:ext cx="8127347" cy="2470698"/>
              </a:xfrm>
              <a:prstGeom prst="roundRect">
                <a:avLst>
                  <a:gd name="adj" fmla="val 14100"/>
                </a:avLst>
              </a:prstGeom>
              <a:blipFill>
                <a:blip r:embed="rId3"/>
                <a:stretch>
                  <a:fillRect/>
                </a:stretch>
              </a:blipFill>
              <a:ln w="9525"/>
            </p:spPr>
            <p:txBody>
              <a:bodyPr/>
              <a:lstStyle/>
              <a:p>
                <a:r>
                  <a:rPr lang="en-US">
                    <a:noFill/>
                  </a:rPr>
                  <a:t> </a:t>
                </a:r>
              </a:p>
            </p:txBody>
          </p:sp>
        </mc:Fallback>
      </mc:AlternateContent>
      <p:pic>
        <p:nvPicPr>
          <p:cNvPr id="18" name="Image 10"/>
          <p:cNvPicPr>
            <a:picLocks noChangeAspect="1"/>
          </p:cNvPicPr>
          <p:nvPr/>
        </p:nvPicPr>
        <p:blipFill>
          <a:blip r:embed="rId4"/>
          <a:srcRect l="2407" t="34479" r="2407" b="8306"/>
          <a:stretch>
            <a:fillRect/>
          </a:stretch>
        </p:blipFill>
        <p:spPr>
          <a:xfrm>
            <a:off x="569591" y="3401002"/>
            <a:ext cx="8061647" cy="1228060"/>
          </a:xfrm>
          <a:prstGeom prst="rect">
            <a:avLst/>
          </a:prstGeom>
        </p:spPr>
      </p:pic>
      <p:sp>
        <p:nvSpPr>
          <p:cNvPr id="12" name="ZoneTexte 11">
            <a:extLst>
              <a:ext uri="{FF2B5EF4-FFF2-40B4-BE49-F238E27FC236}">
                <a16:creationId xmlns:a16="http://schemas.microsoft.com/office/drawing/2014/main" id="{61C30145-0A1F-9AF9-336E-97923061B902}"/>
              </a:ext>
            </a:extLst>
          </p:cNvPr>
          <p:cNvSpPr>
            <a:spLocks noGrp="1"/>
          </p:cNvSpPr>
          <p:nvPr/>
        </p:nvSpPr>
        <p:spPr>
          <a:xfrm>
            <a:off x="559842" y="4629062"/>
            <a:ext cx="8024316" cy="261610"/>
          </a:xfrm>
          <a:prstGeom prst="rect">
            <a:avLst/>
          </a:prstGeom>
          <a:noFill/>
        </p:spPr>
        <p:txBody>
          <a:bodyPr wrap="square">
            <a:spAutoFit/>
          </a:bodyPr>
          <a:lstStyle/>
          <a:p>
            <a:pPr algn="ctr">
              <a:buNone/>
            </a:pPr>
            <a:r>
              <a:rPr sz="1100" b="1" i="1">
                <a:latin typeface="Times New Roman"/>
                <a:ea typeface="Times New Roman"/>
                <a:cs typeface="Times New Roman"/>
              </a:rPr>
              <a:t>Table 12: One-step greedy evalaution of WCCI reduced action spaces on 50 random test chronics</a:t>
            </a:r>
          </a:p>
        </p:txBody>
      </p:sp>
      <p:pic>
        <p:nvPicPr>
          <p:cNvPr id="20" name="Picture 2"/>
          <p:cNvPicPr>
            <a:picLocks noChangeAspect="1"/>
          </p:cNvPicPr>
          <p:nvPr/>
        </p:nvPicPr>
        <p:blipFill>
          <a:blip r:embed="rId5"/>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1800142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624482-565A-6118-535C-D01355E95A6A}"/>
              </a:ext>
            </a:extLst>
          </p:cNvPr>
          <p:cNvSpPr>
            <a:spLocks noGrp="1"/>
          </p:cNvSpPr>
          <p:nvPr>
            <p:ph type="title"/>
          </p:nvPr>
        </p:nvSpPr>
        <p:spPr>
          <a:xfrm>
            <a:off x="904875" y="252828"/>
            <a:ext cx="7532115" cy="601301"/>
          </a:xfrm>
        </p:spPr>
        <p:txBody>
          <a:bodyPr>
            <a:normAutofit/>
          </a:bodyPr>
          <a:lstStyle/>
          <a:p>
            <a:r>
              <a:t>WCCI 2020 (36 substations): Results</a:t>
            </a:r>
          </a:p>
        </p:txBody>
      </p:sp>
      <p:sp>
        <p:nvSpPr>
          <p:cNvPr id="5" name="Espace réservé du numéro de diapositive 4">
            <a:extLst>
              <a:ext uri="{FF2B5EF4-FFF2-40B4-BE49-F238E27FC236}">
                <a16:creationId xmlns:a16="http://schemas.microsoft.com/office/drawing/2014/main" id="{9EE6C338-C713-3E9D-EFF1-86E7B50FF49F}"/>
              </a:ext>
            </a:extLst>
          </p:cNvPr>
          <p:cNvSpPr>
            <a:spLocks noGrp="1"/>
          </p:cNvSpPr>
          <p:nvPr>
            <p:ph type="sldNum" idx="12"/>
          </p:nvPr>
        </p:nvSpPr>
        <p:spPr/>
        <p:txBody>
          <a:bodyPr/>
          <a:lstStyle/>
          <a:p>
            <a:r>
              <a:t>8</a:t>
            </a:r>
          </a:p>
        </p:txBody>
      </p:sp>
      <p:pic>
        <p:nvPicPr>
          <p:cNvPr id="13" name="Image 2"/>
          <p:cNvPicPr>
            <a:picLocks noChangeAspect="1"/>
          </p:cNvPicPr>
          <p:nvPr/>
        </p:nvPicPr>
        <p:blipFill>
          <a:blip r:embed="rId3"/>
          <a:stretch>
            <a:fillRect/>
          </a:stretch>
        </p:blipFill>
        <p:spPr>
          <a:xfrm>
            <a:off x="161418" y="1687688"/>
            <a:ext cx="4723444" cy="2111473"/>
          </a:xfrm>
          <a:prstGeom prst="rect">
            <a:avLst/>
          </a:prstGeom>
        </p:spPr>
      </p:pic>
      <p:pic>
        <p:nvPicPr>
          <p:cNvPr id="14" name="Image 3"/>
          <p:cNvPicPr>
            <a:picLocks noChangeAspect="1"/>
          </p:cNvPicPr>
          <p:nvPr/>
        </p:nvPicPr>
        <p:blipFill>
          <a:blip r:embed="rId4"/>
          <a:srcRect r="49519"/>
          <a:stretch>
            <a:fillRect/>
          </a:stretch>
        </p:blipFill>
        <p:spPr>
          <a:xfrm>
            <a:off x="4933480" y="1292577"/>
            <a:ext cx="4049102" cy="2506584"/>
          </a:xfrm>
          <a:prstGeom prst="rect">
            <a:avLst/>
          </a:prstGeom>
        </p:spPr>
      </p:pic>
      <p:sp>
        <p:nvSpPr>
          <p:cNvPr id="6" name="ZoneTexte 5">
            <a:extLst>
              <a:ext uri="{FF2B5EF4-FFF2-40B4-BE49-F238E27FC236}">
                <a16:creationId xmlns:a16="http://schemas.microsoft.com/office/drawing/2014/main" id="{17530E8B-F7CF-A0DE-2069-7035715B5C4A}"/>
              </a:ext>
            </a:extLst>
          </p:cNvPr>
          <p:cNvSpPr>
            <a:spLocks noGrp="1"/>
          </p:cNvSpPr>
          <p:nvPr/>
        </p:nvSpPr>
        <p:spPr>
          <a:xfrm>
            <a:off x="161418" y="3799161"/>
            <a:ext cx="4772062" cy="261610"/>
          </a:xfrm>
          <a:prstGeom prst="rect">
            <a:avLst/>
          </a:prstGeom>
          <a:noFill/>
        </p:spPr>
        <p:txBody>
          <a:bodyPr wrap="square">
            <a:spAutoFit/>
          </a:bodyPr>
          <a:lstStyle/>
          <a:p>
            <a:pPr algn="ctr">
              <a:buNone/>
            </a:pPr>
            <a:r>
              <a:rPr sz="1100" b="1" i="1">
                <a:latin typeface="Times New Roman"/>
                <a:ea typeface="Times New Roman"/>
                <a:cs typeface="Times New Roman"/>
              </a:rPr>
              <a:t>Fig 18: Do Nothing mean survival by month on WCCI 36 environment</a:t>
            </a:r>
          </a:p>
        </p:txBody>
      </p:sp>
      <p:sp>
        <p:nvSpPr>
          <p:cNvPr id="7" name="ZoneTexte 6">
            <a:extLst>
              <a:ext uri="{FF2B5EF4-FFF2-40B4-BE49-F238E27FC236}">
                <a16:creationId xmlns:a16="http://schemas.microsoft.com/office/drawing/2014/main" id="{9B2CB2D2-AFB2-9D48-615C-D4DAAE4182AC}"/>
              </a:ext>
            </a:extLst>
          </p:cNvPr>
          <p:cNvSpPr>
            <a:spLocks noGrp="1"/>
          </p:cNvSpPr>
          <p:nvPr/>
        </p:nvSpPr>
        <p:spPr>
          <a:xfrm>
            <a:off x="4933480" y="3799161"/>
            <a:ext cx="4049102" cy="430887"/>
          </a:xfrm>
          <a:prstGeom prst="rect">
            <a:avLst/>
          </a:prstGeom>
          <a:noFill/>
        </p:spPr>
        <p:txBody>
          <a:bodyPr wrap="square">
            <a:spAutoFit/>
          </a:bodyPr>
          <a:lstStyle/>
          <a:p>
            <a:pPr algn="ctr">
              <a:buNone/>
            </a:pPr>
            <a:r>
              <a:rPr sz="1100" b="1" i="1">
                <a:latin typeface="Times New Roman"/>
                <a:ea typeface="Times New Roman"/>
                <a:cs typeface="Times New Roman"/>
              </a:rPr>
              <a:t>Fig 19: Do Nothing mean survival by month on WCCI 36 environment</a:t>
            </a:r>
          </a:p>
        </p:txBody>
      </p:sp>
      <p:pic>
        <p:nvPicPr>
          <p:cNvPr id="17" name="Picture 2"/>
          <p:cNvPicPr>
            <a:picLocks noChangeAspect="1"/>
          </p:cNvPicPr>
          <p:nvPr/>
        </p:nvPicPr>
        <p:blipFill>
          <a:blip r:embed="rId5"/>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23212144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93FB26-8DF2-9FD3-107E-42D8C9325F2B}"/>
              </a:ext>
            </a:extLst>
          </p:cNvPr>
          <p:cNvSpPr>
            <a:spLocks noGrp="1"/>
          </p:cNvSpPr>
          <p:nvPr>
            <p:ph type="title"/>
          </p:nvPr>
        </p:nvSpPr>
        <p:spPr>
          <a:xfrm>
            <a:off x="904875" y="252828"/>
            <a:ext cx="7532115" cy="601301"/>
          </a:xfrm>
        </p:spPr>
        <p:txBody>
          <a:bodyPr>
            <a:normAutofit/>
          </a:bodyPr>
          <a:lstStyle/>
          <a:p>
            <a:r>
              <a:t>WCCI 2020 (36 substations): Results</a:t>
            </a:r>
          </a:p>
        </p:txBody>
      </p:sp>
      <p:sp>
        <p:nvSpPr>
          <p:cNvPr id="5" name="Espace réservé du numéro de diapositive 4">
            <a:extLst>
              <a:ext uri="{FF2B5EF4-FFF2-40B4-BE49-F238E27FC236}">
                <a16:creationId xmlns:a16="http://schemas.microsoft.com/office/drawing/2014/main" id="{B127C5F5-E4A1-CA00-30E6-A5232C4E1B77}"/>
              </a:ext>
            </a:extLst>
          </p:cNvPr>
          <p:cNvSpPr>
            <a:spLocks noGrp="1"/>
          </p:cNvSpPr>
          <p:nvPr>
            <p:ph type="sldNum" idx="12"/>
          </p:nvPr>
        </p:nvSpPr>
        <p:spPr/>
        <p:txBody>
          <a:bodyPr/>
          <a:lstStyle/>
          <a:p>
            <a:r>
              <a:t>8</a:t>
            </a:r>
          </a:p>
        </p:txBody>
      </p:sp>
      <p:pic>
        <p:nvPicPr>
          <p:cNvPr id="14" name="Image 6"/>
          <p:cNvPicPr>
            <a:picLocks noChangeAspect="1"/>
          </p:cNvPicPr>
          <p:nvPr/>
        </p:nvPicPr>
        <p:blipFill>
          <a:blip r:embed="rId3"/>
          <a:stretch>
            <a:fillRect/>
          </a:stretch>
        </p:blipFill>
        <p:spPr>
          <a:xfrm>
            <a:off x="101743" y="1174045"/>
            <a:ext cx="8999963" cy="2777066"/>
          </a:xfrm>
          <a:prstGeom prst="rect">
            <a:avLst/>
          </a:prstGeom>
        </p:spPr>
      </p:pic>
      <p:sp>
        <p:nvSpPr>
          <p:cNvPr id="8" name="ZoneTexte 7">
            <a:extLst>
              <a:ext uri="{FF2B5EF4-FFF2-40B4-BE49-F238E27FC236}">
                <a16:creationId xmlns:a16="http://schemas.microsoft.com/office/drawing/2014/main" id="{A7B13C29-4600-BD83-8B18-BB5D29DB2090}"/>
              </a:ext>
            </a:extLst>
          </p:cNvPr>
          <p:cNvSpPr>
            <a:spLocks noGrp="1"/>
          </p:cNvSpPr>
          <p:nvPr/>
        </p:nvSpPr>
        <p:spPr>
          <a:xfrm>
            <a:off x="101743" y="3951111"/>
            <a:ext cx="4598651" cy="430887"/>
          </a:xfrm>
          <a:prstGeom prst="rect">
            <a:avLst/>
          </a:prstGeom>
          <a:noFill/>
        </p:spPr>
        <p:txBody>
          <a:bodyPr wrap="square">
            <a:spAutoFit/>
          </a:bodyPr>
          <a:lstStyle/>
          <a:p>
            <a:pPr algn="ctr">
              <a:buNone/>
            </a:pPr>
            <a:r>
              <a:rPr sz="1100" b="1" i="1">
                <a:latin typeface="Times New Roman"/>
                <a:ea typeface="Times New Roman"/>
                <a:cs typeface="Times New Roman"/>
              </a:rPr>
              <a:t>Fig 20: mean episodic survival rate depending on the month and the action space size</a:t>
            </a:r>
          </a:p>
        </p:txBody>
      </p:sp>
      <p:sp>
        <p:nvSpPr>
          <p:cNvPr id="9" name="ZoneTexte 8">
            <a:extLst>
              <a:ext uri="{FF2B5EF4-FFF2-40B4-BE49-F238E27FC236}">
                <a16:creationId xmlns:a16="http://schemas.microsoft.com/office/drawing/2014/main" id="{B16B3914-14A1-6729-E827-BF96B66BB16F}"/>
              </a:ext>
            </a:extLst>
          </p:cNvPr>
          <p:cNvSpPr>
            <a:spLocks noGrp="1"/>
          </p:cNvSpPr>
          <p:nvPr/>
        </p:nvSpPr>
        <p:spPr>
          <a:xfrm>
            <a:off x="4700395" y="3951110"/>
            <a:ext cx="4401312" cy="430887"/>
          </a:xfrm>
          <a:prstGeom prst="rect">
            <a:avLst/>
          </a:prstGeom>
          <a:noFill/>
        </p:spPr>
        <p:txBody>
          <a:bodyPr wrap="square">
            <a:spAutoFit/>
          </a:bodyPr>
          <a:lstStyle/>
          <a:p>
            <a:pPr algn="ctr">
              <a:buNone/>
            </a:pPr>
            <a:r>
              <a:rPr sz="1100" b="1" i="1">
                <a:latin typeface="Times New Roman"/>
                <a:ea typeface="Times New Roman"/>
                <a:cs typeface="Times New Roman"/>
              </a:rPr>
              <a:t>Fig 21: Difference in surival rate between do-nothing and greedy evaluation depending on the month and the action space size</a:t>
            </a:r>
          </a:p>
        </p:txBody>
      </p:sp>
      <p:pic>
        <p:nvPicPr>
          <p:cNvPr id="17" name="Picture 2"/>
          <p:cNvPicPr>
            <a:picLocks noChangeAspect="1"/>
          </p:cNvPicPr>
          <p:nvPr/>
        </p:nvPicPr>
        <p:blipFill>
          <a:blip r:embed="rId4"/>
          <a:srcRect/>
          <a:stretch>
            <a:fillRect/>
          </a:stretch>
        </p:blipFill>
        <p:spPr>
          <a:xfrm>
            <a:off x="158055" y="379734"/>
            <a:ext cx="587504" cy="326391"/>
          </a:xfrm>
          <a:prstGeom prst="rect">
            <a:avLst/>
          </a:prstGeom>
        </p:spPr>
      </p:pic>
    </p:spTree>
    <p:extLst>
      <p:ext uri="{BB962C8B-B14F-4D97-AF65-F5344CB8AC3E}">
        <p14:creationId xmlns:p14="http://schemas.microsoft.com/office/powerpoint/2010/main" val="1055036363"/>
      </p:ext>
    </p:extLst>
  </p:cSld>
  <p:clrMapOvr>
    <a:masterClrMapping/>
  </p:clrMapOvr>
</p:sld>
</file>

<file path=ppt/theme/theme1.xml><?xml version="1.0" encoding="utf-8"?>
<a:theme xmlns:a="http://schemas.openxmlformats.org/drawingml/2006/main" name="Thème Office">
  <a:themeElements>
    <a:clrScheme name="EPFL - New Colors 2019">
      <a:dk1>
        <a:srgbClr val="413C3A"/>
      </a:dk1>
      <a:lt1>
        <a:srgbClr val="FFFFFF"/>
      </a:lt1>
      <a:dk2>
        <a:srgbClr val="413C3A"/>
      </a:dk2>
      <a:lt2>
        <a:srgbClr val="CAC7C7"/>
      </a:lt2>
      <a:accent1>
        <a:srgbClr val="E30613"/>
      </a:accent1>
      <a:accent2>
        <a:srgbClr val="00A79F"/>
      </a:accent2>
      <a:accent3>
        <a:srgbClr val="413C3A"/>
      </a:accent3>
      <a:accent4>
        <a:srgbClr val="007480"/>
      </a:accent4>
      <a:accent5>
        <a:srgbClr val="F39869"/>
      </a:accent5>
      <a:accent6>
        <a:srgbClr val="B51F1F"/>
      </a:accent6>
      <a:hlink>
        <a:srgbClr val="ED6E9C"/>
      </a:hlink>
      <a:folHlink>
        <a:srgbClr val="4F8FCC"/>
      </a:folHlink>
    </a:clrScheme>
    <a:fontScheme name="EPFL_Beta2">
      <a:majorFont>
        <a:latin typeface="Franklin Gothic Demi Cond"/>
        <a:ea typeface=""/>
        <a:cs typeface=""/>
      </a:majorFont>
      <a:minorFont>
        <a:latin typeface="Arial"/>
        <a:ea typeface=""/>
        <a:cs typeface=""/>
      </a:minorFont>
    </a:fontScheme>
    <a:fmtScheme name="EPFL - New Colors 201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EPFL - New Colors 2019">
      <a:dk1>
        <a:srgbClr val="413C3A"/>
      </a:dk1>
      <a:lt1>
        <a:srgbClr val="FFFFFF"/>
      </a:lt1>
      <a:dk2>
        <a:srgbClr val="413C3A"/>
      </a:dk2>
      <a:lt2>
        <a:srgbClr val="CAC7C7"/>
      </a:lt2>
      <a:accent1>
        <a:srgbClr val="E30613"/>
      </a:accent1>
      <a:accent2>
        <a:srgbClr val="00A79F"/>
      </a:accent2>
      <a:accent3>
        <a:srgbClr val="413C3A"/>
      </a:accent3>
      <a:accent4>
        <a:srgbClr val="007480"/>
      </a:accent4>
      <a:accent5>
        <a:srgbClr val="F39869"/>
      </a:accent5>
      <a:accent6>
        <a:srgbClr val="B51F1F"/>
      </a:accent6>
      <a:hlink>
        <a:srgbClr val="ED6E9C"/>
      </a:hlink>
      <a:folHlink>
        <a:srgbClr val="4F8FCC"/>
      </a:folHlink>
    </a:clrScheme>
    <a:fontScheme name="EPFL_Beta2">
      <a:majorFont>
        <a:latin typeface="Franklin Gothic Demi Cond"/>
        <a:ea typeface=""/>
        <a:cs typeface=""/>
      </a:majorFont>
      <a:minorFont>
        <a:latin typeface="Arial"/>
        <a:ea typeface=""/>
        <a:cs typeface=""/>
      </a:minorFont>
    </a:fontScheme>
    <a:fmtScheme name="EPFL - New Colors 201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5530</Words>
  <Application>Microsoft Macintosh PowerPoint</Application>
  <DocSecurity>0</DocSecurity>
  <PresentationFormat>Affichage à l'écran (16:9)</PresentationFormat>
  <Paragraphs>645</Paragraphs>
  <Slides>26</Slides>
  <Notes>26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26</vt:i4>
      </vt:variant>
    </vt:vector>
  </HeadingPairs>
  <TitlesOfParts>
    <vt:vector size="33" baseType="lpstr">
      <vt:lpstr>Arial</vt:lpstr>
      <vt:lpstr>Cambria Math</vt:lpstr>
      <vt:lpstr>Consolas</vt:lpstr>
      <vt:lpstr>Franklin Gothic Demi Cond</vt:lpstr>
      <vt:lpstr>Times New Roman</vt:lpstr>
      <vt:lpstr>Wingdings</vt:lpstr>
      <vt:lpstr>Thème Office</vt:lpstr>
      <vt:lpstr>Graph-Structured Multi-Agent Reinforcement Learning for Power Grid Topology Control</vt:lpstr>
      <vt:lpstr>Motivation</vt:lpstr>
      <vt:lpstr>Literature Review</vt:lpstr>
      <vt:lpstr>General Data Splitting and Actions</vt:lpstr>
      <vt:lpstr>IEEE 14: environment setup</vt:lpstr>
      <vt:lpstr>IEEE 14: Baseline, Original Hyperparameters</vt:lpstr>
      <vt:lpstr>IEEE 14: Baseline, New Hyperparameters</vt:lpstr>
      <vt:lpstr>IEEE 14: Baseline, Results</vt:lpstr>
      <vt:lpstr>IEEE 14: Graph variations, structure</vt:lpstr>
      <vt:lpstr>Observation features</vt:lpstr>
      <vt:lpstr>IEEE 14: Graph variations, results</vt:lpstr>
      <vt:lpstr>IEEE 14: Graph variations, results</vt:lpstr>
      <vt:lpstr>IEEE 14: Realistic behavior</vt:lpstr>
      <vt:lpstr>IEEE 14: Realistic behavior — gating</vt:lpstr>
      <vt:lpstr>IEEE 14: Realistic behavior — sparse control</vt:lpstr>
      <vt:lpstr>IEEE 14: Realistic behavior, Results</vt:lpstr>
      <vt:lpstr>IEEE 14: Realistic behavior, Results</vt:lpstr>
      <vt:lpstr>IEEE 14: Realistic behavior, Results</vt:lpstr>
      <vt:lpstr>IEEE 14: Realistic behavior, Results</vt:lpstr>
      <vt:lpstr>IEEE 14: Realistic behavior, Results</vt:lpstr>
      <vt:lpstr>IEEE 14: Realistic behavior, Results</vt:lpstr>
      <vt:lpstr>IEEE 14: Realistic behavior, Results</vt:lpstr>
      <vt:lpstr>WCCI 2020 (36 substations): environment setup</vt:lpstr>
      <vt:lpstr>WCCI 2020 (36 substations): Action Space Reduction</vt:lpstr>
      <vt:lpstr>WCCI 2020 (36 substations): Results</vt:lpstr>
      <vt:lpstr>WCCI 2020 (36 substations):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Corentin Stéphane Marin Plumet</cp:lastModifiedBy>
  <cp:revision>1</cp:revision>
  <dcterms:created xsi:type="dcterms:W3CDTF">2026-07-19T17:16:56Z</dcterms:created>
  <dcterms:modified xsi:type="dcterms:W3CDTF">2026-07-20T07:24:31Z</dcterms:modified>
</cp:coreProperties>
</file>