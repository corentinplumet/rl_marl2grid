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e7973f350e45ad" /><Relationship Type="http://schemas.openxmlformats.org/officeDocument/2006/relationships/extended-properties" Target="/docProps/app.xml" Id="R8bf33e58a8b047eb" /><Relationship Type="http://schemas.openxmlformats.org/officeDocument/2006/relationships/officeDocument" Target="/ppt/presentation.xml" Id="R0f0809d2b81c4a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fb373b021b4ce8"/>
  </p:sldMasterIdLst>
  <p:notesMasterIdLst>
    <p:notesMasterId xmlns:r="http://schemas.openxmlformats.org/officeDocument/2006/relationships" r:id="R8449ca6f65674688"/>
  </p:notesMasterIdLst>
  <p:sldIdLst>
    <p:sldId xmlns:r="http://schemas.openxmlformats.org/officeDocument/2006/relationships" id="256" r:id="R9e68061cd7754b01"/>
    <p:sldId xmlns:r="http://schemas.openxmlformats.org/officeDocument/2006/relationships" id="257" r:id="Rc440b49fcda441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139fe33441472b" /><Relationship Type="http://schemas.openxmlformats.org/officeDocument/2006/relationships/slideMaster" Target="/ppt/slideMasters/slideMaster1.xml" Id="R57fb373b021b4ce8" /><Relationship Type="http://schemas.openxmlformats.org/officeDocument/2006/relationships/notesMaster" Target="/ppt/notesMasters/notesMaster1.xml" Id="R8449ca6f65674688" /><Relationship Type="http://schemas.openxmlformats.org/officeDocument/2006/relationships/presProps" Target="/ppt/presProps.xml" Id="Rf514187253b8408e" /><Relationship Type="http://schemas.openxmlformats.org/officeDocument/2006/relationships/tableStyles" Target="/ppt/tableStyles.xml" Id="R166ec5c034ad4bce" /><Relationship Type="http://schemas.openxmlformats.org/officeDocument/2006/relationships/slide" Target="/ppt/slides/slide1.xml" Id="R9e68061cd7754b01" /><Relationship Type="http://schemas.openxmlformats.org/officeDocument/2006/relationships/slide" Target="/ppt/slides/slide2.xml" Id="Rc440b49fcda441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67d4051dce40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6339504e784e47" /><Relationship Type="http://schemas.openxmlformats.org/officeDocument/2006/relationships/notesMaster" Target="/ppt/notesMasters/notesMaster1.xml" Id="Ra89c00ae35904e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78021f8a494329" /><Relationship Type="http://schemas.openxmlformats.org/officeDocument/2006/relationships/notesMaster" Target="/ppt/notesMasters/notesMaster1.xml" Id="Rd153f72b7ae140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72d38c0bb44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2856f32a3f499c" /><Relationship Type="http://schemas.openxmlformats.org/officeDocument/2006/relationships/slideLayout" Target="/ppt/slideLayouts/slideLayout1.xml" Id="R461a6e43a4544e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1a6e43a4544e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21f5c03564df5" /><Relationship Type="http://schemas.openxmlformats.org/officeDocument/2006/relationships/notesSlide" Target="/ppt/notesSlides/notesSlide1.xml" Id="R12ed3a4cacbf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75b61591f43b1" /><Relationship Type="http://schemas.openxmlformats.org/officeDocument/2006/relationships/notesSlide" Target="/ppt/notesSlides/notesSlide2.xml" Id="R512d1f8c5cda49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itle">
            <a:extLst xmlns:a="http://schemas.openxmlformats.org/drawingml/2006/main">
              <a:ext uri="{FF2B5EF4-FFF2-40B4-BE49-F238E27FC236}">
                <a16:creationId xmlns:a16="http://schemas.microsoft.com/office/drawing/2014/main" id="{D56FB6BA-BDE3-4BD2-A7BE-2C40E50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1277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Four local GINE actors choose topology actions; one global critic guides MAPPO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73BC63-416B-4BBC-BF33-85B3D2EF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Current WCCI-36 configuration · decentralized execution · centralized training</a:t>
            </a:r>
          </a:p>
        </p:txBody>
      </p:sp>
      <p:sp>
        <p:nvSpPr>
          <p:cNvPr id="3" name="actor-band">
            <a:extLst xmlns:a="http://schemas.openxmlformats.org/drawingml/2006/main">
              <a:ext uri="{FF2B5EF4-FFF2-40B4-BE49-F238E27FC236}">
                <a16:creationId xmlns:a16="http://schemas.microsoft.com/office/drawing/2014/main" id="{BFD4629F-CF84-4EB8-A9CA-CD73EC79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0"/>
            <a:ext cx="11582400" cy="3000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4" name="actor-label">
            <a:extLst xmlns:a="http://schemas.openxmlformats.org/drawingml/2006/main">
              <a:ext uri="{FF2B5EF4-FFF2-40B4-BE49-F238E27FC236}">
                <a16:creationId xmlns:a16="http://schemas.microsoft.com/office/drawing/2014/main" id="{FF07A33D-D65F-46AA-8F5F-14BB6EA8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DECENTRALIZED ACTOR  πᵢ</a:t>
            </a:r>
          </a:p>
        </p:txBody>
      </p:sp>
      <p:sp>
        <p:nvSpPr>
          <p:cNvPr id="5" name="actor-repeat">
            <a:extLst xmlns:a="http://schemas.openxmlformats.org/drawingml/2006/main">
              <a:ext uri="{FF2B5EF4-FFF2-40B4-BE49-F238E27FC236}">
                <a16:creationId xmlns:a16="http://schemas.microsoft.com/office/drawing/2014/main" id="{0EFFBD1B-A0CC-4298-9225-C47BC775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096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× 4 agents  ·  same architecture  ·  weights not shared</a:t>
            </a:r>
          </a:p>
        </p:txBody>
      </p:sp>
      <p:sp>
        <p:nvSpPr>
          <p:cNvPr id="6" name="local-graph">
            <a:extLst xmlns:a="http://schemas.openxmlformats.org/drawingml/2006/main">
              <a:ext uri="{FF2B5EF4-FFF2-40B4-BE49-F238E27FC236}">
                <a16:creationId xmlns:a16="http://schemas.microsoft.com/office/drawing/2014/main" id="{E8C450B7-28B2-4718-B2C4-95F720BB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6192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78A5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local-graph-accent">
            <a:extLst xmlns:a="http://schemas.openxmlformats.org/drawingml/2006/main">
              <a:ext uri="{FF2B5EF4-FFF2-40B4-BE49-F238E27FC236}">
                <a16:creationId xmlns:a16="http://schemas.microsoft.com/office/drawing/2014/main" id="{B9D41DD0-36E7-490F-B4BE-0311460F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66675" cy="1409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A8"/>
          </a:solidFill>
          <a:ln xmlns:a="http://schemas.openxmlformats.org/drawingml/2006/main" w="0">
            <a:solidFill>
              <a:srgbClr val="2F7CA8"/>
            </a:solidFill>
            <a:prstDash val="solid"/>
          </a:ln>
        </p:spPr>
      </p:sp>
      <p:sp>
        <p:nvSpPr>
          <p:cNvPr id="8" name="local-graph-title">
            <a:extLst xmlns:a="http://schemas.openxmlformats.org/drawingml/2006/main">
              <a:ext uri="{FF2B5EF4-FFF2-40B4-BE49-F238E27FC236}">
                <a16:creationId xmlns:a16="http://schemas.microsoft.com/office/drawing/2014/main" id="{CB6C4156-63D4-479B-A2DF-E0239F84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47850"/>
            <a:ext cx="1371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Local busbar graph  Gᵢ</a:t>
            </a:r>
          </a:p>
        </p:txBody>
      </p:sp>
      <p:sp>
        <p:nvSpPr>
          <p:cNvPr id="9" name="local-graph-body">
            <a:extLst xmlns:a="http://schemas.openxmlformats.org/drawingml/2006/main">
              <a:ext uri="{FF2B5EF4-FFF2-40B4-BE49-F238E27FC236}">
                <a16:creationId xmlns:a16="http://schemas.microsoft.com/office/drawing/2014/main" id="{E8D5A29D-D796-428D-A321-1CEC4DE3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14550"/>
            <a:ext cx="13620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Nodes: local busbars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Edges: feasible line connections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Topology: active-edge mask</a:t>
            </a:r>
          </a:p>
        </p:txBody>
      </p:sp>
      <p:sp>
        <p:nvSpPr>
          <p:cNvPr id="10" name="node-tensor">
            <a:extLst xmlns:a="http://schemas.openxmlformats.org/drawingml/2006/main">
              <a:ext uri="{FF2B5EF4-FFF2-40B4-BE49-F238E27FC236}">
                <a16:creationId xmlns:a16="http://schemas.microsoft.com/office/drawing/2014/main" id="{A2E82D30-CCDC-4846-A7F0-3C085135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71625"/>
            <a:ext cx="1562100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6FB"/>
          </a:solidFill>
          <a:ln xmlns:a="http://schemas.openxmlformats.org/drawingml/2006/main" w="14288">
            <a:solidFill>
              <a:srgbClr val="8FB3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node-tensor-accent">
            <a:extLst xmlns:a="http://schemas.openxmlformats.org/drawingml/2006/main">
              <a:ext uri="{FF2B5EF4-FFF2-40B4-BE49-F238E27FC236}">
                <a16:creationId xmlns:a16="http://schemas.microsoft.com/office/drawing/2014/main" id="{4939298A-74A7-4313-B2B1-945C021D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71625"/>
            <a:ext cx="66675" cy="1171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4AA"/>
          </a:solidFill>
          <a:ln xmlns:a="http://schemas.openxmlformats.org/drawingml/2006/main" w="0">
            <a:solidFill>
              <a:srgbClr val="4384AA"/>
            </a:solidFill>
            <a:prstDash val="solid"/>
          </a:ln>
        </p:spPr>
      </p:sp>
      <p:sp>
        <p:nvSpPr>
          <p:cNvPr id="12" name="node-tensor-title">
            <a:extLst xmlns:a="http://schemas.openxmlformats.org/drawingml/2006/main">
              <a:ext uri="{FF2B5EF4-FFF2-40B4-BE49-F238E27FC236}">
                <a16:creationId xmlns:a16="http://schemas.microsoft.com/office/drawing/2014/main" id="{2694BFC8-1C23-4B7B-A2A9-ED1FD42D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57350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Node tensor</a:t>
            </a:r>
          </a:p>
        </p:txBody>
      </p:sp>
      <p:sp>
        <p:nvSpPr>
          <p:cNvPr id="13" name="node-tensor-body">
            <a:extLst xmlns:a="http://schemas.openxmlformats.org/drawingml/2006/main">
              <a:ext uri="{FF2B5EF4-FFF2-40B4-BE49-F238E27FC236}">
                <a16:creationId xmlns:a16="http://schemas.microsoft.com/office/drawing/2014/main" id="{FCA78CAB-9FD0-4D19-95B5-8005899C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24050"/>
            <a:ext cx="1304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6 physical features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substation ID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busbar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22 features / node</a:t>
            </a:r>
          </a:p>
        </p:txBody>
      </p:sp>
      <p:sp>
        <p:nvSpPr>
          <p:cNvPr id="14" name="edge-tensor">
            <a:extLst xmlns:a="http://schemas.openxmlformats.org/drawingml/2006/main">
              <a:ext uri="{FF2B5EF4-FFF2-40B4-BE49-F238E27FC236}">
                <a16:creationId xmlns:a16="http://schemas.microsoft.com/office/drawing/2014/main" id="{877E60BB-3856-4AAC-8AF1-8EB81CE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86075"/>
            <a:ext cx="15621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0F6FB"/>
          </a:solidFill>
          <a:ln xmlns:a="http://schemas.openxmlformats.org/drawingml/2006/main" w="14288">
            <a:solidFill>
              <a:srgbClr val="8FB3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edge-tensor-accent">
            <a:extLst xmlns:a="http://schemas.openxmlformats.org/drawingml/2006/main">
              <a:ext uri="{FF2B5EF4-FFF2-40B4-BE49-F238E27FC236}">
                <a16:creationId xmlns:a16="http://schemas.microsoft.com/office/drawing/2014/main" id="{2D75E917-E986-4D79-933E-3C8F77E2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886075"/>
            <a:ext cx="66675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84AA"/>
          </a:solidFill>
          <a:ln xmlns:a="http://schemas.openxmlformats.org/drawingml/2006/main" w="0">
            <a:solidFill>
              <a:srgbClr val="4384AA"/>
            </a:solidFill>
            <a:prstDash val="solid"/>
          </a:ln>
        </p:spPr>
      </p:sp>
      <p:sp>
        <p:nvSpPr>
          <p:cNvPr id="16" name="edge-tensor-title">
            <a:extLst xmlns:a="http://schemas.openxmlformats.org/drawingml/2006/main">
              <a:ext uri="{FF2B5EF4-FFF2-40B4-BE49-F238E27FC236}">
                <a16:creationId xmlns:a16="http://schemas.microsoft.com/office/drawing/2014/main" id="{E949EA0A-62E1-4164-9164-8E9F8C6C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1314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Edge tensor</a:t>
            </a:r>
          </a:p>
        </p:txBody>
      </p:sp>
      <p:sp>
        <p:nvSpPr>
          <p:cNvPr id="17" name="edge-tensor-body">
            <a:extLst xmlns:a="http://schemas.openxmlformats.org/drawingml/2006/main">
              <a:ext uri="{FF2B5EF4-FFF2-40B4-BE49-F238E27FC236}">
                <a16:creationId xmlns:a16="http://schemas.microsoft.com/office/drawing/2014/main" id="{448CBC57-45C8-40B7-8C98-E4273684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38500"/>
            <a:ext cx="13049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6 line features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status · ρ · overload</a:t>
            </a:r>
          </a:p>
          <a:p xmlns:a="http://schemas.openxmlformats.org/drawingml/2006/main"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cooldown · maintenance</a:t>
            </a:r>
          </a:p>
        </p:txBody>
      </p:sp>
      <p:sp>
        <p:nvSpPr>
          <p:cNvPr id="18" name="gine-encoder">
            <a:extLst xmlns:a="http://schemas.openxmlformats.org/drawingml/2006/main">
              <a:ext uri="{FF2B5EF4-FFF2-40B4-BE49-F238E27FC236}">
                <a16:creationId xmlns:a16="http://schemas.microsoft.com/office/drawing/2014/main" id="{CCC43F78-712E-4DA1-8174-3892F981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24025"/>
            <a:ext cx="1809750" cy="1609725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3F0F8"/>
          </a:solidFill>
          <a:ln xmlns:a="http://schemas.openxmlformats.org/drawingml/2006/main" w="14288">
            <a:solidFill>
              <a:srgbClr val="5E99B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gine-encoder-accent">
            <a:extLst xmlns:a="http://schemas.openxmlformats.org/drawingml/2006/main">
              <a:ext uri="{FF2B5EF4-FFF2-40B4-BE49-F238E27FC236}">
                <a16:creationId xmlns:a16="http://schemas.microsoft.com/office/drawing/2014/main" id="{AFC10056-5061-4FEC-A82C-F9175355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24025"/>
            <a:ext cx="66675" cy="1609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F9E"/>
          </a:solidFill>
          <a:ln xmlns:a="http://schemas.openxmlformats.org/drawingml/2006/main" w="0">
            <a:solidFill>
              <a:srgbClr val="1E6F9E"/>
            </a:solidFill>
            <a:prstDash val="solid"/>
          </a:ln>
        </p:spPr>
      </p:sp>
      <p:sp>
        <p:nvSpPr>
          <p:cNvPr id="20" name="gine-encoder-title">
            <a:extLst xmlns:a="http://schemas.openxmlformats.org/drawingml/2006/main">
              <a:ext uri="{FF2B5EF4-FFF2-40B4-BE49-F238E27FC236}">
                <a16:creationId xmlns:a16="http://schemas.microsoft.com/office/drawing/2014/main" id="{04E73701-034B-43AE-8EDA-60BF6618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0975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GINE graph encoder</a:t>
            </a:r>
          </a:p>
        </p:txBody>
      </p:sp>
      <p:sp>
        <p:nvSpPr>
          <p:cNvPr id="21" name="gine-encoder-body">
            <a:extLst xmlns:a="http://schemas.openxmlformats.org/drawingml/2006/main">
              <a:ext uri="{FF2B5EF4-FFF2-40B4-BE49-F238E27FC236}">
                <a16:creationId xmlns:a16="http://schemas.microsoft.com/office/drawing/2014/main" id="{CCDB2D60-970A-47F9-A3C9-F733FC9E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76450"/>
            <a:ext cx="15525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Node MLP: 22 → 64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· LayerNorm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1 edge-aware message-passing layer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hidden dimension: 64</a:t>
            </a:r>
          </a:p>
        </p:txBody>
      </p:sp>
      <p:sp>
        <p:nvSpPr>
          <p:cNvPr id="22" name="pool-readout">
            <a:extLst xmlns:a="http://schemas.openxmlformats.org/drawingml/2006/main">
              <a:ext uri="{FF2B5EF4-FFF2-40B4-BE49-F238E27FC236}">
                <a16:creationId xmlns:a16="http://schemas.microsoft.com/office/drawing/2014/main" id="{3D006862-F669-4A2E-AB62-FDEE3C12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57375"/>
            <a:ext cx="14954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4288">
            <a:solidFill>
              <a:srgbClr val="78A5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pool-readout-accent">
            <a:extLst xmlns:a="http://schemas.openxmlformats.org/drawingml/2006/main">
              <a:ext uri="{FF2B5EF4-FFF2-40B4-BE49-F238E27FC236}">
                <a16:creationId xmlns:a16="http://schemas.microsoft.com/office/drawing/2014/main" id="{074E52DE-8867-486E-B396-285734B5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57375"/>
            <a:ext cx="66675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CA8"/>
          </a:solidFill>
          <a:ln xmlns:a="http://schemas.openxmlformats.org/drawingml/2006/main" w="0">
            <a:solidFill>
              <a:srgbClr val="2F7CA8"/>
            </a:solidFill>
            <a:prstDash val="solid"/>
          </a:ln>
        </p:spPr>
      </p:sp>
      <p:sp>
        <p:nvSpPr>
          <p:cNvPr id="24" name="pool-readout-title">
            <a:extLst xmlns:a="http://schemas.openxmlformats.org/drawingml/2006/main">
              <a:ext uri="{FF2B5EF4-FFF2-40B4-BE49-F238E27FC236}">
                <a16:creationId xmlns:a16="http://schemas.microsoft.com/office/drawing/2014/main" id="{E24ABA3D-464E-420E-A61E-98AB5F70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4310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Graph readout</a:t>
            </a:r>
          </a:p>
        </p:txBody>
      </p:sp>
      <p:sp>
        <p:nvSpPr>
          <p:cNvPr id="25" name="pool-readout-body">
            <a:extLst xmlns:a="http://schemas.openxmlformats.org/drawingml/2006/main">
              <a:ext uri="{FF2B5EF4-FFF2-40B4-BE49-F238E27FC236}">
                <a16:creationId xmlns:a16="http://schemas.microsoft.com/office/drawing/2014/main" id="{EF95DA84-3267-4EDE-B6F4-C594759F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1238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Mean pooling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over local nodes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Linear 64 → 64 · ReLU</a:t>
            </a:r>
          </a:p>
        </p:txBody>
      </p:sp>
      <p:sp>
        <p:nvSpPr>
          <p:cNvPr id="26" name="actor-mlp">
            <a:extLst xmlns:a="http://schemas.openxmlformats.org/drawingml/2006/main">
              <a:ext uri="{FF2B5EF4-FFF2-40B4-BE49-F238E27FC236}">
                <a16:creationId xmlns:a16="http://schemas.microsoft.com/office/drawing/2014/main" id="{6EC3EC51-FF7B-42EA-B4BE-4AF438FE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9775"/>
            <a:ext cx="13239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EEF9"/>
          </a:solidFill>
          <a:ln xmlns:a="http://schemas.openxmlformats.org/drawingml/2006/main" w="14288">
            <a:solidFill>
              <a:srgbClr val="788FB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actor-mlp-accent">
            <a:extLst xmlns:a="http://schemas.openxmlformats.org/drawingml/2006/main">
              <a:ext uri="{FF2B5EF4-FFF2-40B4-BE49-F238E27FC236}">
                <a16:creationId xmlns:a16="http://schemas.microsoft.com/office/drawing/2014/main" id="{EB236794-5322-45CF-A759-21F05B9F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09775"/>
            <a:ext cx="66675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69A3"/>
          </a:solidFill>
          <a:ln xmlns:a="http://schemas.openxmlformats.org/drawingml/2006/main" w="0">
            <a:solidFill>
              <a:srgbClr val="4A69A3"/>
            </a:solidFill>
            <a:prstDash val="solid"/>
          </a:ln>
        </p:spPr>
      </p:sp>
      <p:sp>
        <p:nvSpPr>
          <p:cNvPr id="28" name="actor-mlp-title">
            <a:extLst xmlns:a="http://schemas.openxmlformats.org/drawingml/2006/main">
              <a:ext uri="{FF2B5EF4-FFF2-40B4-BE49-F238E27FC236}">
                <a16:creationId xmlns:a16="http://schemas.microsoft.com/office/drawing/2014/main" id="{0F7C4BC1-475C-43DC-8AAE-26058648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1076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Actor MLP</a:t>
            </a:r>
          </a:p>
        </p:txBody>
      </p:sp>
      <p:sp>
        <p:nvSpPr>
          <p:cNvPr id="29" name="actor-mlp-body">
            <a:extLst xmlns:a="http://schemas.openxmlformats.org/drawingml/2006/main">
              <a:ext uri="{FF2B5EF4-FFF2-40B4-BE49-F238E27FC236}">
                <a16:creationId xmlns:a16="http://schemas.microsoft.com/office/drawing/2014/main" id="{C911D72F-46E4-4F56-876B-E5FC06A5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1066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64 → 128 → 128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activations</a:t>
            </a:r>
          </a:p>
        </p:txBody>
      </p:sp>
      <p:sp>
        <p:nvSpPr>
          <p:cNvPr id="30" name="policy-head">
            <a:extLst xmlns:a="http://schemas.openxmlformats.org/drawingml/2006/main">
              <a:ext uri="{FF2B5EF4-FFF2-40B4-BE49-F238E27FC236}">
                <a16:creationId xmlns:a16="http://schemas.microsoft.com/office/drawing/2014/main" id="{B6EE1E64-DA3D-483E-83C5-39B6F8B5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809750"/>
            <a:ext cx="1504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EAF7"/>
          </a:solidFill>
          <a:ln xmlns:a="http://schemas.openxmlformats.org/drawingml/2006/main" w="14288">
            <a:solidFill>
              <a:srgbClr val="8888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policy-head-accent">
            <a:extLst xmlns:a="http://schemas.openxmlformats.org/drawingml/2006/main">
              <a:ext uri="{FF2B5EF4-FFF2-40B4-BE49-F238E27FC236}">
                <a16:creationId xmlns:a16="http://schemas.microsoft.com/office/drawing/2014/main" id="{03FD9ECB-15D8-46CE-A5AF-DB6E959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80975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62A5"/>
          </a:solidFill>
          <a:ln xmlns:a="http://schemas.openxmlformats.org/drawingml/2006/main" w="0">
            <a:solidFill>
              <a:srgbClr val="6262A5"/>
            </a:solidFill>
            <a:prstDash val="solid"/>
          </a:ln>
        </p:spPr>
      </p:sp>
      <p:sp>
        <p:nvSpPr>
          <p:cNvPr id="32" name="policy-head-title">
            <a:extLst xmlns:a="http://schemas.openxmlformats.org/drawingml/2006/main">
              <a:ext uri="{FF2B5EF4-FFF2-40B4-BE49-F238E27FC236}">
                <a16:creationId xmlns:a16="http://schemas.microsoft.com/office/drawing/2014/main" id="{53CA893D-C091-4AEC-A6E3-15FA2BB1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89547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Categorical policy</a:t>
            </a:r>
          </a:p>
        </p:txBody>
      </p:sp>
      <p:sp>
        <p:nvSpPr>
          <p:cNvPr id="33" name="policy-head-body">
            <a:extLst xmlns:a="http://schemas.openxmlformats.org/drawingml/2006/main">
              <a:ext uri="{FF2B5EF4-FFF2-40B4-BE49-F238E27FC236}">
                <a16:creationId xmlns:a16="http://schemas.microsoft.com/office/drawing/2014/main" id="{7015EFF6-914B-4A0B-8298-463D0A3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24777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128 → Kᵢ action logits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train: sample aᵢ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eval: argmax aᵢ</a:t>
            </a:r>
          </a:p>
        </p:txBody>
      </p:sp>
      <p:cxnSp>
        <p:nvCxnSpPr>
          <p:cNvPr id="10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095500" y="2157413"/>
            <a:ext cx="352425" cy="309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095500" y="2466975"/>
            <a:ext cx="35242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010025" y="2157413"/>
            <a:ext cx="390525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010025" y="2528888"/>
            <a:ext cx="390525" cy="8429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6210300" y="2524125"/>
            <a:ext cx="3905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096250" y="25241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810750" y="25241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A98"/>
            </a:solidFill>
            <a:prstDash val="solid"/>
            <a:tailEnd type="triangle" w="sm" len="sm"/>
          </a:ln>
        </p:spPr>
      </p:cxnSp>
      <p:sp>
        <p:nvSpPr>
          <p:cNvPr id="41" name="graph-dim-note">
            <a:extLst xmlns:a="http://schemas.openxmlformats.org/drawingml/2006/main">
              <a:ext uri="{FF2B5EF4-FFF2-40B4-BE49-F238E27FC236}">
                <a16:creationId xmlns:a16="http://schemas.microsoft.com/office/drawing/2014/main" id="{A1E528C9-7944-4200-9D69-38EA67B2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684"/>
                </a:solidFill>
              </a:defRPr>
            </a:pPr>
            <a:r>
              <a:rPr sz="825" b="0">
                <a:solidFill>
                  <a:srgbClr val="657684"/>
                </a:solidFill>
              </a:rPr>
              <a:t>nᵢ = 2 × controlled substations</a:t>
            </a:r>
          </a:p>
        </p:txBody>
      </p:sp>
      <p:sp>
        <p:nvSpPr>
          <p:cNvPr id="42" name="training-band">
            <a:extLst xmlns:a="http://schemas.openxmlformats.org/drawingml/2006/main">
              <a:ext uri="{FF2B5EF4-FFF2-40B4-BE49-F238E27FC236}">
                <a16:creationId xmlns:a16="http://schemas.microsoft.com/office/drawing/2014/main" id="{F15D9BE2-9B5B-469E-91B9-5E2DD617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115824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E8DDD0"/>
            </a:solidFill>
            <a:prstDash val="solid"/>
          </a:ln>
        </p:spPr>
      </p:sp>
      <p:sp>
        <p:nvSpPr>
          <p:cNvPr id="43" name="critic-label">
            <a:extLst xmlns:a="http://schemas.openxmlformats.org/drawingml/2006/main">
              <a:ext uri="{FF2B5EF4-FFF2-40B4-BE49-F238E27FC236}">
                <a16:creationId xmlns:a16="http://schemas.microsoft.com/office/drawing/2014/main" id="{718AB3DF-3A4E-4AC5-BE0F-6F528A59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0642A"/>
                </a:solidFill>
              </a:defRPr>
            </a:pPr>
            <a:r>
              <a:rPr sz="975" b="1">
                <a:solidFill>
                  <a:srgbClr val="A0642A"/>
                </a:solidFill>
              </a:rPr>
              <a:t>CENTRALIZED TRAINING</a:t>
            </a:r>
          </a:p>
        </p:txBody>
      </p:sp>
      <p:sp>
        <p:nvSpPr>
          <p:cNvPr id="44" name="joint-observation">
            <a:extLst xmlns:a="http://schemas.openxmlformats.org/drawingml/2006/main">
              <a:ext uri="{FF2B5EF4-FFF2-40B4-BE49-F238E27FC236}">
                <a16:creationId xmlns:a16="http://schemas.microsoft.com/office/drawing/2014/main" id="{D3C43711-347B-4744-B6D9-AB0AED45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762125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4E7"/>
          </a:solidFill>
          <a:ln xmlns:a="http://schemas.openxmlformats.org/drawingml/2006/main" w="14288">
            <a:solidFill>
              <a:srgbClr val="D2A2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joint-observation-accent">
            <a:extLst xmlns:a="http://schemas.openxmlformats.org/drawingml/2006/main">
              <a:ext uri="{FF2B5EF4-FFF2-40B4-BE49-F238E27FC236}">
                <a16:creationId xmlns:a16="http://schemas.microsoft.com/office/drawing/2014/main" id="{66D8CEC6-5A92-4EC5-9180-A8AFB33C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66675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07A2E"/>
          </a:solidFill>
          <a:ln xmlns:a="http://schemas.openxmlformats.org/drawingml/2006/main" w="0">
            <a:solidFill>
              <a:srgbClr val="C07A2E"/>
            </a:solidFill>
            <a:prstDash val="solid"/>
          </a:ln>
        </p:spPr>
      </p:sp>
      <p:sp>
        <p:nvSpPr>
          <p:cNvPr id="46" name="joint-observation-title">
            <a:extLst xmlns:a="http://schemas.openxmlformats.org/drawingml/2006/main">
              <a:ext uri="{FF2B5EF4-FFF2-40B4-BE49-F238E27FC236}">
                <a16:creationId xmlns:a16="http://schemas.microsoft.com/office/drawing/2014/main" id="{253D50C3-06D1-4084-A44D-51E34F35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387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Joint flat observation</a:t>
            </a:r>
          </a:p>
        </p:txBody>
      </p:sp>
      <p:sp>
        <p:nvSpPr>
          <p:cNvPr id="47" name="joint-observation-body">
            <a:extLst xmlns:a="http://schemas.openxmlformats.org/drawingml/2006/main">
              <a:ext uri="{FF2B5EF4-FFF2-40B4-BE49-F238E27FC236}">
                <a16:creationId xmlns:a16="http://schemas.microsoft.com/office/drawing/2014/main" id="{10F57AE5-0A8E-44F1-9F96-E7D74B10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05425"/>
            <a:ext cx="1504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[o₀ ∥ o₁ ∥ o₂ ∥ o₃]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77 + 150 + 139 + 377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= 743 features</a:t>
            </a:r>
          </a:p>
        </p:txBody>
      </p:sp>
      <p:sp>
        <p:nvSpPr>
          <p:cNvPr id="48" name="critic-mlp">
            <a:extLst xmlns:a="http://schemas.openxmlformats.org/drawingml/2006/main">
              <a:ext uri="{FF2B5EF4-FFF2-40B4-BE49-F238E27FC236}">
                <a16:creationId xmlns:a16="http://schemas.microsoft.com/office/drawing/2014/main" id="{C7E2B449-6CCB-4364-A694-0EFB7574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29200"/>
            <a:ext cx="19335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14288">
            <a:solidFill>
              <a:srgbClr val="CE95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critic-mlp-accent">
            <a:extLst xmlns:a="http://schemas.openxmlformats.org/drawingml/2006/main">
              <a:ext uri="{FF2B5EF4-FFF2-40B4-BE49-F238E27FC236}">
                <a16:creationId xmlns:a16="http://schemas.microsoft.com/office/drawing/2014/main" id="{73AD8D5E-BF3B-4B8F-A0DE-225E931E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29200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6D23"/>
          </a:solidFill>
          <a:ln xmlns:a="http://schemas.openxmlformats.org/drawingml/2006/main" w="0">
            <a:solidFill>
              <a:srgbClr val="B66D23"/>
            </a:solidFill>
            <a:prstDash val="solid"/>
          </a:ln>
        </p:spPr>
      </p:sp>
      <p:sp>
        <p:nvSpPr>
          <p:cNvPr id="50" name="critic-mlp-title">
            <a:extLst xmlns:a="http://schemas.openxmlformats.org/drawingml/2006/main">
              <a:ext uri="{FF2B5EF4-FFF2-40B4-BE49-F238E27FC236}">
                <a16:creationId xmlns:a16="http://schemas.microsoft.com/office/drawing/2014/main" id="{A2B8C64D-B634-4734-89BD-A0A60777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114925"/>
            <a:ext cx="1685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Centralized critic</a:t>
            </a:r>
          </a:p>
        </p:txBody>
      </p:sp>
      <p:sp>
        <p:nvSpPr>
          <p:cNvPr id="51" name="critic-mlp-body">
            <a:extLst xmlns:a="http://schemas.openxmlformats.org/drawingml/2006/main">
              <a:ext uri="{FF2B5EF4-FFF2-40B4-BE49-F238E27FC236}">
                <a16:creationId xmlns:a16="http://schemas.microsoft.com/office/drawing/2014/main" id="{80253357-5139-460C-AF39-F1974DF8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381625"/>
            <a:ext cx="1676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MLP 743 → 128 → 128 → 1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activations</a:t>
            </a:r>
          </a:p>
        </p:txBody>
      </p:sp>
      <p:sp>
        <p:nvSpPr>
          <p:cNvPr id="52" name="state-value">
            <a:extLst xmlns:a="http://schemas.openxmlformats.org/drawingml/2006/main">
              <a:ext uri="{FF2B5EF4-FFF2-40B4-BE49-F238E27FC236}">
                <a16:creationId xmlns:a16="http://schemas.microsoft.com/office/drawing/2014/main" id="{9843F95A-EBD8-45FF-AB6A-B975E13F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95875"/>
            <a:ext cx="151447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4E9"/>
          </a:solidFill>
          <a:ln xmlns:a="http://schemas.openxmlformats.org/drawingml/2006/main" w="14288">
            <a:solidFill>
              <a:srgbClr val="D3A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state-value-accent">
            <a:extLst xmlns:a="http://schemas.openxmlformats.org/drawingml/2006/main">
              <a:ext uri="{FF2B5EF4-FFF2-40B4-BE49-F238E27FC236}">
                <a16:creationId xmlns:a16="http://schemas.microsoft.com/office/drawing/2014/main" id="{2FCE694B-F082-4B8A-A464-8DDC1E39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95875"/>
            <a:ext cx="66675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D762C"/>
          </a:solidFill>
          <a:ln xmlns:a="http://schemas.openxmlformats.org/drawingml/2006/main" w="0">
            <a:solidFill>
              <a:srgbClr val="BD762C"/>
            </a:solidFill>
            <a:prstDash val="solid"/>
          </a:ln>
        </p:spPr>
      </p:sp>
      <p:sp>
        <p:nvSpPr>
          <p:cNvPr id="54" name="state-value-title">
            <a:extLst xmlns:a="http://schemas.openxmlformats.org/drawingml/2006/main">
              <a:ext uri="{FF2B5EF4-FFF2-40B4-BE49-F238E27FC236}">
                <a16:creationId xmlns:a16="http://schemas.microsoft.com/office/drawing/2014/main" id="{A8C3263D-AD68-4B54-A48D-63AC508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181600"/>
            <a:ext cx="1266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State value  V(s)</a:t>
            </a:r>
          </a:p>
        </p:txBody>
      </p:sp>
      <p:sp>
        <p:nvSpPr>
          <p:cNvPr id="55" name="state-value-body">
            <a:extLst xmlns:a="http://schemas.openxmlformats.org/drawingml/2006/main">
              <a:ext uri="{FF2B5EF4-FFF2-40B4-BE49-F238E27FC236}">
                <a16:creationId xmlns:a16="http://schemas.microsoft.com/office/drawing/2014/main" id="{5943A4AF-DA64-4E70-8FCF-89AD39B8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483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Single scalar estimate</a:t>
            </a:r>
          </a:p>
        </p:txBody>
      </p:sp>
      <p:sp>
        <p:nvSpPr>
          <p:cNvPr id="56" name="mappo-update">
            <a:extLst xmlns:a="http://schemas.openxmlformats.org/drawingml/2006/main">
              <a:ext uri="{FF2B5EF4-FFF2-40B4-BE49-F238E27FC236}">
                <a16:creationId xmlns:a16="http://schemas.microsoft.com/office/drawing/2014/main" id="{BDFCABA4-6696-43B5-B667-99DDC891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19716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EAF8"/>
          </a:solidFill>
          <a:ln xmlns:a="http://schemas.openxmlformats.org/drawingml/2006/main" w="14288">
            <a:solidFill>
              <a:srgbClr val="A68A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mappo-update-accent">
            <a:extLst xmlns:a="http://schemas.openxmlformats.org/drawingml/2006/main">
              <a:ext uri="{FF2B5EF4-FFF2-40B4-BE49-F238E27FC236}">
                <a16:creationId xmlns:a16="http://schemas.microsoft.com/office/drawing/2014/main" id="{2586D026-8DD0-4BDE-B76E-65C14B57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579E"/>
          </a:solidFill>
          <a:ln xmlns:a="http://schemas.openxmlformats.org/drawingml/2006/main" w="0">
            <a:solidFill>
              <a:srgbClr val="80579E"/>
            </a:solidFill>
            <a:prstDash val="solid"/>
          </a:ln>
        </p:spPr>
      </p:sp>
      <p:sp>
        <p:nvSpPr>
          <p:cNvPr id="58" name="mappo-update-title">
            <a:extLst xmlns:a="http://schemas.openxmlformats.org/drawingml/2006/main">
              <a:ext uri="{FF2B5EF4-FFF2-40B4-BE49-F238E27FC236}">
                <a16:creationId xmlns:a16="http://schemas.microsoft.com/office/drawing/2014/main" id="{79729EDF-2DAE-4927-BCF5-648DFE81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000625"/>
            <a:ext cx="1724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MAPPO update</a:t>
            </a:r>
          </a:p>
        </p:txBody>
      </p:sp>
      <p:sp>
        <p:nvSpPr>
          <p:cNvPr id="59" name="mappo-update-body">
            <a:extLst xmlns:a="http://schemas.openxmlformats.org/drawingml/2006/main">
              <a:ext uri="{FF2B5EF4-FFF2-40B4-BE49-F238E27FC236}">
                <a16:creationId xmlns:a16="http://schemas.microsoft.com/office/drawing/2014/main" id="{E2DFE55D-46AF-41D6-BA62-B66C7441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67325"/>
            <a:ext cx="1714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GAE advantages + returns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Clipped policy loss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Entropy bonus + value loss</a:t>
            </a:r>
          </a:p>
        </p:txBody>
      </p:sp>
      <p:sp>
        <p:nvSpPr>
          <p:cNvPr id="60" name="grid-environment">
            <a:extLst xmlns:a="http://schemas.openxmlformats.org/drawingml/2006/main">
              <a:ext uri="{FF2B5EF4-FFF2-40B4-BE49-F238E27FC236}">
                <a16:creationId xmlns:a16="http://schemas.microsoft.com/office/drawing/2014/main" id="{7C49DEFC-F49A-4C7C-8B43-08F6A380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57750"/>
            <a:ext cx="17907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EC"/>
          </a:solidFill>
          <a:ln xmlns:a="http://schemas.openxmlformats.org/drawingml/2006/main" w="14288">
            <a:solidFill>
              <a:srgbClr val="79A88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grid-environment-accent">
            <a:extLst xmlns:a="http://schemas.openxmlformats.org/drawingml/2006/main">
              <a:ext uri="{FF2B5EF4-FFF2-40B4-BE49-F238E27FC236}">
                <a16:creationId xmlns:a16="http://schemas.microsoft.com/office/drawing/2014/main" id="{6B2F03F0-5E74-472F-8ED3-6EADCC0E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57750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8250"/>
          </a:solidFill>
          <a:ln xmlns:a="http://schemas.openxmlformats.org/drawingml/2006/main" w="0">
            <a:solidFill>
              <a:srgbClr val="3E8250"/>
            </a:solidFill>
            <a:prstDash val="solid"/>
          </a:ln>
        </p:spPr>
      </p:sp>
      <p:sp>
        <p:nvSpPr>
          <p:cNvPr id="62" name="grid-environment-title">
            <a:extLst xmlns:a="http://schemas.openxmlformats.org/drawingml/2006/main">
              <a:ext uri="{FF2B5EF4-FFF2-40B4-BE49-F238E27FC236}">
                <a16:creationId xmlns:a16="http://schemas.microsoft.com/office/drawing/2014/main" id="{4D7A4542-69BD-4959-9D1A-C3A60C8B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94347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WCCI-36 environment</a:t>
            </a:r>
          </a:p>
        </p:txBody>
      </p:sp>
      <p:sp>
        <p:nvSpPr>
          <p:cNvPr id="63" name="grid-environment-body">
            <a:extLst xmlns:a="http://schemas.openxmlformats.org/drawingml/2006/main">
              <a:ext uri="{FF2B5EF4-FFF2-40B4-BE49-F238E27FC236}">
                <a16:creationId xmlns:a16="http://schemas.microsoft.com/office/drawing/2014/main" id="{5251FC6D-526F-44B0-8141-2BCDFB45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10175"/>
            <a:ext cx="1533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Joint action (a₀…a₃)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AC power flow</a:t>
            </a:r>
          </a:p>
          <a:p xmlns:a="http://schemas.openxmlformats.org/drawingml/2006/main"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reward · next state</a:t>
            </a:r>
          </a:p>
        </p:txBody>
      </p:sp>
      <p:cxnSp>
        <p:nvCxnSpPr>
          <p:cNvPr id="136" name=""/>
          <p:cNvCxnSpPr>
            <a:stCxn xmlns:a="http://schemas.openxmlformats.org/drawingml/2006/main" id="44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2257425" y="55054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48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V="1">
            <a:off x="4657725" y="5500688"/>
            <a:ext cx="4667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52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6638925" y="5500688"/>
            <a:ext cx="6000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7348"/>
            </a:solidFill>
            <a:prstDash val="solid"/>
            <a:tailEnd type="triangle" w="sm" len="sm"/>
          </a:ln>
        </p:spPr>
      </p:cxnSp>
      <p:cxnSp>
        <p:nvCxnSpPr>
          <p:cNvPr id="139" name=""/>
          <p:cNvCxnSpPr>
            <a:stCxn xmlns:a="http://schemas.openxmlformats.org/drawingml/2006/main" id="56" idx="2"/>
            <a:endCxn xmlns:a="http://schemas.openxmlformats.org/drawingml/2006/main" id="48" idx="2"/>
          </p:cNvCxnSpPr>
          <p:nvPr/>
        </p:nvCxnSpPr>
        <p:spPr>
          <a:xfrm xmlns:a="http://schemas.openxmlformats.org/drawingml/2006/main" flipH="1" flipV="1">
            <a:off x="3690938" y="5981700"/>
            <a:ext cx="4533900" cy="114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95E9E"/>
            </a:solidFill>
            <a:prstDash val="dash"/>
            <a:tail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30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 flipH="1">
            <a:off x="10753725" y="3238500"/>
            <a:ext cx="180975" cy="1619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46A92"/>
            </a:solidFill>
            <a:prstDash val="solid"/>
            <a:tail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60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9210675" y="5500688"/>
            <a:ext cx="6477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8A6C"/>
            </a:solidFill>
            <a:prstDash val="soli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56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8224838" y="3038475"/>
            <a:ext cx="923925" cy="1876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0579E"/>
            </a:solidFill>
            <a:prstDash val="dash"/>
            <a:tailEnd type="triangle" w="sm" len="sm"/>
          </a:ln>
        </p:spPr>
      </p:cxnSp>
      <p:sp>
        <p:nvSpPr>
          <p:cNvPr id="71" name="actor-update-label">
            <a:extLst xmlns:a="http://schemas.openxmlformats.org/drawingml/2006/main">
              <a:ext uri="{FF2B5EF4-FFF2-40B4-BE49-F238E27FC236}">
                <a16:creationId xmlns:a16="http://schemas.microsoft.com/office/drawing/2014/main" id="{FD88BB38-FD62-4616-A153-18B1FFE7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0579E"/>
                </a:solidFill>
              </a:defRPr>
            </a:pPr>
            <a:r>
              <a:rPr sz="825" b="1">
                <a:solidFill>
                  <a:srgbClr val="80579E"/>
                </a:solidFill>
              </a:rPr>
              <a:t>policy gradients</a:t>
            </a:r>
          </a:p>
        </p:txBody>
      </p:sp>
      <p:sp>
        <p:nvSpPr>
          <p:cNvPr id="72" name="critic-update-label">
            <a:extLst xmlns:a="http://schemas.openxmlformats.org/drawingml/2006/main">
              <a:ext uri="{FF2B5EF4-FFF2-40B4-BE49-F238E27FC236}">
                <a16:creationId xmlns:a16="http://schemas.microsoft.com/office/drawing/2014/main" id="{2EEB1E5B-57AE-4102-AC10-B2CF4DCA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436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0579E"/>
                </a:solidFill>
              </a:defRPr>
            </a:pPr>
            <a:r>
              <a:rPr sz="825" b="1">
                <a:solidFill>
                  <a:srgbClr val="80579E"/>
                </a:solidFill>
              </a:rPr>
              <a:t>value gradients</a:t>
            </a:r>
          </a:p>
        </p:txBody>
      </p:sp>
    </p:spTree>
    <p:extLst>
      <p:ext uri="{BB962C8B-B14F-4D97-AF65-F5344CB8AC3E}">
        <p14:creationId xmlns:p14="http://schemas.microsoft.com/office/powerpoint/2010/main" val="1278576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D77C27F2-97DB-4041-8FBA-20263D98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A fixed chronic split separates policy learning from model selection</a:t>
            </a:r>
          </a:p>
        </p:txBody>
      </p:sp>
      <p:sp>
        <p:nvSpPr>
          <p:cNvPr id="2" name="slide2-subtitle">
            <a:extLst xmlns:a="http://schemas.openxmlformats.org/drawingml/2006/main">
              <a:ext uri="{FF2B5EF4-FFF2-40B4-BE49-F238E27FC236}">
                <a16:creationId xmlns:a16="http://schemas.microsoft.com/office/drawing/2014/main" id="{1A100F0D-FB52-4CA7-BDD2-CECA7CA0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5247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Agents act every five simulated minutes; held-out chronics never enter MAPPO training</a:t>
            </a:r>
          </a:p>
        </p:txBody>
      </p:sp>
      <p:sp>
        <p:nvSpPr>
          <p:cNvPr id="3" name="action-space-band">
            <a:extLst xmlns:a="http://schemas.openxmlformats.org/drawingml/2006/main">
              <a:ext uri="{FF2B5EF4-FFF2-40B4-BE49-F238E27FC236}">
                <a16:creationId xmlns:a16="http://schemas.microsoft.com/office/drawing/2014/main" id="{214F3EF6-AC47-422B-A744-D43EC530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0"/>
            <a:ext cx="3448050" cy="5219700"/>
          </a:xfrm>
          <a:prstGeom xmlns:a="http://schemas.openxmlformats.org/drawingml/2006/main" prst="roundRect">
            <a:avLst>
              <a:gd name="adj" fmla="val 386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</p:sp>
      <p:sp>
        <p:nvSpPr>
          <p:cNvPr id="4" name="chronic-split-band">
            <a:extLst xmlns:a="http://schemas.openxmlformats.org/drawingml/2006/main">
              <a:ext uri="{FF2B5EF4-FFF2-40B4-BE49-F238E27FC236}">
                <a16:creationId xmlns:a16="http://schemas.microsoft.com/office/drawing/2014/main" id="{A001CFCE-6CAF-4109-A902-D80185F2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143000"/>
            <a:ext cx="7943850" cy="5219700"/>
          </a:xfrm>
          <a:prstGeom xmlns:a="http://schemas.openxmlformats.org/drawingml/2006/main" prst="roundRect">
            <a:avLst>
              <a:gd name="adj" fmla="val 2555"/>
            </a:avLst>
          </a:prstGeom>
          <a:solidFill xmlns:a="http://schemas.openxmlformats.org/drawingml/2006/main">
            <a:srgbClr val="FCFCFB"/>
          </a:solidFill>
          <a:ln xmlns:a="http://schemas.openxmlformats.org/drawingml/2006/main" w="9525">
            <a:solidFill>
              <a:srgbClr val="E3E5E7"/>
            </a:solidFill>
            <a:prstDash val="solid"/>
          </a:ln>
        </p:spPr>
      </p:sp>
      <p:sp>
        <p:nvSpPr>
          <p:cNvPr id="5" name="action-space-label">
            <a:extLst xmlns:a="http://schemas.openxmlformats.org/drawingml/2006/main">
              <a:ext uri="{FF2B5EF4-FFF2-40B4-BE49-F238E27FC236}">
                <a16:creationId xmlns:a16="http://schemas.microsoft.com/office/drawing/2014/main" id="{71FE0A47-FF46-4997-9280-79BAB921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TOPOLOGY ACTION SPACE</a:t>
            </a:r>
          </a:p>
        </p:txBody>
      </p:sp>
      <p:sp>
        <p:nvSpPr>
          <p:cNvPr id="6" name="action-space-heading">
            <a:extLst xmlns:a="http://schemas.openxmlformats.org/drawingml/2006/main">
              <a:ext uri="{FF2B5EF4-FFF2-40B4-BE49-F238E27FC236}">
                <a16:creationId xmlns:a16="http://schemas.microsoft.com/office/drawing/2014/main" id="{B625FDCF-1DF4-491B-BEB1-B0601CAC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735"/>
                </a:solidFill>
              </a:defRPr>
            </a:pPr>
            <a:r>
              <a:rPr sz="1725" b="1">
                <a:solidFill>
                  <a:srgbClr val="172735"/>
                </a:solidFill>
              </a:rPr>
              <a:t>Each agent selects one local action</a:t>
            </a:r>
          </a:p>
        </p:txBody>
      </p:sp>
      <p:sp>
        <p:nvSpPr>
          <p:cNvPr id="7" name="action-space-caption">
            <a:extLst xmlns:a="http://schemas.openxmlformats.org/drawingml/2006/main">
              <a:ext uri="{FF2B5EF4-FFF2-40B4-BE49-F238E27FC236}">
                <a16:creationId xmlns:a16="http://schemas.microsoft.com/office/drawing/2014/main" id="{C796F856-5F1B-49F0-89C9-41411E7E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05025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The four agents’ selections are combined into one joint grid-control decision.</a:t>
            </a:r>
          </a:p>
        </p:txBody>
      </p:sp>
      <p:sp>
        <p:nvSpPr>
          <p:cNvPr id="8" name="noop-action-marker">
            <a:extLst xmlns:a="http://schemas.openxmlformats.org/drawingml/2006/main">
              <a:ext uri="{FF2B5EF4-FFF2-40B4-BE49-F238E27FC236}">
                <a16:creationId xmlns:a16="http://schemas.microsoft.com/office/drawing/2014/main" id="{436E86E3-D4B3-4558-BAAF-A905AE86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28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8"/>
          </a:solidFill>
          <a:ln xmlns:a="http://schemas.openxmlformats.org/drawingml/2006/main" w="14288">
            <a:solidFill>
              <a:srgbClr val="6F9EB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6F9A"/>
                </a:solidFill>
              </a:defRPr>
            </a:pPr>
            <a:r>
              <a:rPr sz="1425" b="1">
                <a:solidFill>
                  <a:srgbClr val="276F9A"/>
                </a:solidFill>
              </a:rPr>
              <a:t>0</a:t>
            </a:r>
          </a:p>
        </p:txBody>
      </p:sp>
      <p:sp>
        <p:nvSpPr>
          <p:cNvPr id="9" name="noop-action-title">
            <a:extLst xmlns:a="http://schemas.openxmlformats.org/drawingml/2006/main">
              <a:ext uri="{FF2B5EF4-FFF2-40B4-BE49-F238E27FC236}">
                <a16:creationId xmlns:a16="http://schemas.microsoft.com/office/drawing/2014/main" id="{7534105F-F10E-47A6-BB93-9BABB415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6225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Do nothing</a:t>
            </a:r>
          </a:p>
        </p:txBody>
      </p:sp>
      <p:sp>
        <p:nvSpPr>
          <p:cNvPr id="10" name="noop-action-body">
            <a:extLst xmlns:a="http://schemas.openxmlformats.org/drawingml/2006/main">
              <a:ext uri="{FF2B5EF4-FFF2-40B4-BE49-F238E27FC236}">
                <a16:creationId xmlns:a16="http://schemas.microsoft.com/office/drawing/2014/main" id="{97FC342D-AB45-4813-9693-2961CD0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057525"/>
            <a:ext cx="2171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Preserve the current topology</a:t>
            </a:r>
          </a:p>
        </p:txBody>
      </p:sp>
      <p:sp>
        <p:nvSpPr>
          <p:cNvPr id="11" name="line-action-marker">
            <a:extLst xmlns:a="http://schemas.openxmlformats.org/drawingml/2006/main">
              <a:ext uri="{FF2B5EF4-FFF2-40B4-BE49-F238E27FC236}">
                <a16:creationId xmlns:a16="http://schemas.microsoft.com/office/drawing/2014/main" id="{D0F256C2-1669-40B0-BEB6-AF2F1304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8"/>
          </a:solidFill>
          <a:ln xmlns:a="http://schemas.openxmlformats.org/drawingml/2006/main" w="14288">
            <a:solidFill>
              <a:srgbClr val="6F9EB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6F9A"/>
                </a:solidFill>
              </a:defRPr>
            </a:pPr>
            <a:r>
              <a:rPr sz="1425" b="1">
                <a:solidFill>
                  <a:srgbClr val="276F9A"/>
                </a:solidFill>
              </a:rPr>
              <a:t>↔</a:t>
            </a:r>
          </a:p>
        </p:txBody>
      </p:sp>
      <p:sp>
        <p:nvSpPr>
          <p:cNvPr id="12" name="line-action-title">
            <a:extLst xmlns:a="http://schemas.openxmlformats.org/drawingml/2006/main">
              <a:ext uri="{FF2B5EF4-FFF2-40B4-BE49-F238E27FC236}">
                <a16:creationId xmlns:a16="http://schemas.microsoft.com/office/drawing/2014/main" id="{18E6E796-D276-445D-A7E7-98EAEE13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3855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Switch a transmission line</a:t>
            </a:r>
          </a:p>
        </p:txBody>
      </p:sp>
      <p:sp>
        <p:nvSpPr>
          <p:cNvPr id="13" name="line-action-body">
            <a:extLst xmlns:a="http://schemas.openxmlformats.org/drawingml/2006/main">
              <a:ext uri="{FF2B5EF4-FFF2-40B4-BE49-F238E27FC236}">
                <a16:creationId xmlns:a16="http://schemas.microsoft.com/office/drawing/2014/main" id="{E42844D1-4668-4B32-9F36-8BB39D0B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33825"/>
            <a:ext cx="2171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Connect or disconnect a line</a:t>
            </a:r>
          </a:p>
        </p:txBody>
      </p:sp>
      <p:sp>
        <p:nvSpPr>
          <p:cNvPr id="14" name="busbar-action-marker">
            <a:extLst xmlns:a="http://schemas.openxmlformats.org/drawingml/2006/main">
              <a:ext uri="{FF2B5EF4-FFF2-40B4-BE49-F238E27FC236}">
                <a16:creationId xmlns:a16="http://schemas.microsoft.com/office/drawing/2014/main" id="{88C76757-6DD1-4018-9144-AF3D1B77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81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F8"/>
          </a:solidFill>
          <a:ln xmlns:a="http://schemas.openxmlformats.org/drawingml/2006/main" w="14288">
            <a:solidFill>
              <a:srgbClr val="6F9EB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6F9A"/>
                </a:solidFill>
              </a:defRPr>
            </a:pPr>
            <a:r>
              <a:rPr sz="975" b="1">
                <a:solidFill>
                  <a:srgbClr val="276F9A"/>
                </a:solidFill>
              </a:rPr>
              <a:t>1|2</a:t>
            </a:r>
          </a:p>
        </p:txBody>
      </p:sp>
      <p:sp>
        <p:nvSpPr>
          <p:cNvPr id="15" name="busbar-action-title">
            <a:extLst xmlns:a="http://schemas.openxmlformats.org/drawingml/2006/main">
              <a:ext uri="{FF2B5EF4-FFF2-40B4-BE49-F238E27FC236}">
                <a16:creationId xmlns:a16="http://schemas.microsoft.com/office/drawing/2014/main" id="{8744361A-8F55-4E3B-AF16-D1CC5CA3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2171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Reassign substation elements</a:t>
            </a:r>
          </a:p>
        </p:txBody>
      </p:sp>
      <p:sp>
        <p:nvSpPr>
          <p:cNvPr id="16" name="busbar-action-body">
            <a:extLst xmlns:a="http://schemas.openxmlformats.org/drawingml/2006/main">
              <a:ext uri="{FF2B5EF4-FFF2-40B4-BE49-F238E27FC236}">
                <a16:creationId xmlns:a16="http://schemas.microsoft.com/office/drawing/2014/main" id="{26B24995-B12B-4EA1-8750-CB3A03B7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10125"/>
            <a:ext cx="2171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Move components between busbars</a:t>
            </a:r>
          </a:p>
        </p:txBody>
      </p:sp>
      <p:sp>
        <p:nvSpPr>
          <p:cNvPr id="17" name="decision-cadence">
            <a:extLst xmlns:a="http://schemas.openxmlformats.org/drawingml/2006/main">
              <a:ext uri="{FF2B5EF4-FFF2-40B4-BE49-F238E27FC236}">
                <a16:creationId xmlns:a16="http://schemas.microsoft.com/office/drawing/2014/main" id="{FF27C365-300F-4A13-872E-39E915E7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29146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91B4C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85F7F"/>
                </a:solidFill>
              </a:defRPr>
            </a:pPr>
            <a:r>
              <a:rPr sz="1125" b="1">
                <a:solidFill>
                  <a:srgbClr val="285F7F"/>
                </a:solidFill>
              </a:rPr>
              <a:t>Every 5 minutes  ·  shared grid-level reward</a:t>
            </a:r>
          </a:p>
        </p:txBody>
      </p:sp>
      <p:sp>
        <p:nvSpPr>
          <p:cNvPr id="18" name="chronic-split-label">
            <a:extLst xmlns:a="http://schemas.openxmlformats.org/drawingml/2006/main">
              <a:ext uri="{FF2B5EF4-FFF2-40B4-BE49-F238E27FC236}">
                <a16:creationId xmlns:a16="http://schemas.microsoft.com/office/drawing/2014/main" id="{5AB7F743-0356-4FC4-93D6-1AA9E6D7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2668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5F6A"/>
                </a:solidFill>
              </a:defRPr>
            </a:pPr>
            <a:r>
              <a:rPr sz="975" b="1">
                <a:solidFill>
                  <a:srgbClr val="4F5F6A"/>
                </a:solidFill>
              </a:rPr>
              <a:t>CHRONIC SPLIT &amp; EVALUATION</a:t>
            </a:r>
          </a:p>
        </p:txBody>
      </p:sp>
      <p:sp>
        <p:nvSpPr>
          <p:cNvPr id="19" name="available-chronics">
            <a:extLst xmlns:a="http://schemas.openxmlformats.org/drawingml/2006/main">
              <a:ext uri="{FF2B5EF4-FFF2-40B4-BE49-F238E27FC236}">
                <a16:creationId xmlns:a16="http://schemas.microsoft.com/office/drawing/2014/main" id="{9BB73CA0-DE2A-48DF-BC09-DE57D0D4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04950"/>
            <a:ext cx="2952750" cy="6858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14288">
            <a:solidFill>
              <a:srgbClr val="9CA8A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available-chronics-title">
            <a:extLst xmlns:a="http://schemas.openxmlformats.org/drawingml/2006/main">
              <a:ext uri="{FF2B5EF4-FFF2-40B4-BE49-F238E27FC236}">
                <a16:creationId xmlns:a16="http://schemas.microsoft.com/office/drawing/2014/main" id="{1970E6A6-12DC-4411-9067-DA750E3F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63641"/>
                </a:solidFill>
              </a:defRPr>
            </a:pPr>
            <a:r>
              <a:rPr sz="1275" b="1">
                <a:solidFill>
                  <a:srgbClr val="263641"/>
                </a:solidFill>
              </a:rPr>
              <a:t>Available chronics</a:t>
            </a:r>
          </a:p>
        </p:txBody>
      </p:sp>
      <p:sp>
        <p:nvSpPr>
          <p:cNvPr id="21" name="available-chronics-body">
            <a:extLst xmlns:a="http://schemas.openxmlformats.org/drawingml/2006/main">
              <a:ext uri="{FF2B5EF4-FFF2-40B4-BE49-F238E27FC236}">
                <a16:creationId xmlns:a16="http://schemas.microsoft.com/office/drawing/2014/main" id="{E4FE8EFA-A4E5-4F45-A081-C9ACC73A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47850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fixed shuffle · split seed 0</a:t>
            </a:r>
          </a:p>
        </p:txBody>
      </p:sp>
      <p:sp>
        <p:nvSpPr>
          <p:cNvPr id="22" name="train-column-label">
            <a:extLst xmlns:a="http://schemas.openxmlformats.org/drawingml/2006/main">
              <a:ext uri="{FF2B5EF4-FFF2-40B4-BE49-F238E27FC236}">
                <a16:creationId xmlns:a16="http://schemas.microsoft.com/office/drawing/2014/main" id="{874AE02B-23AB-4292-9CA6-25E9515F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90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A6B2E"/>
                </a:solidFill>
              </a:defRPr>
            </a:pPr>
            <a:r>
              <a:rPr sz="900" b="1">
                <a:solidFill>
                  <a:srgbClr val="BA6B2E"/>
                </a:solidFill>
              </a:rPr>
              <a:t>LEARNING</a:t>
            </a:r>
          </a:p>
        </p:txBody>
      </p:sp>
      <p:sp>
        <p:nvSpPr>
          <p:cNvPr id="23" name="test-column-label">
            <a:extLst xmlns:a="http://schemas.openxmlformats.org/drawingml/2006/main">
              <a:ext uri="{FF2B5EF4-FFF2-40B4-BE49-F238E27FC236}">
                <a16:creationId xmlns:a16="http://schemas.microsoft.com/office/drawing/2014/main" id="{ACF3CEFB-17E5-4E3C-BA23-5723E50A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90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37F"/>
                </a:solidFill>
              </a:defRPr>
            </a:pPr>
            <a:r>
              <a:rPr sz="900" b="1">
                <a:solidFill>
                  <a:srgbClr val="16837F"/>
                </a:solidFill>
              </a:rPr>
              <a:t>MODEL SELECTION</a:t>
            </a:r>
          </a:p>
        </p:txBody>
      </p:sp>
      <p:sp>
        <p:nvSpPr>
          <p:cNvPr id="24" name="train-split">
            <a:extLst xmlns:a="http://schemas.openxmlformats.org/drawingml/2006/main">
              <a:ext uri="{FF2B5EF4-FFF2-40B4-BE49-F238E27FC236}">
                <a16:creationId xmlns:a16="http://schemas.microsoft.com/office/drawing/2014/main" id="{53A58E99-A79A-4D9B-B315-4A91E8C2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47950"/>
            <a:ext cx="2571750" cy="723900"/>
          </a:xfrm>
          <a:prstGeom xmlns:a="http://schemas.openxmlformats.org/drawingml/2006/main" prst="roundRect">
            <a:avLst>
              <a:gd name="adj" fmla="val 14474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9A1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train-split-title">
            <a:extLst xmlns:a="http://schemas.openxmlformats.org/drawingml/2006/main">
              <a:ext uri="{FF2B5EF4-FFF2-40B4-BE49-F238E27FC236}">
                <a16:creationId xmlns:a16="http://schemas.microsoft.com/office/drawing/2014/main" id="{3AAA6E78-832B-410B-B832-11726602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241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>
                <a:solidFill>
                  <a:srgbClr val="A75A24"/>
                </a:solidFill>
              </a:rPr>
              <a:t>80% training chronics</a:t>
            </a:r>
          </a:p>
        </p:txBody>
      </p:sp>
      <p:sp>
        <p:nvSpPr>
          <p:cNvPr id="26" name="train-split-body">
            <a:extLst xmlns:a="http://schemas.openxmlformats.org/drawingml/2006/main">
              <a:ext uri="{FF2B5EF4-FFF2-40B4-BE49-F238E27FC236}">
                <a16:creationId xmlns:a16="http://schemas.microsoft.com/office/drawing/2014/main" id="{AFF267DF-A031-433B-A066-F4A5A09F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2305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Only these chronics generate policy updates</a:t>
            </a:r>
          </a:p>
        </p:txBody>
      </p:sp>
      <p:sp>
        <p:nvSpPr>
          <p:cNvPr id="27" name="mappo-learning">
            <a:extLst xmlns:a="http://schemas.openxmlformats.org/drawingml/2006/main">
              <a:ext uri="{FF2B5EF4-FFF2-40B4-BE49-F238E27FC236}">
                <a16:creationId xmlns:a16="http://schemas.microsoft.com/office/drawing/2014/main" id="{60955F75-8560-4345-9229-8A717B5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2571750" cy="7810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5ED"/>
          </a:solidFill>
          <a:ln xmlns:a="http://schemas.openxmlformats.org/drawingml/2006/main" w="14288">
            <a:solidFill>
              <a:srgbClr val="E9A1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mappo-learning-title">
            <a:extLst xmlns:a="http://schemas.openxmlformats.org/drawingml/2006/main">
              <a:ext uri="{FF2B5EF4-FFF2-40B4-BE49-F238E27FC236}">
                <a16:creationId xmlns:a16="http://schemas.microsoft.com/office/drawing/2014/main" id="{A8DF48A4-9574-44FB-842F-EAED68AA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528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>
                <a:solidFill>
                  <a:srgbClr val="A75A24"/>
                </a:solidFill>
              </a:rPr>
              <a:t>MAPPO rollouts &amp; updates</a:t>
            </a:r>
          </a:p>
        </p:txBody>
      </p:sp>
      <p:sp>
        <p:nvSpPr>
          <p:cNvPr id="29" name="mappo-learning-body">
            <a:extLst xmlns:a="http://schemas.openxmlformats.org/drawingml/2006/main">
              <a:ext uri="{FF2B5EF4-FFF2-40B4-BE49-F238E27FC236}">
                <a16:creationId xmlns:a16="http://schemas.microsoft.com/office/drawing/2014/main" id="{9324F930-16EA-4EE7-94AD-DD468E7C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305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72 parallel environments in the current WCCI runs</a:t>
            </a:r>
          </a:p>
        </p:txBody>
      </p:sp>
      <p:sp>
        <p:nvSpPr>
          <p:cNvPr id="30" name="train-diagnostic">
            <a:extLst xmlns:a="http://schemas.openxmlformats.org/drawingml/2006/main">
              <a:ext uri="{FF2B5EF4-FFF2-40B4-BE49-F238E27FC236}">
                <a16:creationId xmlns:a16="http://schemas.microsoft.com/office/drawing/2014/main" id="{1ECDE482-9798-41F9-8C85-118FAC30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19650"/>
            <a:ext cx="2571750" cy="7810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9F4"/>
          </a:solidFill>
          <a:ln xmlns:a="http://schemas.openxmlformats.org/drawingml/2006/main" w="14288">
            <a:solidFill>
              <a:srgbClr val="EAB2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train-diagnostic-title">
            <a:extLst xmlns:a="http://schemas.openxmlformats.org/drawingml/2006/main">
              <a:ext uri="{FF2B5EF4-FFF2-40B4-BE49-F238E27FC236}">
                <a16:creationId xmlns:a16="http://schemas.microsoft.com/office/drawing/2014/main" id="{AAEB16FA-1DBB-4D50-908C-970E500B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958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>
                <a:solidFill>
                  <a:srgbClr val="A75A24"/>
                </a:solidFill>
              </a:rPr>
              <a:t>Train-split evaluation</a:t>
            </a:r>
          </a:p>
        </p:txBody>
      </p:sp>
      <p:sp>
        <p:nvSpPr>
          <p:cNvPr id="32" name="train-diagnostic-body">
            <a:extLst xmlns:a="http://schemas.openxmlformats.org/drawingml/2006/main">
              <a:ext uri="{FF2B5EF4-FFF2-40B4-BE49-F238E27FC236}">
                <a16:creationId xmlns:a16="http://schemas.microsoft.com/office/drawing/2014/main" id="{4FF640CD-23C8-4ED9-8C10-87EDF67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62550"/>
            <a:ext cx="2305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Diagnostic only · does not choose the checkpoint</a:t>
            </a:r>
          </a:p>
        </p:txBody>
      </p:sp>
      <p:sp>
        <p:nvSpPr>
          <p:cNvPr id="33" name="test-split">
            <a:extLst xmlns:a="http://schemas.openxmlformats.org/drawingml/2006/main">
              <a:ext uri="{FF2B5EF4-FFF2-40B4-BE49-F238E27FC236}">
                <a16:creationId xmlns:a16="http://schemas.microsoft.com/office/drawing/2014/main" id="{4840E322-8C8F-43E3-9FF3-FBF865F5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3009900" cy="723900"/>
          </a:xfrm>
          <a:prstGeom xmlns:a="http://schemas.openxmlformats.org/drawingml/2006/main" prst="roundRect">
            <a:avLst>
              <a:gd name="adj" fmla="val 14474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4288">
            <a:solidFill>
              <a:srgbClr val="49A8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test-split-title">
            <a:extLst xmlns:a="http://schemas.openxmlformats.org/drawingml/2006/main">
              <a:ext uri="{FF2B5EF4-FFF2-40B4-BE49-F238E27FC236}">
                <a16:creationId xmlns:a16="http://schemas.microsoft.com/office/drawing/2014/main" id="{FFB6B9F4-F925-4353-A798-1D279321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72415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20% held-out test chronics</a:t>
            </a:r>
          </a:p>
        </p:txBody>
      </p:sp>
      <p:sp>
        <p:nvSpPr>
          <p:cNvPr id="35" name="test-split-body">
            <a:extLst xmlns:a="http://schemas.openxmlformats.org/drawingml/2006/main">
              <a:ext uri="{FF2B5EF4-FFF2-40B4-BE49-F238E27FC236}">
                <a16:creationId xmlns:a16="http://schemas.microsoft.com/office/drawing/2014/main" id="{811618C8-295E-49FC-AFEE-DD498AA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Never used for gradient updates</a:t>
            </a:r>
          </a:p>
        </p:txBody>
      </p:sp>
      <p:sp>
        <p:nvSpPr>
          <p:cNvPr id="36" name="periodic-test-eval">
            <a:extLst xmlns:a="http://schemas.openxmlformats.org/drawingml/2006/main">
              <a:ext uri="{FF2B5EF4-FFF2-40B4-BE49-F238E27FC236}">
                <a16:creationId xmlns:a16="http://schemas.microsoft.com/office/drawing/2014/main" id="{A1FDDFD3-129F-4D57-BFE6-9CD51E45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3009900" cy="723900"/>
          </a:xfrm>
          <a:prstGeom xmlns:a="http://schemas.openxmlformats.org/drawingml/2006/main" prst="roundRect">
            <a:avLst>
              <a:gd name="adj" fmla="val 14474"/>
            </a:avLst>
          </a:prstGeom>
          <a:solidFill xmlns:a="http://schemas.openxmlformats.org/drawingml/2006/main">
            <a:srgbClr val="EFF9F8"/>
          </a:solidFill>
          <a:ln xmlns:a="http://schemas.openxmlformats.org/drawingml/2006/main" w="14288">
            <a:solidFill>
              <a:srgbClr val="49A8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periodic-test-eval-title">
            <a:extLst xmlns:a="http://schemas.openxmlformats.org/drawingml/2006/main">
              <a:ext uri="{FF2B5EF4-FFF2-40B4-BE49-F238E27FC236}">
                <a16:creationId xmlns:a16="http://schemas.microsoft.com/office/drawing/2014/main" id="{153F6128-EC83-4051-AE89-F06C1206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5760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Deterministic test evaluation</a:t>
            </a:r>
          </a:p>
        </p:txBody>
      </p:sp>
      <p:sp>
        <p:nvSpPr>
          <p:cNvPr id="38" name="periodic-test-eval-body">
            <a:extLst xmlns:a="http://schemas.openxmlformats.org/drawingml/2006/main">
              <a:ext uri="{FF2B5EF4-FFF2-40B4-BE49-F238E27FC236}">
                <a16:creationId xmlns:a16="http://schemas.microsoft.com/office/drawing/2014/main" id="{B13D81E0-D7A7-40E6-B268-2177F4CC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24300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Greedy actions on a held-out subset during training</a:t>
            </a:r>
          </a:p>
        </p:txBody>
      </p:sp>
      <p:sp>
        <p:nvSpPr>
          <p:cNvPr id="39" name="checkpoint-selection">
            <a:extLst xmlns:a="http://schemas.openxmlformats.org/drawingml/2006/main">
              <a:ext uri="{FF2B5EF4-FFF2-40B4-BE49-F238E27FC236}">
                <a16:creationId xmlns:a16="http://schemas.microsoft.com/office/drawing/2014/main" id="{DB9B7F1F-453F-47F7-AB07-667E71A0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3009900" cy="723900"/>
          </a:xfrm>
          <a:prstGeom xmlns:a="http://schemas.openxmlformats.org/drawingml/2006/main" prst="roundRect">
            <a:avLst>
              <a:gd name="adj" fmla="val 14474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14288">
            <a:solidFill>
              <a:srgbClr val="49A8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checkpoint-selection-title">
            <a:extLst xmlns:a="http://schemas.openxmlformats.org/drawingml/2006/main">
              <a:ext uri="{FF2B5EF4-FFF2-40B4-BE49-F238E27FC236}">
                <a16:creationId xmlns:a16="http://schemas.microsoft.com/office/drawing/2014/main" id="{D92531F6-5FE3-431A-9CF0-F9C54890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59105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Best checkpoint</a:t>
            </a:r>
          </a:p>
        </p:txBody>
      </p:sp>
      <p:sp>
        <p:nvSpPr>
          <p:cNvPr id="41" name="checkpoint-selection-body">
            <a:extLst xmlns:a="http://schemas.openxmlformats.org/drawingml/2006/main">
              <a:ext uri="{FF2B5EF4-FFF2-40B4-BE49-F238E27FC236}">
                <a16:creationId xmlns:a16="http://schemas.microsoft.com/office/drawing/2014/main" id="{B0A4B487-9C47-490C-A5D6-BEFDBB75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Selected by mean held-out test survival</a:t>
            </a:r>
          </a:p>
        </p:txBody>
      </p:sp>
      <p:sp>
        <p:nvSpPr>
          <p:cNvPr id="42" name="final-test-eval">
            <a:extLst xmlns:a="http://schemas.openxmlformats.org/drawingml/2006/main">
              <a:ext uri="{FF2B5EF4-FFF2-40B4-BE49-F238E27FC236}">
                <a16:creationId xmlns:a16="http://schemas.microsoft.com/office/drawing/2014/main" id="{7FEEE246-1557-4FD4-90FF-61309840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48300"/>
            <a:ext cx="3009900" cy="723900"/>
          </a:xfrm>
          <a:prstGeom xmlns:a="http://schemas.openxmlformats.org/drawingml/2006/main" prst="roundRect">
            <a:avLst>
              <a:gd name="adj" fmla="val 14474"/>
            </a:avLst>
          </a:prstGeom>
          <a:solidFill xmlns:a="http://schemas.openxmlformats.org/drawingml/2006/main">
            <a:srgbClr val="E4F5F3"/>
          </a:solidFill>
          <a:ln xmlns:a="http://schemas.openxmlformats.org/drawingml/2006/main" w="14288">
            <a:solidFill>
              <a:srgbClr val="31989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final-test-eval-title">
            <a:extLst xmlns:a="http://schemas.openxmlformats.org/drawingml/2006/main">
              <a:ext uri="{FF2B5EF4-FFF2-40B4-BE49-F238E27FC236}">
                <a16:creationId xmlns:a16="http://schemas.microsoft.com/office/drawing/2014/main" id="{BCEF078E-E8A8-4802-836B-564C0FF6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52450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5F5C"/>
                </a:solidFill>
              </a:defRPr>
            </a:pPr>
            <a:r>
              <a:rPr sz="1275" b="1">
                <a:solidFill>
                  <a:srgbClr val="105F5C"/>
                </a:solidFill>
              </a:rPr>
              <a:t>Final full-split evaluation</a:t>
            </a:r>
          </a:p>
        </p:txBody>
      </p:sp>
      <p:sp>
        <p:nvSpPr>
          <p:cNvPr id="44" name="final-test-eval-body">
            <a:extLst xmlns:a="http://schemas.openxmlformats.org/drawingml/2006/main">
              <a:ext uri="{FF2B5EF4-FFF2-40B4-BE49-F238E27FC236}">
                <a16:creationId xmlns:a16="http://schemas.microsoft.com/office/drawing/2014/main" id="{CBD7B75A-A4F1-4DE9-8689-A8D6048F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91200"/>
            <a:ext cx="2743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Every chronic in the complete held-out test split</a:t>
            </a:r>
          </a:p>
        </p:txBody>
      </p:sp>
      <p:cxnSp>
        <p:nvCxnSpPr>
          <p:cNvPr id="96" name="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5629275" y="2190750"/>
            <a:ext cx="2276475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1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7905750" y="2190750"/>
            <a:ext cx="2057400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5629275" y="33718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5629275" y="44577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874D"/>
            </a:solidFill>
            <a:prstDash val="dash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9963150" y="33718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36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9963150" y="43053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9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9963150" y="52387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8F8B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85847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2026-07-18T12:07:45.1820000Z</dcterms:created>
  <dcterms:modified xsi:type="dcterms:W3CDTF">2026-07-18T12:07:45.1840000Z</dcterms:modified>
</coreProperties>
</file>