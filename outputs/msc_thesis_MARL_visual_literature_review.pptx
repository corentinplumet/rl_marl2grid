
<file path=[Content_Types].xml><?xml version="1.0" encoding="utf-8"?>
<Types xmlns="http://schemas.openxmlformats.org/package/2006/content-types">
  <Default Extension="xml" ContentType="application/vnd.openxmlformats-package.core-properties+xml"/>
  <Default Extension="png" ContentType="image/png"/>
  <Default Extension="gif" ContentType="image/gif"/>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eba64acf74543c9" /><Relationship Type="http://schemas.openxmlformats.org/officeDocument/2006/relationships/extended-properties" Target="/docProps/app.xml" Id="R036f3ecb686b41fc" /><Relationship Type="http://schemas.openxmlformats.org/officeDocument/2006/relationships/officeDocument" Target="/ppt/presentation.xml" Id="R75295c1b767140c4" /></Relationships>
</file>

<file path=ppt/presentation.xml><?xml version="1.0" encoding="utf-8"?>
<p:presentation xmlns:p="http://schemas.openxmlformats.org/presentationml/2006/main">
  <p:sldMasterIdLst>
    <p:sldMasterId xmlns:r="http://schemas.openxmlformats.org/officeDocument/2006/relationships" id="2147483648" r:id="Re77f2761ff53476a"/>
  </p:sldMasterIdLst>
  <p:notesMasterIdLst>
    <p:notesMasterId xmlns:r="http://schemas.openxmlformats.org/officeDocument/2006/relationships" r:id="R29800e9bb32b4168"/>
  </p:notesMasterIdLst>
  <p:sldIdLst>
    <p:sldId xmlns:r="http://schemas.openxmlformats.org/officeDocument/2006/relationships" id="256" r:id="R502488f4aa1b4b82"/>
    <p:sldId xmlns:r="http://schemas.openxmlformats.org/officeDocument/2006/relationships" id="257" r:id="R0003a0e6697b45af"/>
    <p:sldId xmlns:r="http://schemas.openxmlformats.org/officeDocument/2006/relationships" id="258" r:id="Rcf2cf162bc4740b5"/>
    <p:sldId xmlns:r="http://schemas.openxmlformats.org/officeDocument/2006/relationships" id="259" r:id="R139d21f8b92c476f"/>
    <p:sldId xmlns:r="http://schemas.openxmlformats.org/officeDocument/2006/relationships" id="260" r:id="Rd44e8757a9294efd"/>
    <p:sldId xmlns:r="http://schemas.openxmlformats.org/officeDocument/2006/relationships" id="261" r:id="R232554500b354d6e"/>
    <p:sldId xmlns:r="http://schemas.openxmlformats.org/officeDocument/2006/relationships" id="262" r:id="R0591798278ba4497"/>
    <p:sldId xmlns:r="http://schemas.openxmlformats.org/officeDocument/2006/relationships" id="263" r:id="R6d177f69ae5d43ad"/>
    <p:sldId xmlns:r="http://schemas.openxmlformats.org/officeDocument/2006/relationships" id="264" r:id="R31a85be4c0384141"/>
    <p:sldId xmlns:r="http://schemas.openxmlformats.org/officeDocument/2006/relationships" id="265" r:id="Rf7110c8a9b11482b"/>
    <p:sldId xmlns:r="http://schemas.openxmlformats.org/officeDocument/2006/relationships" id="266" r:id="R8fad05c601944615"/>
    <p:sldId xmlns:r="http://schemas.openxmlformats.org/officeDocument/2006/relationships" id="267" r:id="Rf6e34689a21d4c00"/>
    <p:sldId xmlns:r="http://schemas.openxmlformats.org/officeDocument/2006/relationships" id="268" r:id="R9787e8087b5c41fe"/>
    <p:sldId xmlns:r="http://schemas.openxmlformats.org/officeDocument/2006/relationships" id="269" r:id="Rc3d00759fa9f4d96"/>
    <p:sldId xmlns:r="http://schemas.openxmlformats.org/officeDocument/2006/relationships" id="270" r:id="R4472f3e0fa464b0a"/>
    <p:sldId xmlns:r="http://schemas.openxmlformats.org/officeDocument/2006/relationships" id="271" r:id="R349b4d6e82064451"/>
    <p:sldId xmlns:r="http://schemas.openxmlformats.org/officeDocument/2006/relationships" id="272" r:id="Rbb477a28627d4fc6"/>
    <p:sldId xmlns:r="http://schemas.openxmlformats.org/officeDocument/2006/relationships" id="273" r:id="Rada710a747ba4256"/>
    <p:sldId xmlns:r="http://schemas.openxmlformats.org/officeDocument/2006/relationships" id="274" r:id="Red2965ba279d4522"/>
    <p:sldId xmlns:r="http://schemas.openxmlformats.org/officeDocument/2006/relationships" id="275" r:id="R2d83bdf4cf0c46c3"/>
    <p:sldId xmlns:r="http://schemas.openxmlformats.org/officeDocument/2006/relationships" id="276" r:id="R8e474eea0fee4d33"/>
    <p:sldId xmlns:r="http://schemas.openxmlformats.org/officeDocument/2006/relationships" id="277" r:id="Rd2d986145ae44c50"/>
    <p:sldId xmlns:r="http://schemas.openxmlformats.org/officeDocument/2006/relationships" id="278" r:id="R57be93da8bee4320"/>
    <p:sldId xmlns:r="http://schemas.openxmlformats.org/officeDocument/2006/relationships" id="279" r:id="Rc69337be184345e8"/>
    <p:sldId xmlns:r="http://schemas.openxmlformats.org/officeDocument/2006/relationships" id="280" r:id="Rf1c250fc310d41c5"/>
    <p:sldId xmlns:r="http://schemas.openxmlformats.org/officeDocument/2006/relationships" id="281" r:id="R60c12ea0b2bf4181"/>
    <p:sldId xmlns:r="http://schemas.openxmlformats.org/officeDocument/2006/relationships" id="282" r:id="Rc64e175ae32d4c2f"/>
  </p:sldIdLst>
  <p:sldSz cx="9144000" cy="51435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Style à thème 1 - Accentuation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Style léger 1 - Accentuation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74C1A8A3-306A-4EB7-A6B1-4F7E0EB9C5D6}" styleName="Style moyen 3 - Accentuation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85BE263C-DBD7-4A20-BB59-AAB30ACAA65A}" styleName="Style moyen 3 - Accentuation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9D7B26C5-4107-4FEC-AEDC-1716B250A1EF}" styleName="Style clair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E3FDE45-AF77-4B5C-9715-49D594BDF05E}" styleName="Style léger 1 - Accentuation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5FD0F851-EC5A-4D38-B0AD-8093EC10F338}" styleName="Style léger 1 - Accentuation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Style léger 1 - Accentuation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54bbde4088f54406" /><Relationship Type="http://schemas.openxmlformats.org/officeDocument/2006/relationships/slideMaster" Target="/ppt/slideMasters/slideMaster1.xml" Id="Re77f2761ff53476a" /><Relationship Type="http://schemas.openxmlformats.org/officeDocument/2006/relationships/notesMaster" Target="/ppt/notesMasters/notesMaster1.xml" Id="R29800e9bb32b4168" /><Relationship Type="http://schemas.openxmlformats.org/officeDocument/2006/relationships/presProps" Target="/ppt/presProps.xml" Id="R6884e38188d54b30" /><Relationship Type="http://schemas.openxmlformats.org/officeDocument/2006/relationships/viewProps" Target="/ppt/viewProps.xml" Id="Rfc4e3803349a48f9" /><Relationship Type="http://schemas.openxmlformats.org/officeDocument/2006/relationships/tableStyles" Target="/ppt/tableStyles.xml" Id="R8268f7b143cb4d0e" /><Relationship Type="http://schemas.openxmlformats.org/officeDocument/2006/relationships/slide" Target="/ppt/slides/slide1.xml" Id="R502488f4aa1b4b82" /><Relationship Type="http://schemas.openxmlformats.org/officeDocument/2006/relationships/slide" Target="/ppt/slides/slide2.xml" Id="R0003a0e6697b45af" /><Relationship Type="http://schemas.openxmlformats.org/officeDocument/2006/relationships/slide" Target="/ppt/slides/slide3.xml" Id="Rcf2cf162bc4740b5" /><Relationship Type="http://schemas.openxmlformats.org/officeDocument/2006/relationships/slide" Target="/ppt/slides/slide4.xml" Id="R139d21f8b92c476f" /><Relationship Type="http://schemas.openxmlformats.org/officeDocument/2006/relationships/slide" Target="/ppt/slides/slide5.xml" Id="Rd44e8757a9294efd" /><Relationship Type="http://schemas.openxmlformats.org/officeDocument/2006/relationships/slide" Target="/ppt/slides/slide6.xml" Id="R232554500b354d6e" /><Relationship Type="http://schemas.openxmlformats.org/officeDocument/2006/relationships/slide" Target="/ppt/slides/slide7.xml" Id="R0591798278ba4497" /><Relationship Type="http://schemas.openxmlformats.org/officeDocument/2006/relationships/slide" Target="/ppt/slides/slide8.xml" Id="R6d177f69ae5d43ad" /><Relationship Type="http://schemas.openxmlformats.org/officeDocument/2006/relationships/slide" Target="/ppt/slides/slide9.xml" Id="R31a85be4c0384141" /><Relationship Type="http://schemas.openxmlformats.org/officeDocument/2006/relationships/slide" Target="/ppt/slides/slide10.xml" Id="Rf7110c8a9b11482b" /><Relationship Type="http://schemas.openxmlformats.org/officeDocument/2006/relationships/slide" Target="/ppt/slides/slide11.xml" Id="R8fad05c601944615" /><Relationship Type="http://schemas.openxmlformats.org/officeDocument/2006/relationships/slide" Target="/ppt/slides/slide12.xml" Id="Rf6e34689a21d4c00" /><Relationship Type="http://schemas.openxmlformats.org/officeDocument/2006/relationships/slide" Target="/ppt/slides/slide13.xml" Id="R9787e8087b5c41fe" /><Relationship Type="http://schemas.openxmlformats.org/officeDocument/2006/relationships/slide" Target="/ppt/slides/slide14.xml" Id="Rc3d00759fa9f4d96" /><Relationship Type="http://schemas.openxmlformats.org/officeDocument/2006/relationships/slide" Target="/ppt/slides/slide15.xml" Id="R4472f3e0fa464b0a" /><Relationship Type="http://schemas.openxmlformats.org/officeDocument/2006/relationships/slide" Target="/ppt/slides/slide16.xml" Id="R349b4d6e82064451" /><Relationship Type="http://schemas.openxmlformats.org/officeDocument/2006/relationships/slide" Target="/ppt/slides/slide17.xml" Id="Rbb477a28627d4fc6" /><Relationship Type="http://schemas.openxmlformats.org/officeDocument/2006/relationships/slide" Target="/ppt/slides/slide18.xml" Id="Rada710a747ba4256" /><Relationship Type="http://schemas.openxmlformats.org/officeDocument/2006/relationships/slide" Target="/ppt/slides/slide19.xml" Id="Red2965ba279d4522" /><Relationship Type="http://schemas.openxmlformats.org/officeDocument/2006/relationships/slide" Target="/ppt/slides/slide20.xml" Id="R2d83bdf4cf0c46c3" /><Relationship Type="http://schemas.openxmlformats.org/officeDocument/2006/relationships/slide" Target="/ppt/slides/slide21.xml" Id="R8e474eea0fee4d33" /><Relationship Type="http://schemas.openxmlformats.org/officeDocument/2006/relationships/slide" Target="/ppt/slides/slide22.xml" Id="Rd2d986145ae44c50" /><Relationship Type="http://schemas.openxmlformats.org/officeDocument/2006/relationships/slide" Target="/ppt/slides/slide23.xml" Id="R57be93da8bee4320" /><Relationship Type="http://schemas.openxmlformats.org/officeDocument/2006/relationships/slide" Target="/ppt/slides/slide24.xml" Id="Rc69337be184345e8" /><Relationship Type="http://schemas.openxmlformats.org/officeDocument/2006/relationships/slide" Target="/ppt/slides/slide25.xml" Id="Rf1c250fc310d41c5" /><Relationship Type="http://schemas.openxmlformats.org/officeDocument/2006/relationships/slide" Target="/ppt/slides/slide26.xml" Id="R60c12ea0b2bf4181" /><Relationship Type="http://schemas.openxmlformats.org/officeDocument/2006/relationships/slide" Target="/ppt/slides/slide27.xml" Id="Rc64e175ae32d4c2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8d6c0a527424a4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Thème Office">
  <a:themeElements>
    <a:clrScheme name="EPFL - New Colors 2019">
      <a:dk1>
        <a:srgbClr val="413C3A"/>
      </a:dk1>
      <a:lt1>
        <a:srgbClr val="FFFFFF"/>
      </a:lt1>
      <a:dk2>
        <a:srgbClr val="413C3A"/>
      </a:dk2>
      <a:lt2>
        <a:srgbClr val="CAC7C7"/>
      </a:lt2>
      <a:accent1>
        <a:srgbClr val="E30613"/>
      </a:accent1>
      <a:accent2>
        <a:srgbClr val="00A79F"/>
      </a:accent2>
      <a:accent3>
        <a:srgbClr val="413C3A"/>
      </a:accent3>
      <a:accent4>
        <a:srgbClr val="007480"/>
      </a:accent4>
      <a:accent5>
        <a:srgbClr val="F39869"/>
      </a:accent5>
      <a:accent6>
        <a:srgbClr val="B51F1F"/>
      </a:accent6>
      <a:hlink>
        <a:srgbClr val="ED6E9C"/>
      </a:hlink>
      <a:folHlink>
        <a:srgbClr val="4F8FCC"/>
      </a:folHlink>
    </a:clrScheme>
    <a:fontScheme name="EPFL_Beta2">
      <a:majorFont>
        <a:latin typeface="Franklin Gothic Demi Cond"/>
        <a:ea typeface=""/>
        <a:cs typeface=""/>
      </a:majorFont>
      <a:minorFont>
        <a:latin typeface="Arial"/>
        <a:ea typeface=""/>
        <a:cs typeface=""/>
      </a:minorFont>
    </a:fontScheme>
    <a:fmtScheme name="EPFL - New Colors 2019">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4619439f45044c0" /><Relationship Type="http://schemas.openxmlformats.org/officeDocument/2006/relationships/notesMaster" Target="/ppt/notesMasters/notesMaster1.xml" Id="Rbdcc99ce67c6423e" /></Relationships>
</file>

<file path=ppt/notesSlides/_rels/notesSlide2.xml.rels>&#65279;<?xml version="1.0" encoding="utf-8"?><Relationships xmlns="http://schemas.openxmlformats.org/package/2006/relationships"><Relationship Type="http://schemas.openxmlformats.org/officeDocument/2006/relationships/slide" Target="/ppt/slides/slide2.xml" Id="Rf75f345e6d80406d" /><Relationship Type="http://schemas.openxmlformats.org/officeDocument/2006/relationships/notesMaster" Target="/ppt/notesMasters/notesMaster1.xml" Id="Rb560f3b38bbd432b" /></Relationships>
</file>

<file path=ppt/notesSlides/_rels/notesSlide3.xml.rels>&#65279;<?xml version="1.0" encoding="utf-8"?><Relationships xmlns="http://schemas.openxmlformats.org/package/2006/relationships"><Relationship Type="http://schemas.openxmlformats.org/officeDocument/2006/relationships/slide" Target="/ppt/slides/slide3.xml" Id="Rfbd0201b982d441c" /><Relationship Type="http://schemas.openxmlformats.org/officeDocument/2006/relationships/notesMaster" Target="/ppt/notesMasters/notesMaster1.xml" Id="R866a41317a734a36" /></Relationships>
</file>

<file path=ppt/notesSlides/_rels/notesSlide4.xml.rels>&#65279;<?xml version="1.0" encoding="utf-8"?><Relationships xmlns="http://schemas.openxmlformats.org/package/2006/relationships"><Relationship Type="http://schemas.openxmlformats.org/officeDocument/2006/relationships/slide" Target="/ppt/slides/slide4.xml" Id="R44944f3b8e7d48fb" /><Relationship Type="http://schemas.openxmlformats.org/officeDocument/2006/relationships/notesMaster" Target="/ppt/notesMasters/notesMaster1.xml" Id="Rb3a5571d30064b1e" /></Relationships>
</file>

<file path=ppt/notesSlides/_rels/notesSlide5.xml.rels>&#65279;<?xml version="1.0" encoding="utf-8"?><Relationships xmlns="http://schemas.openxmlformats.org/package/2006/relationships"><Relationship Type="http://schemas.openxmlformats.org/officeDocument/2006/relationships/slide" Target="/ppt/slides/slide5.xml" Id="Ra823e643361e42b8" /><Relationship Type="http://schemas.openxmlformats.org/officeDocument/2006/relationships/notesMaster" Target="/ppt/notesMasters/notesMaster1.xml" Id="Raacadb87fa744b57" /></Relationships>
</file>

<file path=ppt/notesSlides/_rels/notesSlide6.xml.rels>&#65279;<?xml version="1.0" encoding="utf-8"?><Relationships xmlns="http://schemas.openxmlformats.org/package/2006/relationships"><Relationship Type="http://schemas.openxmlformats.org/officeDocument/2006/relationships/slide" Target="/ppt/slides/slide6.xml" Id="Ra5448575fbf24896" /><Relationship Type="http://schemas.openxmlformats.org/officeDocument/2006/relationships/notesMaster" Target="/ppt/notesMasters/notesMaster1.xml" Id="R2d603d8d2c5e4791" /></Relationships>
</file>

<file path=ppt/notesSlides/_rels/notesSlide7.xml.rels>&#65279;<?xml version="1.0" encoding="utf-8"?><Relationships xmlns="http://schemas.openxmlformats.org/package/2006/relationships"><Relationship Type="http://schemas.openxmlformats.org/officeDocument/2006/relationships/slide" Target="/ppt/slides/slide7.xml" Id="R25d19eb6bd464dcf" /><Relationship Type="http://schemas.openxmlformats.org/officeDocument/2006/relationships/notesMaster" Target="/ppt/notesMasters/notesMaster1.xml" Id="R6a2e573dee2b4b09" /></Relationships>
</file>

<file path=ppt/notesSlides/_rels/notesSlide8.xml.rels>&#65279;<?xml version="1.0" encoding="utf-8"?><Relationships xmlns="http://schemas.openxmlformats.org/package/2006/relationships"><Relationship Type="http://schemas.openxmlformats.org/officeDocument/2006/relationships/slide" Target="/ppt/slides/slide8.xml" Id="R5a7a4a827f774d08" /><Relationship Type="http://schemas.openxmlformats.org/officeDocument/2006/relationships/notesMaster" Target="/ppt/notesMasters/notesMaster1.xml" Id="Rff2364ab0ee64fe6" /></Relationships>
</file>

<file path=ppt/notesSlides/_rels/notesSlide9.xml.rels>&#65279;<?xml version="1.0" encoding="utf-8"?><Relationships xmlns="http://schemas.openxmlformats.org/package/2006/relationships"><Relationship Type="http://schemas.openxmlformats.org/officeDocument/2006/relationships/slide" Target="/ppt/slides/slide9.xml" Id="Rccf2eb3bf8b54af6" /><Relationship Type="http://schemas.openxmlformats.org/officeDocument/2006/relationships/notesMaster" Target="/ppt/notesMasters/notesMaster1.xml" Id="R78c0dad08b7c45e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41fcd5b0110415c" /><Relationship Type="http://schemas.openxmlformats.org/officeDocument/2006/relationships/notesMaster" Target="/ppt/notesMasters/notesMaster1.xml" Id="R2e4f1e1693e3429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2695f983cc64e94" /><Relationship Type="http://schemas.openxmlformats.org/officeDocument/2006/relationships/notesMaster" Target="/ppt/notesMasters/notesMaster1.xml" Id="Ra2d9f3dacb5d4ed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36a6c27215e4b6c" /><Relationship Type="http://schemas.openxmlformats.org/officeDocument/2006/relationships/notesMaster" Target="/ppt/notesMasters/notesMaster1.xml" Id="Rdd0ef02837d74e0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0147835c6524250" /><Relationship Type="http://schemas.openxmlformats.org/officeDocument/2006/relationships/notesMaster" Target="/ppt/notesMasters/notesMaster1.xml" Id="R717969a49386460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d6908fc056b4a2f" /><Relationship Type="http://schemas.openxmlformats.org/officeDocument/2006/relationships/notesMaster" Target="/ppt/notesMasters/notesMaster1.xml" Id="R17530d65259e40b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d8261e8713440fb" /><Relationship Type="http://schemas.openxmlformats.org/officeDocument/2006/relationships/notesMaster" Target="/ppt/notesMasters/notesMaster1.xml" Id="Reaf7386b127b4e3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2b84f97d4c74928" /><Relationship Type="http://schemas.openxmlformats.org/officeDocument/2006/relationships/notesMaster" Target="/ppt/notesMasters/notesMaster1.xml" Id="R9e9cb11fe03c4ae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64e01b4c43c4407" /><Relationship Type="http://schemas.openxmlformats.org/officeDocument/2006/relationships/notesMaster" Target="/ppt/notesMasters/notesMaster1.xml" Id="Rda41284600754c7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679bda1a04c44c0" /><Relationship Type="http://schemas.openxmlformats.org/officeDocument/2006/relationships/notesMaster" Target="/ppt/notesMasters/notesMaster1.xml" Id="Rcf1c5d90037c4c1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b1e255a73d44567" /><Relationship Type="http://schemas.openxmlformats.org/officeDocument/2006/relationships/notesMaster" Target="/ppt/notesMasters/notesMaster1.xml" Id="Rfe4fbf4a872e422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be952e9504734605" /><Relationship Type="http://schemas.openxmlformats.org/officeDocument/2006/relationships/notesMaster" Target="/ppt/notesMasters/notesMaster1.xml" Id="Rca976472b2ca4806"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77d17b704e7481a" /><Relationship Type="http://schemas.openxmlformats.org/officeDocument/2006/relationships/notesMaster" Target="/ppt/notesMasters/notesMaster1.xml" Id="R65c14b431e054e54"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557e704f5143434d" /><Relationship Type="http://schemas.openxmlformats.org/officeDocument/2006/relationships/notesMaster" Target="/ppt/notesMasters/notesMaster1.xml" Id="Rd9463e17e9bc44dc"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ed13770b251f4ab2" /><Relationship Type="http://schemas.openxmlformats.org/officeDocument/2006/relationships/notesMaster" Target="/ppt/notesMasters/notesMaster1.xml" Id="Re815cf7f470b43d3"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498a1650b18a4ae3" /><Relationship Type="http://schemas.openxmlformats.org/officeDocument/2006/relationships/notesMaster" Target="/ppt/notesMasters/notesMaster1.xml" Id="R7ab478577a0c41e7"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b2c4e03edbbf4cae" /><Relationship Type="http://schemas.openxmlformats.org/officeDocument/2006/relationships/notesMaster" Target="/ppt/notesMasters/notesMaster1.xml" Id="Rdf4852392c274cc9"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ea6bd18eabde4774" /><Relationship Type="http://schemas.openxmlformats.org/officeDocument/2006/relationships/notesMaster" Target="/ppt/notesMasters/notesMaster1.xml" Id="Re47d042070f04085"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8dde349cdf784481" /><Relationship Type="http://schemas.openxmlformats.org/officeDocument/2006/relationships/notesMaster" Target="/ppt/notesMasters/notesMaster1.xml" Id="Rad85b895055d432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a:solidFill>
                  <a:schemeClr val="tx1"/>
                </a:solidFill>
                <a:latin typeface="Arial"/>
                <a:ea typeface="Arial"/>
                <a:cs typeface="Arial"/>
              </a:rPr>
              <a:t>Today</a:t>
            </a:r>
            <a:r>
              <a:rPr sz="1200">
                <a:solidFill>
                  <a:schemeClr val="tx1"/>
                </a:solidFill>
                <a:latin typeface="Arial"/>
                <a:ea typeface="Arial"/>
                <a:cs typeface="Arial"/>
              </a:rPr>
              <a:t> i </a:t>
            </a:r>
            <a:r>
              <a:rPr sz="1200">
                <a:solidFill>
                  <a:schemeClr val="tx1"/>
                </a:solidFill>
                <a:latin typeface="Arial"/>
                <a:ea typeface="Arial"/>
                <a:cs typeface="Arial"/>
              </a:rPr>
              <a:t>ll</a:t>
            </a:r>
            <a:r>
              <a:rPr sz="1200">
                <a:solidFill>
                  <a:schemeClr val="tx1"/>
                </a:solidFill>
                <a:latin typeface="Arial"/>
                <a:ea typeface="Arial"/>
                <a:cs typeface="Arial"/>
              </a:rPr>
              <a:t> </a:t>
            </a:r>
            <a:r>
              <a:rPr sz="1200">
                <a:solidFill>
                  <a:schemeClr val="tx1"/>
                </a:solidFill>
                <a:latin typeface="Arial"/>
                <a:ea typeface="Arial"/>
                <a:cs typeface="Arial"/>
              </a:rPr>
              <a:t>present</a:t>
            </a:r>
            <a:r>
              <a:rPr sz="1200">
                <a:solidFill>
                  <a:schemeClr val="tx1"/>
                </a:solidFill>
                <a:latin typeface="Arial"/>
                <a:ea typeface="Arial"/>
                <a:cs typeface="Arial"/>
              </a:rPr>
              <a:t> the </a:t>
            </a:r>
            <a:r>
              <a:rPr sz="1200">
                <a:solidFill>
                  <a:schemeClr val="tx1"/>
                </a:solidFill>
                <a:latin typeface="Arial"/>
                <a:ea typeface="Arial"/>
                <a:cs typeface="Arial"/>
              </a:rPr>
              <a:t>refinement</a:t>
            </a:r>
            <a:r>
              <a:rPr sz="1200">
                <a:solidFill>
                  <a:schemeClr val="tx1"/>
                </a:solidFill>
                <a:latin typeface="Arial"/>
                <a:ea typeface="Arial"/>
                <a:cs typeface="Arial"/>
              </a:rPr>
              <a:t> of </a:t>
            </a:r>
            <a:r>
              <a:rPr sz="1200">
                <a:solidFill>
                  <a:schemeClr val="tx1"/>
                </a:solidFill>
                <a:latin typeface="Arial"/>
                <a:ea typeface="Arial"/>
                <a:cs typeface="Arial"/>
              </a:rPr>
              <a:t>my</a:t>
            </a:r>
            <a:r>
              <a:rPr sz="1200">
                <a:solidFill>
                  <a:schemeClr val="tx1"/>
                </a:solidFill>
                <a:latin typeface="Arial"/>
                <a:ea typeface="Arial"/>
                <a:cs typeface="Arial"/>
              </a:rPr>
              <a:t> </a:t>
            </a:r>
            <a:r>
              <a:rPr sz="1200">
                <a:solidFill>
                  <a:schemeClr val="tx1"/>
                </a:solidFill>
                <a:latin typeface="Arial"/>
                <a:ea typeface="Arial"/>
                <a:cs typeface="Arial"/>
              </a:rPr>
              <a:t>msc</a:t>
            </a:r>
            <a:r>
              <a:rPr sz="1200">
                <a:solidFill>
                  <a:schemeClr val="tx1"/>
                </a:solidFill>
                <a:latin typeface="Arial"/>
                <a:ea typeface="Arial"/>
                <a:cs typeface="Arial"/>
              </a:rPr>
              <a:t> </a:t>
            </a:r>
            <a:r>
              <a:rPr sz="1200">
                <a:solidFill>
                  <a:schemeClr val="tx1"/>
                </a:solidFill>
                <a:latin typeface="Arial"/>
                <a:ea typeface="Arial"/>
                <a:cs typeface="Arial"/>
              </a:rPr>
              <a:t>thesis</a:t>
            </a:r>
            <a:r>
              <a:rPr sz="1200">
                <a:solidFill>
                  <a:schemeClr val="tx1"/>
                </a:solidFill>
                <a:latin typeface="Arial"/>
                <a:ea typeface="Arial"/>
                <a:cs typeface="Arial"/>
              </a:rPr>
              <a:t> on graph-</a:t>
            </a:r>
            <a:r>
              <a:rPr sz="1200">
                <a:solidFill>
                  <a:schemeClr val="tx1"/>
                </a:solidFill>
                <a:latin typeface="Arial"/>
                <a:ea typeface="Arial"/>
                <a:cs typeface="Arial"/>
              </a:rPr>
              <a:t>structured</a:t>
            </a:r>
            <a:r>
              <a:rPr sz="1200">
                <a:solidFill>
                  <a:schemeClr val="tx1"/>
                </a:solidFill>
                <a:latin typeface="Arial"/>
                <a:ea typeface="Arial"/>
                <a:cs typeface="Arial"/>
              </a:rPr>
              <a:t> multi-agent </a:t>
            </a:r>
            <a:r>
              <a:rPr sz="1200">
                <a:solidFill>
                  <a:schemeClr val="tx1"/>
                </a:solidFill>
                <a:latin typeface="Arial"/>
                <a:ea typeface="Arial"/>
                <a:cs typeface="Arial"/>
              </a:rPr>
              <a:t>reinforcement</a:t>
            </a:r>
            <a:r>
              <a:rPr sz="1200">
                <a:solidFill>
                  <a:schemeClr val="tx1"/>
                </a:solidFill>
                <a:latin typeface="Arial"/>
                <a:ea typeface="Arial"/>
                <a:cs typeface="Arial"/>
              </a:rPr>
              <a:t> </a:t>
            </a:r>
            <a:r>
              <a:rPr sz="1200">
                <a:solidFill>
                  <a:schemeClr val="tx1"/>
                </a:solidFill>
                <a:latin typeface="Arial"/>
                <a:ea typeface="Arial"/>
                <a:cs typeface="Arial"/>
              </a:rPr>
              <a:t>learning</a:t>
            </a:r>
            <a:r>
              <a:rPr sz="1200">
                <a:solidFill>
                  <a:schemeClr val="tx1"/>
                </a:solidFill>
                <a:latin typeface="Arial"/>
                <a:ea typeface="Arial"/>
                <a:cs typeface="Arial"/>
              </a:rPr>
              <a:t> for power </a:t>
            </a:r>
            <a:r>
              <a:rPr sz="1200">
                <a:solidFill>
                  <a:schemeClr val="tx1"/>
                </a:solidFill>
                <a:latin typeface="Arial"/>
                <a:ea typeface="Arial"/>
                <a:cs typeface="Arial"/>
              </a:rPr>
              <a:t>grid</a:t>
            </a:r>
            <a:r>
              <a:rPr sz="1200">
                <a:solidFill>
                  <a:schemeClr val="tx1"/>
                </a:solidFill>
                <a:latin typeface="Arial"/>
                <a:ea typeface="Arial"/>
                <a:cs typeface="Arial"/>
              </a:rPr>
              <a:t> </a:t>
            </a:r>
            <a:r>
              <a:rPr sz="1200">
                <a:solidFill>
                  <a:schemeClr val="tx1"/>
                </a:solidFill>
                <a:latin typeface="Arial"/>
                <a:ea typeface="Arial"/>
                <a:cs typeface="Arial"/>
              </a:rPr>
              <a:t>topology</a:t>
            </a:r>
            <a:r>
              <a:rPr sz="1200">
                <a:solidFill>
                  <a:schemeClr val="tx1"/>
                </a:solidFill>
                <a:latin typeface="Arial"/>
                <a:ea typeface="Arial"/>
                <a:cs typeface="Arial"/>
              </a:rPr>
              <a:t> control and the </a:t>
            </a:r>
            <a:r>
              <a:rPr sz="1200">
                <a:solidFill>
                  <a:schemeClr val="tx1"/>
                </a:solidFill>
                <a:latin typeface="Arial"/>
                <a:ea typeface="Arial"/>
                <a:cs typeface="Arial"/>
              </a:rPr>
              <a:t>results</a:t>
            </a:r>
            <a:r>
              <a:rPr sz="1200">
                <a:solidFill>
                  <a:schemeClr val="tx1"/>
                </a:solidFill>
                <a:latin typeface="Arial"/>
                <a:ea typeface="Arial"/>
                <a:cs typeface="Arial"/>
              </a:rPr>
              <a:t> of the first </a:t>
            </a:r>
            <a:r>
              <a:rPr sz="1200">
                <a:solidFill>
                  <a:schemeClr val="tx1"/>
                </a:solidFill>
                <a:latin typeface="Arial"/>
                <a:ea typeface="Arial"/>
                <a:cs typeface="Arial"/>
              </a:rPr>
              <a:t>baseline</a:t>
            </a:r>
            <a:r>
              <a:rPr sz="1200">
                <a:solidFill>
                  <a:schemeClr val="tx1"/>
                </a:solidFill>
                <a:latin typeface="Arial"/>
                <a:ea typeface="Arial"/>
                <a:cs typeface="Arial"/>
              </a:rPr>
              <a:t> i </a:t>
            </a:r>
            <a:r>
              <a:rPr sz="1200">
                <a:solidFill>
                  <a:schemeClr val="tx1"/>
                </a:solidFill>
                <a:latin typeface="Arial"/>
                <a:ea typeface="Arial"/>
                <a:cs typeface="Arial"/>
              </a:rPr>
              <a:t>implemented</a:t>
            </a:r>
            <a:r>
              <a:rPr sz="1200">
                <a:solidFill>
                  <a:schemeClr val="tx1"/>
                </a:solidFill>
                <a:latin typeface="Arial"/>
                <a:ea typeface="Arial"/>
                <a:cs typeface="Arial"/>
              </a:rPr>
              <a:t>.</a:t>
            </a:r>
          </a:p>
          <a:p xmlns:a="http://schemas.openxmlformats.org/drawingml/2006/main"/>
          <a:p xmlns:a="http://schemas.openxmlformats.org/drawingml/2006/main">
            <a:r>
              <a:rPr sz="1200">
                <a:solidFill>
                  <a:schemeClr val="tx1"/>
                </a:solidFill>
                <a:latin typeface="Arial"/>
                <a:ea typeface="Arial"/>
                <a:cs typeface="Arial"/>
              </a:rPr>
              <a:t>The goal </a:t>
            </a:r>
            <a:r>
              <a:rPr sz="1200">
                <a:solidFill>
                  <a:schemeClr val="tx1"/>
                </a:solidFill>
                <a:latin typeface="Arial"/>
                <a:ea typeface="Arial"/>
                <a:cs typeface="Arial"/>
              </a:rPr>
              <a:t>is</a:t>
            </a:r>
            <a:r>
              <a:rPr sz="1200">
                <a:solidFill>
                  <a:schemeClr val="tx1"/>
                </a:solidFill>
                <a:latin typeface="Arial"/>
                <a:ea typeface="Arial"/>
                <a:cs typeface="Arial"/>
              </a:rPr>
              <a:t> to </a:t>
            </a:r>
            <a:r>
              <a:rPr sz="1200">
                <a:solidFill>
                  <a:schemeClr val="tx1"/>
                </a:solidFill>
                <a:latin typeface="Arial"/>
                <a:ea typeface="Arial"/>
                <a:cs typeface="Arial"/>
              </a:rPr>
              <a:t>improve</a:t>
            </a:r>
            <a:r>
              <a:rPr sz="1200">
                <a:solidFill>
                  <a:schemeClr val="tx1"/>
                </a:solidFill>
                <a:latin typeface="Arial"/>
                <a:ea typeface="Arial"/>
                <a:cs typeface="Arial"/>
              </a:rPr>
              <a:t> how </a:t>
            </a:r>
            <a:r>
              <a:rPr sz="1200">
                <a:solidFill>
                  <a:schemeClr val="tx1"/>
                </a:solidFill>
                <a:latin typeface="Arial"/>
                <a:ea typeface="Arial"/>
                <a:cs typeface="Arial"/>
              </a:rPr>
              <a:t>reinforcement</a:t>
            </a:r>
            <a:r>
              <a:rPr sz="1200">
                <a:solidFill>
                  <a:schemeClr val="tx1"/>
                </a:solidFill>
                <a:latin typeface="Arial"/>
                <a:ea typeface="Arial"/>
                <a:cs typeface="Arial"/>
              </a:rPr>
              <a:t> </a:t>
            </a:r>
            <a:r>
              <a:rPr sz="1200">
                <a:solidFill>
                  <a:schemeClr val="tx1"/>
                </a:solidFill>
                <a:latin typeface="Arial"/>
                <a:ea typeface="Arial"/>
                <a:cs typeface="Arial"/>
              </a:rPr>
              <a:t>learning</a:t>
            </a:r>
            <a:r>
              <a:rPr sz="1200">
                <a:solidFill>
                  <a:schemeClr val="tx1"/>
                </a:solidFill>
                <a:latin typeface="Arial"/>
                <a:ea typeface="Arial"/>
                <a:cs typeface="Arial"/>
              </a:rPr>
              <a:t> can </a:t>
            </a:r>
            <a:r>
              <a:rPr sz="1200">
                <a:solidFill>
                  <a:schemeClr val="tx1"/>
                </a:solidFill>
                <a:latin typeface="Arial"/>
                <a:ea typeface="Arial"/>
                <a:cs typeface="Arial"/>
              </a:rPr>
              <a:t>scale</a:t>
            </a:r>
            <a:r>
              <a:rPr sz="1200">
                <a:solidFill>
                  <a:schemeClr val="tx1"/>
                </a:solidFill>
                <a:latin typeface="Arial"/>
                <a:ea typeface="Arial"/>
                <a:cs typeface="Arial"/>
              </a:rPr>
              <a:t> and </a:t>
            </a:r>
            <a:r>
              <a:rPr sz="1200">
                <a:solidFill>
                  <a:schemeClr val="tx1"/>
                </a:solidFill>
                <a:latin typeface="Arial"/>
                <a:ea typeface="Arial"/>
                <a:cs typeface="Arial"/>
              </a:rPr>
              <a:t>coordinate</a:t>
            </a:r>
            <a:r>
              <a:rPr sz="1200">
                <a:solidFill>
                  <a:schemeClr val="tx1"/>
                </a:solidFill>
                <a:latin typeface="Arial"/>
                <a:ea typeface="Arial"/>
                <a:cs typeface="Arial"/>
              </a:rPr>
              <a:t> </a:t>
            </a:r>
            <a:r>
              <a:rPr sz="1200">
                <a:solidFill>
                  <a:schemeClr val="tx1"/>
                </a:solidFill>
                <a:latin typeface="Arial"/>
                <a:ea typeface="Arial"/>
                <a:cs typeface="Arial"/>
              </a:rPr>
              <a:t>decisions</a:t>
            </a:r>
            <a:r>
              <a:rPr sz="1200">
                <a:solidFill>
                  <a:schemeClr val="tx1"/>
                </a:solidFill>
                <a:latin typeface="Arial"/>
                <a:ea typeface="Arial"/>
                <a:cs typeface="Arial"/>
              </a:rPr>
              <a:t> in </a:t>
            </a:r>
            <a:r>
              <a:rPr sz="1200">
                <a:solidFill>
                  <a:schemeClr val="tx1"/>
                </a:solidFill>
                <a:latin typeface="Arial"/>
                <a:ea typeface="Arial"/>
                <a:cs typeface="Arial"/>
              </a:rPr>
              <a:t>realistic</a:t>
            </a:r>
            <a:r>
              <a:rPr sz="1200">
                <a:solidFill>
                  <a:schemeClr val="tx1"/>
                </a:solidFill>
                <a:latin typeface="Arial"/>
                <a:ea typeface="Arial"/>
                <a:cs typeface="Arial"/>
              </a:rPr>
              <a:t> power </a:t>
            </a:r>
            <a:r>
              <a:rPr sz="1200">
                <a:solidFill>
                  <a:schemeClr val="tx1"/>
                </a:solidFill>
                <a:latin typeface="Arial"/>
                <a:ea typeface="Arial"/>
                <a:cs typeface="Arial"/>
              </a:rPr>
              <a:t>grid</a:t>
            </a:r>
            <a:r>
              <a:rPr sz="1200">
                <a:solidFill>
                  <a:schemeClr val="tx1"/>
                </a:solidFill>
                <a:latin typeface="Arial"/>
                <a:ea typeface="Arial"/>
                <a:cs typeface="Arial"/>
              </a:rPr>
              <a:t> </a:t>
            </a:r>
            <a:r>
              <a:rPr sz="1200">
                <a:solidFill>
                  <a:schemeClr val="tx1"/>
                </a:solidFill>
                <a:latin typeface="Arial"/>
                <a:ea typeface="Arial"/>
                <a:cs typeface="Arial"/>
              </a:rPr>
              <a:t>environments</a:t>
            </a:r>
            <a:r>
              <a:rPr sz="1200">
                <a:solidFill>
                  <a:schemeClr val="tx1"/>
                </a:solidFill>
                <a:latin typeface="Arial"/>
                <a:ea typeface="Arial"/>
                <a:cs typeface="Arial"/>
              </a:rPr>
              <a:t>.”</a:t>
            </a:r>
          </a:p>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a:solidFill>
                  <a:schemeClr val="tx1"/>
                </a:solidFill>
                <a:latin typeface="Arial"/>
                <a:ea typeface="Arial"/>
                <a:cs typeface="Arial"/>
              </a:rPr>
              <a:t>Power </a:t>
            </a:r>
            <a:r>
              <a:rPr sz="1200">
                <a:solidFill>
                  <a:schemeClr val="tx1"/>
                </a:solidFill>
                <a:latin typeface="Arial"/>
                <a:ea typeface="Arial"/>
                <a:cs typeface="Arial"/>
              </a:rPr>
              <a:t>grid</a:t>
            </a:r>
            <a:r>
              <a:rPr sz="1200">
                <a:solidFill>
                  <a:schemeClr val="tx1"/>
                </a:solidFill>
                <a:latin typeface="Arial"/>
                <a:ea typeface="Arial"/>
                <a:cs typeface="Arial"/>
              </a:rPr>
              <a:t> </a:t>
            </a:r>
            <a:r>
              <a:rPr sz="1200">
                <a:solidFill>
                  <a:schemeClr val="tx1"/>
                </a:solidFill>
                <a:latin typeface="Arial"/>
                <a:ea typeface="Arial"/>
                <a:cs typeface="Arial"/>
              </a:rPr>
              <a:t>operation</a:t>
            </a:r>
            <a:r>
              <a:rPr sz="1200">
                <a:solidFill>
                  <a:schemeClr val="tx1"/>
                </a:solidFill>
                <a:latin typeface="Arial"/>
                <a:ea typeface="Arial"/>
                <a:cs typeface="Arial"/>
              </a:rPr>
              <a:t> </a:t>
            </a:r>
            <a:r>
              <a:rPr sz="1200">
                <a:solidFill>
                  <a:schemeClr val="tx1"/>
                </a:solidFill>
                <a:latin typeface="Arial"/>
                <a:ea typeface="Arial"/>
                <a:cs typeface="Arial"/>
              </a:rPr>
              <a:t>is</a:t>
            </a:r>
            <a:r>
              <a:rPr sz="1200">
                <a:solidFill>
                  <a:schemeClr val="tx1"/>
                </a:solidFill>
                <a:latin typeface="Arial"/>
                <a:ea typeface="Arial"/>
                <a:cs typeface="Arial"/>
              </a:rPr>
              <a:t> a </a:t>
            </a:r>
            <a:r>
              <a:rPr sz="1200">
                <a:solidFill>
                  <a:schemeClr val="tx1"/>
                </a:solidFill>
                <a:latin typeface="Arial"/>
                <a:ea typeface="Arial"/>
                <a:cs typeface="Arial"/>
              </a:rPr>
              <a:t>challenging</a:t>
            </a:r>
            <a:r>
              <a:rPr sz="1200">
                <a:solidFill>
                  <a:schemeClr val="tx1"/>
                </a:solidFill>
                <a:latin typeface="Arial"/>
                <a:ea typeface="Arial"/>
                <a:cs typeface="Arial"/>
              </a:rPr>
              <a:t> control </a:t>
            </a:r>
            <a:r>
              <a:rPr sz="1200">
                <a:solidFill>
                  <a:schemeClr val="tx1"/>
                </a:solidFill>
                <a:latin typeface="Arial"/>
                <a:ea typeface="Arial"/>
                <a:cs typeface="Arial"/>
              </a:rPr>
              <a:t>problem</a:t>
            </a:r>
            <a:r>
              <a:rPr sz="1200">
                <a:solidFill>
                  <a:schemeClr val="tx1"/>
                </a:solidFill>
                <a:latin typeface="Arial"/>
                <a:ea typeface="Arial"/>
                <a:cs typeface="Arial"/>
              </a:rPr>
              <a:t>.</a:t>
            </a:r>
          </a:p>
          <a:p xmlns:a="http://schemas.openxmlformats.org/drawingml/2006/main">
            <a:r>
              <a:rPr sz="1200">
                <a:solidFill>
                  <a:schemeClr val="tx1"/>
                </a:solidFill>
                <a:latin typeface="Arial"/>
                <a:ea typeface="Arial"/>
                <a:cs typeface="Arial"/>
              </a:rPr>
              <a:t>Operators</a:t>
            </a:r>
            <a:r>
              <a:rPr sz="1200">
                <a:solidFill>
                  <a:schemeClr val="tx1"/>
                </a:solidFill>
                <a:latin typeface="Arial"/>
                <a:ea typeface="Arial"/>
                <a:cs typeface="Arial"/>
              </a:rPr>
              <a:t> </a:t>
            </a:r>
            <a:r>
              <a:rPr sz="1200">
                <a:solidFill>
                  <a:schemeClr val="tx1"/>
                </a:solidFill>
                <a:latin typeface="Arial"/>
                <a:ea typeface="Arial"/>
                <a:cs typeface="Arial"/>
              </a:rPr>
              <a:t>need</a:t>
            </a:r>
            <a:r>
              <a:rPr sz="1200">
                <a:solidFill>
                  <a:schemeClr val="tx1"/>
                </a:solidFill>
                <a:latin typeface="Arial"/>
                <a:ea typeface="Arial"/>
                <a:cs typeface="Arial"/>
              </a:rPr>
              <a:t> to </a:t>
            </a:r>
            <a:r>
              <a:rPr sz="1200">
                <a:solidFill>
                  <a:schemeClr val="tx1"/>
                </a:solidFill>
                <a:latin typeface="Arial"/>
                <a:ea typeface="Arial"/>
                <a:cs typeface="Arial"/>
              </a:rPr>
              <a:t>make</a:t>
            </a:r>
            <a:r>
              <a:rPr sz="1200">
                <a:solidFill>
                  <a:schemeClr val="tx1"/>
                </a:solidFill>
                <a:latin typeface="Arial"/>
                <a:ea typeface="Arial"/>
                <a:cs typeface="Arial"/>
              </a:rPr>
              <a:t> real-time </a:t>
            </a:r>
            <a:r>
              <a:rPr sz="1200">
                <a:solidFill>
                  <a:schemeClr val="tx1"/>
                </a:solidFill>
                <a:latin typeface="Arial"/>
                <a:ea typeface="Arial"/>
                <a:cs typeface="Arial"/>
              </a:rPr>
              <a:t>decisions</a:t>
            </a:r>
            <a:r>
              <a:rPr sz="1200">
                <a:solidFill>
                  <a:schemeClr val="tx1"/>
                </a:solidFill>
                <a:latin typeface="Arial"/>
                <a:ea typeface="Arial"/>
                <a:cs typeface="Arial"/>
              </a:rPr>
              <a:t> </a:t>
            </a:r>
            <a:r>
              <a:rPr sz="1200">
                <a:solidFill>
                  <a:schemeClr val="tx1"/>
                </a:solidFill>
                <a:latin typeface="Arial"/>
                <a:ea typeface="Arial"/>
                <a:cs typeface="Arial"/>
              </a:rPr>
              <a:t>under</a:t>
            </a:r>
            <a:r>
              <a:rPr sz="1200">
                <a:solidFill>
                  <a:schemeClr val="tx1"/>
                </a:solidFill>
                <a:latin typeface="Arial"/>
                <a:ea typeface="Arial"/>
                <a:cs typeface="Arial"/>
              </a:rPr>
              <a:t> </a:t>
            </a:r>
            <a:r>
              <a:rPr sz="1200">
                <a:solidFill>
                  <a:schemeClr val="tx1"/>
                </a:solidFill>
                <a:latin typeface="Arial"/>
                <a:ea typeface="Arial"/>
                <a:cs typeface="Arial"/>
              </a:rPr>
              <a:t>uncertainty</a:t>
            </a:r>
            <a:r>
              <a:rPr sz="1200">
                <a:solidFill>
                  <a:schemeClr val="tx1"/>
                </a:solidFill>
                <a:latin typeface="Arial"/>
                <a:ea typeface="Arial"/>
                <a:cs typeface="Arial"/>
              </a:rPr>
              <a:t>, </a:t>
            </a:r>
            <a:r>
              <a:rPr sz="1200">
                <a:solidFill>
                  <a:schemeClr val="tx1"/>
                </a:solidFill>
                <a:latin typeface="Arial"/>
                <a:ea typeface="Arial"/>
                <a:cs typeface="Arial"/>
              </a:rPr>
              <a:t>while</a:t>
            </a:r>
            <a:r>
              <a:rPr sz="1200">
                <a:solidFill>
                  <a:schemeClr val="tx1"/>
                </a:solidFill>
                <a:latin typeface="Arial"/>
                <a:ea typeface="Arial"/>
                <a:cs typeface="Arial"/>
              </a:rPr>
              <a:t> </a:t>
            </a:r>
            <a:r>
              <a:rPr sz="1200">
                <a:solidFill>
                  <a:schemeClr val="tx1"/>
                </a:solidFill>
                <a:latin typeface="Arial"/>
                <a:ea typeface="Arial"/>
                <a:cs typeface="Arial"/>
              </a:rPr>
              <a:t>maintaining</a:t>
            </a:r>
            <a:r>
              <a:rPr sz="1200">
                <a:solidFill>
                  <a:schemeClr val="tx1"/>
                </a:solidFill>
                <a:latin typeface="Arial"/>
                <a:ea typeface="Arial"/>
                <a:cs typeface="Arial"/>
              </a:rPr>
              <a:t> strict </a:t>
            </a:r>
            <a:r>
              <a:rPr sz="1200">
                <a:solidFill>
                  <a:schemeClr val="tx1"/>
                </a:solidFill>
                <a:latin typeface="Arial"/>
                <a:ea typeface="Arial"/>
                <a:cs typeface="Arial"/>
              </a:rPr>
              <a:t>safety</a:t>
            </a:r>
            <a:r>
              <a:rPr sz="1200">
                <a:solidFill>
                  <a:schemeClr val="tx1"/>
                </a:solidFill>
                <a:latin typeface="Arial"/>
                <a:ea typeface="Arial"/>
                <a:cs typeface="Arial"/>
              </a:rPr>
              <a:t> </a:t>
            </a:r>
            <a:r>
              <a:rPr sz="1200">
                <a:solidFill>
                  <a:schemeClr val="tx1"/>
                </a:solidFill>
                <a:latin typeface="Arial"/>
                <a:ea typeface="Arial"/>
                <a:cs typeface="Arial"/>
              </a:rPr>
              <a:t>constraints</a:t>
            </a:r>
            <a:r>
              <a:rPr sz="1200">
                <a:solidFill>
                  <a:schemeClr val="tx1"/>
                </a:solidFill>
                <a:latin typeface="Arial"/>
                <a:ea typeface="Arial"/>
                <a:cs typeface="Arial"/>
              </a:rPr>
              <a:t> like line </a:t>
            </a:r>
            <a:r>
              <a:rPr sz="1200">
                <a:solidFill>
                  <a:schemeClr val="tx1"/>
                </a:solidFill>
                <a:latin typeface="Arial"/>
                <a:ea typeface="Arial"/>
                <a:cs typeface="Arial"/>
              </a:rPr>
              <a:t>limits</a:t>
            </a:r>
            <a:r>
              <a:rPr sz="1200">
                <a:solidFill>
                  <a:schemeClr val="tx1"/>
                </a:solidFill>
                <a:latin typeface="Arial"/>
                <a:ea typeface="Arial"/>
                <a:cs typeface="Arial"/>
              </a:rPr>
              <a:t> and </a:t>
            </a:r>
            <a:r>
              <a:rPr sz="1200">
                <a:solidFill>
                  <a:schemeClr val="tx1"/>
                </a:solidFill>
                <a:latin typeface="Arial"/>
                <a:ea typeface="Arial"/>
                <a:cs typeface="Arial"/>
              </a:rPr>
              <a:t>supply-demand</a:t>
            </a:r>
            <a:r>
              <a:rPr sz="1200">
                <a:solidFill>
                  <a:schemeClr val="tx1"/>
                </a:solidFill>
                <a:latin typeface="Arial"/>
                <a:ea typeface="Arial"/>
                <a:cs typeface="Arial"/>
              </a:rPr>
              <a:t> balance.</a:t>
            </a:r>
          </a:p>
          <a:p xmlns:a="http://schemas.openxmlformats.org/drawingml/2006/main"/>
          <a:p xmlns:a="http://schemas.openxmlformats.org/drawingml/2006/main">
            <a:r>
              <a:rPr sz="1200">
                <a:solidFill>
                  <a:schemeClr val="tx1"/>
                </a:solidFill>
                <a:latin typeface="Arial"/>
                <a:ea typeface="Arial"/>
                <a:cs typeface="Arial"/>
              </a:rPr>
              <a:t>One important control </a:t>
            </a:r>
            <a:r>
              <a:rPr sz="1200">
                <a:solidFill>
                  <a:schemeClr val="tx1"/>
                </a:solidFill>
                <a:latin typeface="Arial"/>
                <a:ea typeface="Arial"/>
                <a:cs typeface="Arial"/>
              </a:rPr>
              <a:t>mechanism</a:t>
            </a:r>
            <a:r>
              <a:rPr sz="1200">
                <a:solidFill>
                  <a:schemeClr val="tx1"/>
                </a:solidFill>
                <a:latin typeface="Arial"/>
                <a:ea typeface="Arial"/>
                <a:cs typeface="Arial"/>
              </a:rPr>
              <a:t> </a:t>
            </a:r>
            <a:r>
              <a:rPr sz="1200">
                <a:solidFill>
                  <a:schemeClr val="tx1"/>
                </a:solidFill>
                <a:latin typeface="Arial"/>
                <a:ea typeface="Arial"/>
                <a:cs typeface="Arial"/>
              </a:rPr>
              <a:t>is</a:t>
            </a:r>
            <a:r>
              <a:rPr sz="1200">
                <a:solidFill>
                  <a:schemeClr val="tx1"/>
                </a:solidFill>
                <a:latin typeface="Arial"/>
                <a:ea typeface="Arial"/>
                <a:cs typeface="Arial"/>
              </a:rPr>
              <a:t> </a:t>
            </a:r>
            <a:r>
              <a:rPr sz="1200">
                <a:solidFill>
                  <a:schemeClr val="tx1"/>
                </a:solidFill>
                <a:latin typeface="Arial"/>
                <a:ea typeface="Arial"/>
                <a:cs typeface="Arial"/>
              </a:rPr>
              <a:t>topology</a:t>
            </a:r>
            <a:r>
              <a:rPr sz="1200">
                <a:solidFill>
                  <a:schemeClr val="tx1"/>
                </a:solidFill>
                <a:latin typeface="Arial"/>
                <a:ea typeface="Arial"/>
                <a:cs typeface="Arial"/>
              </a:rPr>
              <a:t> actions, </a:t>
            </a:r>
            <a:r>
              <a:rPr sz="1200">
                <a:solidFill>
                  <a:schemeClr val="tx1"/>
                </a:solidFill>
                <a:latin typeface="Arial"/>
                <a:ea typeface="Arial"/>
                <a:cs typeface="Arial"/>
              </a:rPr>
              <a:t>which</a:t>
            </a:r>
            <a:r>
              <a:rPr sz="1200">
                <a:solidFill>
                  <a:schemeClr val="tx1"/>
                </a:solidFill>
                <a:latin typeface="Arial"/>
                <a:ea typeface="Arial"/>
                <a:cs typeface="Arial"/>
              </a:rPr>
              <a:t> </a:t>
            </a:r>
            <a:r>
              <a:rPr sz="1200">
                <a:solidFill>
                  <a:schemeClr val="tx1"/>
                </a:solidFill>
                <a:latin typeface="Arial"/>
                <a:ea typeface="Arial"/>
                <a:cs typeface="Arial"/>
              </a:rPr>
              <a:t>allow</a:t>
            </a:r>
            <a:r>
              <a:rPr sz="1200">
                <a:solidFill>
                  <a:schemeClr val="tx1"/>
                </a:solidFill>
                <a:latin typeface="Arial"/>
                <a:ea typeface="Arial"/>
                <a:cs typeface="Arial"/>
              </a:rPr>
              <a:t> </a:t>
            </a:r>
            <a:r>
              <a:rPr sz="1200">
                <a:solidFill>
                  <a:schemeClr val="tx1"/>
                </a:solidFill>
                <a:latin typeface="Arial"/>
                <a:ea typeface="Arial"/>
                <a:cs typeface="Arial"/>
              </a:rPr>
              <a:t>rerouting</a:t>
            </a:r>
            <a:r>
              <a:rPr sz="1200">
                <a:solidFill>
                  <a:schemeClr val="tx1"/>
                </a:solidFill>
                <a:latin typeface="Arial"/>
                <a:ea typeface="Arial"/>
                <a:cs typeface="Arial"/>
              </a:rPr>
              <a:t> power flows by </a:t>
            </a:r>
            <a:r>
              <a:rPr sz="1200">
                <a:solidFill>
                  <a:schemeClr val="tx1"/>
                </a:solidFill>
                <a:latin typeface="Arial"/>
                <a:ea typeface="Arial"/>
                <a:cs typeface="Arial"/>
              </a:rPr>
              <a:t>modifying</a:t>
            </a:r>
            <a:r>
              <a:rPr sz="1200">
                <a:solidFill>
                  <a:schemeClr val="tx1"/>
                </a:solidFill>
                <a:latin typeface="Arial"/>
                <a:ea typeface="Arial"/>
                <a:cs typeface="Arial"/>
              </a:rPr>
              <a:t> the </a:t>
            </a:r>
            <a:r>
              <a:rPr sz="1200">
                <a:solidFill>
                  <a:schemeClr val="tx1"/>
                </a:solidFill>
                <a:latin typeface="Arial"/>
                <a:ea typeface="Arial"/>
                <a:cs typeface="Arial"/>
              </a:rPr>
              <a:t>grid</a:t>
            </a:r>
            <a:r>
              <a:rPr sz="1200">
                <a:solidFill>
                  <a:schemeClr val="tx1"/>
                </a:solidFill>
                <a:latin typeface="Arial"/>
                <a:ea typeface="Arial"/>
                <a:cs typeface="Arial"/>
              </a:rPr>
              <a:t> structure.</a:t>
            </a:r>
          </a:p>
          <a:p xmlns:a="http://schemas.openxmlformats.org/drawingml/2006/main"/>
          <a:p xmlns:a="http://schemas.openxmlformats.org/drawingml/2006/main">
            <a:r>
              <a:rPr sz="1200">
                <a:solidFill>
                  <a:schemeClr val="tx1"/>
                </a:solidFill>
                <a:latin typeface="Arial"/>
                <a:ea typeface="Arial"/>
                <a:cs typeface="Arial"/>
              </a:rPr>
              <a:t>Reinforcement</a:t>
            </a:r>
            <a:r>
              <a:rPr sz="1200">
                <a:solidFill>
                  <a:schemeClr val="tx1"/>
                </a:solidFill>
                <a:latin typeface="Arial"/>
                <a:ea typeface="Arial"/>
                <a:cs typeface="Arial"/>
              </a:rPr>
              <a:t> </a:t>
            </a:r>
            <a:r>
              <a:rPr sz="1200">
                <a:solidFill>
                  <a:schemeClr val="tx1"/>
                </a:solidFill>
                <a:latin typeface="Arial"/>
                <a:ea typeface="Arial"/>
                <a:cs typeface="Arial"/>
              </a:rPr>
              <a:t>learning</a:t>
            </a:r>
            <a:r>
              <a:rPr sz="1200">
                <a:solidFill>
                  <a:schemeClr val="tx1"/>
                </a:solidFill>
                <a:latin typeface="Arial"/>
                <a:ea typeface="Arial"/>
                <a:cs typeface="Arial"/>
              </a:rPr>
              <a:t> </a:t>
            </a:r>
            <a:r>
              <a:rPr sz="1200">
                <a:solidFill>
                  <a:schemeClr val="tx1"/>
                </a:solidFill>
                <a:latin typeface="Arial"/>
                <a:ea typeface="Arial"/>
                <a:cs typeface="Arial"/>
              </a:rPr>
              <a:t>is</a:t>
            </a:r>
            <a:r>
              <a:rPr sz="1200">
                <a:solidFill>
                  <a:schemeClr val="tx1"/>
                </a:solidFill>
                <a:latin typeface="Arial"/>
                <a:ea typeface="Arial"/>
                <a:cs typeface="Arial"/>
              </a:rPr>
              <a:t> </a:t>
            </a:r>
            <a:r>
              <a:rPr sz="1200">
                <a:solidFill>
                  <a:schemeClr val="tx1"/>
                </a:solidFill>
                <a:latin typeface="Arial"/>
                <a:ea typeface="Arial"/>
                <a:cs typeface="Arial"/>
              </a:rPr>
              <a:t>promising</a:t>
            </a:r>
            <a:r>
              <a:rPr sz="1200">
                <a:solidFill>
                  <a:schemeClr val="tx1"/>
                </a:solidFill>
                <a:latin typeface="Arial"/>
                <a:ea typeface="Arial"/>
                <a:cs typeface="Arial"/>
              </a:rPr>
              <a:t> for </a:t>
            </a:r>
            <a:r>
              <a:rPr sz="1200">
                <a:solidFill>
                  <a:schemeClr val="tx1"/>
                </a:solidFill>
                <a:latin typeface="Arial"/>
                <a:ea typeface="Arial"/>
                <a:cs typeface="Arial"/>
              </a:rPr>
              <a:t>this</a:t>
            </a:r>
            <a:r>
              <a:rPr sz="1200">
                <a:solidFill>
                  <a:schemeClr val="tx1"/>
                </a:solidFill>
                <a:latin typeface="Arial"/>
                <a:ea typeface="Arial"/>
                <a:cs typeface="Arial"/>
              </a:rPr>
              <a:t> type of </a:t>
            </a:r>
            <a:r>
              <a:rPr sz="1200">
                <a:solidFill>
                  <a:schemeClr val="tx1"/>
                </a:solidFill>
                <a:latin typeface="Arial"/>
                <a:ea typeface="Arial"/>
                <a:cs typeface="Arial"/>
              </a:rPr>
              <a:t>sequential</a:t>
            </a:r>
            <a:r>
              <a:rPr sz="1200">
                <a:solidFill>
                  <a:schemeClr val="tx1"/>
                </a:solidFill>
                <a:latin typeface="Arial"/>
                <a:ea typeface="Arial"/>
                <a:cs typeface="Arial"/>
              </a:rPr>
              <a:t> </a:t>
            </a:r>
            <a:r>
              <a:rPr sz="1200">
                <a:solidFill>
                  <a:schemeClr val="tx1"/>
                </a:solidFill>
                <a:latin typeface="Arial"/>
                <a:ea typeface="Arial"/>
                <a:cs typeface="Arial"/>
              </a:rPr>
              <a:t>decision-making</a:t>
            </a:r>
            <a:r>
              <a:rPr sz="1200">
                <a:solidFill>
                  <a:schemeClr val="tx1"/>
                </a:solidFill>
                <a:latin typeface="Arial"/>
                <a:ea typeface="Arial"/>
                <a:cs typeface="Arial"/>
              </a:rPr>
              <a:t> </a:t>
            </a:r>
            <a:r>
              <a:rPr sz="1200">
                <a:solidFill>
                  <a:schemeClr val="tx1"/>
                </a:solidFill>
                <a:latin typeface="Arial"/>
                <a:ea typeface="Arial"/>
                <a:cs typeface="Arial"/>
              </a:rPr>
              <a:t>problem</a:t>
            </a:r>
            <a:r>
              <a:rPr sz="1200">
                <a:solidFill>
                  <a:schemeClr val="tx1"/>
                </a:solidFill>
                <a:latin typeface="Arial"/>
                <a:ea typeface="Arial"/>
                <a:cs typeface="Arial"/>
              </a:rPr>
              <a:t>, but the action </a:t>
            </a:r>
            <a:r>
              <a:rPr sz="1200">
                <a:solidFill>
                  <a:schemeClr val="tx1"/>
                </a:solidFill>
                <a:latin typeface="Arial"/>
                <a:ea typeface="Arial"/>
                <a:cs typeface="Arial"/>
              </a:rPr>
              <a:t>space</a:t>
            </a:r>
            <a:r>
              <a:rPr sz="1200">
                <a:solidFill>
                  <a:schemeClr val="tx1"/>
                </a:solidFill>
                <a:latin typeface="Arial"/>
                <a:ea typeface="Arial"/>
                <a:cs typeface="Arial"/>
              </a:rPr>
              <a:t> </a:t>
            </a:r>
            <a:r>
              <a:rPr sz="1200">
                <a:solidFill>
                  <a:schemeClr val="tx1"/>
                </a:solidFill>
                <a:latin typeface="Arial"/>
                <a:ea typeface="Arial"/>
                <a:cs typeface="Arial"/>
              </a:rPr>
              <a:t>is</a:t>
            </a:r>
            <a:r>
              <a:rPr sz="1200">
                <a:solidFill>
                  <a:schemeClr val="tx1"/>
                </a:solidFill>
                <a:latin typeface="Arial"/>
                <a:ea typeface="Arial"/>
                <a:cs typeface="Arial"/>
              </a:rPr>
              <a:t> </a:t>
            </a:r>
            <a:r>
              <a:rPr sz="1200">
                <a:solidFill>
                  <a:schemeClr val="tx1"/>
                </a:solidFill>
                <a:latin typeface="Arial"/>
                <a:ea typeface="Arial"/>
                <a:cs typeface="Arial"/>
              </a:rPr>
              <a:t>extremely</a:t>
            </a:r>
            <a:r>
              <a:rPr sz="1200">
                <a:solidFill>
                  <a:schemeClr val="tx1"/>
                </a:solidFill>
                <a:latin typeface="Arial"/>
                <a:ea typeface="Arial"/>
                <a:cs typeface="Arial"/>
              </a:rPr>
              <a:t> large.</a:t>
            </a:r>
          </a:p>
          <a:p xmlns:a="http://schemas.openxmlformats.org/drawingml/2006/main"/>
          <a:p xmlns:a="http://schemas.openxmlformats.org/drawingml/2006/main">
            <a:r>
              <a:rPr sz="1200">
                <a:solidFill>
                  <a:schemeClr val="tx1"/>
                </a:solidFill>
                <a:latin typeface="Arial"/>
                <a:ea typeface="Arial"/>
                <a:cs typeface="Arial"/>
              </a:rPr>
              <a:t>Current</a:t>
            </a:r>
            <a:r>
              <a:rPr sz="1200">
                <a:solidFill>
                  <a:schemeClr val="tx1"/>
                </a:solidFill>
                <a:latin typeface="Arial"/>
                <a:ea typeface="Arial"/>
                <a:cs typeface="Arial"/>
              </a:rPr>
              <a:t> </a:t>
            </a:r>
            <a:r>
              <a:rPr sz="1200">
                <a:solidFill>
                  <a:schemeClr val="tx1"/>
                </a:solidFill>
                <a:latin typeface="Arial"/>
                <a:ea typeface="Arial"/>
                <a:cs typeface="Arial"/>
              </a:rPr>
              <a:t>approaches</a:t>
            </a:r>
            <a:r>
              <a:rPr sz="1200">
                <a:solidFill>
                  <a:schemeClr val="tx1"/>
                </a:solidFill>
                <a:latin typeface="Arial"/>
                <a:ea typeface="Arial"/>
                <a:cs typeface="Arial"/>
              </a:rPr>
              <a:t> have limitations:</a:t>
            </a:r>
          </a:p>
          <a:p xmlns:a="http://schemas.openxmlformats.org/drawingml/2006/main">
            <a:pPr>
              <a:buNone/>
            </a:pPr>
            <a:r>
              <a:rPr sz="1200">
                <a:solidFill>
                  <a:schemeClr val="tx1"/>
                </a:solidFill>
                <a:latin typeface="Arial"/>
                <a:ea typeface="Arial"/>
                <a:cs typeface="Arial"/>
              </a:rPr>
              <a:t>- </a:t>
            </a:r>
            <a:r>
              <a:rPr sz="1200">
                <a:solidFill>
                  <a:schemeClr val="tx1"/>
                </a:solidFill>
                <a:latin typeface="Arial"/>
                <a:ea typeface="Arial"/>
                <a:cs typeface="Arial"/>
              </a:rPr>
              <a:t>optimization</a:t>
            </a:r>
            <a:r>
              <a:rPr sz="1200">
                <a:solidFill>
                  <a:schemeClr val="tx1"/>
                </a:solidFill>
                <a:latin typeface="Arial"/>
                <a:ea typeface="Arial"/>
                <a:cs typeface="Arial"/>
              </a:rPr>
              <a:t> </a:t>
            </a:r>
            <a:r>
              <a:rPr sz="1200">
                <a:solidFill>
                  <a:schemeClr val="tx1"/>
                </a:solidFill>
                <a:latin typeface="Arial"/>
                <a:ea typeface="Arial"/>
                <a:cs typeface="Arial"/>
              </a:rPr>
              <a:t>methods</a:t>
            </a:r>
            <a:r>
              <a:rPr sz="1200">
                <a:solidFill>
                  <a:schemeClr val="tx1"/>
                </a:solidFill>
                <a:latin typeface="Arial"/>
                <a:ea typeface="Arial"/>
                <a:cs typeface="Arial"/>
              </a:rPr>
              <a:t> </a:t>
            </a:r>
            <a:r>
              <a:rPr sz="1200">
                <a:solidFill>
                  <a:schemeClr val="tx1"/>
                </a:solidFill>
                <a:latin typeface="Arial"/>
                <a:ea typeface="Arial"/>
                <a:cs typeface="Arial"/>
              </a:rPr>
              <a:t>are</a:t>
            </a:r>
            <a:r>
              <a:rPr sz="1200">
                <a:solidFill>
                  <a:schemeClr val="tx1"/>
                </a:solidFill>
                <a:latin typeface="Arial"/>
                <a:ea typeface="Arial"/>
                <a:cs typeface="Arial"/>
              </a:rPr>
              <a:t> </a:t>
            </a:r>
            <a:r>
              <a:rPr sz="1200">
                <a:solidFill>
                  <a:schemeClr val="tx1"/>
                </a:solidFill>
                <a:latin typeface="Arial"/>
                <a:ea typeface="Arial"/>
                <a:cs typeface="Arial"/>
              </a:rPr>
              <a:t>too</a:t>
            </a:r>
            <a:r>
              <a:rPr sz="1200">
                <a:solidFill>
                  <a:schemeClr val="tx1"/>
                </a:solidFill>
                <a:latin typeface="Arial"/>
                <a:ea typeface="Arial"/>
                <a:cs typeface="Arial"/>
              </a:rPr>
              <a:t> slow and </a:t>
            </a:r>
            <a:r>
              <a:rPr sz="1200">
                <a:solidFill>
                  <a:schemeClr val="tx1"/>
                </a:solidFill>
                <a:latin typeface="Arial"/>
                <a:ea typeface="Arial"/>
                <a:cs typeface="Arial"/>
              </a:rPr>
              <a:t>don’t</a:t>
            </a:r>
            <a:r>
              <a:rPr sz="1200">
                <a:solidFill>
                  <a:schemeClr val="tx1"/>
                </a:solidFill>
                <a:latin typeface="Arial"/>
                <a:ea typeface="Arial"/>
                <a:cs typeface="Arial"/>
              </a:rPr>
              <a:t> </a:t>
            </a:r>
            <a:r>
              <a:rPr sz="1200">
                <a:solidFill>
                  <a:schemeClr val="tx1"/>
                </a:solidFill>
                <a:latin typeface="Arial"/>
                <a:ea typeface="Arial"/>
                <a:cs typeface="Arial"/>
              </a:rPr>
              <a:t>scale</a:t>
            </a:r>
            <a:r>
              <a:rPr sz="1200">
                <a:solidFill>
                  <a:schemeClr val="tx1"/>
                </a:solidFill>
                <a:latin typeface="Arial"/>
                <a:ea typeface="Arial"/>
                <a:cs typeface="Arial"/>
              </a:rPr>
              <a:t> </a:t>
            </a:r>
            <a:r>
              <a:rPr sz="1200">
                <a:solidFill>
                  <a:schemeClr val="tx1"/>
                </a:solidFill>
                <a:latin typeface="Arial"/>
                <a:ea typeface="Arial"/>
                <a:cs typeface="Arial"/>
              </a:rPr>
              <a:t>well</a:t>
            </a:r>
            <a:r>
              <a:rPr sz="1200">
                <a:solidFill>
                  <a:schemeClr val="tx1"/>
                </a:solidFill>
                <a:latin typeface="Arial"/>
                <a:ea typeface="Arial"/>
                <a:cs typeface="Arial"/>
              </a:rPr>
              <a:t> and </a:t>
            </a:r>
            <a:r>
              <a:rPr sz="1200">
                <a:solidFill>
                  <a:schemeClr val="tx1"/>
                </a:solidFill>
                <a:latin typeface="Arial"/>
                <a:ea typeface="Arial"/>
                <a:cs typeface="Arial"/>
              </a:rPr>
              <a:t>they</a:t>
            </a:r>
            <a:r>
              <a:rPr sz="1200">
                <a:solidFill>
                  <a:schemeClr val="tx1"/>
                </a:solidFill>
                <a:latin typeface="Arial"/>
                <a:ea typeface="Arial"/>
                <a:cs typeface="Arial"/>
              </a:rPr>
              <a:t> </a:t>
            </a:r>
            <a:r>
              <a:rPr sz="1200">
                <a:solidFill>
                  <a:schemeClr val="tx1"/>
                </a:solidFill>
                <a:latin typeface="Arial"/>
                <a:ea typeface="Arial"/>
                <a:cs typeface="Arial"/>
              </a:rPr>
              <a:t>don't</a:t>
            </a:r>
            <a:r>
              <a:rPr sz="1200">
                <a:solidFill>
                  <a:schemeClr val="tx1"/>
                </a:solidFill>
                <a:latin typeface="Arial"/>
                <a:ea typeface="Arial"/>
                <a:cs typeface="Arial"/>
              </a:rPr>
              <a:t> </a:t>
            </a:r>
            <a:r>
              <a:rPr sz="1200">
                <a:solidFill>
                  <a:schemeClr val="tx1"/>
                </a:solidFill>
                <a:latin typeface="Arial"/>
                <a:ea typeface="Arial"/>
                <a:cs typeface="Arial"/>
              </a:rPr>
              <a:t>enable</a:t>
            </a:r>
            <a:r>
              <a:rPr sz="1200">
                <a:solidFill>
                  <a:schemeClr val="tx1"/>
                </a:solidFill>
                <a:latin typeface="Arial"/>
                <a:ea typeface="Arial"/>
                <a:cs typeface="Arial"/>
              </a:rPr>
              <a:t> real time </a:t>
            </a:r>
            <a:r>
              <a:rPr sz="1200">
                <a:solidFill>
                  <a:schemeClr val="tx1"/>
                </a:solidFill>
                <a:latin typeface="Arial"/>
                <a:ea typeface="Arial"/>
                <a:cs typeface="Arial"/>
              </a:rPr>
              <a:t>monitoring</a:t>
            </a:r>
          </a:p>
          <a:p xmlns:a="http://schemas.openxmlformats.org/drawingml/2006/main">
            <a:pPr>
              <a:buNone/>
            </a:pPr>
            <a:r>
              <a:rPr sz="1200">
                <a:solidFill>
                  <a:schemeClr val="tx1"/>
                </a:solidFill>
                <a:latin typeface="Arial"/>
                <a:ea typeface="Arial"/>
                <a:cs typeface="Arial"/>
              </a:rPr>
              <a:t>- single-agent RL ignores </a:t>
            </a:r>
            <a:r>
              <a:rPr sz="1200">
                <a:solidFill>
                  <a:schemeClr val="tx1"/>
                </a:solidFill>
                <a:latin typeface="Arial"/>
                <a:ea typeface="Arial"/>
                <a:cs typeface="Arial"/>
              </a:rPr>
              <a:t>decentralization</a:t>
            </a:r>
            <a:r>
              <a:rPr sz="1200">
                <a:solidFill>
                  <a:schemeClr val="tx1"/>
                </a:solidFill>
                <a:latin typeface="Arial"/>
                <a:ea typeface="Arial"/>
                <a:cs typeface="Arial"/>
              </a:rPr>
              <a:t> </a:t>
            </a:r>
            <a:r>
              <a:rPr sz="1200">
                <a:solidFill>
                  <a:schemeClr val="tx1"/>
                </a:solidFill>
                <a:latin typeface="Arial"/>
                <a:ea typeface="Arial"/>
                <a:cs typeface="Arial"/>
              </a:rPr>
              <a:t>that</a:t>
            </a:r>
            <a:r>
              <a:rPr sz="1200">
                <a:solidFill>
                  <a:schemeClr val="tx1"/>
                </a:solidFill>
                <a:latin typeface="Arial"/>
                <a:ea typeface="Arial"/>
                <a:cs typeface="Arial"/>
              </a:rPr>
              <a:t> </a:t>
            </a:r>
            <a:r>
              <a:rPr sz="1200">
                <a:solidFill>
                  <a:schemeClr val="tx1"/>
                </a:solidFill>
                <a:latin typeface="Arial"/>
                <a:ea typeface="Arial"/>
                <a:cs typeface="Arial"/>
              </a:rPr>
              <a:t>is</a:t>
            </a:r>
            <a:r>
              <a:rPr sz="1200">
                <a:solidFill>
                  <a:schemeClr val="tx1"/>
                </a:solidFill>
                <a:latin typeface="Arial"/>
                <a:ea typeface="Arial"/>
                <a:cs typeface="Arial"/>
              </a:rPr>
              <a:t> happening in real life</a:t>
            </a:r>
          </a:p>
          <a:p xmlns:a="http://schemas.openxmlformats.org/drawingml/2006/main">
            <a:pPr>
              <a:buNone/>
            </a:pPr>
            <a:r>
              <a:rPr sz="1200">
                <a:solidFill>
                  <a:schemeClr val="tx1"/>
                </a:solidFill>
                <a:latin typeface="Arial"/>
                <a:ea typeface="Arial"/>
                <a:cs typeface="Arial"/>
              </a:rPr>
              <a:t>- and </a:t>
            </a:r>
            <a:r>
              <a:rPr sz="1200">
                <a:solidFill>
                  <a:schemeClr val="tx1"/>
                </a:solidFill>
                <a:latin typeface="Arial"/>
                <a:ea typeface="Arial"/>
                <a:cs typeface="Arial"/>
              </a:rPr>
              <a:t>existing</a:t>
            </a:r>
            <a:r>
              <a:rPr sz="1200">
                <a:solidFill>
                  <a:schemeClr val="tx1"/>
                </a:solidFill>
                <a:latin typeface="Arial"/>
                <a:ea typeface="Arial"/>
                <a:cs typeface="Arial"/>
              </a:rPr>
              <a:t> multi-agent RL still </a:t>
            </a:r>
            <a:r>
              <a:rPr sz="1200">
                <a:solidFill>
                  <a:schemeClr val="tx1"/>
                </a:solidFill>
                <a:latin typeface="Arial"/>
                <a:ea typeface="Arial"/>
                <a:cs typeface="Arial"/>
              </a:rPr>
              <a:t>struggles</a:t>
            </a:r>
            <a:r>
              <a:rPr sz="1200">
                <a:solidFill>
                  <a:schemeClr val="tx1"/>
                </a:solidFill>
                <a:latin typeface="Arial"/>
                <a:ea typeface="Arial"/>
                <a:cs typeface="Arial"/>
              </a:rPr>
              <a:t> </a:t>
            </a:r>
            <a:r>
              <a:rPr sz="1200">
                <a:solidFill>
                  <a:schemeClr val="tx1"/>
                </a:solidFill>
                <a:latin typeface="Arial"/>
                <a:ea typeface="Arial"/>
                <a:cs typeface="Arial"/>
              </a:rPr>
              <a:t>with</a:t>
            </a:r>
            <a:r>
              <a:rPr sz="1200">
                <a:solidFill>
                  <a:schemeClr val="tx1"/>
                </a:solidFill>
                <a:latin typeface="Arial"/>
                <a:ea typeface="Arial"/>
                <a:cs typeface="Arial"/>
              </a:rPr>
              <a:t> </a:t>
            </a:r>
            <a:r>
              <a:rPr sz="1200">
                <a:solidFill>
                  <a:schemeClr val="tx1"/>
                </a:solidFill>
                <a:latin typeface="Arial"/>
                <a:ea typeface="Arial"/>
                <a:cs typeface="Arial"/>
              </a:rPr>
              <a:t>coordination</a:t>
            </a:r>
            <a:r>
              <a:rPr sz="1200">
                <a:solidFill>
                  <a:schemeClr val="tx1"/>
                </a:solidFill>
                <a:latin typeface="Arial"/>
                <a:ea typeface="Arial"/>
                <a:cs typeface="Arial"/>
              </a:rPr>
              <a:t> and </a:t>
            </a:r>
            <a:r>
              <a:rPr sz="1200">
                <a:solidFill>
                  <a:schemeClr val="tx1"/>
                </a:solidFill>
                <a:latin typeface="Arial"/>
                <a:ea typeface="Arial"/>
                <a:cs typeface="Arial"/>
              </a:rPr>
              <a:t>scalability</a:t>
            </a:r>
            <a:r>
              <a:rPr sz="1200">
                <a:solidFill>
                  <a:schemeClr val="tx1"/>
                </a:solidFill>
                <a:latin typeface="Arial"/>
                <a:ea typeface="Arial"/>
                <a:cs typeface="Arial"/>
              </a:rPr>
              <a:t>.</a:t>
            </a:r>
          </a:p>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t>
            </a:r>
            <a:r>
              <a:t>strongest</a:t>
            </a:r>
            <a:r>
              <a:t> Grid2Op agents are </a:t>
            </a:r>
            <a:r>
              <a:t>rarely</a:t>
            </a:r>
            <a:r>
              <a:t> “pure RL.” </a:t>
            </a:r>
            <a:r>
              <a:t>They</a:t>
            </a:r>
            <a:r>
              <a:t> combine </a:t>
            </a:r>
            <a:r>
              <a:t>learning</a:t>
            </a:r>
            <a:r>
              <a:t> </a:t>
            </a:r>
            <a:r>
              <a:t>with</a:t>
            </a:r>
            <a:r>
              <a:t> action </a:t>
            </a:r>
            <a:r>
              <a:t>reduction</a:t>
            </a:r>
            <a:r>
              <a:t>, </a:t>
            </a:r>
            <a:r>
              <a:t>hierarchy</a:t>
            </a:r>
            <a:r>
              <a:t>, </a:t>
            </a:r>
            <a:r>
              <a:t>heuristics</a:t>
            </a:r>
            <a:r>
              <a:t>, simulation, </a:t>
            </a:r>
            <a:r>
              <a:t>search</a:t>
            </a:r>
            <a:r>
              <a:t>, curriculum </a:t>
            </a:r>
            <a:r>
              <a:t>learning</a:t>
            </a:r>
            <a:r>
              <a:t>, or </a:t>
            </a:r>
            <a:r>
              <a:t>safety</a:t>
            </a:r>
            <a:r>
              <a:t> </a:t>
            </a:r>
            <a:r>
              <a:t>constraints</a:t>
            </a:r>
            <a:r>
              <a:t>. Multi-agent </a:t>
            </a:r>
            <a:r>
              <a:t>topology</a:t>
            </a:r>
            <a:r>
              <a:t> control </a:t>
            </a:r>
            <a:r>
              <a:t>is</a:t>
            </a:r>
            <a:r>
              <a:t> </a:t>
            </a:r>
            <a:r>
              <a:t>much</a:t>
            </a:r>
            <a:r>
              <a:t> </a:t>
            </a:r>
            <a:r>
              <a:t>newer</a:t>
            </a:r>
            <a:r>
              <a:t> and </a:t>
            </a:r>
            <a:r>
              <a:t>is</a:t>
            </a:r>
            <a:r>
              <a:t> </a:t>
            </a:r>
            <a:r>
              <a:t>still</a:t>
            </a:r>
            <a:r>
              <a:t> </a:t>
            </a:r>
            <a:r>
              <a:t>mostly</a:t>
            </a:r>
            <a:r>
              <a:t> </a:t>
            </a:r>
            <a:r>
              <a:t>based</a:t>
            </a:r>
            <a:r>
              <a:t> on </a:t>
            </a:r>
            <a:r>
              <a:t>hierarchical</a:t>
            </a:r>
            <a:r>
              <a:t> or </a:t>
            </a:r>
            <a:r>
              <a:t>centrally</a:t>
            </a:r>
            <a:r>
              <a:t> </a:t>
            </a:r>
            <a:r>
              <a:t>coordinated</a:t>
            </a:r>
            <a:r>
              <a:t> </a:t>
            </a:r>
            <a:r>
              <a:t>decompositions</a:t>
            </a:r>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a:t>
            </a:r>
            <a:r>
              <a:t>chronic</a:t>
            </a:r>
            <a:r>
              <a:t> </a:t>
            </a:r>
            <a:r>
              <a:t>is</a:t>
            </a:r>
            <a:r>
              <a:t> a </a:t>
            </a:r>
            <a:r>
              <a:t>complete</a:t>
            </a:r>
            <a:r>
              <a:t> time </a:t>
            </a:r>
            <a:r>
              <a:t>series</a:t>
            </a:r>
            <a:r>
              <a:t> of </a:t>
            </a:r>
            <a:r>
              <a:t>load</a:t>
            </a:r>
            <a:r>
              <a:t>, </a:t>
            </a:r>
            <a:r>
              <a:t>generation</a:t>
            </a:r>
            <a:r>
              <a:t> and possible </a:t>
            </a:r>
            <a:r>
              <a:t>disturbances</a:t>
            </a:r>
            <a:r>
              <a:t>. I </a:t>
            </a:r>
            <a:r>
              <a:t>create</a:t>
            </a:r>
            <a:r>
              <a:t> the train/test split once </a:t>
            </a:r>
            <a:r>
              <a:t>using</a:t>
            </a:r>
            <a:r>
              <a:t> a </a:t>
            </a:r>
            <a:r>
              <a:t>fixed</a:t>
            </a:r>
            <a:r>
              <a:t> </a:t>
            </a:r>
            <a:r>
              <a:t>seed</a:t>
            </a:r>
            <a:r>
              <a:t>. Training </a:t>
            </a:r>
            <a:r>
              <a:t>workers</a:t>
            </a:r>
            <a:r>
              <a:t> </a:t>
            </a:r>
            <a:r>
              <a:t>only</a:t>
            </a:r>
            <a:r>
              <a:t> </a:t>
            </a:r>
            <a:r>
              <a:t>access</a:t>
            </a:r>
            <a:r>
              <a:t> the 80% training </a:t>
            </a:r>
            <a:r>
              <a:t>subset</a:t>
            </a:r>
            <a:r>
              <a:t>. </a:t>
            </a:r>
            <a:r>
              <a:t>During</a:t>
            </a:r>
            <a:r>
              <a:t> training, I </a:t>
            </a:r>
            <a:r>
              <a:t>periodically</a:t>
            </a:r>
            <a:r>
              <a:t> </a:t>
            </a:r>
            <a:r>
              <a:t>evaluate</a:t>
            </a:r>
            <a:r>
              <a:t> </a:t>
            </a:r>
            <a:r>
              <a:t>greedily</a:t>
            </a:r>
            <a:r>
              <a:t> on </a:t>
            </a:r>
            <a:r>
              <a:t>held</a:t>
            </a:r>
            <a:r>
              <a:t>-out </a:t>
            </a:r>
            <a:r>
              <a:t>chronics</a:t>
            </a:r>
            <a:r>
              <a:t> and select the best checkpoint </a:t>
            </a:r>
            <a:r>
              <a:t>using</a:t>
            </a:r>
            <a:r>
              <a:t> test </a:t>
            </a:r>
            <a:r>
              <a:t>survival</a:t>
            </a:r>
            <a:r>
              <a:t>. The final </a:t>
            </a:r>
            <a:r>
              <a:t>reported</a:t>
            </a:r>
            <a:r>
              <a:t> performance </a:t>
            </a:r>
            <a:r>
              <a:t>is</a:t>
            </a:r>
            <a:r>
              <a:t> </a:t>
            </a:r>
            <a:r>
              <a:t>computed</a:t>
            </a:r>
            <a:r>
              <a:t> over the </a:t>
            </a:r>
            <a:r>
              <a:t>entire</a:t>
            </a:r>
            <a:r>
              <a:t> </a:t>
            </a:r>
            <a:r>
              <a:t>held</a:t>
            </a:r>
            <a:r>
              <a:t>-out split </a:t>
            </a:r>
            <a:r>
              <a:t>rather</a:t>
            </a:r>
            <a:r>
              <a:t> </a:t>
            </a:r>
            <a:r>
              <a:t>than</a:t>
            </a:r>
            <a:r>
              <a:t> a </a:t>
            </a:r>
            <a:r>
              <a:t>small</a:t>
            </a:r>
            <a:r>
              <a:t> </a:t>
            </a:r>
            <a:r>
              <a:t>sample</a:t>
            </a:r>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t>
            </a:r>
            <a:r>
              <a:t>grid</a:t>
            </a:r>
            <a:r>
              <a:t> </a:t>
            </a:r>
            <a:r>
              <a:t>is</a:t>
            </a:r>
            <a:r>
              <a:t> </a:t>
            </a:r>
            <a:r>
              <a:t>partitioned</a:t>
            </a:r>
            <a:r>
              <a:t> </a:t>
            </a:r>
            <a:r>
              <a:t>into</a:t>
            </a:r>
            <a:r>
              <a:t> </a:t>
            </a:r>
            <a:r>
              <a:t>three</a:t>
            </a:r>
            <a:r>
              <a:t> </a:t>
            </a:r>
            <a:r>
              <a:t>strongly</a:t>
            </a:r>
            <a:r>
              <a:t> </a:t>
            </a:r>
            <a:r>
              <a:t>connected</a:t>
            </a:r>
            <a:r>
              <a:t> </a:t>
            </a:r>
            <a:r>
              <a:t>regions</a:t>
            </a:r>
            <a:r>
              <a:t>. </a:t>
            </a:r>
            <a:r>
              <a:t>Each</a:t>
            </a:r>
            <a:r>
              <a:t> </a:t>
            </a:r>
            <a:r>
              <a:t>decentralized</a:t>
            </a:r>
            <a:r>
              <a:t> </a:t>
            </a:r>
            <a:r>
              <a:t>actor</a:t>
            </a:r>
            <a:r>
              <a:t> </a:t>
            </a:r>
            <a:r>
              <a:t>controls</a:t>
            </a:r>
            <a:r>
              <a:t> </a:t>
            </a:r>
            <a:r>
              <a:t>only</a:t>
            </a:r>
            <a:r>
              <a:t> </a:t>
            </a:r>
            <a:r>
              <a:t>its</a:t>
            </a:r>
            <a:r>
              <a:t> </a:t>
            </a:r>
            <a:r>
              <a:t>assigned</a:t>
            </a:r>
            <a:r>
              <a:t> </a:t>
            </a:r>
            <a:r>
              <a:t>substations</a:t>
            </a:r>
            <a:r>
              <a:t>, but </a:t>
            </a:r>
            <a:r>
              <a:t>its</a:t>
            </a:r>
            <a:r>
              <a:t> </a:t>
            </a:r>
            <a:r>
              <a:t>decisions</a:t>
            </a:r>
            <a:r>
              <a:t> affect the </a:t>
            </a:r>
            <a:r>
              <a:t>entire</a:t>
            </a:r>
            <a:r>
              <a:t> </a:t>
            </a:r>
            <a:r>
              <a:t>grid</a:t>
            </a:r>
            <a:r>
              <a:t> </a:t>
            </a:r>
            <a:r>
              <a:t>through</a:t>
            </a:r>
            <a:r>
              <a:t> the AC power flow. Coordination </a:t>
            </a:r>
            <a:r>
              <a:t>is</a:t>
            </a:r>
            <a:r>
              <a:t> </a:t>
            </a:r>
            <a:r>
              <a:t>therefore</a:t>
            </a:r>
            <a:r>
              <a:t> </a:t>
            </a:r>
            <a:r>
              <a:t>implicit</a:t>
            </a:r>
            <a:r>
              <a:t>: an action </a:t>
            </a:r>
            <a:r>
              <a:t>that</a:t>
            </a:r>
            <a:r>
              <a:t> solves a local </a:t>
            </a:r>
            <a:r>
              <a:t>overload</a:t>
            </a:r>
            <a:r>
              <a:t> can </a:t>
            </a:r>
            <a:r>
              <a:t>create</a:t>
            </a:r>
            <a:r>
              <a:t> congestion in </a:t>
            </a:r>
            <a:r>
              <a:t>another</a:t>
            </a:r>
            <a:r>
              <a:t> </a:t>
            </a:r>
            <a:r>
              <a:t>agent’s</a:t>
            </a:r>
            <a:r>
              <a:t> </a:t>
            </a:r>
            <a:r>
              <a:t>region</a:t>
            </a:r>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a:solidFill>
                  <a:schemeClr val="tx1"/>
                </a:solidFill>
                <a:latin typeface="Arial"/>
                <a:ea typeface="Arial"/>
                <a:cs typeface="Arial"/>
              </a:rPr>
              <a:t>To dive a </a:t>
            </a:r>
            <a:r>
              <a:rPr sz="1200">
                <a:solidFill>
                  <a:schemeClr val="tx1"/>
                </a:solidFill>
                <a:latin typeface="Arial"/>
                <a:ea typeface="Arial"/>
                <a:cs typeface="Arial"/>
              </a:rPr>
              <a:t>little</a:t>
            </a:r>
            <a:r>
              <a:rPr sz="1200">
                <a:solidFill>
                  <a:schemeClr val="tx1"/>
                </a:solidFill>
                <a:latin typeface="Arial"/>
                <a:ea typeface="Arial"/>
                <a:cs typeface="Arial"/>
              </a:rPr>
              <a:t> </a:t>
            </a:r>
            <a:r>
              <a:rPr sz="1200">
                <a:solidFill>
                  <a:schemeClr val="tx1"/>
                </a:solidFill>
                <a:latin typeface="Arial"/>
                <a:ea typeface="Arial"/>
                <a:cs typeface="Arial"/>
              </a:rPr>
              <a:t>deeper</a:t>
            </a:r>
            <a:r>
              <a:rPr sz="1200">
                <a:solidFill>
                  <a:schemeClr val="tx1"/>
                </a:solidFill>
                <a:latin typeface="Arial"/>
                <a:ea typeface="Arial"/>
                <a:cs typeface="Arial"/>
              </a:rPr>
              <a:t> i have been </a:t>
            </a:r>
            <a:r>
              <a:rPr sz="1200">
                <a:solidFill>
                  <a:schemeClr val="tx1"/>
                </a:solidFill>
                <a:latin typeface="Arial"/>
                <a:ea typeface="Arial"/>
                <a:cs typeface="Arial"/>
              </a:rPr>
              <a:t>looking</a:t>
            </a:r>
            <a:r>
              <a:rPr sz="1200">
                <a:solidFill>
                  <a:schemeClr val="tx1"/>
                </a:solidFill>
                <a:latin typeface="Arial"/>
                <a:ea typeface="Arial"/>
                <a:cs typeface="Arial"/>
              </a:rPr>
              <a:t> at a </a:t>
            </a:r>
            <a:r>
              <a:rPr sz="1200">
                <a:solidFill>
                  <a:schemeClr val="tx1"/>
                </a:solidFill>
                <a:latin typeface="Arial"/>
                <a:ea typeface="Arial"/>
                <a:cs typeface="Arial"/>
              </a:rPr>
              <a:t>survey</a:t>
            </a:r>
            <a:r>
              <a:rPr sz="1200">
                <a:solidFill>
                  <a:schemeClr val="tx1"/>
                </a:solidFill>
                <a:latin typeface="Arial"/>
                <a:ea typeface="Arial"/>
                <a:cs typeface="Arial"/>
              </a:rPr>
              <a:t> </a:t>
            </a:r>
            <a:r>
              <a:rPr sz="1200">
                <a:solidFill>
                  <a:schemeClr val="tx1"/>
                </a:solidFill>
                <a:latin typeface="Arial"/>
                <a:ea typeface="Arial"/>
                <a:cs typeface="Arial"/>
              </a:rPr>
              <a:t>that</a:t>
            </a:r>
            <a:r>
              <a:rPr sz="1200">
                <a:solidFill>
                  <a:schemeClr val="tx1"/>
                </a:solidFill>
                <a:latin typeface="Arial"/>
                <a:ea typeface="Arial"/>
                <a:cs typeface="Arial"/>
              </a:rPr>
              <a:t> </a:t>
            </a:r>
            <a:r>
              <a:rPr sz="1200">
                <a:solidFill>
                  <a:schemeClr val="tx1"/>
                </a:solidFill>
                <a:latin typeface="Arial"/>
                <a:ea typeface="Arial"/>
                <a:cs typeface="Arial"/>
              </a:rPr>
              <a:t>summarize</a:t>
            </a:r>
            <a:r>
              <a:rPr sz="1200">
                <a:solidFill>
                  <a:schemeClr val="tx1"/>
                </a:solidFill>
                <a:latin typeface="Arial"/>
                <a:ea typeface="Arial"/>
                <a:cs typeface="Arial"/>
              </a:rPr>
              <a:t> all the </a:t>
            </a:r>
            <a:r>
              <a:rPr sz="1200">
                <a:solidFill>
                  <a:schemeClr val="tx1"/>
                </a:solidFill>
                <a:latin typeface="Arial"/>
                <a:ea typeface="Arial"/>
                <a:cs typeface="Arial"/>
              </a:rPr>
              <a:t>algorithms</a:t>
            </a:r>
            <a:r>
              <a:rPr sz="1200">
                <a:solidFill>
                  <a:schemeClr val="tx1"/>
                </a:solidFill>
                <a:latin typeface="Arial"/>
                <a:ea typeface="Arial"/>
                <a:cs typeface="Arial"/>
              </a:rPr>
              <a:t> </a:t>
            </a:r>
            <a:r>
              <a:rPr sz="1200">
                <a:solidFill>
                  <a:schemeClr val="tx1"/>
                </a:solidFill>
                <a:latin typeface="Arial"/>
                <a:ea typeface="Arial"/>
                <a:cs typeface="Arial"/>
              </a:rPr>
              <a:t>that</a:t>
            </a:r>
            <a:r>
              <a:rPr sz="1200">
                <a:solidFill>
                  <a:schemeClr val="tx1"/>
                </a:solidFill>
                <a:latin typeface="Arial"/>
                <a:ea typeface="Arial"/>
                <a:cs typeface="Arial"/>
              </a:rPr>
              <a:t> won the l2rpn challenge and </a:t>
            </a:r>
            <a:r>
              <a:rPr sz="1200">
                <a:solidFill>
                  <a:schemeClr val="tx1"/>
                </a:solidFill>
                <a:latin typeface="Arial"/>
                <a:ea typeface="Arial"/>
                <a:cs typeface="Arial"/>
              </a:rPr>
              <a:t>this</a:t>
            </a:r>
            <a:r>
              <a:rPr sz="1200">
                <a:solidFill>
                  <a:schemeClr val="tx1"/>
                </a:solidFill>
                <a:latin typeface="Arial"/>
                <a:ea typeface="Arial"/>
                <a:cs typeface="Arial"/>
              </a:rPr>
              <a:t> </a:t>
            </a:r>
            <a:r>
              <a:rPr sz="1200">
                <a:solidFill>
                  <a:schemeClr val="tx1"/>
                </a:solidFill>
                <a:latin typeface="Arial"/>
                <a:ea typeface="Arial"/>
                <a:cs typeface="Arial"/>
              </a:rPr>
              <a:t>is</a:t>
            </a:r>
            <a:r>
              <a:rPr sz="1200">
                <a:solidFill>
                  <a:schemeClr val="tx1"/>
                </a:solidFill>
                <a:latin typeface="Arial"/>
                <a:ea typeface="Arial"/>
                <a:cs typeface="Arial"/>
              </a:rPr>
              <a:t> the main </a:t>
            </a:r>
            <a:r>
              <a:rPr sz="1200">
                <a:solidFill>
                  <a:schemeClr val="tx1"/>
                </a:solidFill>
                <a:latin typeface="Arial"/>
                <a:ea typeface="Arial"/>
                <a:cs typeface="Arial"/>
              </a:rPr>
              <a:t>categories</a:t>
            </a:r>
            <a:r>
              <a:rPr sz="1200">
                <a:solidFill>
                  <a:schemeClr val="tx1"/>
                </a:solidFill>
                <a:latin typeface="Arial"/>
                <a:ea typeface="Arial"/>
                <a:cs typeface="Arial"/>
              </a:rPr>
              <a:t> of </a:t>
            </a:r>
            <a:r>
              <a:rPr sz="1200">
                <a:solidFill>
                  <a:schemeClr val="tx1"/>
                </a:solidFill>
                <a:latin typeface="Arial"/>
                <a:ea typeface="Arial"/>
                <a:cs typeface="Arial"/>
              </a:rPr>
              <a:t>succesfull</a:t>
            </a:r>
            <a:r>
              <a:rPr sz="1200">
                <a:solidFill>
                  <a:schemeClr val="tx1"/>
                </a:solidFill>
                <a:latin typeface="Arial"/>
                <a:ea typeface="Arial"/>
                <a:cs typeface="Arial"/>
              </a:rPr>
              <a:t> </a:t>
            </a:r>
            <a:r>
              <a:rPr sz="1200">
                <a:solidFill>
                  <a:schemeClr val="tx1"/>
                </a:solidFill>
                <a:latin typeface="Arial"/>
                <a:ea typeface="Arial"/>
                <a:cs typeface="Arial"/>
              </a:rPr>
              <a:t>agentthat</a:t>
            </a:r>
            <a:r>
              <a:rPr sz="1200">
                <a:solidFill>
                  <a:schemeClr val="tx1"/>
                </a:solidFill>
                <a:latin typeface="Arial"/>
                <a:ea typeface="Arial"/>
                <a:cs typeface="Arial"/>
              </a:rPr>
              <a:t> won the challenge.</a:t>
            </a:r>
          </a:p>
          <a:p xmlns:a="http://schemas.openxmlformats.org/drawingml/2006/main"/>
          <a:p xmlns:a="http://schemas.openxmlformats.org/drawingml/2006/main">
            <a:r>
              <a:rPr sz="1200">
                <a:solidFill>
                  <a:schemeClr val="tx1"/>
                </a:solidFill>
                <a:latin typeface="Arial"/>
                <a:ea typeface="Arial"/>
                <a:cs typeface="Arial"/>
              </a:rPr>
              <a:t>Some</a:t>
            </a:r>
            <a:r>
              <a:rPr sz="1200">
                <a:solidFill>
                  <a:schemeClr val="tx1"/>
                </a:solidFill>
                <a:latin typeface="Arial"/>
                <a:ea typeface="Arial"/>
                <a:cs typeface="Arial"/>
              </a:rPr>
              <a:t> </a:t>
            </a:r>
            <a:r>
              <a:rPr sz="1200">
                <a:solidFill>
                  <a:schemeClr val="tx1"/>
                </a:solidFill>
                <a:latin typeface="Arial"/>
                <a:ea typeface="Arial"/>
                <a:cs typeface="Arial"/>
              </a:rPr>
              <a:t>approaches</a:t>
            </a:r>
            <a:r>
              <a:rPr sz="1200">
                <a:solidFill>
                  <a:schemeClr val="tx1"/>
                </a:solidFill>
                <a:latin typeface="Arial"/>
                <a:ea typeface="Arial"/>
                <a:cs typeface="Arial"/>
              </a:rPr>
              <a:t> </a:t>
            </a:r>
            <a:r>
              <a:rPr sz="1200">
                <a:solidFill>
                  <a:schemeClr val="tx1"/>
                </a:solidFill>
                <a:latin typeface="Arial"/>
                <a:ea typeface="Arial"/>
                <a:cs typeface="Arial"/>
              </a:rPr>
              <a:t>rely</a:t>
            </a:r>
            <a:r>
              <a:rPr sz="1200">
                <a:solidFill>
                  <a:schemeClr val="tx1"/>
                </a:solidFill>
                <a:latin typeface="Arial"/>
                <a:ea typeface="Arial"/>
                <a:cs typeface="Arial"/>
              </a:rPr>
              <a:t> on a single global agent </a:t>
            </a:r>
            <a:r>
              <a:rPr sz="1200">
                <a:solidFill>
                  <a:schemeClr val="tx1"/>
                </a:solidFill>
                <a:latin typeface="Arial"/>
                <a:ea typeface="Arial"/>
                <a:cs typeface="Arial"/>
              </a:rPr>
              <a:t>with</a:t>
            </a:r>
            <a:r>
              <a:rPr sz="1200">
                <a:solidFill>
                  <a:schemeClr val="tx1"/>
                </a:solidFill>
                <a:latin typeface="Arial"/>
                <a:ea typeface="Arial"/>
                <a:cs typeface="Arial"/>
              </a:rPr>
              <a:t> </a:t>
            </a:r>
            <a:r>
              <a:rPr sz="1200">
                <a:solidFill>
                  <a:schemeClr val="tx1"/>
                </a:solidFill>
                <a:latin typeface="Arial"/>
                <a:ea typeface="Arial"/>
                <a:cs typeface="Arial"/>
              </a:rPr>
              <a:t>strong</a:t>
            </a:r>
            <a:r>
              <a:rPr sz="1200">
                <a:solidFill>
                  <a:schemeClr val="tx1"/>
                </a:solidFill>
                <a:latin typeface="Arial"/>
                <a:ea typeface="Arial"/>
                <a:cs typeface="Arial"/>
              </a:rPr>
              <a:t> engineering tricks.</a:t>
            </a:r>
          </a:p>
          <a:p xmlns:a="http://schemas.openxmlformats.org/drawingml/2006/main"/>
          <a:p xmlns:a="http://schemas.openxmlformats.org/drawingml/2006/main">
            <a:r>
              <a:rPr sz="1200">
                <a:solidFill>
                  <a:schemeClr val="tx1"/>
                </a:solidFill>
                <a:latin typeface="Arial"/>
                <a:ea typeface="Arial"/>
                <a:cs typeface="Arial"/>
              </a:rPr>
              <a:t>For </a:t>
            </a:r>
            <a:r>
              <a:rPr sz="1200">
                <a:solidFill>
                  <a:schemeClr val="tx1"/>
                </a:solidFill>
                <a:latin typeface="Arial"/>
                <a:ea typeface="Arial"/>
                <a:cs typeface="Arial"/>
              </a:rPr>
              <a:t>example</a:t>
            </a:r>
            <a:r>
              <a:rPr sz="1200">
                <a:solidFill>
                  <a:schemeClr val="tx1"/>
                </a:solidFill>
                <a:latin typeface="Arial"/>
                <a:ea typeface="Arial"/>
                <a:cs typeface="Arial"/>
              </a:rPr>
              <a:t>, </a:t>
            </a:r>
            <a:r>
              <a:rPr sz="1200">
                <a:solidFill>
                  <a:schemeClr val="tx1"/>
                </a:solidFill>
                <a:latin typeface="Arial"/>
                <a:ea typeface="Arial"/>
                <a:cs typeface="Arial"/>
              </a:rPr>
              <a:t>they</a:t>
            </a:r>
            <a:r>
              <a:rPr sz="1200">
                <a:solidFill>
                  <a:schemeClr val="tx1"/>
                </a:solidFill>
                <a:latin typeface="Arial"/>
                <a:ea typeface="Arial"/>
                <a:cs typeface="Arial"/>
              </a:rPr>
              <a:t> use graph neural networks </a:t>
            </a:r>
            <a:r>
              <a:rPr sz="1200">
                <a:solidFill>
                  <a:schemeClr val="tx1"/>
                </a:solidFill>
                <a:latin typeface="Arial"/>
                <a:ea typeface="Arial"/>
                <a:cs typeface="Arial"/>
              </a:rPr>
              <a:t>combined</a:t>
            </a:r>
            <a:r>
              <a:rPr sz="1200">
                <a:solidFill>
                  <a:schemeClr val="tx1"/>
                </a:solidFill>
                <a:latin typeface="Arial"/>
                <a:ea typeface="Arial"/>
                <a:cs typeface="Arial"/>
              </a:rPr>
              <a:t> </a:t>
            </a:r>
            <a:r>
              <a:rPr sz="1200">
                <a:solidFill>
                  <a:schemeClr val="tx1"/>
                </a:solidFill>
                <a:latin typeface="Arial"/>
                <a:ea typeface="Arial"/>
                <a:cs typeface="Arial"/>
              </a:rPr>
              <a:t>with</a:t>
            </a:r>
            <a:r>
              <a:rPr sz="1200">
                <a:solidFill>
                  <a:schemeClr val="tx1"/>
                </a:solidFill>
                <a:latin typeface="Arial"/>
                <a:ea typeface="Arial"/>
                <a:cs typeface="Arial"/>
              </a:rPr>
              <a:t> value-</a:t>
            </a:r>
            <a:r>
              <a:rPr sz="1200">
                <a:solidFill>
                  <a:schemeClr val="tx1"/>
                </a:solidFill>
                <a:latin typeface="Arial"/>
                <a:ea typeface="Arial"/>
                <a:cs typeface="Arial"/>
              </a:rPr>
              <a:t>based</a:t>
            </a:r>
            <a:r>
              <a:rPr sz="1200">
                <a:solidFill>
                  <a:schemeClr val="tx1"/>
                </a:solidFill>
                <a:latin typeface="Arial"/>
                <a:ea typeface="Arial"/>
                <a:cs typeface="Arial"/>
              </a:rPr>
              <a:t> RL, and </a:t>
            </a:r>
            <a:r>
              <a:rPr sz="1200">
                <a:solidFill>
                  <a:schemeClr val="tx1"/>
                </a:solidFill>
                <a:latin typeface="Arial"/>
                <a:ea typeface="Arial"/>
                <a:cs typeface="Arial"/>
              </a:rPr>
              <a:t>validate</a:t>
            </a:r>
            <a:r>
              <a:rPr sz="1200">
                <a:solidFill>
                  <a:schemeClr val="tx1"/>
                </a:solidFill>
                <a:latin typeface="Arial"/>
                <a:ea typeface="Arial"/>
                <a:cs typeface="Arial"/>
              </a:rPr>
              <a:t> actions </a:t>
            </a:r>
            <a:r>
              <a:rPr sz="1200">
                <a:solidFill>
                  <a:schemeClr val="tx1"/>
                </a:solidFill>
                <a:latin typeface="Arial"/>
                <a:ea typeface="Arial"/>
                <a:cs typeface="Arial"/>
              </a:rPr>
              <a:t>using</a:t>
            </a:r>
            <a:r>
              <a:rPr sz="1200">
                <a:solidFill>
                  <a:schemeClr val="tx1"/>
                </a:solidFill>
                <a:latin typeface="Arial"/>
                <a:ea typeface="Arial"/>
                <a:cs typeface="Arial"/>
              </a:rPr>
              <a:t> power-flow simulations.</a:t>
            </a:r>
          </a:p>
          <a:p xmlns:a="http://schemas.openxmlformats.org/drawingml/2006/main"/>
          <a:p xmlns:a="http://schemas.openxmlformats.org/drawingml/2006/main">
            <a:r>
              <a:rPr sz="1200">
                <a:solidFill>
                  <a:schemeClr val="tx1"/>
                </a:solidFill>
                <a:latin typeface="Arial"/>
                <a:ea typeface="Arial"/>
                <a:cs typeface="Arial"/>
              </a:rPr>
              <a:t>Others</a:t>
            </a:r>
            <a:r>
              <a:rPr sz="1200">
                <a:solidFill>
                  <a:schemeClr val="tx1"/>
                </a:solidFill>
                <a:latin typeface="Arial"/>
                <a:ea typeface="Arial"/>
                <a:cs typeface="Arial"/>
              </a:rPr>
              <a:t> </a:t>
            </a:r>
            <a:r>
              <a:rPr sz="1200">
                <a:solidFill>
                  <a:schemeClr val="tx1"/>
                </a:solidFill>
                <a:latin typeface="Arial"/>
                <a:ea typeface="Arial"/>
                <a:cs typeface="Arial"/>
              </a:rPr>
              <a:t>reduce</a:t>
            </a:r>
            <a:r>
              <a:rPr sz="1200">
                <a:solidFill>
                  <a:schemeClr val="tx1"/>
                </a:solidFill>
                <a:latin typeface="Arial"/>
                <a:ea typeface="Arial"/>
                <a:cs typeface="Arial"/>
              </a:rPr>
              <a:t> the action </a:t>
            </a:r>
            <a:r>
              <a:rPr sz="1200">
                <a:solidFill>
                  <a:schemeClr val="tx1"/>
                </a:solidFill>
                <a:latin typeface="Arial"/>
                <a:ea typeface="Arial"/>
                <a:cs typeface="Arial"/>
              </a:rPr>
              <a:t>space</a:t>
            </a:r>
            <a:r>
              <a:rPr sz="1200">
                <a:solidFill>
                  <a:schemeClr val="tx1"/>
                </a:solidFill>
                <a:latin typeface="Arial"/>
                <a:ea typeface="Arial"/>
                <a:cs typeface="Arial"/>
              </a:rPr>
              <a:t> </a:t>
            </a:r>
            <a:r>
              <a:rPr sz="1200">
                <a:solidFill>
                  <a:schemeClr val="tx1"/>
                </a:solidFill>
                <a:latin typeface="Arial"/>
                <a:ea typeface="Arial"/>
                <a:cs typeface="Arial"/>
              </a:rPr>
              <a:t>using</a:t>
            </a:r>
            <a:r>
              <a:rPr sz="1200">
                <a:solidFill>
                  <a:schemeClr val="tx1"/>
                </a:solidFill>
                <a:latin typeface="Arial"/>
                <a:ea typeface="Arial"/>
                <a:cs typeface="Arial"/>
              </a:rPr>
              <a:t> </a:t>
            </a:r>
            <a:r>
              <a:rPr sz="1200">
                <a:solidFill>
                  <a:schemeClr val="tx1"/>
                </a:solidFill>
                <a:latin typeface="Arial"/>
                <a:ea typeface="Arial"/>
                <a:cs typeface="Arial"/>
              </a:rPr>
              <a:t>masking</a:t>
            </a:r>
            <a:r>
              <a:rPr sz="1200">
                <a:solidFill>
                  <a:schemeClr val="tx1"/>
                </a:solidFill>
                <a:latin typeface="Arial"/>
                <a:ea typeface="Arial"/>
                <a:cs typeface="Arial"/>
              </a:rPr>
              <a:t> or </a:t>
            </a:r>
            <a:r>
              <a:rPr sz="1200">
                <a:solidFill>
                  <a:schemeClr val="tx1"/>
                </a:solidFill>
                <a:latin typeface="Arial"/>
                <a:ea typeface="Arial"/>
                <a:cs typeface="Arial"/>
              </a:rPr>
              <a:t>pruning</a:t>
            </a:r>
            <a:r>
              <a:rPr sz="1200">
                <a:solidFill>
                  <a:schemeClr val="tx1"/>
                </a:solidFill>
                <a:latin typeface="Arial"/>
                <a:ea typeface="Arial"/>
                <a:cs typeface="Arial"/>
              </a:rPr>
              <a:t>.</a:t>
            </a:r>
          </a:p>
          <a:p xmlns:a="http://schemas.openxmlformats.org/drawingml/2006/main"/>
          <a:p xmlns:a="http://schemas.openxmlformats.org/drawingml/2006/main">
            <a:r>
              <a:rPr sz="1200">
                <a:solidFill>
                  <a:schemeClr val="tx1"/>
                </a:solidFill>
                <a:latin typeface="Arial"/>
                <a:ea typeface="Arial"/>
                <a:cs typeface="Arial"/>
              </a:rPr>
              <a:t>These</a:t>
            </a:r>
            <a:r>
              <a:rPr sz="1200">
                <a:solidFill>
                  <a:schemeClr val="tx1"/>
                </a:solidFill>
                <a:latin typeface="Arial"/>
                <a:ea typeface="Arial"/>
                <a:cs typeface="Arial"/>
              </a:rPr>
              <a:t> </a:t>
            </a:r>
            <a:r>
              <a:rPr sz="1200">
                <a:solidFill>
                  <a:schemeClr val="tx1"/>
                </a:solidFill>
                <a:latin typeface="Arial"/>
                <a:ea typeface="Arial"/>
                <a:cs typeface="Arial"/>
              </a:rPr>
              <a:t>methods</a:t>
            </a:r>
            <a:r>
              <a:rPr sz="1200">
                <a:solidFill>
                  <a:schemeClr val="tx1"/>
                </a:solidFill>
                <a:latin typeface="Arial"/>
                <a:ea typeface="Arial"/>
                <a:cs typeface="Arial"/>
              </a:rPr>
              <a:t> can </a:t>
            </a:r>
            <a:r>
              <a:rPr sz="1200">
                <a:solidFill>
                  <a:schemeClr val="tx1"/>
                </a:solidFill>
                <a:latin typeface="Arial"/>
                <a:ea typeface="Arial"/>
                <a:cs typeface="Arial"/>
              </a:rPr>
              <a:t>work</a:t>
            </a:r>
            <a:r>
              <a:rPr sz="1200">
                <a:solidFill>
                  <a:schemeClr val="tx1"/>
                </a:solidFill>
                <a:latin typeface="Arial"/>
                <a:ea typeface="Arial"/>
                <a:cs typeface="Arial"/>
              </a:rPr>
              <a:t>, </a:t>
            </a:r>
            <a:r>
              <a:rPr sz="1200">
                <a:solidFill>
                  <a:schemeClr val="tx1"/>
                </a:solidFill>
                <a:latin typeface="Arial"/>
                <a:ea typeface="Arial"/>
                <a:cs typeface="Arial"/>
              </a:rPr>
              <a:t>so</a:t>
            </a:r>
            <a:r>
              <a:rPr sz="1200">
                <a:solidFill>
                  <a:schemeClr val="tx1"/>
                </a:solidFill>
                <a:latin typeface="Arial"/>
                <a:ea typeface="Arial"/>
                <a:cs typeface="Arial"/>
              </a:rPr>
              <a:t> </a:t>
            </a:r>
            <a:r>
              <a:rPr sz="1200">
                <a:solidFill>
                  <a:schemeClr val="tx1"/>
                </a:solidFill>
                <a:latin typeface="Arial"/>
                <a:ea typeface="Arial"/>
                <a:cs typeface="Arial"/>
              </a:rPr>
              <a:t>mixing</a:t>
            </a:r>
            <a:r>
              <a:rPr sz="1200">
                <a:solidFill>
                  <a:schemeClr val="tx1"/>
                </a:solidFill>
                <a:latin typeface="Arial"/>
                <a:ea typeface="Arial"/>
                <a:cs typeface="Arial"/>
              </a:rPr>
              <a:t> a single agent </a:t>
            </a:r>
            <a:r>
              <a:rPr sz="1200">
                <a:solidFill>
                  <a:schemeClr val="tx1"/>
                </a:solidFill>
                <a:latin typeface="Arial"/>
                <a:ea typeface="Arial"/>
                <a:cs typeface="Arial"/>
              </a:rPr>
              <a:t>with</a:t>
            </a:r>
            <a:r>
              <a:rPr sz="1200">
                <a:solidFill>
                  <a:schemeClr val="tx1"/>
                </a:solidFill>
                <a:latin typeface="Arial"/>
                <a:ea typeface="Arial"/>
                <a:cs typeface="Arial"/>
              </a:rPr>
              <a:t> </a:t>
            </a:r>
            <a:r>
              <a:rPr sz="1200">
                <a:solidFill>
                  <a:schemeClr val="tx1"/>
                </a:solidFill>
                <a:latin typeface="Arial"/>
                <a:ea typeface="Arial"/>
                <a:cs typeface="Arial"/>
              </a:rPr>
              <a:t>rules</a:t>
            </a:r>
            <a:r>
              <a:rPr sz="1200">
                <a:solidFill>
                  <a:schemeClr val="tx1"/>
                </a:solidFill>
                <a:latin typeface="Arial"/>
                <a:ea typeface="Arial"/>
                <a:cs typeface="Arial"/>
              </a:rPr>
              <a:t>, but </a:t>
            </a:r>
            <a:r>
              <a:rPr sz="1200">
                <a:solidFill>
                  <a:schemeClr val="tx1"/>
                </a:solidFill>
                <a:latin typeface="Arial"/>
                <a:ea typeface="Arial"/>
                <a:cs typeface="Arial"/>
              </a:rPr>
              <a:t>they</a:t>
            </a:r>
            <a:r>
              <a:rPr sz="1200">
                <a:solidFill>
                  <a:schemeClr val="tx1"/>
                </a:solidFill>
                <a:latin typeface="Arial"/>
                <a:ea typeface="Arial"/>
                <a:cs typeface="Arial"/>
              </a:rPr>
              <a:t> </a:t>
            </a:r>
            <a:r>
              <a:rPr sz="1200">
                <a:solidFill>
                  <a:schemeClr val="tx1"/>
                </a:solidFill>
                <a:latin typeface="Arial"/>
                <a:ea typeface="Arial"/>
                <a:cs typeface="Arial"/>
              </a:rPr>
              <a:t>suffer</a:t>
            </a:r>
            <a:r>
              <a:rPr sz="1200">
                <a:solidFill>
                  <a:schemeClr val="tx1"/>
                </a:solidFill>
                <a:latin typeface="Arial"/>
                <a:ea typeface="Arial"/>
                <a:cs typeface="Arial"/>
              </a:rPr>
              <a:t> </a:t>
            </a:r>
            <a:r>
              <a:rPr sz="1200">
                <a:solidFill>
                  <a:schemeClr val="tx1"/>
                </a:solidFill>
                <a:latin typeface="Arial"/>
                <a:ea typeface="Arial"/>
                <a:cs typeface="Arial"/>
              </a:rPr>
              <a:t>because</a:t>
            </a:r>
            <a:r>
              <a:rPr sz="1200">
                <a:solidFill>
                  <a:schemeClr val="tx1"/>
                </a:solidFill>
                <a:latin typeface="Arial"/>
                <a:ea typeface="Arial"/>
                <a:cs typeface="Arial"/>
              </a:rPr>
              <a:t> the action </a:t>
            </a:r>
            <a:r>
              <a:rPr sz="1200">
                <a:solidFill>
                  <a:schemeClr val="tx1"/>
                </a:solidFill>
                <a:latin typeface="Arial"/>
                <a:ea typeface="Arial"/>
                <a:cs typeface="Arial"/>
              </a:rPr>
              <a:t>space</a:t>
            </a:r>
            <a:r>
              <a:rPr sz="1200">
                <a:solidFill>
                  <a:schemeClr val="tx1"/>
                </a:solidFill>
                <a:latin typeface="Arial"/>
                <a:ea typeface="Arial"/>
                <a:cs typeface="Arial"/>
              </a:rPr>
              <a:t> </a:t>
            </a:r>
            <a:r>
              <a:rPr sz="1200">
                <a:solidFill>
                  <a:schemeClr val="tx1"/>
                </a:solidFill>
                <a:latin typeface="Arial"/>
                <a:ea typeface="Arial"/>
                <a:cs typeface="Arial"/>
              </a:rPr>
              <a:t>remains</a:t>
            </a:r>
            <a:r>
              <a:rPr sz="1200">
                <a:solidFill>
                  <a:schemeClr val="tx1"/>
                </a:solidFill>
                <a:latin typeface="Arial"/>
                <a:ea typeface="Arial"/>
                <a:cs typeface="Arial"/>
              </a:rPr>
              <a:t> </a:t>
            </a:r>
            <a:r>
              <a:rPr sz="1200">
                <a:solidFill>
                  <a:schemeClr val="tx1"/>
                </a:solidFill>
                <a:latin typeface="Arial"/>
                <a:ea typeface="Arial"/>
                <a:cs typeface="Arial"/>
              </a:rPr>
              <a:t>very</a:t>
            </a:r>
            <a:r>
              <a:rPr sz="1200">
                <a:solidFill>
                  <a:schemeClr val="tx1"/>
                </a:solidFill>
                <a:latin typeface="Arial"/>
                <a:ea typeface="Arial"/>
                <a:cs typeface="Arial"/>
              </a:rPr>
              <a:t> large.”</a:t>
            </a:r>
          </a:p>
          <a:p xmlns:a="http://schemas.openxmlformats.org/drawingml/2006/main"/>
          <a:p xmlns:a="http://schemas.openxmlformats.org/drawingml/2006/main">
            <a:r>
              <a:rPr sz="1200">
                <a:solidFill>
                  <a:schemeClr val="tx1"/>
                </a:solidFill>
                <a:latin typeface="Arial"/>
                <a:ea typeface="Arial"/>
                <a:cs typeface="Arial"/>
              </a:rPr>
              <a:t>Another</a:t>
            </a:r>
            <a:r>
              <a:rPr sz="1200">
                <a:solidFill>
                  <a:schemeClr val="tx1"/>
                </a:solidFill>
                <a:latin typeface="Arial"/>
                <a:ea typeface="Arial"/>
                <a:cs typeface="Arial"/>
              </a:rPr>
              <a:t> important </a:t>
            </a:r>
            <a:r>
              <a:rPr sz="1200">
                <a:solidFill>
                  <a:schemeClr val="tx1"/>
                </a:solidFill>
                <a:latin typeface="Arial"/>
                <a:ea typeface="Arial"/>
                <a:cs typeface="Arial"/>
              </a:rPr>
              <a:t>idea</a:t>
            </a:r>
            <a:r>
              <a:rPr sz="1200">
                <a:solidFill>
                  <a:schemeClr val="tx1"/>
                </a:solidFill>
                <a:latin typeface="Arial"/>
                <a:ea typeface="Arial"/>
                <a:cs typeface="Arial"/>
              </a:rPr>
              <a:t> </a:t>
            </a:r>
            <a:r>
              <a:rPr sz="1200">
                <a:solidFill>
                  <a:schemeClr val="tx1"/>
                </a:solidFill>
                <a:latin typeface="Arial"/>
                <a:ea typeface="Arial"/>
                <a:cs typeface="Arial"/>
              </a:rPr>
              <a:t>is</a:t>
            </a:r>
            <a:r>
              <a:rPr sz="1200">
                <a:solidFill>
                  <a:schemeClr val="tx1"/>
                </a:solidFill>
                <a:latin typeface="Arial"/>
                <a:ea typeface="Arial"/>
                <a:cs typeface="Arial"/>
              </a:rPr>
              <a:t> to </a:t>
            </a:r>
            <a:r>
              <a:rPr sz="1200">
                <a:solidFill>
                  <a:schemeClr val="tx1"/>
                </a:solidFill>
                <a:latin typeface="Arial"/>
                <a:ea typeface="Arial"/>
                <a:cs typeface="Arial"/>
              </a:rPr>
              <a:t>predict</a:t>
            </a:r>
            <a:r>
              <a:rPr sz="1200">
                <a:solidFill>
                  <a:schemeClr val="tx1"/>
                </a:solidFill>
                <a:latin typeface="Arial"/>
                <a:ea typeface="Arial"/>
                <a:cs typeface="Arial"/>
              </a:rPr>
              <a:t> a </a:t>
            </a:r>
            <a:r>
              <a:rPr sz="1200" b="1">
                <a:solidFill>
                  <a:schemeClr val="tx1"/>
                </a:solidFill>
                <a:latin typeface="Arial"/>
                <a:ea typeface="Arial"/>
                <a:cs typeface="Arial"/>
              </a:rPr>
              <a:t>target</a:t>
            </a:r>
            <a:r>
              <a:rPr sz="1200" b="1">
                <a:solidFill>
                  <a:schemeClr val="tx1"/>
                </a:solidFill>
                <a:latin typeface="Arial"/>
                <a:ea typeface="Arial"/>
                <a:cs typeface="Arial"/>
              </a:rPr>
              <a:t> </a:t>
            </a:r>
            <a:r>
              <a:rPr sz="1200" b="1">
                <a:solidFill>
                  <a:schemeClr val="tx1"/>
                </a:solidFill>
                <a:latin typeface="Arial"/>
                <a:ea typeface="Arial"/>
                <a:cs typeface="Arial"/>
              </a:rPr>
              <a:t>topology</a:t>
            </a:r>
            <a:r>
              <a:rPr sz="1200" b="1">
                <a:solidFill>
                  <a:schemeClr val="tx1"/>
                </a:solidFill>
                <a:latin typeface="Arial"/>
                <a:ea typeface="Arial"/>
                <a:cs typeface="Arial"/>
              </a:rPr>
              <a:t> </a:t>
            </a:r>
            <a:r>
              <a:rPr sz="1200" b="1">
                <a:solidFill>
                  <a:schemeClr val="tx1"/>
                </a:solidFill>
                <a:latin typeface="Arial"/>
                <a:ea typeface="Arial"/>
                <a:cs typeface="Arial"/>
              </a:rPr>
              <a:t>instead</a:t>
            </a:r>
            <a:r>
              <a:rPr sz="1200" b="1">
                <a:solidFill>
                  <a:schemeClr val="tx1"/>
                </a:solidFill>
                <a:latin typeface="Arial"/>
                <a:ea typeface="Arial"/>
                <a:cs typeface="Arial"/>
              </a:rPr>
              <a:t> of </a:t>
            </a:r>
            <a:r>
              <a:rPr sz="1200" b="1">
                <a:solidFill>
                  <a:schemeClr val="tx1"/>
                </a:solidFill>
                <a:latin typeface="Arial"/>
                <a:ea typeface="Arial"/>
                <a:cs typeface="Arial"/>
              </a:rPr>
              <a:t>raw</a:t>
            </a:r>
            <a:r>
              <a:rPr sz="1200" b="1">
                <a:solidFill>
                  <a:schemeClr val="tx1"/>
                </a:solidFill>
                <a:latin typeface="Arial"/>
                <a:ea typeface="Arial"/>
                <a:cs typeface="Arial"/>
              </a:rPr>
              <a:t> actions</a:t>
            </a:r>
            <a:r>
              <a:rPr sz="1200">
                <a:solidFill>
                  <a:schemeClr val="tx1"/>
                </a:solidFill>
                <a:latin typeface="Arial"/>
                <a:ea typeface="Arial"/>
                <a:cs typeface="Arial"/>
              </a:rPr>
              <a:t>.</a:t>
            </a:r>
          </a:p>
          <a:p xmlns:a="http://schemas.openxmlformats.org/drawingml/2006/main"/>
          <a:p xmlns:a="http://schemas.openxmlformats.org/drawingml/2006/main">
            <a:r>
              <a:rPr sz="1200">
                <a:solidFill>
                  <a:schemeClr val="tx1"/>
                </a:solidFill>
                <a:latin typeface="Arial"/>
                <a:ea typeface="Arial"/>
                <a:cs typeface="Arial"/>
              </a:rPr>
              <a:t>This </a:t>
            </a:r>
            <a:r>
              <a:rPr sz="1200">
                <a:solidFill>
                  <a:schemeClr val="tx1"/>
                </a:solidFill>
                <a:latin typeface="Arial"/>
                <a:ea typeface="Arial"/>
                <a:cs typeface="Arial"/>
              </a:rPr>
              <a:t>is</a:t>
            </a:r>
            <a:r>
              <a:rPr sz="1200">
                <a:solidFill>
                  <a:schemeClr val="tx1"/>
                </a:solidFill>
                <a:latin typeface="Arial"/>
                <a:ea typeface="Arial"/>
                <a:cs typeface="Arial"/>
              </a:rPr>
              <a:t> </a:t>
            </a:r>
            <a:r>
              <a:rPr sz="1200">
                <a:solidFill>
                  <a:schemeClr val="tx1"/>
                </a:solidFill>
                <a:latin typeface="Arial"/>
                <a:ea typeface="Arial"/>
                <a:cs typeface="Arial"/>
              </a:rPr>
              <a:t>used</a:t>
            </a:r>
            <a:r>
              <a:rPr sz="1200">
                <a:solidFill>
                  <a:schemeClr val="tx1"/>
                </a:solidFill>
                <a:latin typeface="Arial"/>
                <a:ea typeface="Arial"/>
                <a:cs typeface="Arial"/>
              </a:rPr>
              <a:t> in SMAAC, </a:t>
            </a:r>
            <a:r>
              <a:rPr sz="1200">
                <a:solidFill>
                  <a:schemeClr val="tx1"/>
                </a:solidFill>
                <a:latin typeface="Arial"/>
                <a:ea typeface="Arial"/>
                <a:cs typeface="Arial"/>
              </a:rPr>
              <a:t>where</a:t>
            </a:r>
            <a:r>
              <a:rPr sz="1200">
                <a:solidFill>
                  <a:schemeClr val="tx1"/>
                </a:solidFill>
                <a:latin typeface="Arial"/>
                <a:ea typeface="Arial"/>
                <a:cs typeface="Arial"/>
              </a:rPr>
              <a:t> </a:t>
            </a:r>
            <a:r>
              <a:rPr sz="1200">
                <a:solidFill>
                  <a:schemeClr val="tx1"/>
                </a:solidFill>
                <a:latin typeface="Arial"/>
                <a:ea typeface="Arial"/>
                <a:cs typeface="Arial"/>
              </a:rPr>
              <a:t>the</a:t>
            </a:r>
            <a:r>
              <a:rPr sz="1200">
                <a:solidFill>
                  <a:schemeClr val="tx1"/>
                </a:solidFill>
                <a:latin typeface="Arial"/>
                <a:ea typeface="Arial"/>
                <a:cs typeface="Arial"/>
              </a:rPr>
              <a:t> </a:t>
            </a:r>
            <a:r>
              <a:rPr sz="1200">
                <a:solidFill>
                  <a:schemeClr val="tx1"/>
                </a:solidFill>
                <a:latin typeface="Arial"/>
                <a:ea typeface="Arial"/>
                <a:cs typeface="Arial"/>
              </a:rPr>
              <a:t>agent</a:t>
            </a:r>
            <a:r>
              <a:rPr sz="1200">
                <a:solidFill>
                  <a:schemeClr val="tx1"/>
                </a:solidFill>
                <a:latin typeface="Arial"/>
                <a:ea typeface="Arial"/>
                <a:cs typeface="Arial"/>
              </a:rPr>
              <a:t> </a:t>
            </a:r>
            <a:r>
              <a:rPr sz="1200">
                <a:solidFill>
                  <a:schemeClr val="tx1"/>
                </a:solidFill>
                <a:latin typeface="Arial"/>
                <a:ea typeface="Arial"/>
                <a:cs typeface="Arial"/>
              </a:rPr>
              <a:t>learns</a:t>
            </a:r>
            <a:r>
              <a:rPr sz="1200">
                <a:solidFill>
                  <a:schemeClr val="tx1"/>
                </a:solidFill>
                <a:latin typeface="Arial"/>
                <a:ea typeface="Arial"/>
                <a:cs typeface="Arial"/>
              </a:rPr>
              <a:t> an </a:t>
            </a:r>
            <a:r>
              <a:rPr sz="1200">
                <a:solidFill>
                  <a:schemeClr val="tx1"/>
                </a:solidFill>
                <a:latin typeface="Arial"/>
                <a:ea typeface="Arial"/>
                <a:cs typeface="Arial"/>
              </a:rPr>
              <a:t>afterstate</a:t>
            </a:r>
            <a:r>
              <a:rPr sz="1200">
                <a:solidFill>
                  <a:schemeClr val="tx1"/>
                </a:solidFill>
                <a:latin typeface="Arial"/>
                <a:ea typeface="Arial"/>
                <a:cs typeface="Arial"/>
              </a:rPr>
              <a:t> </a:t>
            </a:r>
            <a:r>
              <a:rPr sz="1200">
                <a:solidFill>
                  <a:schemeClr val="tx1"/>
                </a:solidFill>
                <a:latin typeface="Arial"/>
                <a:ea typeface="Arial"/>
                <a:cs typeface="Arial"/>
              </a:rPr>
              <a:t>representation</a:t>
            </a:r>
            <a:r>
              <a:rPr sz="1200">
                <a:solidFill>
                  <a:schemeClr val="tx1"/>
                </a:solidFill>
                <a:latin typeface="Arial"/>
                <a:ea typeface="Arial"/>
                <a:cs typeface="Arial"/>
              </a:rPr>
              <a:t>—</a:t>
            </a:r>
            <a:r>
              <a:rPr sz="1200">
                <a:solidFill>
                  <a:schemeClr val="tx1"/>
                </a:solidFill>
                <a:latin typeface="Arial"/>
                <a:ea typeface="Arial"/>
                <a:cs typeface="Arial"/>
              </a:rPr>
              <a:t>basically</a:t>
            </a:r>
            <a:r>
              <a:rPr sz="1200">
                <a:solidFill>
                  <a:schemeClr val="tx1"/>
                </a:solidFill>
                <a:latin typeface="Arial"/>
                <a:ea typeface="Arial"/>
                <a:cs typeface="Arial"/>
              </a:rPr>
              <a:t> </a:t>
            </a:r>
            <a:r>
              <a:rPr sz="1200">
                <a:solidFill>
                  <a:schemeClr val="tx1"/>
                </a:solidFill>
                <a:latin typeface="Arial"/>
                <a:ea typeface="Arial"/>
                <a:cs typeface="Arial"/>
              </a:rPr>
              <a:t>the</a:t>
            </a:r>
            <a:r>
              <a:rPr sz="1200">
                <a:solidFill>
                  <a:schemeClr val="tx1"/>
                </a:solidFill>
                <a:latin typeface="Arial"/>
                <a:ea typeface="Arial"/>
                <a:cs typeface="Arial"/>
              </a:rPr>
              <a:t> </a:t>
            </a:r>
            <a:r>
              <a:rPr sz="1200">
                <a:solidFill>
                  <a:schemeClr val="tx1"/>
                </a:solidFill>
                <a:latin typeface="Arial"/>
                <a:ea typeface="Arial"/>
                <a:cs typeface="Arial"/>
              </a:rPr>
              <a:t>resulting</a:t>
            </a:r>
            <a:r>
              <a:rPr sz="1200">
                <a:solidFill>
                  <a:schemeClr val="tx1"/>
                </a:solidFill>
                <a:latin typeface="Arial"/>
                <a:ea typeface="Arial"/>
                <a:cs typeface="Arial"/>
              </a:rPr>
              <a:t> </a:t>
            </a:r>
            <a:r>
              <a:rPr sz="1200">
                <a:solidFill>
                  <a:schemeClr val="tx1"/>
                </a:solidFill>
                <a:latin typeface="Arial"/>
                <a:ea typeface="Arial"/>
                <a:cs typeface="Arial"/>
              </a:rPr>
              <a:t>topology</a:t>
            </a:r>
            <a:r>
              <a:rPr sz="1200">
                <a:solidFill>
                  <a:schemeClr val="tx1"/>
                </a:solidFill>
                <a:latin typeface="Arial"/>
                <a:ea typeface="Arial"/>
                <a:cs typeface="Arial"/>
              </a:rPr>
              <a:t> after an </a:t>
            </a:r>
            <a:r>
              <a:rPr sz="1200">
                <a:solidFill>
                  <a:schemeClr val="tx1"/>
                </a:solidFill>
                <a:latin typeface="Arial"/>
                <a:ea typeface="Arial"/>
                <a:cs typeface="Arial"/>
              </a:rPr>
              <a:t>action</a:t>
            </a:r>
            <a:r>
              <a:rPr sz="1200">
                <a:solidFill>
                  <a:schemeClr val="tx1"/>
                </a:solidFill>
                <a:latin typeface="Arial"/>
                <a:ea typeface="Arial"/>
                <a:cs typeface="Arial"/>
              </a:rPr>
              <a:t>.</a:t>
            </a:r>
          </a:p>
          <a:p xmlns:a="http://schemas.openxmlformats.org/drawingml/2006/main"/>
          <a:p xmlns:a="http://schemas.openxmlformats.org/drawingml/2006/main">
            <a:r>
              <a:rPr sz="1200">
                <a:solidFill>
                  <a:schemeClr val="tx1"/>
                </a:solidFill>
                <a:latin typeface="Arial"/>
                <a:ea typeface="Arial"/>
                <a:cs typeface="Arial"/>
              </a:rPr>
              <a:t>This </a:t>
            </a:r>
            <a:r>
              <a:rPr sz="1200">
                <a:solidFill>
                  <a:schemeClr val="tx1"/>
                </a:solidFill>
                <a:latin typeface="Arial"/>
                <a:ea typeface="Arial"/>
                <a:cs typeface="Arial"/>
              </a:rPr>
              <a:t>helps</a:t>
            </a:r>
            <a:r>
              <a:rPr sz="1200">
                <a:solidFill>
                  <a:schemeClr val="tx1"/>
                </a:solidFill>
                <a:latin typeface="Arial"/>
                <a:ea typeface="Arial"/>
                <a:cs typeface="Arial"/>
              </a:rPr>
              <a:t> </a:t>
            </a:r>
            <a:r>
              <a:rPr sz="1200">
                <a:solidFill>
                  <a:schemeClr val="tx1"/>
                </a:solidFill>
                <a:latin typeface="Arial"/>
                <a:ea typeface="Arial"/>
                <a:cs typeface="Arial"/>
              </a:rPr>
              <a:t>because</a:t>
            </a:r>
            <a:r>
              <a:rPr sz="1200">
                <a:solidFill>
                  <a:schemeClr val="tx1"/>
                </a:solidFill>
                <a:latin typeface="Arial"/>
                <a:ea typeface="Arial"/>
                <a:cs typeface="Arial"/>
              </a:rPr>
              <a:t> multiple </a:t>
            </a:r>
            <a:r>
              <a:rPr sz="1200">
                <a:solidFill>
                  <a:schemeClr val="tx1"/>
                </a:solidFill>
                <a:latin typeface="Arial"/>
                <a:ea typeface="Arial"/>
                <a:cs typeface="Arial"/>
              </a:rPr>
              <a:t>sequences</a:t>
            </a:r>
            <a:r>
              <a:rPr sz="1200">
                <a:solidFill>
                  <a:schemeClr val="tx1"/>
                </a:solidFill>
                <a:latin typeface="Arial"/>
                <a:ea typeface="Arial"/>
                <a:cs typeface="Arial"/>
              </a:rPr>
              <a:t> of actions can lead to the </a:t>
            </a:r>
            <a:r>
              <a:rPr sz="1200">
                <a:solidFill>
                  <a:schemeClr val="tx1"/>
                </a:solidFill>
                <a:latin typeface="Arial"/>
                <a:ea typeface="Arial"/>
                <a:cs typeface="Arial"/>
              </a:rPr>
              <a:t>same</a:t>
            </a:r>
            <a:r>
              <a:rPr sz="1200">
                <a:solidFill>
                  <a:schemeClr val="tx1"/>
                </a:solidFill>
                <a:latin typeface="Arial"/>
                <a:ea typeface="Arial"/>
                <a:cs typeface="Arial"/>
              </a:rPr>
              <a:t> configuration. So </a:t>
            </a:r>
            <a:r>
              <a:rPr sz="1200">
                <a:solidFill>
                  <a:schemeClr val="tx1"/>
                </a:solidFill>
                <a:latin typeface="Arial"/>
                <a:ea typeface="Arial"/>
                <a:cs typeface="Arial"/>
              </a:rPr>
              <a:t>it</a:t>
            </a:r>
            <a:r>
              <a:rPr sz="1200">
                <a:solidFill>
                  <a:schemeClr val="tx1"/>
                </a:solidFill>
                <a:latin typeface="Arial"/>
                <a:ea typeface="Arial"/>
                <a:cs typeface="Arial"/>
              </a:rPr>
              <a:t> </a:t>
            </a:r>
            <a:r>
              <a:rPr sz="1200">
                <a:solidFill>
                  <a:schemeClr val="tx1"/>
                </a:solidFill>
                <a:latin typeface="Arial"/>
                <a:ea typeface="Arial"/>
                <a:cs typeface="Arial"/>
              </a:rPr>
              <a:t>reduces</a:t>
            </a:r>
            <a:r>
              <a:rPr sz="1200">
                <a:solidFill>
                  <a:schemeClr val="tx1"/>
                </a:solidFill>
                <a:latin typeface="Arial"/>
                <a:ea typeface="Arial"/>
                <a:cs typeface="Arial"/>
              </a:rPr>
              <a:t> the action </a:t>
            </a:r>
            <a:r>
              <a:rPr sz="1200">
                <a:solidFill>
                  <a:schemeClr val="tx1"/>
                </a:solidFill>
                <a:latin typeface="Arial"/>
                <a:ea typeface="Arial"/>
                <a:cs typeface="Arial"/>
              </a:rPr>
              <a:t>space</a:t>
            </a:r>
          </a:p>
          <a:p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a:solidFill>
                  <a:schemeClr val="tx1"/>
                </a:solidFill>
                <a:latin typeface="Arial"/>
                <a:ea typeface="Arial"/>
                <a:cs typeface="Arial"/>
              </a:rPr>
              <a:t>To dive a </a:t>
            </a:r>
            <a:r>
              <a:rPr sz="1200">
                <a:solidFill>
                  <a:schemeClr val="tx1"/>
                </a:solidFill>
                <a:latin typeface="Arial"/>
                <a:ea typeface="Arial"/>
                <a:cs typeface="Arial"/>
              </a:rPr>
              <a:t>little</a:t>
            </a:r>
            <a:r>
              <a:rPr sz="1200">
                <a:solidFill>
                  <a:schemeClr val="tx1"/>
                </a:solidFill>
                <a:latin typeface="Arial"/>
                <a:ea typeface="Arial"/>
                <a:cs typeface="Arial"/>
              </a:rPr>
              <a:t> </a:t>
            </a:r>
            <a:r>
              <a:rPr sz="1200">
                <a:solidFill>
                  <a:schemeClr val="tx1"/>
                </a:solidFill>
                <a:latin typeface="Arial"/>
                <a:ea typeface="Arial"/>
                <a:cs typeface="Arial"/>
              </a:rPr>
              <a:t>deeper</a:t>
            </a:r>
            <a:r>
              <a:rPr sz="1200">
                <a:solidFill>
                  <a:schemeClr val="tx1"/>
                </a:solidFill>
                <a:latin typeface="Arial"/>
                <a:ea typeface="Arial"/>
                <a:cs typeface="Arial"/>
              </a:rPr>
              <a:t> i have been </a:t>
            </a:r>
            <a:r>
              <a:rPr sz="1200">
                <a:solidFill>
                  <a:schemeClr val="tx1"/>
                </a:solidFill>
                <a:latin typeface="Arial"/>
                <a:ea typeface="Arial"/>
                <a:cs typeface="Arial"/>
              </a:rPr>
              <a:t>looking</a:t>
            </a:r>
            <a:r>
              <a:rPr sz="1200">
                <a:solidFill>
                  <a:schemeClr val="tx1"/>
                </a:solidFill>
                <a:latin typeface="Arial"/>
                <a:ea typeface="Arial"/>
                <a:cs typeface="Arial"/>
              </a:rPr>
              <a:t> at a </a:t>
            </a:r>
            <a:r>
              <a:rPr sz="1200">
                <a:solidFill>
                  <a:schemeClr val="tx1"/>
                </a:solidFill>
                <a:latin typeface="Arial"/>
                <a:ea typeface="Arial"/>
                <a:cs typeface="Arial"/>
              </a:rPr>
              <a:t>survey</a:t>
            </a:r>
            <a:r>
              <a:rPr sz="1200">
                <a:solidFill>
                  <a:schemeClr val="tx1"/>
                </a:solidFill>
                <a:latin typeface="Arial"/>
                <a:ea typeface="Arial"/>
                <a:cs typeface="Arial"/>
              </a:rPr>
              <a:t> </a:t>
            </a:r>
            <a:r>
              <a:rPr sz="1200">
                <a:solidFill>
                  <a:schemeClr val="tx1"/>
                </a:solidFill>
                <a:latin typeface="Arial"/>
                <a:ea typeface="Arial"/>
                <a:cs typeface="Arial"/>
              </a:rPr>
              <a:t>that</a:t>
            </a:r>
            <a:r>
              <a:rPr sz="1200">
                <a:solidFill>
                  <a:schemeClr val="tx1"/>
                </a:solidFill>
                <a:latin typeface="Arial"/>
                <a:ea typeface="Arial"/>
                <a:cs typeface="Arial"/>
              </a:rPr>
              <a:t> </a:t>
            </a:r>
            <a:r>
              <a:rPr sz="1200">
                <a:solidFill>
                  <a:schemeClr val="tx1"/>
                </a:solidFill>
                <a:latin typeface="Arial"/>
                <a:ea typeface="Arial"/>
                <a:cs typeface="Arial"/>
              </a:rPr>
              <a:t>summarize</a:t>
            </a:r>
            <a:r>
              <a:rPr sz="1200">
                <a:solidFill>
                  <a:schemeClr val="tx1"/>
                </a:solidFill>
                <a:latin typeface="Arial"/>
                <a:ea typeface="Arial"/>
                <a:cs typeface="Arial"/>
              </a:rPr>
              <a:t> all the </a:t>
            </a:r>
            <a:r>
              <a:rPr sz="1200">
                <a:solidFill>
                  <a:schemeClr val="tx1"/>
                </a:solidFill>
                <a:latin typeface="Arial"/>
                <a:ea typeface="Arial"/>
                <a:cs typeface="Arial"/>
              </a:rPr>
              <a:t>algorithms</a:t>
            </a:r>
            <a:r>
              <a:rPr sz="1200">
                <a:solidFill>
                  <a:schemeClr val="tx1"/>
                </a:solidFill>
                <a:latin typeface="Arial"/>
                <a:ea typeface="Arial"/>
                <a:cs typeface="Arial"/>
              </a:rPr>
              <a:t> </a:t>
            </a:r>
            <a:r>
              <a:rPr sz="1200">
                <a:solidFill>
                  <a:schemeClr val="tx1"/>
                </a:solidFill>
                <a:latin typeface="Arial"/>
                <a:ea typeface="Arial"/>
                <a:cs typeface="Arial"/>
              </a:rPr>
              <a:t>that</a:t>
            </a:r>
            <a:r>
              <a:rPr sz="1200">
                <a:solidFill>
                  <a:schemeClr val="tx1"/>
                </a:solidFill>
                <a:latin typeface="Arial"/>
                <a:ea typeface="Arial"/>
                <a:cs typeface="Arial"/>
              </a:rPr>
              <a:t> won the l2rpn challenge and </a:t>
            </a:r>
            <a:r>
              <a:rPr sz="1200">
                <a:solidFill>
                  <a:schemeClr val="tx1"/>
                </a:solidFill>
                <a:latin typeface="Arial"/>
                <a:ea typeface="Arial"/>
                <a:cs typeface="Arial"/>
              </a:rPr>
              <a:t>this</a:t>
            </a:r>
            <a:r>
              <a:rPr sz="1200">
                <a:solidFill>
                  <a:schemeClr val="tx1"/>
                </a:solidFill>
                <a:latin typeface="Arial"/>
                <a:ea typeface="Arial"/>
                <a:cs typeface="Arial"/>
              </a:rPr>
              <a:t> </a:t>
            </a:r>
            <a:r>
              <a:rPr sz="1200">
                <a:solidFill>
                  <a:schemeClr val="tx1"/>
                </a:solidFill>
                <a:latin typeface="Arial"/>
                <a:ea typeface="Arial"/>
                <a:cs typeface="Arial"/>
              </a:rPr>
              <a:t>is</a:t>
            </a:r>
            <a:r>
              <a:rPr sz="1200">
                <a:solidFill>
                  <a:schemeClr val="tx1"/>
                </a:solidFill>
                <a:latin typeface="Arial"/>
                <a:ea typeface="Arial"/>
                <a:cs typeface="Arial"/>
              </a:rPr>
              <a:t> the main </a:t>
            </a:r>
            <a:r>
              <a:rPr sz="1200">
                <a:solidFill>
                  <a:schemeClr val="tx1"/>
                </a:solidFill>
                <a:latin typeface="Arial"/>
                <a:ea typeface="Arial"/>
                <a:cs typeface="Arial"/>
              </a:rPr>
              <a:t>categories</a:t>
            </a:r>
            <a:r>
              <a:rPr sz="1200">
                <a:solidFill>
                  <a:schemeClr val="tx1"/>
                </a:solidFill>
                <a:latin typeface="Arial"/>
                <a:ea typeface="Arial"/>
                <a:cs typeface="Arial"/>
              </a:rPr>
              <a:t> of </a:t>
            </a:r>
            <a:r>
              <a:rPr sz="1200">
                <a:solidFill>
                  <a:schemeClr val="tx1"/>
                </a:solidFill>
                <a:latin typeface="Arial"/>
                <a:ea typeface="Arial"/>
                <a:cs typeface="Arial"/>
              </a:rPr>
              <a:t>succesfull</a:t>
            </a:r>
            <a:r>
              <a:rPr sz="1200">
                <a:solidFill>
                  <a:schemeClr val="tx1"/>
                </a:solidFill>
                <a:latin typeface="Arial"/>
                <a:ea typeface="Arial"/>
                <a:cs typeface="Arial"/>
              </a:rPr>
              <a:t> </a:t>
            </a:r>
            <a:r>
              <a:rPr sz="1200">
                <a:solidFill>
                  <a:schemeClr val="tx1"/>
                </a:solidFill>
                <a:latin typeface="Arial"/>
                <a:ea typeface="Arial"/>
                <a:cs typeface="Arial"/>
              </a:rPr>
              <a:t>agentthat</a:t>
            </a:r>
            <a:r>
              <a:rPr sz="1200">
                <a:solidFill>
                  <a:schemeClr val="tx1"/>
                </a:solidFill>
                <a:latin typeface="Arial"/>
                <a:ea typeface="Arial"/>
                <a:cs typeface="Arial"/>
              </a:rPr>
              <a:t> won the challenge.</a:t>
            </a:r>
          </a:p>
          <a:p xmlns:a="http://schemas.openxmlformats.org/drawingml/2006/main"/>
          <a:p xmlns:a="http://schemas.openxmlformats.org/drawingml/2006/main">
            <a:r>
              <a:rPr sz="1200">
                <a:solidFill>
                  <a:schemeClr val="tx1"/>
                </a:solidFill>
                <a:latin typeface="Arial"/>
                <a:ea typeface="Arial"/>
                <a:cs typeface="Arial"/>
              </a:rPr>
              <a:t>Some</a:t>
            </a:r>
            <a:r>
              <a:rPr sz="1200">
                <a:solidFill>
                  <a:schemeClr val="tx1"/>
                </a:solidFill>
                <a:latin typeface="Arial"/>
                <a:ea typeface="Arial"/>
                <a:cs typeface="Arial"/>
              </a:rPr>
              <a:t> </a:t>
            </a:r>
            <a:r>
              <a:rPr sz="1200">
                <a:solidFill>
                  <a:schemeClr val="tx1"/>
                </a:solidFill>
                <a:latin typeface="Arial"/>
                <a:ea typeface="Arial"/>
                <a:cs typeface="Arial"/>
              </a:rPr>
              <a:t>approaches</a:t>
            </a:r>
            <a:r>
              <a:rPr sz="1200">
                <a:solidFill>
                  <a:schemeClr val="tx1"/>
                </a:solidFill>
                <a:latin typeface="Arial"/>
                <a:ea typeface="Arial"/>
                <a:cs typeface="Arial"/>
              </a:rPr>
              <a:t> </a:t>
            </a:r>
            <a:r>
              <a:rPr sz="1200">
                <a:solidFill>
                  <a:schemeClr val="tx1"/>
                </a:solidFill>
                <a:latin typeface="Arial"/>
                <a:ea typeface="Arial"/>
                <a:cs typeface="Arial"/>
              </a:rPr>
              <a:t>rely</a:t>
            </a:r>
            <a:r>
              <a:rPr sz="1200">
                <a:solidFill>
                  <a:schemeClr val="tx1"/>
                </a:solidFill>
                <a:latin typeface="Arial"/>
                <a:ea typeface="Arial"/>
                <a:cs typeface="Arial"/>
              </a:rPr>
              <a:t> on a single global agent </a:t>
            </a:r>
            <a:r>
              <a:rPr sz="1200">
                <a:solidFill>
                  <a:schemeClr val="tx1"/>
                </a:solidFill>
                <a:latin typeface="Arial"/>
                <a:ea typeface="Arial"/>
                <a:cs typeface="Arial"/>
              </a:rPr>
              <a:t>with</a:t>
            </a:r>
            <a:r>
              <a:rPr sz="1200">
                <a:solidFill>
                  <a:schemeClr val="tx1"/>
                </a:solidFill>
                <a:latin typeface="Arial"/>
                <a:ea typeface="Arial"/>
                <a:cs typeface="Arial"/>
              </a:rPr>
              <a:t> </a:t>
            </a:r>
            <a:r>
              <a:rPr sz="1200">
                <a:solidFill>
                  <a:schemeClr val="tx1"/>
                </a:solidFill>
                <a:latin typeface="Arial"/>
                <a:ea typeface="Arial"/>
                <a:cs typeface="Arial"/>
              </a:rPr>
              <a:t>strong</a:t>
            </a:r>
            <a:r>
              <a:rPr sz="1200">
                <a:solidFill>
                  <a:schemeClr val="tx1"/>
                </a:solidFill>
                <a:latin typeface="Arial"/>
                <a:ea typeface="Arial"/>
                <a:cs typeface="Arial"/>
              </a:rPr>
              <a:t> engineering tricks.</a:t>
            </a:r>
          </a:p>
          <a:p xmlns:a="http://schemas.openxmlformats.org/drawingml/2006/main"/>
          <a:p xmlns:a="http://schemas.openxmlformats.org/drawingml/2006/main">
            <a:r>
              <a:rPr sz="1200">
                <a:solidFill>
                  <a:schemeClr val="tx1"/>
                </a:solidFill>
                <a:latin typeface="Arial"/>
                <a:ea typeface="Arial"/>
                <a:cs typeface="Arial"/>
              </a:rPr>
              <a:t>For </a:t>
            </a:r>
            <a:r>
              <a:rPr sz="1200">
                <a:solidFill>
                  <a:schemeClr val="tx1"/>
                </a:solidFill>
                <a:latin typeface="Arial"/>
                <a:ea typeface="Arial"/>
                <a:cs typeface="Arial"/>
              </a:rPr>
              <a:t>example</a:t>
            </a:r>
            <a:r>
              <a:rPr sz="1200">
                <a:solidFill>
                  <a:schemeClr val="tx1"/>
                </a:solidFill>
                <a:latin typeface="Arial"/>
                <a:ea typeface="Arial"/>
                <a:cs typeface="Arial"/>
              </a:rPr>
              <a:t>, </a:t>
            </a:r>
            <a:r>
              <a:rPr sz="1200">
                <a:solidFill>
                  <a:schemeClr val="tx1"/>
                </a:solidFill>
                <a:latin typeface="Arial"/>
                <a:ea typeface="Arial"/>
                <a:cs typeface="Arial"/>
              </a:rPr>
              <a:t>they</a:t>
            </a:r>
            <a:r>
              <a:rPr sz="1200">
                <a:solidFill>
                  <a:schemeClr val="tx1"/>
                </a:solidFill>
                <a:latin typeface="Arial"/>
                <a:ea typeface="Arial"/>
                <a:cs typeface="Arial"/>
              </a:rPr>
              <a:t> use graph neural networks </a:t>
            </a:r>
            <a:r>
              <a:rPr sz="1200">
                <a:solidFill>
                  <a:schemeClr val="tx1"/>
                </a:solidFill>
                <a:latin typeface="Arial"/>
                <a:ea typeface="Arial"/>
                <a:cs typeface="Arial"/>
              </a:rPr>
              <a:t>combined</a:t>
            </a:r>
            <a:r>
              <a:rPr sz="1200">
                <a:solidFill>
                  <a:schemeClr val="tx1"/>
                </a:solidFill>
                <a:latin typeface="Arial"/>
                <a:ea typeface="Arial"/>
                <a:cs typeface="Arial"/>
              </a:rPr>
              <a:t> </a:t>
            </a:r>
            <a:r>
              <a:rPr sz="1200">
                <a:solidFill>
                  <a:schemeClr val="tx1"/>
                </a:solidFill>
                <a:latin typeface="Arial"/>
                <a:ea typeface="Arial"/>
                <a:cs typeface="Arial"/>
              </a:rPr>
              <a:t>with</a:t>
            </a:r>
            <a:r>
              <a:rPr sz="1200">
                <a:solidFill>
                  <a:schemeClr val="tx1"/>
                </a:solidFill>
                <a:latin typeface="Arial"/>
                <a:ea typeface="Arial"/>
                <a:cs typeface="Arial"/>
              </a:rPr>
              <a:t> value-</a:t>
            </a:r>
            <a:r>
              <a:rPr sz="1200">
                <a:solidFill>
                  <a:schemeClr val="tx1"/>
                </a:solidFill>
                <a:latin typeface="Arial"/>
                <a:ea typeface="Arial"/>
                <a:cs typeface="Arial"/>
              </a:rPr>
              <a:t>based</a:t>
            </a:r>
            <a:r>
              <a:rPr sz="1200">
                <a:solidFill>
                  <a:schemeClr val="tx1"/>
                </a:solidFill>
                <a:latin typeface="Arial"/>
                <a:ea typeface="Arial"/>
                <a:cs typeface="Arial"/>
              </a:rPr>
              <a:t> RL, and </a:t>
            </a:r>
            <a:r>
              <a:rPr sz="1200">
                <a:solidFill>
                  <a:schemeClr val="tx1"/>
                </a:solidFill>
                <a:latin typeface="Arial"/>
                <a:ea typeface="Arial"/>
                <a:cs typeface="Arial"/>
              </a:rPr>
              <a:t>validate</a:t>
            </a:r>
            <a:r>
              <a:rPr sz="1200">
                <a:solidFill>
                  <a:schemeClr val="tx1"/>
                </a:solidFill>
                <a:latin typeface="Arial"/>
                <a:ea typeface="Arial"/>
                <a:cs typeface="Arial"/>
              </a:rPr>
              <a:t> actions </a:t>
            </a:r>
            <a:r>
              <a:rPr sz="1200">
                <a:solidFill>
                  <a:schemeClr val="tx1"/>
                </a:solidFill>
                <a:latin typeface="Arial"/>
                <a:ea typeface="Arial"/>
                <a:cs typeface="Arial"/>
              </a:rPr>
              <a:t>using</a:t>
            </a:r>
            <a:r>
              <a:rPr sz="1200">
                <a:solidFill>
                  <a:schemeClr val="tx1"/>
                </a:solidFill>
                <a:latin typeface="Arial"/>
                <a:ea typeface="Arial"/>
                <a:cs typeface="Arial"/>
              </a:rPr>
              <a:t> power-flow simulations.</a:t>
            </a:r>
          </a:p>
          <a:p xmlns:a="http://schemas.openxmlformats.org/drawingml/2006/main"/>
          <a:p xmlns:a="http://schemas.openxmlformats.org/drawingml/2006/main">
            <a:r>
              <a:rPr sz="1200">
                <a:solidFill>
                  <a:schemeClr val="tx1"/>
                </a:solidFill>
                <a:latin typeface="Arial"/>
                <a:ea typeface="Arial"/>
                <a:cs typeface="Arial"/>
              </a:rPr>
              <a:t>Others</a:t>
            </a:r>
            <a:r>
              <a:rPr sz="1200">
                <a:solidFill>
                  <a:schemeClr val="tx1"/>
                </a:solidFill>
                <a:latin typeface="Arial"/>
                <a:ea typeface="Arial"/>
                <a:cs typeface="Arial"/>
              </a:rPr>
              <a:t> </a:t>
            </a:r>
            <a:r>
              <a:rPr sz="1200">
                <a:solidFill>
                  <a:schemeClr val="tx1"/>
                </a:solidFill>
                <a:latin typeface="Arial"/>
                <a:ea typeface="Arial"/>
                <a:cs typeface="Arial"/>
              </a:rPr>
              <a:t>reduce</a:t>
            </a:r>
            <a:r>
              <a:rPr sz="1200">
                <a:solidFill>
                  <a:schemeClr val="tx1"/>
                </a:solidFill>
                <a:latin typeface="Arial"/>
                <a:ea typeface="Arial"/>
                <a:cs typeface="Arial"/>
              </a:rPr>
              <a:t> the action </a:t>
            </a:r>
            <a:r>
              <a:rPr sz="1200">
                <a:solidFill>
                  <a:schemeClr val="tx1"/>
                </a:solidFill>
                <a:latin typeface="Arial"/>
                <a:ea typeface="Arial"/>
                <a:cs typeface="Arial"/>
              </a:rPr>
              <a:t>space</a:t>
            </a:r>
            <a:r>
              <a:rPr sz="1200">
                <a:solidFill>
                  <a:schemeClr val="tx1"/>
                </a:solidFill>
                <a:latin typeface="Arial"/>
                <a:ea typeface="Arial"/>
                <a:cs typeface="Arial"/>
              </a:rPr>
              <a:t> </a:t>
            </a:r>
            <a:r>
              <a:rPr sz="1200">
                <a:solidFill>
                  <a:schemeClr val="tx1"/>
                </a:solidFill>
                <a:latin typeface="Arial"/>
                <a:ea typeface="Arial"/>
                <a:cs typeface="Arial"/>
              </a:rPr>
              <a:t>using</a:t>
            </a:r>
            <a:r>
              <a:rPr sz="1200">
                <a:solidFill>
                  <a:schemeClr val="tx1"/>
                </a:solidFill>
                <a:latin typeface="Arial"/>
                <a:ea typeface="Arial"/>
                <a:cs typeface="Arial"/>
              </a:rPr>
              <a:t> </a:t>
            </a:r>
            <a:r>
              <a:rPr sz="1200">
                <a:solidFill>
                  <a:schemeClr val="tx1"/>
                </a:solidFill>
                <a:latin typeface="Arial"/>
                <a:ea typeface="Arial"/>
                <a:cs typeface="Arial"/>
              </a:rPr>
              <a:t>masking</a:t>
            </a:r>
            <a:r>
              <a:rPr sz="1200">
                <a:solidFill>
                  <a:schemeClr val="tx1"/>
                </a:solidFill>
                <a:latin typeface="Arial"/>
                <a:ea typeface="Arial"/>
                <a:cs typeface="Arial"/>
              </a:rPr>
              <a:t> or </a:t>
            </a:r>
            <a:r>
              <a:rPr sz="1200">
                <a:solidFill>
                  <a:schemeClr val="tx1"/>
                </a:solidFill>
                <a:latin typeface="Arial"/>
                <a:ea typeface="Arial"/>
                <a:cs typeface="Arial"/>
              </a:rPr>
              <a:t>pruning</a:t>
            </a:r>
            <a:r>
              <a:rPr sz="1200">
                <a:solidFill>
                  <a:schemeClr val="tx1"/>
                </a:solidFill>
                <a:latin typeface="Arial"/>
                <a:ea typeface="Arial"/>
                <a:cs typeface="Arial"/>
              </a:rPr>
              <a:t>.</a:t>
            </a:r>
          </a:p>
          <a:p xmlns:a="http://schemas.openxmlformats.org/drawingml/2006/main"/>
          <a:p xmlns:a="http://schemas.openxmlformats.org/drawingml/2006/main">
            <a:r>
              <a:rPr sz="1200">
                <a:solidFill>
                  <a:schemeClr val="tx1"/>
                </a:solidFill>
                <a:latin typeface="Arial"/>
                <a:ea typeface="Arial"/>
                <a:cs typeface="Arial"/>
              </a:rPr>
              <a:t>These</a:t>
            </a:r>
            <a:r>
              <a:rPr sz="1200">
                <a:solidFill>
                  <a:schemeClr val="tx1"/>
                </a:solidFill>
                <a:latin typeface="Arial"/>
                <a:ea typeface="Arial"/>
                <a:cs typeface="Arial"/>
              </a:rPr>
              <a:t> </a:t>
            </a:r>
            <a:r>
              <a:rPr sz="1200">
                <a:solidFill>
                  <a:schemeClr val="tx1"/>
                </a:solidFill>
                <a:latin typeface="Arial"/>
                <a:ea typeface="Arial"/>
                <a:cs typeface="Arial"/>
              </a:rPr>
              <a:t>methods</a:t>
            </a:r>
            <a:r>
              <a:rPr sz="1200">
                <a:solidFill>
                  <a:schemeClr val="tx1"/>
                </a:solidFill>
                <a:latin typeface="Arial"/>
                <a:ea typeface="Arial"/>
                <a:cs typeface="Arial"/>
              </a:rPr>
              <a:t> can </a:t>
            </a:r>
            <a:r>
              <a:rPr sz="1200">
                <a:solidFill>
                  <a:schemeClr val="tx1"/>
                </a:solidFill>
                <a:latin typeface="Arial"/>
                <a:ea typeface="Arial"/>
                <a:cs typeface="Arial"/>
              </a:rPr>
              <a:t>work</a:t>
            </a:r>
            <a:r>
              <a:rPr sz="1200">
                <a:solidFill>
                  <a:schemeClr val="tx1"/>
                </a:solidFill>
                <a:latin typeface="Arial"/>
                <a:ea typeface="Arial"/>
                <a:cs typeface="Arial"/>
              </a:rPr>
              <a:t>, </a:t>
            </a:r>
            <a:r>
              <a:rPr sz="1200">
                <a:solidFill>
                  <a:schemeClr val="tx1"/>
                </a:solidFill>
                <a:latin typeface="Arial"/>
                <a:ea typeface="Arial"/>
                <a:cs typeface="Arial"/>
              </a:rPr>
              <a:t>so</a:t>
            </a:r>
            <a:r>
              <a:rPr sz="1200">
                <a:solidFill>
                  <a:schemeClr val="tx1"/>
                </a:solidFill>
                <a:latin typeface="Arial"/>
                <a:ea typeface="Arial"/>
                <a:cs typeface="Arial"/>
              </a:rPr>
              <a:t> </a:t>
            </a:r>
            <a:r>
              <a:rPr sz="1200">
                <a:solidFill>
                  <a:schemeClr val="tx1"/>
                </a:solidFill>
                <a:latin typeface="Arial"/>
                <a:ea typeface="Arial"/>
                <a:cs typeface="Arial"/>
              </a:rPr>
              <a:t>mixing</a:t>
            </a:r>
            <a:r>
              <a:rPr sz="1200">
                <a:solidFill>
                  <a:schemeClr val="tx1"/>
                </a:solidFill>
                <a:latin typeface="Arial"/>
                <a:ea typeface="Arial"/>
                <a:cs typeface="Arial"/>
              </a:rPr>
              <a:t> a single agent </a:t>
            </a:r>
            <a:r>
              <a:rPr sz="1200">
                <a:solidFill>
                  <a:schemeClr val="tx1"/>
                </a:solidFill>
                <a:latin typeface="Arial"/>
                <a:ea typeface="Arial"/>
                <a:cs typeface="Arial"/>
              </a:rPr>
              <a:t>with</a:t>
            </a:r>
            <a:r>
              <a:rPr sz="1200">
                <a:solidFill>
                  <a:schemeClr val="tx1"/>
                </a:solidFill>
                <a:latin typeface="Arial"/>
                <a:ea typeface="Arial"/>
                <a:cs typeface="Arial"/>
              </a:rPr>
              <a:t> </a:t>
            </a:r>
            <a:r>
              <a:rPr sz="1200">
                <a:solidFill>
                  <a:schemeClr val="tx1"/>
                </a:solidFill>
                <a:latin typeface="Arial"/>
                <a:ea typeface="Arial"/>
                <a:cs typeface="Arial"/>
              </a:rPr>
              <a:t>rules</a:t>
            </a:r>
            <a:r>
              <a:rPr sz="1200">
                <a:solidFill>
                  <a:schemeClr val="tx1"/>
                </a:solidFill>
                <a:latin typeface="Arial"/>
                <a:ea typeface="Arial"/>
                <a:cs typeface="Arial"/>
              </a:rPr>
              <a:t>, but </a:t>
            </a:r>
            <a:r>
              <a:rPr sz="1200">
                <a:solidFill>
                  <a:schemeClr val="tx1"/>
                </a:solidFill>
                <a:latin typeface="Arial"/>
                <a:ea typeface="Arial"/>
                <a:cs typeface="Arial"/>
              </a:rPr>
              <a:t>they</a:t>
            </a:r>
            <a:r>
              <a:rPr sz="1200">
                <a:solidFill>
                  <a:schemeClr val="tx1"/>
                </a:solidFill>
                <a:latin typeface="Arial"/>
                <a:ea typeface="Arial"/>
                <a:cs typeface="Arial"/>
              </a:rPr>
              <a:t> </a:t>
            </a:r>
            <a:r>
              <a:rPr sz="1200">
                <a:solidFill>
                  <a:schemeClr val="tx1"/>
                </a:solidFill>
                <a:latin typeface="Arial"/>
                <a:ea typeface="Arial"/>
                <a:cs typeface="Arial"/>
              </a:rPr>
              <a:t>suffer</a:t>
            </a:r>
            <a:r>
              <a:rPr sz="1200">
                <a:solidFill>
                  <a:schemeClr val="tx1"/>
                </a:solidFill>
                <a:latin typeface="Arial"/>
                <a:ea typeface="Arial"/>
                <a:cs typeface="Arial"/>
              </a:rPr>
              <a:t> </a:t>
            </a:r>
            <a:r>
              <a:rPr sz="1200">
                <a:solidFill>
                  <a:schemeClr val="tx1"/>
                </a:solidFill>
                <a:latin typeface="Arial"/>
                <a:ea typeface="Arial"/>
                <a:cs typeface="Arial"/>
              </a:rPr>
              <a:t>because</a:t>
            </a:r>
            <a:r>
              <a:rPr sz="1200">
                <a:solidFill>
                  <a:schemeClr val="tx1"/>
                </a:solidFill>
                <a:latin typeface="Arial"/>
                <a:ea typeface="Arial"/>
                <a:cs typeface="Arial"/>
              </a:rPr>
              <a:t> the action </a:t>
            </a:r>
            <a:r>
              <a:rPr sz="1200">
                <a:solidFill>
                  <a:schemeClr val="tx1"/>
                </a:solidFill>
                <a:latin typeface="Arial"/>
                <a:ea typeface="Arial"/>
                <a:cs typeface="Arial"/>
              </a:rPr>
              <a:t>space</a:t>
            </a:r>
            <a:r>
              <a:rPr sz="1200">
                <a:solidFill>
                  <a:schemeClr val="tx1"/>
                </a:solidFill>
                <a:latin typeface="Arial"/>
                <a:ea typeface="Arial"/>
                <a:cs typeface="Arial"/>
              </a:rPr>
              <a:t> </a:t>
            </a:r>
            <a:r>
              <a:rPr sz="1200">
                <a:solidFill>
                  <a:schemeClr val="tx1"/>
                </a:solidFill>
                <a:latin typeface="Arial"/>
                <a:ea typeface="Arial"/>
                <a:cs typeface="Arial"/>
              </a:rPr>
              <a:t>remains</a:t>
            </a:r>
            <a:r>
              <a:rPr sz="1200">
                <a:solidFill>
                  <a:schemeClr val="tx1"/>
                </a:solidFill>
                <a:latin typeface="Arial"/>
                <a:ea typeface="Arial"/>
                <a:cs typeface="Arial"/>
              </a:rPr>
              <a:t> </a:t>
            </a:r>
            <a:r>
              <a:rPr sz="1200">
                <a:solidFill>
                  <a:schemeClr val="tx1"/>
                </a:solidFill>
                <a:latin typeface="Arial"/>
                <a:ea typeface="Arial"/>
                <a:cs typeface="Arial"/>
              </a:rPr>
              <a:t>very</a:t>
            </a:r>
            <a:r>
              <a:rPr sz="1200">
                <a:solidFill>
                  <a:schemeClr val="tx1"/>
                </a:solidFill>
                <a:latin typeface="Arial"/>
                <a:ea typeface="Arial"/>
                <a:cs typeface="Arial"/>
              </a:rPr>
              <a:t> large.”</a:t>
            </a:r>
          </a:p>
          <a:p xmlns:a="http://schemas.openxmlformats.org/drawingml/2006/main"/>
          <a:p xmlns:a="http://schemas.openxmlformats.org/drawingml/2006/main">
            <a:r>
              <a:rPr sz="1200">
                <a:solidFill>
                  <a:schemeClr val="tx1"/>
                </a:solidFill>
                <a:latin typeface="Arial"/>
                <a:ea typeface="Arial"/>
                <a:cs typeface="Arial"/>
              </a:rPr>
              <a:t>Another</a:t>
            </a:r>
            <a:r>
              <a:rPr sz="1200">
                <a:solidFill>
                  <a:schemeClr val="tx1"/>
                </a:solidFill>
                <a:latin typeface="Arial"/>
                <a:ea typeface="Arial"/>
                <a:cs typeface="Arial"/>
              </a:rPr>
              <a:t> important </a:t>
            </a:r>
            <a:r>
              <a:rPr sz="1200">
                <a:solidFill>
                  <a:schemeClr val="tx1"/>
                </a:solidFill>
                <a:latin typeface="Arial"/>
                <a:ea typeface="Arial"/>
                <a:cs typeface="Arial"/>
              </a:rPr>
              <a:t>idea</a:t>
            </a:r>
            <a:r>
              <a:rPr sz="1200">
                <a:solidFill>
                  <a:schemeClr val="tx1"/>
                </a:solidFill>
                <a:latin typeface="Arial"/>
                <a:ea typeface="Arial"/>
                <a:cs typeface="Arial"/>
              </a:rPr>
              <a:t> </a:t>
            </a:r>
            <a:r>
              <a:rPr sz="1200">
                <a:solidFill>
                  <a:schemeClr val="tx1"/>
                </a:solidFill>
                <a:latin typeface="Arial"/>
                <a:ea typeface="Arial"/>
                <a:cs typeface="Arial"/>
              </a:rPr>
              <a:t>is</a:t>
            </a:r>
            <a:r>
              <a:rPr sz="1200">
                <a:solidFill>
                  <a:schemeClr val="tx1"/>
                </a:solidFill>
                <a:latin typeface="Arial"/>
                <a:ea typeface="Arial"/>
                <a:cs typeface="Arial"/>
              </a:rPr>
              <a:t> to </a:t>
            </a:r>
            <a:r>
              <a:rPr sz="1200">
                <a:solidFill>
                  <a:schemeClr val="tx1"/>
                </a:solidFill>
                <a:latin typeface="Arial"/>
                <a:ea typeface="Arial"/>
                <a:cs typeface="Arial"/>
              </a:rPr>
              <a:t>predict</a:t>
            </a:r>
            <a:r>
              <a:rPr sz="1200">
                <a:solidFill>
                  <a:schemeClr val="tx1"/>
                </a:solidFill>
                <a:latin typeface="Arial"/>
                <a:ea typeface="Arial"/>
                <a:cs typeface="Arial"/>
              </a:rPr>
              <a:t> a </a:t>
            </a:r>
            <a:r>
              <a:rPr sz="1200" b="1">
                <a:solidFill>
                  <a:schemeClr val="tx1"/>
                </a:solidFill>
                <a:latin typeface="Arial"/>
                <a:ea typeface="Arial"/>
                <a:cs typeface="Arial"/>
              </a:rPr>
              <a:t>target</a:t>
            </a:r>
            <a:r>
              <a:rPr sz="1200" b="1">
                <a:solidFill>
                  <a:schemeClr val="tx1"/>
                </a:solidFill>
                <a:latin typeface="Arial"/>
                <a:ea typeface="Arial"/>
                <a:cs typeface="Arial"/>
              </a:rPr>
              <a:t> </a:t>
            </a:r>
            <a:r>
              <a:rPr sz="1200" b="1">
                <a:solidFill>
                  <a:schemeClr val="tx1"/>
                </a:solidFill>
                <a:latin typeface="Arial"/>
                <a:ea typeface="Arial"/>
                <a:cs typeface="Arial"/>
              </a:rPr>
              <a:t>topology</a:t>
            </a:r>
            <a:r>
              <a:rPr sz="1200" b="1">
                <a:solidFill>
                  <a:schemeClr val="tx1"/>
                </a:solidFill>
                <a:latin typeface="Arial"/>
                <a:ea typeface="Arial"/>
                <a:cs typeface="Arial"/>
              </a:rPr>
              <a:t> </a:t>
            </a:r>
            <a:r>
              <a:rPr sz="1200" b="1">
                <a:solidFill>
                  <a:schemeClr val="tx1"/>
                </a:solidFill>
                <a:latin typeface="Arial"/>
                <a:ea typeface="Arial"/>
                <a:cs typeface="Arial"/>
              </a:rPr>
              <a:t>instead</a:t>
            </a:r>
            <a:r>
              <a:rPr sz="1200" b="1">
                <a:solidFill>
                  <a:schemeClr val="tx1"/>
                </a:solidFill>
                <a:latin typeface="Arial"/>
                <a:ea typeface="Arial"/>
                <a:cs typeface="Arial"/>
              </a:rPr>
              <a:t> of </a:t>
            </a:r>
            <a:r>
              <a:rPr sz="1200" b="1">
                <a:solidFill>
                  <a:schemeClr val="tx1"/>
                </a:solidFill>
                <a:latin typeface="Arial"/>
                <a:ea typeface="Arial"/>
                <a:cs typeface="Arial"/>
              </a:rPr>
              <a:t>raw</a:t>
            </a:r>
            <a:r>
              <a:rPr sz="1200" b="1">
                <a:solidFill>
                  <a:schemeClr val="tx1"/>
                </a:solidFill>
                <a:latin typeface="Arial"/>
                <a:ea typeface="Arial"/>
                <a:cs typeface="Arial"/>
              </a:rPr>
              <a:t> actions</a:t>
            </a:r>
            <a:r>
              <a:rPr sz="1200">
                <a:solidFill>
                  <a:schemeClr val="tx1"/>
                </a:solidFill>
                <a:latin typeface="Arial"/>
                <a:ea typeface="Arial"/>
                <a:cs typeface="Arial"/>
              </a:rPr>
              <a:t>.</a:t>
            </a:r>
          </a:p>
          <a:p xmlns:a="http://schemas.openxmlformats.org/drawingml/2006/main"/>
          <a:p xmlns:a="http://schemas.openxmlformats.org/drawingml/2006/main">
            <a:r>
              <a:rPr sz="1200">
                <a:solidFill>
                  <a:schemeClr val="tx1"/>
                </a:solidFill>
                <a:latin typeface="Arial"/>
                <a:ea typeface="Arial"/>
                <a:cs typeface="Arial"/>
              </a:rPr>
              <a:t>This </a:t>
            </a:r>
            <a:r>
              <a:rPr sz="1200">
                <a:solidFill>
                  <a:schemeClr val="tx1"/>
                </a:solidFill>
                <a:latin typeface="Arial"/>
                <a:ea typeface="Arial"/>
                <a:cs typeface="Arial"/>
              </a:rPr>
              <a:t>is</a:t>
            </a:r>
            <a:r>
              <a:rPr sz="1200">
                <a:solidFill>
                  <a:schemeClr val="tx1"/>
                </a:solidFill>
                <a:latin typeface="Arial"/>
                <a:ea typeface="Arial"/>
                <a:cs typeface="Arial"/>
              </a:rPr>
              <a:t> </a:t>
            </a:r>
            <a:r>
              <a:rPr sz="1200">
                <a:solidFill>
                  <a:schemeClr val="tx1"/>
                </a:solidFill>
                <a:latin typeface="Arial"/>
                <a:ea typeface="Arial"/>
                <a:cs typeface="Arial"/>
              </a:rPr>
              <a:t>used</a:t>
            </a:r>
            <a:r>
              <a:rPr sz="1200">
                <a:solidFill>
                  <a:schemeClr val="tx1"/>
                </a:solidFill>
                <a:latin typeface="Arial"/>
                <a:ea typeface="Arial"/>
                <a:cs typeface="Arial"/>
              </a:rPr>
              <a:t> in SMAAC, </a:t>
            </a:r>
            <a:r>
              <a:rPr sz="1200">
                <a:solidFill>
                  <a:schemeClr val="tx1"/>
                </a:solidFill>
                <a:latin typeface="Arial"/>
                <a:ea typeface="Arial"/>
                <a:cs typeface="Arial"/>
              </a:rPr>
              <a:t>where</a:t>
            </a:r>
            <a:r>
              <a:rPr sz="1200">
                <a:solidFill>
                  <a:schemeClr val="tx1"/>
                </a:solidFill>
                <a:latin typeface="Arial"/>
                <a:ea typeface="Arial"/>
                <a:cs typeface="Arial"/>
              </a:rPr>
              <a:t> </a:t>
            </a:r>
            <a:r>
              <a:rPr sz="1200">
                <a:solidFill>
                  <a:schemeClr val="tx1"/>
                </a:solidFill>
                <a:latin typeface="Arial"/>
                <a:ea typeface="Arial"/>
                <a:cs typeface="Arial"/>
              </a:rPr>
              <a:t>the</a:t>
            </a:r>
            <a:r>
              <a:rPr sz="1200">
                <a:solidFill>
                  <a:schemeClr val="tx1"/>
                </a:solidFill>
                <a:latin typeface="Arial"/>
                <a:ea typeface="Arial"/>
                <a:cs typeface="Arial"/>
              </a:rPr>
              <a:t> </a:t>
            </a:r>
            <a:r>
              <a:rPr sz="1200">
                <a:solidFill>
                  <a:schemeClr val="tx1"/>
                </a:solidFill>
                <a:latin typeface="Arial"/>
                <a:ea typeface="Arial"/>
                <a:cs typeface="Arial"/>
              </a:rPr>
              <a:t>agent</a:t>
            </a:r>
            <a:r>
              <a:rPr sz="1200">
                <a:solidFill>
                  <a:schemeClr val="tx1"/>
                </a:solidFill>
                <a:latin typeface="Arial"/>
                <a:ea typeface="Arial"/>
                <a:cs typeface="Arial"/>
              </a:rPr>
              <a:t> </a:t>
            </a:r>
            <a:r>
              <a:rPr sz="1200">
                <a:solidFill>
                  <a:schemeClr val="tx1"/>
                </a:solidFill>
                <a:latin typeface="Arial"/>
                <a:ea typeface="Arial"/>
                <a:cs typeface="Arial"/>
              </a:rPr>
              <a:t>learns</a:t>
            </a:r>
            <a:r>
              <a:rPr sz="1200">
                <a:solidFill>
                  <a:schemeClr val="tx1"/>
                </a:solidFill>
                <a:latin typeface="Arial"/>
                <a:ea typeface="Arial"/>
                <a:cs typeface="Arial"/>
              </a:rPr>
              <a:t> an </a:t>
            </a:r>
            <a:r>
              <a:rPr sz="1200">
                <a:solidFill>
                  <a:schemeClr val="tx1"/>
                </a:solidFill>
                <a:latin typeface="Arial"/>
                <a:ea typeface="Arial"/>
                <a:cs typeface="Arial"/>
              </a:rPr>
              <a:t>afterstate</a:t>
            </a:r>
            <a:r>
              <a:rPr sz="1200">
                <a:solidFill>
                  <a:schemeClr val="tx1"/>
                </a:solidFill>
                <a:latin typeface="Arial"/>
                <a:ea typeface="Arial"/>
                <a:cs typeface="Arial"/>
              </a:rPr>
              <a:t> </a:t>
            </a:r>
            <a:r>
              <a:rPr sz="1200">
                <a:solidFill>
                  <a:schemeClr val="tx1"/>
                </a:solidFill>
                <a:latin typeface="Arial"/>
                <a:ea typeface="Arial"/>
                <a:cs typeface="Arial"/>
              </a:rPr>
              <a:t>representation</a:t>
            </a:r>
            <a:r>
              <a:rPr sz="1200">
                <a:solidFill>
                  <a:schemeClr val="tx1"/>
                </a:solidFill>
                <a:latin typeface="Arial"/>
                <a:ea typeface="Arial"/>
                <a:cs typeface="Arial"/>
              </a:rPr>
              <a:t>—</a:t>
            </a:r>
            <a:r>
              <a:rPr sz="1200">
                <a:solidFill>
                  <a:schemeClr val="tx1"/>
                </a:solidFill>
                <a:latin typeface="Arial"/>
                <a:ea typeface="Arial"/>
                <a:cs typeface="Arial"/>
              </a:rPr>
              <a:t>basically</a:t>
            </a:r>
            <a:r>
              <a:rPr sz="1200">
                <a:solidFill>
                  <a:schemeClr val="tx1"/>
                </a:solidFill>
                <a:latin typeface="Arial"/>
                <a:ea typeface="Arial"/>
                <a:cs typeface="Arial"/>
              </a:rPr>
              <a:t> </a:t>
            </a:r>
            <a:r>
              <a:rPr sz="1200">
                <a:solidFill>
                  <a:schemeClr val="tx1"/>
                </a:solidFill>
                <a:latin typeface="Arial"/>
                <a:ea typeface="Arial"/>
                <a:cs typeface="Arial"/>
              </a:rPr>
              <a:t>the</a:t>
            </a:r>
            <a:r>
              <a:rPr sz="1200">
                <a:solidFill>
                  <a:schemeClr val="tx1"/>
                </a:solidFill>
                <a:latin typeface="Arial"/>
                <a:ea typeface="Arial"/>
                <a:cs typeface="Arial"/>
              </a:rPr>
              <a:t> </a:t>
            </a:r>
            <a:r>
              <a:rPr sz="1200">
                <a:solidFill>
                  <a:schemeClr val="tx1"/>
                </a:solidFill>
                <a:latin typeface="Arial"/>
                <a:ea typeface="Arial"/>
                <a:cs typeface="Arial"/>
              </a:rPr>
              <a:t>resulting</a:t>
            </a:r>
            <a:r>
              <a:rPr sz="1200">
                <a:solidFill>
                  <a:schemeClr val="tx1"/>
                </a:solidFill>
                <a:latin typeface="Arial"/>
                <a:ea typeface="Arial"/>
                <a:cs typeface="Arial"/>
              </a:rPr>
              <a:t> </a:t>
            </a:r>
            <a:r>
              <a:rPr sz="1200">
                <a:solidFill>
                  <a:schemeClr val="tx1"/>
                </a:solidFill>
                <a:latin typeface="Arial"/>
                <a:ea typeface="Arial"/>
                <a:cs typeface="Arial"/>
              </a:rPr>
              <a:t>topology</a:t>
            </a:r>
            <a:r>
              <a:rPr sz="1200">
                <a:solidFill>
                  <a:schemeClr val="tx1"/>
                </a:solidFill>
                <a:latin typeface="Arial"/>
                <a:ea typeface="Arial"/>
                <a:cs typeface="Arial"/>
              </a:rPr>
              <a:t> after an </a:t>
            </a:r>
            <a:r>
              <a:rPr sz="1200">
                <a:solidFill>
                  <a:schemeClr val="tx1"/>
                </a:solidFill>
                <a:latin typeface="Arial"/>
                <a:ea typeface="Arial"/>
                <a:cs typeface="Arial"/>
              </a:rPr>
              <a:t>action</a:t>
            </a:r>
            <a:r>
              <a:rPr sz="1200">
                <a:solidFill>
                  <a:schemeClr val="tx1"/>
                </a:solidFill>
                <a:latin typeface="Arial"/>
                <a:ea typeface="Arial"/>
                <a:cs typeface="Arial"/>
              </a:rPr>
              <a:t>.</a:t>
            </a:r>
          </a:p>
          <a:p xmlns:a="http://schemas.openxmlformats.org/drawingml/2006/main"/>
          <a:p xmlns:a="http://schemas.openxmlformats.org/drawingml/2006/main">
            <a:r>
              <a:rPr sz="1200">
                <a:solidFill>
                  <a:schemeClr val="tx1"/>
                </a:solidFill>
                <a:latin typeface="Arial"/>
                <a:ea typeface="Arial"/>
                <a:cs typeface="Arial"/>
              </a:rPr>
              <a:t>This </a:t>
            </a:r>
            <a:r>
              <a:rPr sz="1200">
                <a:solidFill>
                  <a:schemeClr val="tx1"/>
                </a:solidFill>
                <a:latin typeface="Arial"/>
                <a:ea typeface="Arial"/>
                <a:cs typeface="Arial"/>
              </a:rPr>
              <a:t>helps</a:t>
            </a:r>
            <a:r>
              <a:rPr sz="1200">
                <a:solidFill>
                  <a:schemeClr val="tx1"/>
                </a:solidFill>
                <a:latin typeface="Arial"/>
                <a:ea typeface="Arial"/>
                <a:cs typeface="Arial"/>
              </a:rPr>
              <a:t> </a:t>
            </a:r>
            <a:r>
              <a:rPr sz="1200">
                <a:solidFill>
                  <a:schemeClr val="tx1"/>
                </a:solidFill>
                <a:latin typeface="Arial"/>
                <a:ea typeface="Arial"/>
                <a:cs typeface="Arial"/>
              </a:rPr>
              <a:t>because</a:t>
            </a:r>
            <a:r>
              <a:rPr sz="1200">
                <a:solidFill>
                  <a:schemeClr val="tx1"/>
                </a:solidFill>
                <a:latin typeface="Arial"/>
                <a:ea typeface="Arial"/>
                <a:cs typeface="Arial"/>
              </a:rPr>
              <a:t> multiple </a:t>
            </a:r>
            <a:r>
              <a:rPr sz="1200">
                <a:solidFill>
                  <a:schemeClr val="tx1"/>
                </a:solidFill>
                <a:latin typeface="Arial"/>
                <a:ea typeface="Arial"/>
                <a:cs typeface="Arial"/>
              </a:rPr>
              <a:t>sequences</a:t>
            </a:r>
            <a:r>
              <a:rPr sz="1200">
                <a:solidFill>
                  <a:schemeClr val="tx1"/>
                </a:solidFill>
                <a:latin typeface="Arial"/>
                <a:ea typeface="Arial"/>
                <a:cs typeface="Arial"/>
              </a:rPr>
              <a:t> of actions can lead to the </a:t>
            </a:r>
            <a:r>
              <a:rPr sz="1200">
                <a:solidFill>
                  <a:schemeClr val="tx1"/>
                </a:solidFill>
                <a:latin typeface="Arial"/>
                <a:ea typeface="Arial"/>
                <a:cs typeface="Arial"/>
              </a:rPr>
              <a:t>same</a:t>
            </a:r>
            <a:r>
              <a:rPr sz="1200">
                <a:solidFill>
                  <a:schemeClr val="tx1"/>
                </a:solidFill>
                <a:latin typeface="Arial"/>
                <a:ea typeface="Arial"/>
                <a:cs typeface="Arial"/>
              </a:rPr>
              <a:t> configuration. So </a:t>
            </a:r>
            <a:r>
              <a:rPr sz="1200">
                <a:solidFill>
                  <a:schemeClr val="tx1"/>
                </a:solidFill>
                <a:latin typeface="Arial"/>
                <a:ea typeface="Arial"/>
                <a:cs typeface="Arial"/>
              </a:rPr>
              <a:t>it</a:t>
            </a:r>
            <a:r>
              <a:rPr sz="1200">
                <a:solidFill>
                  <a:schemeClr val="tx1"/>
                </a:solidFill>
                <a:latin typeface="Arial"/>
                <a:ea typeface="Arial"/>
                <a:cs typeface="Arial"/>
              </a:rPr>
              <a:t> </a:t>
            </a:r>
            <a:r>
              <a:rPr sz="1200">
                <a:solidFill>
                  <a:schemeClr val="tx1"/>
                </a:solidFill>
                <a:latin typeface="Arial"/>
                <a:ea typeface="Arial"/>
                <a:cs typeface="Arial"/>
              </a:rPr>
              <a:t>reduces</a:t>
            </a:r>
            <a:r>
              <a:rPr sz="1200">
                <a:solidFill>
                  <a:schemeClr val="tx1"/>
                </a:solidFill>
                <a:latin typeface="Arial"/>
                <a:ea typeface="Arial"/>
                <a:cs typeface="Arial"/>
              </a:rPr>
              <a:t> the action </a:t>
            </a:r>
            <a:r>
              <a:rPr sz="1200">
                <a:solidFill>
                  <a:schemeClr val="tx1"/>
                </a:solidFill>
                <a:latin typeface="Arial"/>
                <a:ea typeface="Arial"/>
                <a:cs typeface="Arial"/>
              </a:rPr>
              <a:t>space</a:t>
            </a:r>
          </a:p>
          <a:p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a:solidFill>
                  <a:schemeClr val="tx1"/>
                </a:solidFill>
                <a:latin typeface="Arial"/>
                <a:ea typeface="Arial"/>
                <a:cs typeface="Arial"/>
              </a:rPr>
              <a:t>To dive a </a:t>
            </a:r>
            <a:r>
              <a:rPr sz="1200">
                <a:solidFill>
                  <a:schemeClr val="tx1"/>
                </a:solidFill>
                <a:latin typeface="Arial"/>
                <a:ea typeface="Arial"/>
                <a:cs typeface="Arial"/>
              </a:rPr>
              <a:t>little</a:t>
            </a:r>
            <a:r>
              <a:rPr sz="1200">
                <a:solidFill>
                  <a:schemeClr val="tx1"/>
                </a:solidFill>
                <a:latin typeface="Arial"/>
                <a:ea typeface="Arial"/>
                <a:cs typeface="Arial"/>
              </a:rPr>
              <a:t> </a:t>
            </a:r>
            <a:r>
              <a:rPr sz="1200">
                <a:solidFill>
                  <a:schemeClr val="tx1"/>
                </a:solidFill>
                <a:latin typeface="Arial"/>
                <a:ea typeface="Arial"/>
                <a:cs typeface="Arial"/>
              </a:rPr>
              <a:t>deeper</a:t>
            </a:r>
            <a:r>
              <a:rPr sz="1200">
                <a:solidFill>
                  <a:schemeClr val="tx1"/>
                </a:solidFill>
                <a:latin typeface="Arial"/>
                <a:ea typeface="Arial"/>
                <a:cs typeface="Arial"/>
              </a:rPr>
              <a:t> i have been </a:t>
            </a:r>
            <a:r>
              <a:rPr sz="1200">
                <a:solidFill>
                  <a:schemeClr val="tx1"/>
                </a:solidFill>
                <a:latin typeface="Arial"/>
                <a:ea typeface="Arial"/>
                <a:cs typeface="Arial"/>
              </a:rPr>
              <a:t>looking</a:t>
            </a:r>
            <a:r>
              <a:rPr sz="1200">
                <a:solidFill>
                  <a:schemeClr val="tx1"/>
                </a:solidFill>
                <a:latin typeface="Arial"/>
                <a:ea typeface="Arial"/>
                <a:cs typeface="Arial"/>
              </a:rPr>
              <a:t> at a </a:t>
            </a:r>
            <a:r>
              <a:rPr sz="1200">
                <a:solidFill>
                  <a:schemeClr val="tx1"/>
                </a:solidFill>
                <a:latin typeface="Arial"/>
                <a:ea typeface="Arial"/>
                <a:cs typeface="Arial"/>
              </a:rPr>
              <a:t>survey</a:t>
            </a:r>
            <a:r>
              <a:rPr sz="1200">
                <a:solidFill>
                  <a:schemeClr val="tx1"/>
                </a:solidFill>
                <a:latin typeface="Arial"/>
                <a:ea typeface="Arial"/>
                <a:cs typeface="Arial"/>
              </a:rPr>
              <a:t> </a:t>
            </a:r>
            <a:r>
              <a:rPr sz="1200">
                <a:solidFill>
                  <a:schemeClr val="tx1"/>
                </a:solidFill>
                <a:latin typeface="Arial"/>
                <a:ea typeface="Arial"/>
                <a:cs typeface="Arial"/>
              </a:rPr>
              <a:t>that</a:t>
            </a:r>
            <a:r>
              <a:rPr sz="1200">
                <a:solidFill>
                  <a:schemeClr val="tx1"/>
                </a:solidFill>
                <a:latin typeface="Arial"/>
                <a:ea typeface="Arial"/>
                <a:cs typeface="Arial"/>
              </a:rPr>
              <a:t> </a:t>
            </a:r>
            <a:r>
              <a:rPr sz="1200">
                <a:solidFill>
                  <a:schemeClr val="tx1"/>
                </a:solidFill>
                <a:latin typeface="Arial"/>
                <a:ea typeface="Arial"/>
                <a:cs typeface="Arial"/>
              </a:rPr>
              <a:t>summarize</a:t>
            </a:r>
            <a:r>
              <a:rPr sz="1200">
                <a:solidFill>
                  <a:schemeClr val="tx1"/>
                </a:solidFill>
                <a:latin typeface="Arial"/>
                <a:ea typeface="Arial"/>
                <a:cs typeface="Arial"/>
              </a:rPr>
              <a:t> all the </a:t>
            </a:r>
            <a:r>
              <a:rPr sz="1200">
                <a:solidFill>
                  <a:schemeClr val="tx1"/>
                </a:solidFill>
                <a:latin typeface="Arial"/>
                <a:ea typeface="Arial"/>
                <a:cs typeface="Arial"/>
              </a:rPr>
              <a:t>algorithms</a:t>
            </a:r>
            <a:r>
              <a:rPr sz="1200">
                <a:solidFill>
                  <a:schemeClr val="tx1"/>
                </a:solidFill>
                <a:latin typeface="Arial"/>
                <a:ea typeface="Arial"/>
                <a:cs typeface="Arial"/>
              </a:rPr>
              <a:t> </a:t>
            </a:r>
            <a:r>
              <a:rPr sz="1200">
                <a:solidFill>
                  <a:schemeClr val="tx1"/>
                </a:solidFill>
                <a:latin typeface="Arial"/>
                <a:ea typeface="Arial"/>
                <a:cs typeface="Arial"/>
              </a:rPr>
              <a:t>that</a:t>
            </a:r>
            <a:r>
              <a:rPr sz="1200">
                <a:solidFill>
                  <a:schemeClr val="tx1"/>
                </a:solidFill>
                <a:latin typeface="Arial"/>
                <a:ea typeface="Arial"/>
                <a:cs typeface="Arial"/>
              </a:rPr>
              <a:t> won the l2rpn challenge and </a:t>
            </a:r>
            <a:r>
              <a:rPr sz="1200">
                <a:solidFill>
                  <a:schemeClr val="tx1"/>
                </a:solidFill>
                <a:latin typeface="Arial"/>
                <a:ea typeface="Arial"/>
                <a:cs typeface="Arial"/>
              </a:rPr>
              <a:t>this</a:t>
            </a:r>
            <a:r>
              <a:rPr sz="1200">
                <a:solidFill>
                  <a:schemeClr val="tx1"/>
                </a:solidFill>
                <a:latin typeface="Arial"/>
                <a:ea typeface="Arial"/>
                <a:cs typeface="Arial"/>
              </a:rPr>
              <a:t> </a:t>
            </a:r>
            <a:r>
              <a:rPr sz="1200">
                <a:solidFill>
                  <a:schemeClr val="tx1"/>
                </a:solidFill>
                <a:latin typeface="Arial"/>
                <a:ea typeface="Arial"/>
                <a:cs typeface="Arial"/>
              </a:rPr>
              <a:t>is</a:t>
            </a:r>
            <a:r>
              <a:rPr sz="1200">
                <a:solidFill>
                  <a:schemeClr val="tx1"/>
                </a:solidFill>
                <a:latin typeface="Arial"/>
                <a:ea typeface="Arial"/>
                <a:cs typeface="Arial"/>
              </a:rPr>
              <a:t> the main </a:t>
            </a:r>
            <a:r>
              <a:rPr sz="1200">
                <a:solidFill>
                  <a:schemeClr val="tx1"/>
                </a:solidFill>
                <a:latin typeface="Arial"/>
                <a:ea typeface="Arial"/>
                <a:cs typeface="Arial"/>
              </a:rPr>
              <a:t>categories</a:t>
            </a:r>
            <a:r>
              <a:rPr sz="1200">
                <a:solidFill>
                  <a:schemeClr val="tx1"/>
                </a:solidFill>
                <a:latin typeface="Arial"/>
                <a:ea typeface="Arial"/>
                <a:cs typeface="Arial"/>
              </a:rPr>
              <a:t> of </a:t>
            </a:r>
            <a:r>
              <a:rPr sz="1200">
                <a:solidFill>
                  <a:schemeClr val="tx1"/>
                </a:solidFill>
                <a:latin typeface="Arial"/>
                <a:ea typeface="Arial"/>
                <a:cs typeface="Arial"/>
              </a:rPr>
              <a:t>succesfull</a:t>
            </a:r>
            <a:r>
              <a:rPr sz="1200">
                <a:solidFill>
                  <a:schemeClr val="tx1"/>
                </a:solidFill>
                <a:latin typeface="Arial"/>
                <a:ea typeface="Arial"/>
                <a:cs typeface="Arial"/>
              </a:rPr>
              <a:t> </a:t>
            </a:r>
            <a:r>
              <a:rPr sz="1200">
                <a:solidFill>
                  <a:schemeClr val="tx1"/>
                </a:solidFill>
                <a:latin typeface="Arial"/>
                <a:ea typeface="Arial"/>
                <a:cs typeface="Arial"/>
              </a:rPr>
              <a:t>agentthat</a:t>
            </a:r>
            <a:r>
              <a:rPr sz="1200">
                <a:solidFill>
                  <a:schemeClr val="tx1"/>
                </a:solidFill>
                <a:latin typeface="Arial"/>
                <a:ea typeface="Arial"/>
                <a:cs typeface="Arial"/>
              </a:rPr>
              <a:t> won the challenge.</a:t>
            </a:r>
          </a:p>
          <a:p xmlns:a="http://schemas.openxmlformats.org/drawingml/2006/main"/>
          <a:p xmlns:a="http://schemas.openxmlformats.org/drawingml/2006/main">
            <a:r>
              <a:rPr sz="1200">
                <a:solidFill>
                  <a:schemeClr val="tx1"/>
                </a:solidFill>
                <a:latin typeface="Arial"/>
                <a:ea typeface="Arial"/>
                <a:cs typeface="Arial"/>
              </a:rPr>
              <a:t>Some</a:t>
            </a:r>
            <a:r>
              <a:rPr sz="1200">
                <a:solidFill>
                  <a:schemeClr val="tx1"/>
                </a:solidFill>
                <a:latin typeface="Arial"/>
                <a:ea typeface="Arial"/>
                <a:cs typeface="Arial"/>
              </a:rPr>
              <a:t> </a:t>
            </a:r>
            <a:r>
              <a:rPr sz="1200">
                <a:solidFill>
                  <a:schemeClr val="tx1"/>
                </a:solidFill>
                <a:latin typeface="Arial"/>
                <a:ea typeface="Arial"/>
                <a:cs typeface="Arial"/>
              </a:rPr>
              <a:t>approaches</a:t>
            </a:r>
            <a:r>
              <a:rPr sz="1200">
                <a:solidFill>
                  <a:schemeClr val="tx1"/>
                </a:solidFill>
                <a:latin typeface="Arial"/>
                <a:ea typeface="Arial"/>
                <a:cs typeface="Arial"/>
              </a:rPr>
              <a:t> </a:t>
            </a:r>
            <a:r>
              <a:rPr sz="1200">
                <a:solidFill>
                  <a:schemeClr val="tx1"/>
                </a:solidFill>
                <a:latin typeface="Arial"/>
                <a:ea typeface="Arial"/>
                <a:cs typeface="Arial"/>
              </a:rPr>
              <a:t>rely</a:t>
            </a:r>
            <a:r>
              <a:rPr sz="1200">
                <a:solidFill>
                  <a:schemeClr val="tx1"/>
                </a:solidFill>
                <a:latin typeface="Arial"/>
                <a:ea typeface="Arial"/>
                <a:cs typeface="Arial"/>
              </a:rPr>
              <a:t> on a single global agent </a:t>
            </a:r>
            <a:r>
              <a:rPr sz="1200">
                <a:solidFill>
                  <a:schemeClr val="tx1"/>
                </a:solidFill>
                <a:latin typeface="Arial"/>
                <a:ea typeface="Arial"/>
                <a:cs typeface="Arial"/>
              </a:rPr>
              <a:t>with</a:t>
            </a:r>
            <a:r>
              <a:rPr sz="1200">
                <a:solidFill>
                  <a:schemeClr val="tx1"/>
                </a:solidFill>
                <a:latin typeface="Arial"/>
                <a:ea typeface="Arial"/>
                <a:cs typeface="Arial"/>
              </a:rPr>
              <a:t> </a:t>
            </a:r>
            <a:r>
              <a:rPr sz="1200">
                <a:solidFill>
                  <a:schemeClr val="tx1"/>
                </a:solidFill>
                <a:latin typeface="Arial"/>
                <a:ea typeface="Arial"/>
                <a:cs typeface="Arial"/>
              </a:rPr>
              <a:t>strong</a:t>
            </a:r>
            <a:r>
              <a:rPr sz="1200">
                <a:solidFill>
                  <a:schemeClr val="tx1"/>
                </a:solidFill>
                <a:latin typeface="Arial"/>
                <a:ea typeface="Arial"/>
                <a:cs typeface="Arial"/>
              </a:rPr>
              <a:t> engineering tricks.</a:t>
            </a:r>
          </a:p>
          <a:p xmlns:a="http://schemas.openxmlformats.org/drawingml/2006/main"/>
          <a:p xmlns:a="http://schemas.openxmlformats.org/drawingml/2006/main">
            <a:r>
              <a:rPr sz="1200">
                <a:solidFill>
                  <a:schemeClr val="tx1"/>
                </a:solidFill>
                <a:latin typeface="Arial"/>
                <a:ea typeface="Arial"/>
                <a:cs typeface="Arial"/>
              </a:rPr>
              <a:t>For </a:t>
            </a:r>
            <a:r>
              <a:rPr sz="1200">
                <a:solidFill>
                  <a:schemeClr val="tx1"/>
                </a:solidFill>
                <a:latin typeface="Arial"/>
                <a:ea typeface="Arial"/>
                <a:cs typeface="Arial"/>
              </a:rPr>
              <a:t>example</a:t>
            </a:r>
            <a:r>
              <a:rPr sz="1200">
                <a:solidFill>
                  <a:schemeClr val="tx1"/>
                </a:solidFill>
                <a:latin typeface="Arial"/>
                <a:ea typeface="Arial"/>
                <a:cs typeface="Arial"/>
              </a:rPr>
              <a:t>, </a:t>
            </a:r>
            <a:r>
              <a:rPr sz="1200">
                <a:solidFill>
                  <a:schemeClr val="tx1"/>
                </a:solidFill>
                <a:latin typeface="Arial"/>
                <a:ea typeface="Arial"/>
                <a:cs typeface="Arial"/>
              </a:rPr>
              <a:t>they</a:t>
            </a:r>
            <a:r>
              <a:rPr sz="1200">
                <a:solidFill>
                  <a:schemeClr val="tx1"/>
                </a:solidFill>
                <a:latin typeface="Arial"/>
                <a:ea typeface="Arial"/>
                <a:cs typeface="Arial"/>
              </a:rPr>
              <a:t> use graph neural networks </a:t>
            </a:r>
            <a:r>
              <a:rPr sz="1200">
                <a:solidFill>
                  <a:schemeClr val="tx1"/>
                </a:solidFill>
                <a:latin typeface="Arial"/>
                <a:ea typeface="Arial"/>
                <a:cs typeface="Arial"/>
              </a:rPr>
              <a:t>combined</a:t>
            </a:r>
            <a:r>
              <a:rPr sz="1200">
                <a:solidFill>
                  <a:schemeClr val="tx1"/>
                </a:solidFill>
                <a:latin typeface="Arial"/>
                <a:ea typeface="Arial"/>
                <a:cs typeface="Arial"/>
              </a:rPr>
              <a:t> </a:t>
            </a:r>
            <a:r>
              <a:rPr sz="1200">
                <a:solidFill>
                  <a:schemeClr val="tx1"/>
                </a:solidFill>
                <a:latin typeface="Arial"/>
                <a:ea typeface="Arial"/>
                <a:cs typeface="Arial"/>
              </a:rPr>
              <a:t>with</a:t>
            </a:r>
            <a:r>
              <a:rPr sz="1200">
                <a:solidFill>
                  <a:schemeClr val="tx1"/>
                </a:solidFill>
                <a:latin typeface="Arial"/>
                <a:ea typeface="Arial"/>
                <a:cs typeface="Arial"/>
              </a:rPr>
              <a:t> value-</a:t>
            </a:r>
            <a:r>
              <a:rPr sz="1200">
                <a:solidFill>
                  <a:schemeClr val="tx1"/>
                </a:solidFill>
                <a:latin typeface="Arial"/>
                <a:ea typeface="Arial"/>
                <a:cs typeface="Arial"/>
              </a:rPr>
              <a:t>based</a:t>
            </a:r>
            <a:r>
              <a:rPr sz="1200">
                <a:solidFill>
                  <a:schemeClr val="tx1"/>
                </a:solidFill>
                <a:latin typeface="Arial"/>
                <a:ea typeface="Arial"/>
                <a:cs typeface="Arial"/>
              </a:rPr>
              <a:t> RL, and </a:t>
            </a:r>
            <a:r>
              <a:rPr sz="1200">
                <a:solidFill>
                  <a:schemeClr val="tx1"/>
                </a:solidFill>
                <a:latin typeface="Arial"/>
                <a:ea typeface="Arial"/>
                <a:cs typeface="Arial"/>
              </a:rPr>
              <a:t>validate</a:t>
            </a:r>
            <a:r>
              <a:rPr sz="1200">
                <a:solidFill>
                  <a:schemeClr val="tx1"/>
                </a:solidFill>
                <a:latin typeface="Arial"/>
                <a:ea typeface="Arial"/>
                <a:cs typeface="Arial"/>
              </a:rPr>
              <a:t> actions </a:t>
            </a:r>
            <a:r>
              <a:rPr sz="1200">
                <a:solidFill>
                  <a:schemeClr val="tx1"/>
                </a:solidFill>
                <a:latin typeface="Arial"/>
                <a:ea typeface="Arial"/>
                <a:cs typeface="Arial"/>
              </a:rPr>
              <a:t>using</a:t>
            </a:r>
            <a:r>
              <a:rPr sz="1200">
                <a:solidFill>
                  <a:schemeClr val="tx1"/>
                </a:solidFill>
                <a:latin typeface="Arial"/>
                <a:ea typeface="Arial"/>
                <a:cs typeface="Arial"/>
              </a:rPr>
              <a:t> power-flow simulations.</a:t>
            </a:r>
          </a:p>
          <a:p xmlns:a="http://schemas.openxmlformats.org/drawingml/2006/main"/>
          <a:p xmlns:a="http://schemas.openxmlformats.org/drawingml/2006/main">
            <a:r>
              <a:rPr sz="1200">
                <a:solidFill>
                  <a:schemeClr val="tx1"/>
                </a:solidFill>
                <a:latin typeface="Arial"/>
                <a:ea typeface="Arial"/>
                <a:cs typeface="Arial"/>
              </a:rPr>
              <a:t>Others</a:t>
            </a:r>
            <a:r>
              <a:rPr sz="1200">
                <a:solidFill>
                  <a:schemeClr val="tx1"/>
                </a:solidFill>
                <a:latin typeface="Arial"/>
                <a:ea typeface="Arial"/>
                <a:cs typeface="Arial"/>
              </a:rPr>
              <a:t> </a:t>
            </a:r>
            <a:r>
              <a:rPr sz="1200">
                <a:solidFill>
                  <a:schemeClr val="tx1"/>
                </a:solidFill>
                <a:latin typeface="Arial"/>
                <a:ea typeface="Arial"/>
                <a:cs typeface="Arial"/>
              </a:rPr>
              <a:t>reduce</a:t>
            </a:r>
            <a:r>
              <a:rPr sz="1200">
                <a:solidFill>
                  <a:schemeClr val="tx1"/>
                </a:solidFill>
                <a:latin typeface="Arial"/>
                <a:ea typeface="Arial"/>
                <a:cs typeface="Arial"/>
              </a:rPr>
              <a:t> the action </a:t>
            </a:r>
            <a:r>
              <a:rPr sz="1200">
                <a:solidFill>
                  <a:schemeClr val="tx1"/>
                </a:solidFill>
                <a:latin typeface="Arial"/>
                <a:ea typeface="Arial"/>
                <a:cs typeface="Arial"/>
              </a:rPr>
              <a:t>space</a:t>
            </a:r>
            <a:r>
              <a:rPr sz="1200">
                <a:solidFill>
                  <a:schemeClr val="tx1"/>
                </a:solidFill>
                <a:latin typeface="Arial"/>
                <a:ea typeface="Arial"/>
                <a:cs typeface="Arial"/>
              </a:rPr>
              <a:t> </a:t>
            </a:r>
            <a:r>
              <a:rPr sz="1200">
                <a:solidFill>
                  <a:schemeClr val="tx1"/>
                </a:solidFill>
                <a:latin typeface="Arial"/>
                <a:ea typeface="Arial"/>
                <a:cs typeface="Arial"/>
              </a:rPr>
              <a:t>using</a:t>
            </a:r>
            <a:r>
              <a:rPr sz="1200">
                <a:solidFill>
                  <a:schemeClr val="tx1"/>
                </a:solidFill>
                <a:latin typeface="Arial"/>
                <a:ea typeface="Arial"/>
                <a:cs typeface="Arial"/>
              </a:rPr>
              <a:t> </a:t>
            </a:r>
            <a:r>
              <a:rPr sz="1200">
                <a:solidFill>
                  <a:schemeClr val="tx1"/>
                </a:solidFill>
                <a:latin typeface="Arial"/>
                <a:ea typeface="Arial"/>
                <a:cs typeface="Arial"/>
              </a:rPr>
              <a:t>masking</a:t>
            </a:r>
            <a:r>
              <a:rPr sz="1200">
                <a:solidFill>
                  <a:schemeClr val="tx1"/>
                </a:solidFill>
                <a:latin typeface="Arial"/>
                <a:ea typeface="Arial"/>
                <a:cs typeface="Arial"/>
              </a:rPr>
              <a:t> or </a:t>
            </a:r>
            <a:r>
              <a:rPr sz="1200">
                <a:solidFill>
                  <a:schemeClr val="tx1"/>
                </a:solidFill>
                <a:latin typeface="Arial"/>
                <a:ea typeface="Arial"/>
                <a:cs typeface="Arial"/>
              </a:rPr>
              <a:t>pruning</a:t>
            </a:r>
            <a:r>
              <a:rPr sz="1200">
                <a:solidFill>
                  <a:schemeClr val="tx1"/>
                </a:solidFill>
                <a:latin typeface="Arial"/>
                <a:ea typeface="Arial"/>
                <a:cs typeface="Arial"/>
              </a:rPr>
              <a:t>.</a:t>
            </a:r>
          </a:p>
          <a:p xmlns:a="http://schemas.openxmlformats.org/drawingml/2006/main"/>
          <a:p xmlns:a="http://schemas.openxmlformats.org/drawingml/2006/main">
            <a:r>
              <a:rPr sz="1200">
                <a:solidFill>
                  <a:schemeClr val="tx1"/>
                </a:solidFill>
                <a:latin typeface="Arial"/>
                <a:ea typeface="Arial"/>
                <a:cs typeface="Arial"/>
              </a:rPr>
              <a:t>These</a:t>
            </a:r>
            <a:r>
              <a:rPr sz="1200">
                <a:solidFill>
                  <a:schemeClr val="tx1"/>
                </a:solidFill>
                <a:latin typeface="Arial"/>
                <a:ea typeface="Arial"/>
                <a:cs typeface="Arial"/>
              </a:rPr>
              <a:t> </a:t>
            </a:r>
            <a:r>
              <a:rPr sz="1200">
                <a:solidFill>
                  <a:schemeClr val="tx1"/>
                </a:solidFill>
                <a:latin typeface="Arial"/>
                <a:ea typeface="Arial"/>
                <a:cs typeface="Arial"/>
              </a:rPr>
              <a:t>methods</a:t>
            </a:r>
            <a:r>
              <a:rPr sz="1200">
                <a:solidFill>
                  <a:schemeClr val="tx1"/>
                </a:solidFill>
                <a:latin typeface="Arial"/>
                <a:ea typeface="Arial"/>
                <a:cs typeface="Arial"/>
              </a:rPr>
              <a:t> can </a:t>
            </a:r>
            <a:r>
              <a:rPr sz="1200">
                <a:solidFill>
                  <a:schemeClr val="tx1"/>
                </a:solidFill>
                <a:latin typeface="Arial"/>
                <a:ea typeface="Arial"/>
                <a:cs typeface="Arial"/>
              </a:rPr>
              <a:t>work</a:t>
            </a:r>
            <a:r>
              <a:rPr sz="1200">
                <a:solidFill>
                  <a:schemeClr val="tx1"/>
                </a:solidFill>
                <a:latin typeface="Arial"/>
                <a:ea typeface="Arial"/>
                <a:cs typeface="Arial"/>
              </a:rPr>
              <a:t>, </a:t>
            </a:r>
            <a:r>
              <a:rPr sz="1200">
                <a:solidFill>
                  <a:schemeClr val="tx1"/>
                </a:solidFill>
                <a:latin typeface="Arial"/>
                <a:ea typeface="Arial"/>
                <a:cs typeface="Arial"/>
              </a:rPr>
              <a:t>so</a:t>
            </a:r>
            <a:r>
              <a:rPr sz="1200">
                <a:solidFill>
                  <a:schemeClr val="tx1"/>
                </a:solidFill>
                <a:latin typeface="Arial"/>
                <a:ea typeface="Arial"/>
                <a:cs typeface="Arial"/>
              </a:rPr>
              <a:t> </a:t>
            </a:r>
            <a:r>
              <a:rPr sz="1200">
                <a:solidFill>
                  <a:schemeClr val="tx1"/>
                </a:solidFill>
                <a:latin typeface="Arial"/>
                <a:ea typeface="Arial"/>
                <a:cs typeface="Arial"/>
              </a:rPr>
              <a:t>mixing</a:t>
            </a:r>
            <a:r>
              <a:rPr sz="1200">
                <a:solidFill>
                  <a:schemeClr val="tx1"/>
                </a:solidFill>
                <a:latin typeface="Arial"/>
                <a:ea typeface="Arial"/>
                <a:cs typeface="Arial"/>
              </a:rPr>
              <a:t> a single agent </a:t>
            </a:r>
            <a:r>
              <a:rPr sz="1200">
                <a:solidFill>
                  <a:schemeClr val="tx1"/>
                </a:solidFill>
                <a:latin typeface="Arial"/>
                <a:ea typeface="Arial"/>
                <a:cs typeface="Arial"/>
              </a:rPr>
              <a:t>with</a:t>
            </a:r>
            <a:r>
              <a:rPr sz="1200">
                <a:solidFill>
                  <a:schemeClr val="tx1"/>
                </a:solidFill>
                <a:latin typeface="Arial"/>
                <a:ea typeface="Arial"/>
                <a:cs typeface="Arial"/>
              </a:rPr>
              <a:t> </a:t>
            </a:r>
            <a:r>
              <a:rPr sz="1200">
                <a:solidFill>
                  <a:schemeClr val="tx1"/>
                </a:solidFill>
                <a:latin typeface="Arial"/>
                <a:ea typeface="Arial"/>
                <a:cs typeface="Arial"/>
              </a:rPr>
              <a:t>rules</a:t>
            </a:r>
            <a:r>
              <a:rPr sz="1200">
                <a:solidFill>
                  <a:schemeClr val="tx1"/>
                </a:solidFill>
                <a:latin typeface="Arial"/>
                <a:ea typeface="Arial"/>
                <a:cs typeface="Arial"/>
              </a:rPr>
              <a:t>, but </a:t>
            </a:r>
            <a:r>
              <a:rPr sz="1200">
                <a:solidFill>
                  <a:schemeClr val="tx1"/>
                </a:solidFill>
                <a:latin typeface="Arial"/>
                <a:ea typeface="Arial"/>
                <a:cs typeface="Arial"/>
              </a:rPr>
              <a:t>they</a:t>
            </a:r>
            <a:r>
              <a:rPr sz="1200">
                <a:solidFill>
                  <a:schemeClr val="tx1"/>
                </a:solidFill>
                <a:latin typeface="Arial"/>
                <a:ea typeface="Arial"/>
                <a:cs typeface="Arial"/>
              </a:rPr>
              <a:t> </a:t>
            </a:r>
            <a:r>
              <a:rPr sz="1200">
                <a:solidFill>
                  <a:schemeClr val="tx1"/>
                </a:solidFill>
                <a:latin typeface="Arial"/>
                <a:ea typeface="Arial"/>
                <a:cs typeface="Arial"/>
              </a:rPr>
              <a:t>suffer</a:t>
            </a:r>
            <a:r>
              <a:rPr sz="1200">
                <a:solidFill>
                  <a:schemeClr val="tx1"/>
                </a:solidFill>
                <a:latin typeface="Arial"/>
                <a:ea typeface="Arial"/>
                <a:cs typeface="Arial"/>
              </a:rPr>
              <a:t> </a:t>
            </a:r>
            <a:r>
              <a:rPr sz="1200">
                <a:solidFill>
                  <a:schemeClr val="tx1"/>
                </a:solidFill>
                <a:latin typeface="Arial"/>
                <a:ea typeface="Arial"/>
                <a:cs typeface="Arial"/>
              </a:rPr>
              <a:t>because</a:t>
            </a:r>
            <a:r>
              <a:rPr sz="1200">
                <a:solidFill>
                  <a:schemeClr val="tx1"/>
                </a:solidFill>
                <a:latin typeface="Arial"/>
                <a:ea typeface="Arial"/>
                <a:cs typeface="Arial"/>
              </a:rPr>
              <a:t> the action </a:t>
            </a:r>
            <a:r>
              <a:rPr sz="1200">
                <a:solidFill>
                  <a:schemeClr val="tx1"/>
                </a:solidFill>
                <a:latin typeface="Arial"/>
                <a:ea typeface="Arial"/>
                <a:cs typeface="Arial"/>
              </a:rPr>
              <a:t>space</a:t>
            </a:r>
            <a:r>
              <a:rPr sz="1200">
                <a:solidFill>
                  <a:schemeClr val="tx1"/>
                </a:solidFill>
                <a:latin typeface="Arial"/>
                <a:ea typeface="Arial"/>
                <a:cs typeface="Arial"/>
              </a:rPr>
              <a:t> </a:t>
            </a:r>
            <a:r>
              <a:rPr sz="1200">
                <a:solidFill>
                  <a:schemeClr val="tx1"/>
                </a:solidFill>
                <a:latin typeface="Arial"/>
                <a:ea typeface="Arial"/>
                <a:cs typeface="Arial"/>
              </a:rPr>
              <a:t>remains</a:t>
            </a:r>
            <a:r>
              <a:rPr sz="1200">
                <a:solidFill>
                  <a:schemeClr val="tx1"/>
                </a:solidFill>
                <a:latin typeface="Arial"/>
                <a:ea typeface="Arial"/>
                <a:cs typeface="Arial"/>
              </a:rPr>
              <a:t> </a:t>
            </a:r>
            <a:r>
              <a:rPr sz="1200">
                <a:solidFill>
                  <a:schemeClr val="tx1"/>
                </a:solidFill>
                <a:latin typeface="Arial"/>
                <a:ea typeface="Arial"/>
                <a:cs typeface="Arial"/>
              </a:rPr>
              <a:t>very</a:t>
            </a:r>
            <a:r>
              <a:rPr sz="1200">
                <a:solidFill>
                  <a:schemeClr val="tx1"/>
                </a:solidFill>
                <a:latin typeface="Arial"/>
                <a:ea typeface="Arial"/>
                <a:cs typeface="Arial"/>
              </a:rPr>
              <a:t> large.”</a:t>
            </a:r>
          </a:p>
          <a:p xmlns:a="http://schemas.openxmlformats.org/drawingml/2006/main"/>
          <a:p xmlns:a="http://schemas.openxmlformats.org/drawingml/2006/main">
            <a:r>
              <a:rPr sz="1200">
                <a:solidFill>
                  <a:schemeClr val="tx1"/>
                </a:solidFill>
                <a:latin typeface="Arial"/>
                <a:ea typeface="Arial"/>
                <a:cs typeface="Arial"/>
              </a:rPr>
              <a:t>Another</a:t>
            </a:r>
            <a:r>
              <a:rPr sz="1200">
                <a:solidFill>
                  <a:schemeClr val="tx1"/>
                </a:solidFill>
                <a:latin typeface="Arial"/>
                <a:ea typeface="Arial"/>
                <a:cs typeface="Arial"/>
              </a:rPr>
              <a:t> important </a:t>
            </a:r>
            <a:r>
              <a:rPr sz="1200">
                <a:solidFill>
                  <a:schemeClr val="tx1"/>
                </a:solidFill>
                <a:latin typeface="Arial"/>
                <a:ea typeface="Arial"/>
                <a:cs typeface="Arial"/>
              </a:rPr>
              <a:t>idea</a:t>
            </a:r>
            <a:r>
              <a:rPr sz="1200">
                <a:solidFill>
                  <a:schemeClr val="tx1"/>
                </a:solidFill>
                <a:latin typeface="Arial"/>
                <a:ea typeface="Arial"/>
                <a:cs typeface="Arial"/>
              </a:rPr>
              <a:t> </a:t>
            </a:r>
            <a:r>
              <a:rPr sz="1200">
                <a:solidFill>
                  <a:schemeClr val="tx1"/>
                </a:solidFill>
                <a:latin typeface="Arial"/>
                <a:ea typeface="Arial"/>
                <a:cs typeface="Arial"/>
              </a:rPr>
              <a:t>is</a:t>
            </a:r>
            <a:r>
              <a:rPr sz="1200">
                <a:solidFill>
                  <a:schemeClr val="tx1"/>
                </a:solidFill>
                <a:latin typeface="Arial"/>
                <a:ea typeface="Arial"/>
                <a:cs typeface="Arial"/>
              </a:rPr>
              <a:t> to </a:t>
            </a:r>
            <a:r>
              <a:rPr sz="1200">
                <a:solidFill>
                  <a:schemeClr val="tx1"/>
                </a:solidFill>
                <a:latin typeface="Arial"/>
                <a:ea typeface="Arial"/>
                <a:cs typeface="Arial"/>
              </a:rPr>
              <a:t>predict</a:t>
            </a:r>
            <a:r>
              <a:rPr sz="1200">
                <a:solidFill>
                  <a:schemeClr val="tx1"/>
                </a:solidFill>
                <a:latin typeface="Arial"/>
                <a:ea typeface="Arial"/>
                <a:cs typeface="Arial"/>
              </a:rPr>
              <a:t> a </a:t>
            </a:r>
            <a:r>
              <a:rPr sz="1200" b="1">
                <a:solidFill>
                  <a:schemeClr val="tx1"/>
                </a:solidFill>
                <a:latin typeface="Arial"/>
                <a:ea typeface="Arial"/>
                <a:cs typeface="Arial"/>
              </a:rPr>
              <a:t>target</a:t>
            </a:r>
            <a:r>
              <a:rPr sz="1200" b="1">
                <a:solidFill>
                  <a:schemeClr val="tx1"/>
                </a:solidFill>
                <a:latin typeface="Arial"/>
                <a:ea typeface="Arial"/>
                <a:cs typeface="Arial"/>
              </a:rPr>
              <a:t> </a:t>
            </a:r>
            <a:r>
              <a:rPr sz="1200" b="1">
                <a:solidFill>
                  <a:schemeClr val="tx1"/>
                </a:solidFill>
                <a:latin typeface="Arial"/>
                <a:ea typeface="Arial"/>
                <a:cs typeface="Arial"/>
              </a:rPr>
              <a:t>topology</a:t>
            </a:r>
            <a:r>
              <a:rPr sz="1200" b="1">
                <a:solidFill>
                  <a:schemeClr val="tx1"/>
                </a:solidFill>
                <a:latin typeface="Arial"/>
                <a:ea typeface="Arial"/>
                <a:cs typeface="Arial"/>
              </a:rPr>
              <a:t> </a:t>
            </a:r>
            <a:r>
              <a:rPr sz="1200" b="1">
                <a:solidFill>
                  <a:schemeClr val="tx1"/>
                </a:solidFill>
                <a:latin typeface="Arial"/>
                <a:ea typeface="Arial"/>
                <a:cs typeface="Arial"/>
              </a:rPr>
              <a:t>instead</a:t>
            </a:r>
            <a:r>
              <a:rPr sz="1200" b="1">
                <a:solidFill>
                  <a:schemeClr val="tx1"/>
                </a:solidFill>
                <a:latin typeface="Arial"/>
                <a:ea typeface="Arial"/>
                <a:cs typeface="Arial"/>
              </a:rPr>
              <a:t> of </a:t>
            </a:r>
            <a:r>
              <a:rPr sz="1200" b="1">
                <a:solidFill>
                  <a:schemeClr val="tx1"/>
                </a:solidFill>
                <a:latin typeface="Arial"/>
                <a:ea typeface="Arial"/>
                <a:cs typeface="Arial"/>
              </a:rPr>
              <a:t>raw</a:t>
            </a:r>
            <a:r>
              <a:rPr sz="1200" b="1">
                <a:solidFill>
                  <a:schemeClr val="tx1"/>
                </a:solidFill>
                <a:latin typeface="Arial"/>
                <a:ea typeface="Arial"/>
                <a:cs typeface="Arial"/>
              </a:rPr>
              <a:t> actions</a:t>
            </a:r>
            <a:r>
              <a:rPr sz="1200">
                <a:solidFill>
                  <a:schemeClr val="tx1"/>
                </a:solidFill>
                <a:latin typeface="Arial"/>
                <a:ea typeface="Arial"/>
                <a:cs typeface="Arial"/>
              </a:rPr>
              <a:t>.</a:t>
            </a:r>
          </a:p>
          <a:p xmlns:a="http://schemas.openxmlformats.org/drawingml/2006/main"/>
          <a:p xmlns:a="http://schemas.openxmlformats.org/drawingml/2006/main">
            <a:r>
              <a:rPr sz="1200">
                <a:solidFill>
                  <a:schemeClr val="tx1"/>
                </a:solidFill>
                <a:latin typeface="Arial"/>
                <a:ea typeface="Arial"/>
                <a:cs typeface="Arial"/>
              </a:rPr>
              <a:t>This </a:t>
            </a:r>
            <a:r>
              <a:rPr sz="1200">
                <a:solidFill>
                  <a:schemeClr val="tx1"/>
                </a:solidFill>
                <a:latin typeface="Arial"/>
                <a:ea typeface="Arial"/>
                <a:cs typeface="Arial"/>
              </a:rPr>
              <a:t>is</a:t>
            </a:r>
            <a:r>
              <a:rPr sz="1200">
                <a:solidFill>
                  <a:schemeClr val="tx1"/>
                </a:solidFill>
                <a:latin typeface="Arial"/>
                <a:ea typeface="Arial"/>
                <a:cs typeface="Arial"/>
              </a:rPr>
              <a:t> </a:t>
            </a:r>
            <a:r>
              <a:rPr sz="1200">
                <a:solidFill>
                  <a:schemeClr val="tx1"/>
                </a:solidFill>
                <a:latin typeface="Arial"/>
                <a:ea typeface="Arial"/>
                <a:cs typeface="Arial"/>
              </a:rPr>
              <a:t>used</a:t>
            </a:r>
            <a:r>
              <a:rPr sz="1200">
                <a:solidFill>
                  <a:schemeClr val="tx1"/>
                </a:solidFill>
                <a:latin typeface="Arial"/>
                <a:ea typeface="Arial"/>
                <a:cs typeface="Arial"/>
              </a:rPr>
              <a:t> in SMAAC, </a:t>
            </a:r>
            <a:r>
              <a:rPr sz="1200">
                <a:solidFill>
                  <a:schemeClr val="tx1"/>
                </a:solidFill>
                <a:latin typeface="Arial"/>
                <a:ea typeface="Arial"/>
                <a:cs typeface="Arial"/>
              </a:rPr>
              <a:t>where</a:t>
            </a:r>
            <a:r>
              <a:rPr sz="1200">
                <a:solidFill>
                  <a:schemeClr val="tx1"/>
                </a:solidFill>
                <a:latin typeface="Arial"/>
                <a:ea typeface="Arial"/>
                <a:cs typeface="Arial"/>
              </a:rPr>
              <a:t> </a:t>
            </a:r>
            <a:r>
              <a:rPr sz="1200">
                <a:solidFill>
                  <a:schemeClr val="tx1"/>
                </a:solidFill>
                <a:latin typeface="Arial"/>
                <a:ea typeface="Arial"/>
                <a:cs typeface="Arial"/>
              </a:rPr>
              <a:t>the</a:t>
            </a:r>
            <a:r>
              <a:rPr sz="1200">
                <a:solidFill>
                  <a:schemeClr val="tx1"/>
                </a:solidFill>
                <a:latin typeface="Arial"/>
                <a:ea typeface="Arial"/>
                <a:cs typeface="Arial"/>
              </a:rPr>
              <a:t> </a:t>
            </a:r>
            <a:r>
              <a:rPr sz="1200">
                <a:solidFill>
                  <a:schemeClr val="tx1"/>
                </a:solidFill>
                <a:latin typeface="Arial"/>
                <a:ea typeface="Arial"/>
                <a:cs typeface="Arial"/>
              </a:rPr>
              <a:t>agent</a:t>
            </a:r>
            <a:r>
              <a:rPr sz="1200">
                <a:solidFill>
                  <a:schemeClr val="tx1"/>
                </a:solidFill>
                <a:latin typeface="Arial"/>
                <a:ea typeface="Arial"/>
                <a:cs typeface="Arial"/>
              </a:rPr>
              <a:t> </a:t>
            </a:r>
            <a:r>
              <a:rPr sz="1200">
                <a:solidFill>
                  <a:schemeClr val="tx1"/>
                </a:solidFill>
                <a:latin typeface="Arial"/>
                <a:ea typeface="Arial"/>
                <a:cs typeface="Arial"/>
              </a:rPr>
              <a:t>learns</a:t>
            </a:r>
            <a:r>
              <a:rPr sz="1200">
                <a:solidFill>
                  <a:schemeClr val="tx1"/>
                </a:solidFill>
                <a:latin typeface="Arial"/>
                <a:ea typeface="Arial"/>
                <a:cs typeface="Arial"/>
              </a:rPr>
              <a:t> an </a:t>
            </a:r>
            <a:r>
              <a:rPr sz="1200">
                <a:solidFill>
                  <a:schemeClr val="tx1"/>
                </a:solidFill>
                <a:latin typeface="Arial"/>
                <a:ea typeface="Arial"/>
                <a:cs typeface="Arial"/>
              </a:rPr>
              <a:t>afterstate</a:t>
            </a:r>
            <a:r>
              <a:rPr sz="1200">
                <a:solidFill>
                  <a:schemeClr val="tx1"/>
                </a:solidFill>
                <a:latin typeface="Arial"/>
                <a:ea typeface="Arial"/>
                <a:cs typeface="Arial"/>
              </a:rPr>
              <a:t> </a:t>
            </a:r>
            <a:r>
              <a:rPr sz="1200">
                <a:solidFill>
                  <a:schemeClr val="tx1"/>
                </a:solidFill>
                <a:latin typeface="Arial"/>
                <a:ea typeface="Arial"/>
                <a:cs typeface="Arial"/>
              </a:rPr>
              <a:t>representation</a:t>
            </a:r>
            <a:r>
              <a:rPr sz="1200">
                <a:solidFill>
                  <a:schemeClr val="tx1"/>
                </a:solidFill>
                <a:latin typeface="Arial"/>
                <a:ea typeface="Arial"/>
                <a:cs typeface="Arial"/>
              </a:rPr>
              <a:t>—</a:t>
            </a:r>
            <a:r>
              <a:rPr sz="1200">
                <a:solidFill>
                  <a:schemeClr val="tx1"/>
                </a:solidFill>
                <a:latin typeface="Arial"/>
                <a:ea typeface="Arial"/>
                <a:cs typeface="Arial"/>
              </a:rPr>
              <a:t>basically</a:t>
            </a:r>
            <a:r>
              <a:rPr sz="1200">
                <a:solidFill>
                  <a:schemeClr val="tx1"/>
                </a:solidFill>
                <a:latin typeface="Arial"/>
                <a:ea typeface="Arial"/>
                <a:cs typeface="Arial"/>
              </a:rPr>
              <a:t> </a:t>
            </a:r>
            <a:r>
              <a:rPr sz="1200">
                <a:solidFill>
                  <a:schemeClr val="tx1"/>
                </a:solidFill>
                <a:latin typeface="Arial"/>
                <a:ea typeface="Arial"/>
                <a:cs typeface="Arial"/>
              </a:rPr>
              <a:t>the</a:t>
            </a:r>
            <a:r>
              <a:rPr sz="1200">
                <a:solidFill>
                  <a:schemeClr val="tx1"/>
                </a:solidFill>
                <a:latin typeface="Arial"/>
                <a:ea typeface="Arial"/>
                <a:cs typeface="Arial"/>
              </a:rPr>
              <a:t> </a:t>
            </a:r>
            <a:r>
              <a:rPr sz="1200">
                <a:solidFill>
                  <a:schemeClr val="tx1"/>
                </a:solidFill>
                <a:latin typeface="Arial"/>
                <a:ea typeface="Arial"/>
                <a:cs typeface="Arial"/>
              </a:rPr>
              <a:t>resulting</a:t>
            </a:r>
            <a:r>
              <a:rPr sz="1200">
                <a:solidFill>
                  <a:schemeClr val="tx1"/>
                </a:solidFill>
                <a:latin typeface="Arial"/>
                <a:ea typeface="Arial"/>
                <a:cs typeface="Arial"/>
              </a:rPr>
              <a:t> </a:t>
            </a:r>
            <a:r>
              <a:rPr sz="1200">
                <a:solidFill>
                  <a:schemeClr val="tx1"/>
                </a:solidFill>
                <a:latin typeface="Arial"/>
                <a:ea typeface="Arial"/>
                <a:cs typeface="Arial"/>
              </a:rPr>
              <a:t>topology</a:t>
            </a:r>
            <a:r>
              <a:rPr sz="1200">
                <a:solidFill>
                  <a:schemeClr val="tx1"/>
                </a:solidFill>
                <a:latin typeface="Arial"/>
                <a:ea typeface="Arial"/>
                <a:cs typeface="Arial"/>
              </a:rPr>
              <a:t> after an </a:t>
            </a:r>
            <a:r>
              <a:rPr sz="1200">
                <a:solidFill>
                  <a:schemeClr val="tx1"/>
                </a:solidFill>
                <a:latin typeface="Arial"/>
                <a:ea typeface="Arial"/>
                <a:cs typeface="Arial"/>
              </a:rPr>
              <a:t>action</a:t>
            </a:r>
            <a:r>
              <a:rPr sz="1200">
                <a:solidFill>
                  <a:schemeClr val="tx1"/>
                </a:solidFill>
                <a:latin typeface="Arial"/>
                <a:ea typeface="Arial"/>
                <a:cs typeface="Arial"/>
              </a:rPr>
              <a:t>.</a:t>
            </a:r>
          </a:p>
          <a:p xmlns:a="http://schemas.openxmlformats.org/drawingml/2006/main"/>
          <a:p xmlns:a="http://schemas.openxmlformats.org/drawingml/2006/main">
            <a:r>
              <a:rPr sz="1200">
                <a:solidFill>
                  <a:schemeClr val="tx1"/>
                </a:solidFill>
                <a:latin typeface="Arial"/>
                <a:ea typeface="Arial"/>
                <a:cs typeface="Arial"/>
              </a:rPr>
              <a:t>This </a:t>
            </a:r>
            <a:r>
              <a:rPr sz="1200">
                <a:solidFill>
                  <a:schemeClr val="tx1"/>
                </a:solidFill>
                <a:latin typeface="Arial"/>
                <a:ea typeface="Arial"/>
                <a:cs typeface="Arial"/>
              </a:rPr>
              <a:t>helps</a:t>
            </a:r>
            <a:r>
              <a:rPr sz="1200">
                <a:solidFill>
                  <a:schemeClr val="tx1"/>
                </a:solidFill>
                <a:latin typeface="Arial"/>
                <a:ea typeface="Arial"/>
                <a:cs typeface="Arial"/>
              </a:rPr>
              <a:t> </a:t>
            </a:r>
            <a:r>
              <a:rPr sz="1200">
                <a:solidFill>
                  <a:schemeClr val="tx1"/>
                </a:solidFill>
                <a:latin typeface="Arial"/>
                <a:ea typeface="Arial"/>
                <a:cs typeface="Arial"/>
              </a:rPr>
              <a:t>because</a:t>
            </a:r>
            <a:r>
              <a:rPr sz="1200">
                <a:solidFill>
                  <a:schemeClr val="tx1"/>
                </a:solidFill>
                <a:latin typeface="Arial"/>
                <a:ea typeface="Arial"/>
                <a:cs typeface="Arial"/>
              </a:rPr>
              <a:t> multiple </a:t>
            </a:r>
            <a:r>
              <a:rPr sz="1200">
                <a:solidFill>
                  <a:schemeClr val="tx1"/>
                </a:solidFill>
                <a:latin typeface="Arial"/>
                <a:ea typeface="Arial"/>
                <a:cs typeface="Arial"/>
              </a:rPr>
              <a:t>sequences</a:t>
            </a:r>
            <a:r>
              <a:rPr sz="1200">
                <a:solidFill>
                  <a:schemeClr val="tx1"/>
                </a:solidFill>
                <a:latin typeface="Arial"/>
                <a:ea typeface="Arial"/>
                <a:cs typeface="Arial"/>
              </a:rPr>
              <a:t> of actions can lead to the </a:t>
            </a:r>
            <a:r>
              <a:rPr sz="1200">
                <a:solidFill>
                  <a:schemeClr val="tx1"/>
                </a:solidFill>
                <a:latin typeface="Arial"/>
                <a:ea typeface="Arial"/>
                <a:cs typeface="Arial"/>
              </a:rPr>
              <a:t>same</a:t>
            </a:r>
            <a:r>
              <a:rPr sz="1200">
                <a:solidFill>
                  <a:schemeClr val="tx1"/>
                </a:solidFill>
                <a:latin typeface="Arial"/>
                <a:ea typeface="Arial"/>
                <a:cs typeface="Arial"/>
              </a:rPr>
              <a:t> configuration. So </a:t>
            </a:r>
            <a:r>
              <a:rPr sz="1200">
                <a:solidFill>
                  <a:schemeClr val="tx1"/>
                </a:solidFill>
                <a:latin typeface="Arial"/>
                <a:ea typeface="Arial"/>
                <a:cs typeface="Arial"/>
              </a:rPr>
              <a:t>it</a:t>
            </a:r>
            <a:r>
              <a:rPr sz="1200">
                <a:solidFill>
                  <a:schemeClr val="tx1"/>
                </a:solidFill>
                <a:latin typeface="Arial"/>
                <a:ea typeface="Arial"/>
                <a:cs typeface="Arial"/>
              </a:rPr>
              <a:t> </a:t>
            </a:r>
            <a:r>
              <a:rPr sz="1200">
                <a:solidFill>
                  <a:schemeClr val="tx1"/>
                </a:solidFill>
                <a:latin typeface="Arial"/>
                <a:ea typeface="Arial"/>
                <a:cs typeface="Arial"/>
              </a:rPr>
              <a:t>reduces</a:t>
            </a:r>
            <a:r>
              <a:rPr sz="1200">
                <a:solidFill>
                  <a:schemeClr val="tx1"/>
                </a:solidFill>
                <a:latin typeface="Arial"/>
                <a:ea typeface="Arial"/>
                <a:cs typeface="Arial"/>
              </a:rPr>
              <a:t> the action </a:t>
            </a:r>
            <a:r>
              <a:rPr sz="1200">
                <a:solidFill>
                  <a:schemeClr val="tx1"/>
                </a:solidFill>
                <a:latin typeface="Arial"/>
                <a:ea typeface="Arial"/>
                <a:cs typeface="Arial"/>
              </a:rPr>
              <a:t>space</a:t>
            </a:r>
          </a:p>
          <a:p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a:solidFill>
                  <a:schemeClr val="tx1"/>
                </a:solidFill>
                <a:latin typeface="Arial"/>
                <a:ea typeface="Arial"/>
                <a:cs typeface="Arial"/>
              </a:rPr>
              <a:t>To dive a </a:t>
            </a:r>
            <a:r>
              <a:rPr sz="1200">
                <a:solidFill>
                  <a:schemeClr val="tx1"/>
                </a:solidFill>
                <a:latin typeface="Arial"/>
                <a:ea typeface="Arial"/>
                <a:cs typeface="Arial"/>
              </a:rPr>
              <a:t>little</a:t>
            </a:r>
            <a:r>
              <a:rPr sz="1200">
                <a:solidFill>
                  <a:schemeClr val="tx1"/>
                </a:solidFill>
                <a:latin typeface="Arial"/>
                <a:ea typeface="Arial"/>
                <a:cs typeface="Arial"/>
              </a:rPr>
              <a:t> </a:t>
            </a:r>
            <a:r>
              <a:rPr sz="1200">
                <a:solidFill>
                  <a:schemeClr val="tx1"/>
                </a:solidFill>
                <a:latin typeface="Arial"/>
                <a:ea typeface="Arial"/>
                <a:cs typeface="Arial"/>
              </a:rPr>
              <a:t>deeper</a:t>
            </a:r>
            <a:r>
              <a:rPr sz="1200">
                <a:solidFill>
                  <a:schemeClr val="tx1"/>
                </a:solidFill>
                <a:latin typeface="Arial"/>
                <a:ea typeface="Arial"/>
                <a:cs typeface="Arial"/>
              </a:rPr>
              <a:t> i have been </a:t>
            </a:r>
            <a:r>
              <a:rPr sz="1200">
                <a:solidFill>
                  <a:schemeClr val="tx1"/>
                </a:solidFill>
                <a:latin typeface="Arial"/>
                <a:ea typeface="Arial"/>
                <a:cs typeface="Arial"/>
              </a:rPr>
              <a:t>looking</a:t>
            </a:r>
            <a:r>
              <a:rPr sz="1200">
                <a:solidFill>
                  <a:schemeClr val="tx1"/>
                </a:solidFill>
                <a:latin typeface="Arial"/>
                <a:ea typeface="Arial"/>
                <a:cs typeface="Arial"/>
              </a:rPr>
              <a:t> at a </a:t>
            </a:r>
            <a:r>
              <a:rPr sz="1200">
                <a:solidFill>
                  <a:schemeClr val="tx1"/>
                </a:solidFill>
                <a:latin typeface="Arial"/>
                <a:ea typeface="Arial"/>
                <a:cs typeface="Arial"/>
              </a:rPr>
              <a:t>survey</a:t>
            </a:r>
            <a:r>
              <a:rPr sz="1200">
                <a:solidFill>
                  <a:schemeClr val="tx1"/>
                </a:solidFill>
                <a:latin typeface="Arial"/>
                <a:ea typeface="Arial"/>
                <a:cs typeface="Arial"/>
              </a:rPr>
              <a:t> </a:t>
            </a:r>
            <a:r>
              <a:rPr sz="1200">
                <a:solidFill>
                  <a:schemeClr val="tx1"/>
                </a:solidFill>
                <a:latin typeface="Arial"/>
                <a:ea typeface="Arial"/>
                <a:cs typeface="Arial"/>
              </a:rPr>
              <a:t>that</a:t>
            </a:r>
            <a:r>
              <a:rPr sz="1200">
                <a:solidFill>
                  <a:schemeClr val="tx1"/>
                </a:solidFill>
                <a:latin typeface="Arial"/>
                <a:ea typeface="Arial"/>
                <a:cs typeface="Arial"/>
              </a:rPr>
              <a:t> </a:t>
            </a:r>
            <a:r>
              <a:rPr sz="1200">
                <a:solidFill>
                  <a:schemeClr val="tx1"/>
                </a:solidFill>
                <a:latin typeface="Arial"/>
                <a:ea typeface="Arial"/>
                <a:cs typeface="Arial"/>
              </a:rPr>
              <a:t>summarize</a:t>
            </a:r>
            <a:r>
              <a:rPr sz="1200">
                <a:solidFill>
                  <a:schemeClr val="tx1"/>
                </a:solidFill>
                <a:latin typeface="Arial"/>
                <a:ea typeface="Arial"/>
                <a:cs typeface="Arial"/>
              </a:rPr>
              <a:t> all the </a:t>
            </a:r>
            <a:r>
              <a:rPr sz="1200">
                <a:solidFill>
                  <a:schemeClr val="tx1"/>
                </a:solidFill>
                <a:latin typeface="Arial"/>
                <a:ea typeface="Arial"/>
                <a:cs typeface="Arial"/>
              </a:rPr>
              <a:t>algorithms</a:t>
            </a:r>
            <a:r>
              <a:rPr sz="1200">
                <a:solidFill>
                  <a:schemeClr val="tx1"/>
                </a:solidFill>
                <a:latin typeface="Arial"/>
                <a:ea typeface="Arial"/>
                <a:cs typeface="Arial"/>
              </a:rPr>
              <a:t> </a:t>
            </a:r>
            <a:r>
              <a:rPr sz="1200">
                <a:solidFill>
                  <a:schemeClr val="tx1"/>
                </a:solidFill>
                <a:latin typeface="Arial"/>
                <a:ea typeface="Arial"/>
                <a:cs typeface="Arial"/>
              </a:rPr>
              <a:t>that</a:t>
            </a:r>
            <a:r>
              <a:rPr sz="1200">
                <a:solidFill>
                  <a:schemeClr val="tx1"/>
                </a:solidFill>
                <a:latin typeface="Arial"/>
                <a:ea typeface="Arial"/>
                <a:cs typeface="Arial"/>
              </a:rPr>
              <a:t> won the l2rpn challenge and </a:t>
            </a:r>
            <a:r>
              <a:rPr sz="1200">
                <a:solidFill>
                  <a:schemeClr val="tx1"/>
                </a:solidFill>
                <a:latin typeface="Arial"/>
                <a:ea typeface="Arial"/>
                <a:cs typeface="Arial"/>
              </a:rPr>
              <a:t>this</a:t>
            </a:r>
            <a:r>
              <a:rPr sz="1200">
                <a:solidFill>
                  <a:schemeClr val="tx1"/>
                </a:solidFill>
                <a:latin typeface="Arial"/>
                <a:ea typeface="Arial"/>
                <a:cs typeface="Arial"/>
              </a:rPr>
              <a:t> </a:t>
            </a:r>
            <a:r>
              <a:rPr sz="1200">
                <a:solidFill>
                  <a:schemeClr val="tx1"/>
                </a:solidFill>
                <a:latin typeface="Arial"/>
                <a:ea typeface="Arial"/>
                <a:cs typeface="Arial"/>
              </a:rPr>
              <a:t>is</a:t>
            </a:r>
            <a:r>
              <a:rPr sz="1200">
                <a:solidFill>
                  <a:schemeClr val="tx1"/>
                </a:solidFill>
                <a:latin typeface="Arial"/>
                <a:ea typeface="Arial"/>
                <a:cs typeface="Arial"/>
              </a:rPr>
              <a:t> the main </a:t>
            </a:r>
            <a:r>
              <a:rPr sz="1200">
                <a:solidFill>
                  <a:schemeClr val="tx1"/>
                </a:solidFill>
                <a:latin typeface="Arial"/>
                <a:ea typeface="Arial"/>
                <a:cs typeface="Arial"/>
              </a:rPr>
              <a:t>categories</a:t>
            </a:r>
            <a:r>
              <a:rPr sz="1200">
                <a:solidFill>
                  <a:schemeClr val="tx1"/>
                </a:solidFill>
                <a:latin typeface="Arial"/>
                <a:ea typeface="Arial"/>
                <a:cs typeface="Arial"/>
              </a:rPr>
              <a:t> of </a:t>
            </a:r>
            <a:r>
              <a:rPr sz="1200">
                <a:solidFill>
                  <a:schemeClr val="tx1"/>
                </a:solidFill>
                <a:latin typeface="Arial"/>
                <a:ea typeface="Arial"/>
                <a:cs typeface="Arial"/>
              </a:rPr>
              <a:t>succesfull</a:t>
            </a:r>
            <a:r>
              <a:rPr sz="1200">
                <a:solidFill>
                  <a:schemeClr val="tx1"/>
                </a:solidFill>
                <a:latin typeface="Arial"/>
                <a:ea typeface="Arial"/>
                <a:cs typeface="Arial"/>
              </a:rPr>
              <a:t> </a:t>
            </a:r>
            <a:r>
              <a:rPr sz="1200">
                <a:solidFill>
                  <a:schemeClr val="tx1"/>
                </a:solidFill>
                <a:latin typeface="Arial"/>
                <a:ea typeface="Arial"/>
                <a:cs typeface="Arial"/>
              </a:rPr>
              <a:t>agentthat</a:t>
            </a:r>
            <a:r>
              <a:rPr sz="1200">
                <a:solidFill>
                  <a:schemeClr val="tx1"/>
                </a:solidFill>
                <a:latin typeface="Arial"/>
                <a:ea typeface="Arial"/>
                <a:cs typeface="Arial"/>
              </a:rPr>
              <a:t> won the challenge.</a:t>
            </a:r>
          </a:p>
          <a:p xmlns:a="http://schemas.openxmlformats.org/drawingml/2006/main"/>
          <a:p xmlns:a="http://schemas.openxmlformats.org/drawingml/2006/main">
            <a:r>
              <a:rPr sz="1200">
                <a:solidFill>
                  <a:schemeClr val="tx1"/>
                </a:solidFill>
                <a:latin typeface="Arial"/>
                <a:ea typeface="Arial"/>
                <a:cs typeface="Arial"/>
              </a:rPr>
              <a:t>Some</a:t>
            </a:r>
            <a:r>
              <a:rPr sz="1200">
                <a:solidFill>
                  <a:schemeClr val="tx1"/>
                </a:solidFill>
                <a:latin typeface="Arial"/>
                <a:ea typeface="Arial"/>
                <a:cs typeface="Arial"/>
              </a:rPr>
              <a:t> </a:t>
            </a:r>
            <a:r>
              <a:rPr sz="1200">
                <a:solidFill>
                  <a:schemeClr val="tx1"/>
                </a:solidFill>
                <a:latin typeface="Arial"/>
                <a:ea typeface="Arial"/>
                <a:cs typeface="Arial"/>
              </a:rPr>
              <a:t>approaches</a:t>
            </a:r>
            <a:r>
              <a:rPr sz="1200">
                <a:solidFill>
                  <a:schemeClr val="tx1"/>
                </a:solidFill>
                <a:latin typeface="Arial"/>
                <a:ea typeface="Arial"/>
                <a:cs typeface="Arial"/>
              </a:rPr>
              <a:t> </a:t>
            </a:r>
            <a:r>
              <a:rPr sz="1200">
                <a:solidFill>
                  <a:schemeClr val="tx1"/>
                </a:solidFill>
                <a:latin typeface="Arial"/>
                <a:ea typeface="Arial"/>
                <a:cs typeface="Arial"/>
              </a:rPr>
              <a:t>rely</a:t>
            </a:r>
            <a:r>
              <a:rPr sz="1200">
                <a:solidFill>
                  <a:schemeClr val="tx1"/>
                </a:solidFill>
                <a:latin typeface="Arial"/>
                <a:ea typeface="Arial"/>
                <a:cs typeface="Arial"/>
              </a:rPr>
              <a:t> on a single global agent </a:t>
            </a:r>
            <a:r>
              <a:rPr sz="1200">
                <a:solidFill>
                  <a:schemeClr val="tx1"/>
                </a:solidFill>
                <a:latin typeface="Arial"/>
                <a:ea typeface="Arial"/>
                <a:cs typeface="Arial"/>
              </a:rPr>
              <a:t>with</a:t>
            </a:r>
            <a:r>
              <a:rPr sz="1200">
                <a:solidFill>
                  <a:schemeClr val="tx1"/>
                </a:solidFill>
                <a:latin typeface="Arial"/>
                <a:ea typeface="Arial"/>
                <a:cs typeface="Arial"/>
              </a:rPr>
              <a:t> </a:t>
            </a:r>
            <a:r>
              <a:rPr sz="1200">
                <a:solidFill>
                  <a:schemeClr val="tx1"/>
                </a:solidFill>
                <a:latin typeface="Arial"/>
                <a:ea typeface="Arial"/>
                <a:cs typeface="Arial"/>
              </a:rPr>
              <a:t>strong</a:t>
            </a:r>
            <a:r>
              <a:rPr sz="1200">
                <a:solidFill>
                  <a:schemeClr val="tx1"/>
                </a:solidFill>
                <a:latin typeface="Arial"/>
                <a:ea typeface="Arial"/>
                <a:cs typeface="Arial"/>
              </a:rPr>
              <a:t> engineering tricks.</a:t>
            </a:r>
          </a:p>
          <a:p xmlns:a="http://schemas.openxmlformats.org/drawingml/2006/main"/>
          <a:p xmlns:a="http://schemas.openxmlformats.org/drawingml/2006/main">
            <a:r>
              <a:rPr sz="1200">
                <a:solidFill>
                  <a:schemeClr val="tx1"/>
                </a:solidFill>
                <a:latin typeface="Arial"/>
                <a:ea typeface="Arial"/>
                <a:cs typeface="Arial"/>
              </a:rPr>
              <a:t>For </a:t>
            </a:r>
            <a:r>
              <a:rPr sz="1200">
                <a:solidFill>
                  <a:schemeClr val="tx1"/>
                </a:solidFill>
                <a:latin typeface="Arial"/>
                <a:ea typeface="Arial"/>
                <a:cs typeface="Arial"/>
              </a:rPr>
              <a:t>example</a:t>
            </a:r>
            <a:r>
              <a:rPr sz="1200">
                <a:solidFill>
                  <a:schemeClr val="tx1"/>
                </a:solidFill>
                <a:latin typeface="Arial"/>
                <a:ea typeface="Arial"/>
                <a:cs typeface="Arial"/>
              </a:rPr>
              <a:t>, </a:t>
            </a:r>
            <a:r>
              <a:rPr sz="1200">
                <a:solidFill>
                  <a:schemeClr val="tx1"/>
                </a:solidFill>
                <a:latin typeface="Arial"/>
                <a:ea typeface="Arial"/>
                <a:cs typeface="Arial"/>
              </a:rPr>
              <a:t>they</a:t>
            </a:r>
            <a:r>
              <a:rPr sz="1200">
                <a:solidFill>
                  <a:schemeClr val="tx1"/>
                </a:solidFill>
                <a:latin typeface="Arial"/>
                <a:ea typeface="Arial"/>
                <a:cs typeface="Arial"/>
              </a:rPr>
              <a:t> use graph neural networks </a:t>
            </a:r>
            <a:r>
              <a:rPr sz="1200">
                <a:solidFill>
                  <a:schemeClr val="tx1"/>
                </a:solidFill>
                <a:latin typeface="Arial"/>
                <a:ea typeface="Arial"/>
                <a:cs typeface="Arial"/>
              </a:rPr>
              <a:t>combined</a:t>
            </a:r>
            <a:r>
              <a:rPr sz="1200">
                <a:solidFill>
                  <a:schemeClr val="tx1"/>
                </a:solidFill>
                <a:latin typeface="Arial"/>
                <a:ea typeface="Arial"/>
                <a:cs typeface="Arial"/>
              </a:rPr>
              <a:t> </a:t>
            </a:r>
            <a:r>
              <a:rPr sz="1200">
                <a:solidFill>
                  <a:schemeClr val="tx1"/>
                </a:solidFill>
                <a:latin typeface="Arial"/>
                <a:ea typeface="Arial"/>
                <a:cs typeface="Arial"/>
              </a:rPr>
              <a:t>with</a:t>
            </a:r>
            <a:r>
              <a:rPr sz="1200">
                <a:solidFill>
                  <a:schemeClr val="tx1"/>
                </a:solidFill>
                <a:latin typeface="Arial"/>
                <a:ea typeface="Arial"/>
                <a:cs typeface="Arial"/>
              </a:rPr>
              <a:t> value-</a:t>
            </a:r>
            <a:r>
              <a:rPr sz="1200">
                <a:solidFill>
                  <a:schemeClr val="tx1"/>
                </a:solidFill>
                <a:latin typeface="Arial"/>
                <a:ea typeface="Arial"/>
                <a:cs typeface="Arial"/>
              </a:rPr>
              <a:t>based</a:t>
            </a:r>
            <a:r>
              <a:rPr sz="1200">
                <a:solidFill>
                  <a:schemeClr val="tx1"/>
                </a:solidFill>
                <a:latin typeface="Arial"/>
                <a:ea typeface="Arial"/>
                <a:cs typeface="Arial"/>
              </a:rPr>
              <a:t> RL, and </a:t>
            </a:r>
            <a:r>
              <a:rPr sz="1200">
                <a:solidFill>
                  <a:schemeClr val="tx1"/>
                </a:solidFill>
                <a:latin typeface="Arial"/>
                <a:ea typeface="Arial"/>
                <a:cs typeface="Arial"/>
              </a:rPr>
              <a:t>validate</a:t>
            </a:r>
            <a:r>
              <a:rPr sz="1200">
                <a:solidFill>
                  <a:schemeClr val="tx1"/>
                </a:solidFill>
                <a:latin typeface="Arial"/>
                <a:ea typeface="Arial"/>
                <a:cs typeface="Arial"/>
              </a:rPr>
              <a:t> actions </a:t>
            </a:r>
            <a:r>
              <a:rPr sz="1200">
                <a:solidFill>
                  <a:schemeClr val="tx1"/>
                </a:solidFill>
                <a:latin typeface="Arial"/>
                <a:ea typeface="Arial"/>
                <a:cs typeface="Arial"/>
              </a:rPr>
              <a:t>using</a:t>
            </a:r>
            <a:r>
              <a:rPr sz="1200">
                <a:solidFill>
                  <a:schemeClr val="tx1"/>
                </a:solidFill>
                <a:latin typeface="Arial"/>
                <a:ea typeface="Arial"/>
                <a:cs typeface="Arial"/>
              </a:rPr>
              <a:t> power-flow simulations.</a:t>
            </a:r>
          </a:p>
          <a:p xmlns:a="http://schemas.openxmlformats.org/drawingml/2006/main"/>
          <a:p xmlns:a="http://schemas.openxmlformats.org/drawingml/2006/main">
            <a:r>
              <a:rPr sz="1200">
                <a:solidFill>
                  <a:schemeClr val="tx1"/>
                </a:solidFill>
                <a:latin typeface="Arial"/>
                <a:ea typeface="Arial"/>
                <a:cs typeface="Arial"/>
              </a:rPr>
              <a:t>Others</a:t>
            </a:r>
            <a:r>
              <a:rPr sz="1200">
                <a:solidFill>
                  <a:schemeClr val="tx1"/>
                </a:solidFill>
                <a:latin typeface="Arial"/>
                <a:ea typeface="Arial"/>
                <a:cs typeface="Arial"/>
              </a:rPr>
              <a:t> </a:t>
            </a:r>
            <a:r>
              <a:rPr sz="1200">
                <a:solidFill>
                  <a:schemeClr val="tx1"/>
                </a:solidFill>
                <a:latin typeface="Arial"/>
                <a:ea typeface="Arial"/>
                <a:cs typeface="Arial"/>
              </a:rPr>
              <a:t>reduce</a:t>
            </a:r>
            <a:r>
              <a:rPr sz="1200">
                <a:solidFill>
                  <a:schemeClr val="tx1"/>
                </a:solidFill>
                <a:latin typeface="Arial"/>
                <a:ea typeface="Arial"/>
                <a:cs typeface="Arial"/>
              </a:rPr>
              <a:t> the action </a:t>
            </a:r>
            <a:r>
              <a:rPr sz="1200">
                <a:solidFill>
                  <a:schemeClr val="tx1"/>
                </a:solidFill>
                <a:latin typeface="Arial"/>
                <a:ea typeface="Arial"/>
                <a:cs typeface="Arial"/>
              </a:rPr>
              <a:t>space</a:t>
            </a:r>
            <a:r>
              <a:rPr sz="1200">
                <a:solidFill>
                  <a:schemeClr val="tx1"/>
                </a:solidFill>
                <a:latin typeface="Arial"/>
                <a:ea typeface="Arial"/>
                <a:cs typeface="Arial"/>
              </a:rPr>
              <a:t> </a:t>
            </a:r>
            <a:r>
              <a:rPr sz="1200">
                <a:solidFill>
                  <a:schemeClr val="tx1"/>
                </a:solidFill>
                <a:latin typeface="Arial"/>
                <a:ea typeface="Arial"/>
                <a:cs typeface="Arial"/>
              </a:rPr>
              <a:t>using</a:t>
            </a:r>
            <a:r>
              <a:rPr sz="1200">
                <a:solidFill>
                  <a:schemeClr val="tx1"/>
                </a:solidFill>
                <a:latin typeface="Arial"/>
                <a:ea typeface="Arial"/>
                <a:cs typeface="Arial"/>
              </a:rPr>
              <a:t> </a:t>
            </a:r>
            <a:r>
              <a:rPr sz="1200">
                <a:solidFill>
                  <a:schemeClr val="tx1"/>
                </a:solidFill>
                <a:latin typeface="Arial"/>
                <a:ea typeface="Arial"/>
                <a:cs typeface="Arial"/>
              </a:rPr>
              <a:t>masking</a:t>
            </a:r>
            <a:r>
              <a:rPr sz="1200">
                <a:solidFill>
                  <a:schemeClr val="tx1"/>
                </a:solidFill>
                <a:latin typeface="Arial"/>
                <a:ea typeface="Arial"/>
                <a:cs typeface="Arial"/>
              </a:rPr>
              <a:t> or </a:t>
            </a:r>
            <a:r>
              <a:rPr sz="1200">
                <a:solidFill>
                  <a:schemeClr val="tx1"/>
                </a:solidFill>
                <a:latin typeface="Arial"/>
                <a:ea typeface="Arial"/>
                <a:cs typeface="Arial"/>
              </a:rPr>
              <a:t>pruning</a:t>
            </a:r>
            <a:r>
              <a:rPr sz="1200">
                <a:solidFill>
                  <a:schemeClr val="tx1"/>
                </a:solidFill>
                <a:latin typeface="Arial"/>
                <a:ea typeface="Arial"/>
                <a:cs typeface="Arial"/>
              </a:rPr>
              <a:t>.</a:t>
            </a:r>
          </a:p>
          <a:p xmlns:a="http://schemas.openxmlformats.org/drawingml/2006/main"/>
          <a:p xmlns:a="http://schemas.openxmlformats.org/drawingml/2006/main">
            <a:r>
              <a:rPr sz="1200">
                <a:solidFill>
                  <a:schemeClr val="tx1"/>
                </a:solidFill>
                <a:latin typeface="Arial"/>
                <a:ea typeface="Arial"/>
                <a:cs typeface="Arial"/>
              </a:rPr>
              <a:t>These</a:t>
            </a:r>
            <a:r>
              <a:rPr sz="1200">
                <a:solidFill>
                  <a:schemeClr val="tx1"/>
                </a:solidFill>
                <a:latin typeface="Arial"/>
                <a:ea typeface="Arial"/>
                <a:cs typeface="Arial"/>
              </a:rPr>
              <a:t> </a:t>
            </a:r>
            <a:r>
              <a:rPr sz="1200">
                <a:solidFill>
                  <a:schemeClr val="tx1"/>
                </a:solidFill>
                <a:latin typeface="Arial"/>
                <a:ea typeface="Arial"/>
                <a:cs typeface="Arial"/>
              </a:rPr>
              <a:t>methods</a:t>
            </a:r>
            <a:r>
              <a:rPr sz="1200">
                <a:solidFill>
                  <a:schemeClr val="tx1"/>
                </a:solidFill>
                <a:latin typeface="Arial"/>
                <a:ea typeface="Arial"/>
                <a:cs typeface="Arial"/>
              </a:rPr>
              <a:t> can </a:t>
            </a:r>
            <a:r>
              <a:rPr sz="1200">
                <a:solidFill>
                  <a:schemeClr val="tx1"/>
                </a:solidFill>
                <a:latin typeface="Arial"/>
                <a:ea typeface="Arial"/>
                <a:cs typeface="Arial"/>
              </a:rPr>
              <a:t>work</a:t>
            </a:r>
            <a:r>
              <a:rPr sz="1200">
                <a:solidFill>
                  <a:schemeClr val="tx1"/>
                </a:solidFill>
                <a:latin typeface="Arial"/>
                <a:ea typeface="Arial"/>
                <a:cs typeface="Arial"/>
              </a:rPr>
              <a:t>, </a:t>
            </a:r>
            <a:r>
              <a:rPr sz="1200">
                <a:solidFill>
                  <a:schemeClr val="tx1"/>
                </a:solidFill>
                <a:latin typeface="Arial"/>
                <a:ea typeface="Arial"/>
                <a:cs typeface="Arial"/>
              </a:rPr>
              <a:t>so</a:t>
            </a:r>
            <a:r>
              <a:rPr sz="1200">
                <a:solidFill>
                  <a:schemeClr val="tx1"/>
                </a:solidFill>
                <a:latin typeface="Arial"/>
                <a:ea typeface="Arial"/>
                <a:cs typeface="Arial"/>
              </a:rPr>
              <a:t> </a:t>
            </a:r>
            <a:r>
              <a:rPr sz="1200">
                <a:solidFill>
                  <a:schemeClr val="tx1"/>
                </a:solidFill>
                <a:latin typeface="Arial"/>
                <a:ea typeface="Arial"/>
                <a:cs typeface="Arial"/>
              </a:rPr>
              <a:t>mixing</a:t>
            </a:r>
            <a:r>
              <a:rPr sz="1200">
                <a:solidFill>
                  <a:schemeClr val="tx1"/>
                </a:solidFill>
                <a:latin typeface="Arial"/>
                <a:ea typeface="Arial"/>
                <a:cs typeface="Arial"/>
              </a:rPr>
              <a:t> a single agent </a:t>
            </a:r>
            <a:r>
              <a:rPr sz="1200">
                <a:solidFill>
                  <a:schemeClr val="tx1"/>
                </a:solidFill>
                <a:latin typeface="Arial"/>
                <a:ea typeface="Arial"/>
                <a:cs typeface="Arial"/>
              </a:rPr>
              <a:t>with</a:t>
            </a:r>
            <a:r>
              <a:rPr sz="1200">
                <a:solidFill>
                  <a:schemeClr val="tx1"/>
                </a:solidFill>
                <a:latin typeface="Arial"/>
                <a:ea typeface="Arial"/>
                <a:cs typeface="Arial"/>
              </a:rPr>
              <a:t> </a:t>
            </a:r>
            <a:r>
              <a:rPr sz="1200">
                <a:solidFill>
                  <a:schemeClr val="tx1"/>
                </a:solidFill>
                <a:latin typeface="Arial"/>
                <a:ea typeface="Arial"/>
                <a:cs typeface="Arial"/>
              </a:rPr>
              <a:t>rules</a:t>
            </a:r>
            <a:r>
              <a:rPr sz="1200">
                <a:solidFill>
                  <a:schemeClr val="tx1"/>
                </a:solidFill>
                <a:latin typeface="Arial"/>
                <a:ea typeface="Arial"/>
                <a:cs typeface="Arial"/>
              </a:rPr>
              <a:t>, but </a:t>
            </a:r>
            <a:r>
              <a:rPr sz="1200">
                <a:solidFill>
                  <a:schemeClr val="tx1"/>
                </a:solidFill>
                <a:latin typeface="Arial"/>
                <a:ea typeface="Arial"/>
                <a:cs typeface="Arial"/>
              </a:rPr>
              <a:t>they</a:t>
            </a:r>
            <a:r>
              <a:rPr sz="1200">
                <a:solidFill>
                  <a:schemeClr val="tx1"/>
                </a:solidFill>
                <a:latin typeface="Arial"/>
                <a:ea typeface="Arial"/>
                <a:cs typeface="Arial"/>
              </a:rPr>
              <a:t> </a:t>
            </a:r>
            <a:r>
              <a:rPr sz="1200">
                <a:solidFill>
                  <a:schemeClr val="tx1"/>
                </a:solidFill>
                <a:latin typeface="Arial"/>
                <a:ea typeface="Arial"/>
                <a:cs typeface="Arial"/>
              </a:rPr>
              <a:t>suffer</a:t>
            </a:r>
            <a:r>
              <a:rPr sz="1200">
                <a:solidFill>
                  <a:schemeClr val="tx1"/>
                </a:solidFill>
                <a:latin typeface="Arial"/>
                <a:ea typeface="Arial"/>
                <a:cs typeface="Arial"/>
              </a:rPr>
              <a:t> </a:t>
            </a:r>
            <a:r>
              <a:rPr sz="1200">
                <a:solidFill>
                  <a:schemeClr val="tx1"/>
                </a:solidFill>
                <a:latin typeface="Arial"/>
                <a:ea typeface="Arial"/>
                <a:cs typeface="Arial"/>
              </a:rPr>
              <a:t>because</a:t>
            </a:r>
            <a:r>
              <a:rPr sz="1200">
                <a:solidFill>
                  <a:schemeClr val="tx1"/>
                </a:solidFill>
                <a:latin typeface="Arial"/>
                <a:ea typeface="Arial"/>
                <a:cs typeface="Arial"/>
              </a:rPr>
              <a:t> the action </a:t>
            </a:r>
            <a:r>
              <a:rPr sz="1200">
                <a:solidFill>
                  <a:schemeClr val="tx1"/>
                </a:solidFill>
                <a:latin typeface="Arial"/>
                <a:ea typeface="Arial"/>
                <a:cs typeface="Arial"/>
              </a:rPr>
              <a:t>space</a:t>
            </a:r>
            <a:r>
              <a:rPr sz="1200">
                <a:solidFill>
                  <a:schemeClr val="tx1"/>
                </a:solidFill>
                <a:latin typeface="Arial"/>
                <a:ea typeface="Arial"/>
                <a:cs typeface="Arial"/>
              </a:rPr>
              <a:t> </a:t>
            </a:r>
            <a:r>
              <a:rPr sz="1200">
                <a:solidFill>
                  <a:schemeClr val="tx1"/>
                </a:solidFill>
                <a:latin typeface="Arial"/>
                <a:ea typeface="Arial"/>
                <a:cs typeface="Arial"/>
              </a:rPr>
              <a:t>remains</a:t>
            </a:r>
            <a:r>
              <a:rPr sz="1200">
                <a:solidFill>
                  <a:schemeClr val="tx1"/>
                </a:solidFill>
                <a:latin typeface="Arial"/>
                <a:ea typeface="Arial"/>
                <a:cs typeface="Arial"/>
              </a:rPr>
              <a:t> </a:t>
            </a:r>
            <a:r>
              <a:rPr sz="1200">
                <a:solidFill>
                  <a:schemeClr val="tx1"/>
                </a:solidFill>
                <a:latin typeface="Arial"/>
                <a:ea typeface="Arial"/>
                <a:cs typeface="Arial"/>
              </a:rPr>
              <a:t>very</a:t>
            </a:r>
            <a:r>
              <a:rPr sz="1200">
                <a:solidFill>
                  <a:schemeClr val="tx1"/>
                </a:solidFill>
                <a:latin typeface="Arial"/>
                <a:ea typeface="Arial"/>
                <a:cs typeface="Arial"/>
              </a:rPr>
              <a:t> large.”</a:t>
            </a:r>
          </a:p>
          <a:p xmlns:a="http://schemas.openxmlformats.org/drawingml/2006/main"/>
          <a:p xmlns:a="http://schemas.openxmlformats.org/drawingml/2006/main">
            <a:r>
              <a:rPr sz="1200">
                <a:solidFill>
                  <a:schemeClr val="tx1"/>
                </a:solidFill>
                <a:latin typeface="Arial"/>
                <a:ea typeface="Arial"/>
                <a:cs typeface="Arial"/>
              </a:rPr>
              <a:t>Another</a:t>
            </a:r>
            <a:r>
              <a:rPr sz="1200">
                <a:solidFill>
                  <a:schemeClr val="tx1"/>
                </a:solidFill>
                <a:latin typeface="Arial"/>
                <a:ea typeface="Arial"/>
                <a:cs typeface="Arial"/>
              </a:rPr>
              <a:t> important </a:t>
            </a:r>
            <a:r>
              <a:rPr sz="1200">
                <a:solidFill>
                  <a:schemeClr val="tx1"/>
                </a:solidFill>
                <a:latin typeface="Arial"/>
                <a:ea typeface="Arial"/>
                <a:cs typeface="Arial"/>
              </a:rPr>
              <a:t>idea</a:t>
            </a:r>
            <a:r>
              <a:rPr sz="1200">
                <a:solidFill>
                  <a:schemeClr val="tx1"/>
                </a:solidFill>
                <a:latin typeface="Arial"/>
                <a:ea typeface="Arial"/>
                <a:cs typeface="Arial"/>
              </a:rPr>
              <a:t> </a:t>
            </a:r>
            <a:r>
              <a:rPr sz="1200">
                <a:solidFill>
                  <a:schemeClr val="tx1"/>
                </a:solidFill>
                <a:latin typeface="Arial"/>
                <a:ea typeface="Arial"/>
                <a:cs typeface="Arial"/>
              </a:rPr>
              <a:t>is</a:t>
            </a:r>
            <a:r>
              <a:rPr sz="1200">
                <a:solidFill>
                  <a:schemeClr val="tx1"/>
                </a:solidFill>
                <a:latin typeface="Arial"/>
                <a:ea typeface="Arial"/>
                <a:cs typeface="Arial"/>
              </a:rPr>
              <a:t> to </a:t>
            </a:r>
            <a:r>
              <a:rPr sz="1200">
                <a:solidFill>
                  <a:schemeClr val="tx1"/>
                </a:solidFill>
                <a:latin typeface="Arial"/>
                <a:ea typeface="Arial"/>
                <a:cs typeface="Arial"/>
              </a:rPr>
              <a:t>predict</a:t>
            </a:r>
            <a:r>
              <a:rPr sz="1200">
                <a:solidFill>
                  <a:schemeClr val="tx1"/>
                </a:solidFill>
                <a:latin typeface="Arial"/>
                <a:ea typeface="Arial"/>
                <a:cs typeface="Arial"/>
              </a:rPr>
              <a:t> a </a:t>
            </a:r>
            <a:r>
              <a:rPr sz="1200" b="1">
                <a:solidFill>
                  <a:schemeClr val="tx1"/>
                </a:solidFill>
                <a:latin typeface="Arial"/>
                <a:ea typeface="Arial"/>
                <a:cs typeface="Arial"/>
              </a:rPr>
              <a:t>target</a:t>
            </a:r>
            <a:r>
              <a:rPr sz="1200" b="1">
                <a:solidFill>
                  <a:schemeClr val="tx1"/>
                </a:solidFill>
                <a:latin typeface="Arial"/>
                <a:ea typeface="Arial"/>
                <a:cs typeface="Arial"/>
              </a:rPr>
              <a:t> </a:t>
            </a:r>
            <a:r>
              <a:rPr sz="1200" b="1">
                <a:solidFill>
                  <a:schemeClr val="tx1"/>
                </a:solidFill>
                <a:latin typeface="Arial"/>
                <a:ea typeface="Arial"/>
                <a:cs typeface="Arial"/>
              </a:rPr>
              <a:t>topology</a:t>
            </a:r>
            <a:r>
              <a:rPr sz="1200" b="1">
                <a:solidFill>
                  <a:schemeClr val="tx1"/>
                </a:solidFill>
                <a:latin typeface="Arial"/>
                <a:ea typeface="Arial"/>
                <a:cs typeface="Arial"/>
              </a:rPr>
              <a:t> </a:t>
            </a:r>
            <a:r>
              <a:rPr sz="1200" b="1">
                <a:solidFill>
                  <a:schemeClr val="tx1"/>
                </a:solidFill>
                <a:latin typeface="Arial"/>
                <a:ea typeface="Arial"/>
                <a:cs typeface="Arial"/>
              </a:rPr>
              <a:t>instead</a:t>
            </a:r>
            <a:r>
              <a:rPr sz="1200" b="1">
                <a:solidFill>
                  <a:schemeClr val="tx1"/>
                </a:solidFill>
                <a:latin typeface="Arial"/>
                <a:ea typeface="Arial"/>
                <a:cs typeface="Arial"/>
              </a:rPr>
              <a:t> of </a:t>
            </a:r>
            <a:r>
              <a:rPr sz="1200" b="1">
                <a:solidFill>
                  <a:schemeClr val="tx1"/>
                </a:solidFill>
                <a:latin typeface="Arial"/>
                <a:ea typeface="Arial"/>
                <a:cs typeface="Arial"/>
              </a:rPr>
              <a:t>raw</a:t>
            </a:r>
            <a:r>
              <a:rPr sz="1200" b="1">
                <a:solidFill>
                  <a:schemeClr val="tx1"/>
                </a:solidFill>
                <a:latin typeface="Arial"/>
                <a:ea typeface="Arial"/>
                <a:cs typeface="Arial"/>
              </a:rPr>
              <a:t> actions</a:t>
            </a:r>
            <a:r>
              <a:rPr sz="1200">
                <a:solidFill>
                  <a:schemeClr val="tx1"/>
                </a:solidFill>
                <a:latin typeface="Arial"/>
                <a:ea typeface="Arial"/>
                <a:cs typeface="Arial"/>
              </a:rPr>
              <a:t>.</a:t>
            </a:r>
          </a:p>
          <a:p xmlns:a="http://schemas.openxmlformats.org/drawingml/2006/main"/>
          <a:p xmlns:a="http://schemas.openxmlformats.org/drawingml/2006/main">
            <a:r>
              <a:rPr sz="1200">
                <a:solidFill>
                  <a:schemeClr val="tx1"/>
                </a:solidFill>
                <a:latin typeface="Arial"/>
                <a:ea typeface="Arial"/>
                <a:cs typeface="Arial"/>
              </a:rPr>
              <a:t>This </a:t>
            </a:r>
            <a:r>
              <a:rPr sz="1200">
                <a:solidFill>
                  <a:schemeClr val="tx1"/>
                </a:solidFill>
                <a:latin typeface="Arial"/>
                <a:ea typeface="Arial"/>
                <a:cs typeface="Arial"/>
              </a:rPr>
              <a:t>is</a:t>
            </a:r>
            <a:r>
              <a:rPr sz="1200">
                <a:solidFill>
                  <a:schemeClr val="tx1"/>
                </a:solidFill>
                <a:latin typeface="Arial"/>
                <a:ea typeface="Arial"/>
                <a:cs typeface="Arial"/>
              </a:rPr>
              <a:t> </a:t>
            </a:r>
            <a:r>
              <a:rPr sz="1200">
                <a:solidFill>
                  <a:schemeClr val="tx1"/>
                </a:solidFill>
                <a:latin typeface="Arial"/>
                <a:ea typeface="Arial"/>
                <a:cs typeface="Arial"/>
              </a:rPr>
              <a:t>used</a:t>
            </a:r>
            <a:r>
              <a:rPr sz="1200">
                <a:solidFill>
                  <a:schemeClr val="tx1"/>
                </a:solidFill>
                <a:latin typeface="Arial"/>
                <a:ea typeface="Arial"/>
                <a:cs typeface="Arial"/>
              </a:rPr>
              <a:t> in SMAAC, </a:t>
            </a:r>
            <a:r>
              <a:rPr sz="1200">
                <a:solidFill>
                  <a:schemeClr val="tx1"/>
                </a:solidFill>
                <a:latin typeface="Arial"/>
                <a:ea typeface="Arial"/>
                <a:cs typeface="Arial"/>
              </a:rPr>
              <a:t>where</a:t>
            </a:r>
            <a:r>
              <a:rPr sz="1200">
                <a:solidFill>
                  <a:schemeClr val="tx1"/>
                </a:solidFill>
                <a:latin typeface="Arial"/>
                <a:ea typeface="Arial"/>
                <a:cs typeface="Arial"/>
              </a:rPr>
              <a:t> </a:t>
            </a:r>
            <a:r>
              <a:rPr sz="1200">
                <a:solidFill>
                  <a:schemeClr val="tx1"/>
                </a:solidFill>
                <a:latin typeface="Arial"/>
                <a:ea typeface="Arial"/>
                <a:cs typeface="Arial"/>
              </a:rPr>
              <a:t>the</a:t>
            </a:r>
            <a:r>
              <a:rPr sz="1200">
                <a:solidFill>
                  <a:schemeClr val="tx1"/>
                </a:solidFill>
                <a:latin typeface="Arial"/>
                <a:ea typeface="Arial"/>
                <a:cs typeface="Arial"/>
              </a:rPr>
              <a:t> </a:t>
            </a:r>
            <a:r>
              <a:rPr sz="1200">
                <a:solidFill>
                  <a:schemeClr val="tx1"/>
                </a:solidFill>
                <a:latin typeface="Arial"/>
                <a:ea typeface="Arial"/>
                <a:cs typeface="Arial"/>
              </a:rPr>
              <a:t>agent</a:t>
            </a:r>
            <a:r>
              <a:rPr sz="1200">
                <a:solidFill>
                  <a:schemeClr val="tx1"/>
                </a:solidFill>
                <a:latin typeface="Arial"/>
                <a:ea typeface="Arial"/>
                <a:cs typeface="Arial"/>
              </a:rPr>
              <a:t> </a:t>
            </a:r>
            <a:r>
              <a:rPr sz="1200">
                <a:solidFill>
                  <a:schemeClr val="tx1"/>
                </a:solidFill>
                <a:latin typeface="Arial"/>
                <a:ea typeface="Arial"/>
                <a:cs typeface="Arial"/>
              </a:rPr>
              <a:t>learns</a:t>
            </a:r>
            <a:r>
              <a:rPr sz="1200">
                <a:solidFill>
                  <a:schemeClr val="tx1"/>
                </a:solidFill>
                <a:latin typeface="Arial"/>
                <a:ea typeface="Arial"/>
                <a:cs typeface="Arial"/>
              </a:rPr>
              <a:t> an </a:t>
            </a:r>
            <a:r>
              <a:rPr sz="1200">
                <a:solidFill>
                  <a:schemeClr val="tx1"/>
                </a:solidFill>
                <a:latin typeface="Arial"/>
                <a:ea typeface="Arial"/>
                <a:cs typeface="Arial"/>
              </a:rPr>
              <a:t>afterstate</a:t>
            </a:r>
            <a:r>
              <a:rPr sz="1200">
                <a:solidFill>
                  <a:schemeClr val="tx1"/>
                </a:solidFill>
                <a:latin typeface="Arial"/>
                <a:ea typeface="Arial"/>
                <a:cs typeface="Arial"/>
              </a:rPr>
              <a:t> </a:t>
            </a:r>
            <a:r>
              <a:rPr sz="1200">
                <a:solidFill>
                  <a:schemeClr val="tx1"/>
                </a:solidFill>
                <a:latin typeface="Arial"/>
                <a:ea typeface="Arial"/>
                <a:cs typeface="Arial"/>
              </a:rPr>
              <a:t>representation</a:t>
            </a:r>
            <a:r>
              <a:rPr sz="1200">
                <a:solidFill>
                  <a:schemeClr val="tx1"/>
                </a:solidFill>
                <a:latin typeface="Arial"/>
                <a:ea typeface="Arial"/>
                <a:cs typeface="Arial"/>
              </a:rPr>
              <a:t>—</a:t>
            </a:r>
            <a:r>
              <a:rPr sz="1200">
                <a:solidFill>
                  <a:schemeClr val="tx1"/>
                </a:solidFill>
                <a:latin typeface="Arial"/>
                <a:ea typeface="Arial"/>
                <a:cs typeface="Arial"/>
              </a:rPr>
              <a:t>basically</a:t>
            </a:r>
            <a:r>
              <a:rPr sz="1200">
                <a:solidFill>
                  <a:schemeClr val="tx1"/>
                </a:solidFill>
                <a:latin typeface="Arial"/>
                <a:ea typeface="Arial"/>
                <a:cs typeface="Arial"/>
              </a:rPr>
              <a:t> </a:t>
            </a:r>
            <a:r>
              <a:rPr sz="1200">
                <a:solidFill>
                  <a:schemeClr val="tx1"/>
                </a:solidFill>
                <a:latin typeface="Arial"/>
                <a:ea typeface="Arial"/>
                <a:cs typeface="Arial"/>
              </a:rPr>
              <a:t>the</a:t>
            </a:r>
            <a:r>
              <a:rPr sz="1200">
                <a:solidFill>
                  <a:schemeClr val="tx1"/>
                </a:solidFill>
                <a:latin typeface="Arial"/>
                <a:ea typeface="Arial"/>
                <a:cs typeface="Arial"/>
              </a:rPr>
              <a:t> </a:t>
            </a:r>
            <a:r>
              <a:rPr sz="1200">
                <a:solidFill>
                  <a:schemeClr val="tx1"/>
                </a:solidFill>
                <a:latin typeface="Arial"/>
                <a:ea typeface="Arial"/>
                <a:cs typeface="Arial"/>
              </a:rPr>
              <a:t>resulting</a:t>
            </a:r>
            <a:r>
              <a:rPr sz="1200">
                <a:solidFill>
                  <a:schemeClr val="tx1"/>
                </a:solidFill>
                <a:latin typeface="Arial"/>
                <a:ea typeface="Arial"/>
                <a:cs typeface="Arial"/>
              </a:rPr>
              <a:t> </a:t>
            </a:r>
            <a:r>
              <a:rPr sz="1200">
                <a:solidFill>
                  <a:schemeClr val="tx1"/>
                </a:solidFill>
                <a:latin typeface="Arial"/>
                <a:ea typeface="Arial"/>
                <a:cs typeface="Arial"/>
              </a:rPr>
              <a:t>topology</a:t>
            </a:r>
            <a:r>
              <a:rPr sz="1200">
                <a:solidFill>
                  <a:schemeClr val="tx1"/>
                </a:solidFill>
                <a:latin typeface="Arial"/>
                <a:ea typeface="Arial"/>
                <a:cs typeface="Arial"/>
              </a:rPr>
              <a:t> after an </a:t>
            </a:r>
            <a:r>
              <a:rPr sz="1200">
                <a:solidFill>
                  <a:schemeClr val="tx1"/>
                </a:solidFill>
                <a:latin typeface="Arial"/>
                <a:ea typeface="Arial"/>
                <a:cs typeface="Arial"/>
              </a:rPr>
              <a:t>action</a:t>
            </a:r>
            <a:r>
              <a:rPr sz="1200">
                <a:solidFill>
                  <a:schemeClr val="tx1"/>
                </a:solidFill>
                <a:latin typeface="Arial"/>
                <a:ea typeface="Arial"/>
                <a:cs typeface="Arial"/>
              </a:rPr>
              <a:t>.</a:t>
            </a:r>
          </a:p>
          <a:p xmlns:a="http://schemas.openxmlformats.org/drawingml/2006/main"/>
          <a:p xmlns:a="http://schemas.openxmlformats.org/drawingml/2006/main">
            <a:r>
              <a:rPr sz="1200">
                <a:solidFill>
                  <a:schemeClr val="tx1"/>
                </a:solidFill>
                <a:latin typeface="Arial"/>
                <a:ea typeface="Arial"/>
                <a:cs typeface="Arial"/>
              </a:rPr>
              <a:t>This </a:t>
            </a:r>
            <a:r>
              <a:rPr sz="1200">
                <a:solidFill>
                  <a:schemeClr val="tx1"/>
                </a:solidFill>
                <a:latin typeface="Arial"/>
                <a:ea typeface="Arial"/>
                <a:cs typeface="Arial"/>
              </a:rPr>
              <a:t>helps</a:t>
            </a:r>
            <a:r>
              <a:rPr sz="1200">
                <a:solidFill>
                  <a:schemeClr val="tx1"/>
                </a:solidFill>
                <a:latin typeface="Arial"/>
                <a:ea typeface="Arial"/>
                <a:cs typeface="Arial"/>
              </a:rPr>
              <a:t> </a:t>
            </a:r>
            <a:r>
              <a:rPr sz="1200">
                <a:solidFill>
                  <a:schemeClr val="tx1"/>
                </a:solidFill>
                <a:latin typeface="Arial"/>
                <a:ea typeface="Arial"/>
                <a:cs typeface="Arial"/>
              </a:rPr>
              <a:t>because</a:t>
            </a:r>
            <a:r>
              <a:rPr sz="1200">
                <a:solidFill>
                  <a:schemeClr val="tx1"/>
                </a:solidFill>
                <a:latin typeface="Arial"/>
                <a:ea typeface="Arial"/>
                <a:cs typeface="Arial"/>
              </a:rPr>
              <a:t> multiple </a:t>
            </a:r>
            <a:r>
              <a:rPr sz="1200">
                <a:solidFill>
                  <a:schemeClr val="tx1"/>
                </a:solidFill>
                <a:latin typeface="Arial"/>
                <a:ea typeface="Arial"/>
                <a:cs typeface="Arial"/>
              </a:rPr>
              <a:t>sequences</a:t>
            </a:r>
            <a:r>
              <a:rPr sz="1200">
                <a:solidFill>
                  <a:schemeClr val="tx1"/>
                </a:solidFill>
                <a:latin typeface="Arial"/>
                <a:ea typeface="Arial"/>
                <a:cs typeface="Arial"/>
              </a:rPr>
              <a:t> of actions can lead to the </a:t>
            </a:r>
            <a:r>
              <a:rPr sz="1200">
                <a:solidFill>
                  <a:schemeClr val="tx1"/>
                </a:solidFill>
                <a:latin typeface="Arial"/>
                <a:ea typeface="Arial"/>
                <a:cs typeface="Arial"/>
              </a:rPr>
              <a:t>same</a:t>
            </a:r>
            <a:r>
              <a:rPr sz="1200">
                <a:solidFill>
                  <a:schemeClr val="tx1"/>
                </a:solidFill>
                <a:latin typeface="Arial"/>
                <a:ea typeface="Arial"/>
                <a:cs typeface="Arial"/>
              </a:rPr>
              <a:t> configuration. So </a:t>
            </a:r>
            <a:r>
              <a:rPr sz="1200">
                <a:solidFill>
                  <a:schemeClr val="tx1"/>
                </a:solidFill>
                <a:latin typeface="Arial"/>
                <a:ea typeface="Arial"/>
                <a:cs typeface="Arial"/>
              </a:rPr>
              <a:t>it</a:t>
            </a:r>
            <a:r>
              <a:rPr sz="1200">
                <a:solidFill>
                  <a:schemeClr val="tx1"/>
                </a:solidFill>
                <a:latin typeface="Arial"/>
                <a:ea typeface="Arial"/>
                <a:cs typeface="Arial"/>
              </a:rPr>
              <a:t> </a:t>
            </a:r>
            <a:r>
              <a:rPr sz="1200">
                <a:solidFill>
                  <a:schemeClr val="tx1"/>
                </a:solidFill>
                <a:latin typeface="Arial"/>
                <a:ea typeface="Arial"/>
                <a:cs typeface="Arial"/>
              </a:rPr>
              <a:t>reduces</a:t>
            </a:r>
            <a:r>
              <a:rPr sz="1200">
                <a:solidFill>
                  <a:schemeClr val="tx1"/>
                </a:solidFill>
                <a:latin typeface="Arial"/>
                <a:ea typeface="Arial"/>
                <a:cs typeface="Arial"/>
              </a:rPr>
              <a:t> the action </a:t>
            </a:r>
            <a:r>
              <a:rPr sz="1200">
                <a:solidFill>
                  <a:schemeClr val="tx1"/>
                </a:solidFill>
                <a:latin typeface="Arial"/>
                <a:ea typeface="Arial"/>
                <a:cs typeface="Arial"/>
              </a:rPr>
              <a:t>space</a:t>
            </a:r>
          </a:p>
          <a:p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a:solidFill>
                  <a:schemeClr val="tx1"/>
                </a:solidFill>
                <a:latin typeface="Arial"/>
                <a:ea typeface="Arial"/>
                <a:cs typeface="Arial"/>
              </a:rPr>
              <a:t>To dive a </a:t>
            </a:r>
            <a:r>
              <a:rPr sz="1200">
                <a:solidFill>
                  <a:schemeClr val="tx1"/>
                </a:solidFill>
                <a:latin typeface="Arial"/>
                <a:ea typeface="Arial"/>
                <a:cs typeface="Arial"/>
              </a:rPr>
              <a:t>little</a:t>
            </a:r>
            <a:r>
              <a:rPr sz="1200">
                <a:solidFill>
                  <a:schemeClr val="tx1"/>
                </a:solidFill>
                <a:latin typeface="Arial"/>
                <a:ea typeface="Arial"/>
                <a:cs typeface="Arial"/>
              </a:rPr>
              <a:t> </a:t>
            </a:r>
            <a:r>
              <a:rPr sz="1200">
                <a:solidFill>
                  <a:schemeClr val="tx1"/>
                </a:solidFill>
                <a:latin typeface="Arial"/>
                <a:ea typeface="Arial"/>
                <a:cs typeface="Arial"/>
              </a:rPr>
              <a:t>deeper</a:t>
            </a:r>
            <a:r>
              <a:rPr sz="1200">
                <a:solidFill>
                  <a:schemeClr val="tx1"/>
                </a:solidFill>
                <a:latin typeface="Arial"/>
                <a:ea typeface="Arial"/>
                <a:cs typeface="Arial"/>
              </a:rPr>
              <a:t> i have been </a:t>
            </a:r>
            <a:r>
              <a:rPr sz="1200">
                <a:solidFill>
                  <a:schemeClr val="tx1"/>
                </a:solidFill>
                <a:latin typeface="Arial"/>
                <a:ea typeface="Arial"/>
                <a:cs typeface="Arial"/>
              </a:rPr>
              <a:t>looking</a:t>
            </a:r>
            <a:r>
              <a:rPr sz="1200">
                <a:solidFill>
                  <a:schemeClr val="tx1"/>
                </a:solidFill>
                <a:latin typeface="Arial"/>
                <a:ea typeface="Arial"/>
                <a:cs typeface="Arial"/>
              </a:rPr>
              <a:t> at a </a:t>
            </a:r>
            <a:r>
              <a:rPr sz="1200">
                <a:solidFill>
                  <a:schemeClr val="tx1"/>
                </a:solidFill>
                <a:latin typeface="Arial"/>
                <a:ea typeface="Arial"/>
                <a:cs typeface="Arial"/>
              </a:rPr>
              <a:t>survey</a:t>
            </a:r>
            <a:r>
              <a:rPr sz="1200">
                <a:solidFill>
                  <a:schemeClr val="tx1"/>
                </a:solidFill>
                <a:latin typeface="Arial"/>
                <a:ea typeface="Arial"/>
                <a:cs typeface="Arial"/>
              </a:rPr>
              <a:t> </a:t>
            </a:r>
            <a:r>
              <a:rPr sz="1200">
                <a:solidFill>
                  <a:schemeClr val="tx1"/>
                </a:solidFill>
                <a:latin typeface="Arial"/>
                <a:ea typeface="Arial"/>
                <a:cs typeface="Arial"/>
              </a:rPr>
              <a:t>that</a:t>
            </a:r>
            <a:r>
              <a:rPr sz="1200">
                <a:solidFill>
                  <a:schemeClr val="tx1"/>
                </a:solidFill>
                <a:latin typeface="Arial"/>
                <a:ea typeface="Arial"/>
                <a:cs typeface="Arial"/>
              </a:rPr>
              <a:t> </a:t>
            </a:r>
            <a:r>
              <a:rPr sz="1200">
                <a:solidFill>
                  <a:schemeClr val="tx1"/>
                </a:solidFill>
                <a:latin typeface="Arial"/>
                <a:ea typeface="Arial"/>
                <a:cs typeface="Arial"/>
              </a:rPr>
              <a:t>summarize</a:t>
            </a:r>
            <a:r>
              <a:rPr sz="1200">
                <a:solidFill>
                  <a:schemeClr val="tx1"/>
                </a:solidFill>
                <a:latin typeface="Arial"/>
                <a:ea typeface="Arial"/>
                <a:cs typeface="Arial"/>
              </a:rPr>
              <a:t> all the </a:t>
            </a:r>
            <a:r>
              <a:rPr sz="1200">
                <a:solidFill>
                  <a:schemeClr val="tx1"/>
                </a:solidFill>
                <a:latin typeface="Arial"/>
                <a:ea typeface="Arial"/>
                <a:cs typeface="Arial"/>
              </a:rPr>
              <a:t>algorithms</a:t>
            </a:r>
            <a:r>
              <a:rPr sz="1200">
                <a:solidFill>
                  <a:schemeClr val="tx1"/>
                </a:solidFill>
                <a:latin typeface="Arial"/>
                <a:ea typeface="Arial"/>
                <a:cs typeface="Arial"/>
              </a:rPr>
              <a:t> </a:t>
            </a:r>
            <a:r>
              <a:rPr sz="1200">
                <a:solidFill>
                  <a:schemeClr val="tx1"/>
                </a:solidFill>
                <a:latin typeface="Arial"/>
                <a:ea typeface="Arial"/>
                <a:cs typeface="Arial"/>
              </a:rPr>
              <a:t>that</a:t>
            </a:r>
            <a:r>
              <a:rPr sz="1200">
                <a:solidFill>
                  <a:schemeClr val="tx1"/>
                </a:solidFill>
                <a:latin typeface="Arial"/>
                <a:ea typeface="Arial"/>
                <a:cs typeface="Arial"/>
              </a:rPr>
              <a:t> won the l2rpn challenge and </a:t>
            </a:r>
            <a:r>
              <a:rPr sz="1200">
                <a:solidFill>
                  <a:schemeClr val="tx1"/>
                </a:solidFill>
                <a:latin typeface="Arial"/>
                <a:ea typeface="Arial"/>
                <a:cs typeface="Arial"/>
              </a:rPr>
              <a:t>this</a:t>
            </a:r>
            <a:r>
              <a:rPr sz="1200">
                <a:solidFill>
                  <a:schemeClr val="tx1"/>
                </a:solidFill>
                <a:latin typeface="Arial"/>
                <a:ea typeface="Arial"/>
                <a:cs typeface="Arial"/>
              </a:rPr>
              <a:t> </a:t>
            </a:r>
            <a:r>
              <a:rPr sz="1200">
                <a:solidFill>
                  <a:schemeClr val="tx1"/>
                </a:solidFill>
                <a:latin typeface="Arial"/>
                <a:ea typeface="Arial"/>
                <a:cs typeface="Arial"/>
              </a:rPr>
              <a:t>is</a:t>
            </a:r>
            <a:r>
              <a:rPr sz="1200">
                <a:solidFill>
                  <a:schemeClr val="tx1"/>
                </a:solidFill>
                <a:latin typeface="Arial"/>
                <a:ea typeface="Arial"/>
                <a:cs typeface="Arial"/>
              </a:rPr>
              <a:t> the main </a:t>
            </a:r>
            <a:r>
              <a:rPr sz="1200">
                <a:solidFill>
                  <a:schemeClr val="tx1"/>
                </a:solidFill>
                <a:latin typeface="Arial"/>
                <a:ea typeface="Arial"/>
                <a:cs typeface="Arial"/>
              </a:rPr>
              <a:t>categories</a:t>
            </a:r>
            <a:r>
              <a:rPr sz="1200">
                <a:solidFill>
                  <a:schemeClr val="tx1"/>
                </a:solidFill>
                <a:latin typeface="Arial"/>
                <a:ea typeface="Arial"/>
                <a:cs typeface="Arial"/>
              </a:rPr>
              <a:t> of </a:t>
            </a:r>
            <a:r>
              <a:rPr sz="1200">
                <a:solidFill>
                  <a:schemeClr val="tx1"/>
                </a:solidFill>
                <a:latin typeface="Arial"/>
                <a:ea typeface="Arial"/>
                <a:cs typeface="Arial"/>
              </a:rPr>
              <a:t>succesfull</a:t>
            </a:r>
            <a:r>
              <a:rPr sz="1200">
                <a:solidFill>
                  <a:schemeClr val="tx1"/>
                </a:solidFill>
                <a:latin typeface="Arial"/>
                <a:ea typeface="Arial"/>
                <a:cs typeface="Arial"/>
              </a:rPr>
              <a:t> </a:t>
            </a:r>
            <a:r>
              <a:rPr sz="1200">
                <a:solidFill>
                  <a:schemeClr val="tx1"/>
                </a:solidFill>
                <a:latin typeface="Arial"/>
                <a:ea typeface="Arial"/>
                <a:cs typeface="Arial"/>
              </a:rPr>
              <a:t>agentthat</a:t>
            </a:r>
            <a:r>
              <a:rPr sz="1200">
                <a:solidFill>
                  <a:schemeClr val="tx1"/>
                </a:solidFill>
                <a:latin typeface="Arial"/>
                <a:ea typeface="Arial"/>
                <a:cs typeface="Arial"/>
              </a:rPr>
              <a:t> won the challenge.</a:t>
            </a:r>
          </a:p>
          <a:p xmlns:a="http://schemas.openxmlformats.org/drawingml/2006/main"/>
          <a:p xmlns:a="http://schemas.openxmlformats.org/drawingml/2006/main">
            <a:r>
              <a:rPr sz="1200">
                <a:solidFill>
                  <a:schemeClr val="tx1"/>
                </a:solidFill>
                <a:latin typeface="Arial"/>
                <a:ea typeface="Arial"/>
                <a:cs typeface="Arial"/>
              </a:rPr>
              <a:t>Some</a:t>
            </a:r>
            <a:r>
              <a:rPr sz="1200">
                <a:solidFill>
                  <a:schemeClr val="tx1"/>
                </a:solidFill>
                <a:latin typeface="Arial"/>
                <a:ea typeface="Arial"/>
                <a:cs typeface="Arial"/>
              </a:rPr>
              <a:t> </a:t>
            </a:r>
            <a:r>
              <a:rPr sz="1200">
                <a:solidFill>
                  <a:schemeClr val="tx1"/>
                </a:solidFill>
                <a:latin typeface="Arial"/>
                <a:ea typeface="Arial"/>
                <a:cs typeface="Arial"/>
              </a:rPr>
              <a:t>approaches</a:t>
            </a:r>
            <a:r>
              <a:rPr sz="1200">
                <a:solidFill>
                  <a:schemeClr val="tx1"/>
                </a:solidFill>
                <a:latin typeface="Arial"/>
                <a:ea typeface="Arial"/>
                <a:cs typeface="Arial"/>
              </a:rPr>
              <a:t> </a:t>
            </a:r>
            <a:r>
              <a:rPr sz="1200">
                <a:solidFill>
                  <a:schemeClr val="tx1"/>
                </a:solidFill>
                <a:latin typeface="Arial"/>
                <a:ea typeface="Arial"/>
                <a:cs typeface="Arial"/>
              </a:rPr>
              <a:t>rely</a:t>
            </a:r>
            <a:r>
              <a:rPr sz="1200">
                <a:solidFill>
                  <a:schemeClr val="tx1"/>
                </a:solidFill>
                <a:latin typeface="Arial"/>
                <a:ea typeface="Arial"/>
                <a:cs typeface="Arial"/>
              </a:rPr>
              <a:t> on a single global agent </a:t>
            </a:r>
            <a:r>
              <a:rPr sz="1200">
                <a:solidFill>
                  <a:schemeClr val="tx1"/>
                </a:solidFill>
                <a:latin typeface="Arial"/>
                <a:ea typeface="Arial"/>
                <a:cs typeface="Arial"/>
              </a:rPr>
              <a:t>with</a:t>
            </a:r>
            <a:r>
              <a:rPr sz="1200">
                <a:solidFill>
                  <a:schemeClr val="tx1"/>
                </a:solidFill>
                <a:latin typeface="Arial"/>
                <a:ea typeface="Arial"/>
                <a:cs typeface="Arial"/>
              </a:rPr>
              <a:t> </a:t>
            </a:r>
            <a:r>
              <a:rPr sz="1200">
                <a:solidFill>
                  <a:schemeClr val="tx1"/>
                </a:solidFill>
                <a:latin typeface="Arial"/>
                <a:ea typeface="Arial"/>
                <a:cs typeface="Arial"/>
              </a:rPr>
              <a:t>strong</a:t>
            </a:r>
            <a:r>
              <a:rPr sz="1200">
                <a:solidFill>
                  <a:schemeClr val="tx1"/>
                </a:solidFill>
                <a:latin typeface="Arial"/>
                <a:ea typeface="Arial"/>
                <a:cs typeface="Arial"/>
              </a:rPr>
              <a:t> engineering tricks.</a:t>
            </a:r>
          </a:p>
          <a:p xmlns:a="http://schemas.openxmlformats.org/drawingml/2006/main"/>
          <a:p xmlns:a="http://schemas.openxmlformats.org/drawingml/2006/main">
            <a:r>
              <a:rPr sz="1200">
                <a:solidFill>
                  <a:schemeClr val="tx1"/>
                </a:solidFill>
                <a:latin typeface="Arial"/>
                <a:ea typeface="Arial"/>
                <a:cs typeface="Arial"/>
              </a:rPr>
              <a:t>For </a:t>
            </a:r>
            <a:r>
              <a:rPr sz="1200">
                <a:solidFill>
                  <a:schemeClr val="tx1"/>
                </a:solidFill>
                <a:latin typeface="Arial"/>
                <a:ea typeface="Arial"/>
                <a:cs typeface="Arial"/>
              </a:rPr>
              <a:t>example</a:t>
            </a:r>
            <a:r>
              <a:rPr sz="1200">
                <a:solidFill>
                  <a:schemeClr val="tx1"/>
                </a:solidFill>
                <a:latin typeface="Arial"/>
                <a:ea typeface="Arial"/>
                <a:cs typeface="Arial"/>
              </a:rPr>
              <a:t>, </a:t>
            </a:r>
            <a:r>
              <a:rPr sz="1200">
                <a:solidFill>
                  <a:schemeClr val="tx1"/>
                </a:solidFill>
                <a:latin typeface="Arial"/>
                <a:ea typeface="Arial"/>
                <a:cs typeface="Arial"/>
              </a:rPr>
              <a:t>they</a:t>
            </a:r>
            <a:r>
              <a:rPr sz="1200">
                <a:solidFill>
                  <a:schemeClr val="tx1"/>
                </a:solidFill>
                <a:latin typeface="Arial"/>
                <a:ea typeface="Arial"/>
                <a:cs typeface="Arial"/>
              </a:rPr>
              <a:t> use graph neural networks </a:t>
            </a:r>
            <a:r>
              <a:rPr sz="1200">
                <a:solidFill>
                  <a:schemeClr val="tx1"/>
                </a:solidFill>
                <a:latin typeface="Arial"/>
                <a:ea typeface="Arial"/>
                <a:cs typeface="Arial"/>
              </a:rPr>
              <a:t>combined</a:t>
            </a:r>
            <a:r>
              <a:rPr sz="1200">
                <a:solidFill>
                  <a:schemeClr val="tx1"/>
                </a:solidFill>
                <a:latin typeface="Arial"/>
                <a:ea typeface="Arial"/>
                <a:cs typeface="Arial"/>
              </a:rPr>
              <a:t> </a:t>
            </a:r>
            <a:r>
              <a:rPr sz="1200">
                <a:solidFill>
                  <a:schemeClr val="tx1"/>
                </a:solidFill>
                <a:latin typeface="Arial"/>
                <a:ea typeface="Arial"/>
                <a:cs typeface="Arial"/>
              </a:rPr>
              <a:t>with</a:t>
            </a:r>
            <a:r>
              <a:rPr sz="1200">
                <a:solidFill>
                  <a:schemeClr val="tx1"/>
                </a:solidFill>
                <a:latin typeface="Arial"/>
                <a:ea typeface="Arial"/>
                <a:cs typeface="Arial"/>
              </a:rPr>
              <a:t> value-</a:t>
            </a:r>
            <a:r>
              <a:rPr sz="1200">
                <a:solidFill>
                  <a:schemeClr val="tx1"/>
                </a:solidFill>
                <a:latin typeface="Arial"/>
                <a:ea typeface="Arial"/>
                <a:cs typeface="Arial"/>
              </a:rPr>
              <a:t>based</a:t>
            </a:r>
            <a:r>
              <a:rPr sz="1200">
                <a:solidFill>
                  <a:schemeClr val="tx1"/>
                </a:solidFill>
                <a:latin typeface="Arial"/>
                <a:ea typeface="Arial"/>
                <a:cs typeface="Arial"/>
              </a:rPr>
              <a:t> RL, and </a:t>
            </a:r>
            <a:r>
              <a:rPr sz="1200">
                <a:solidFill>
                  <a:schemeClr val="tx1"/>
                </a:solidFill>
                <a:latin typeface="Arial"/>
                <a:ea typeface="Arial"/>
                <a:cs typeface="Arial"/>
              </a:rPr>
              <a:t>validate</a:t>
            </a:r>
            <a:r>
              <a:rPr sz="1200">
                <a:solidFill>
                  <a:schemeClr val="tx1"/>
                </a:solidFill>
                <a:latin typeface="Arial"/>
                <a:ea typeface="Arial"/>
                <a:cs typeface="Arial"/>
              </a:rPr>
              <a:t> actions </a:t>
            </a:r>
            <a:r>
              <a:rPr sz="1200">
                <a:solidFill>
                  <a:schemeClr val="tx1"/>
                </a:solidFill>
                <a:latin typeface="Arial"/>
                <a:ea typeface="Arial"/>
                <a:cs typeface="Arial"/>
              </a:rPr>
              <a:t>using</a:t>
            </a:r>
            <a:r>
              <a:rPr sz="1200">
                <a:solidFill>
                  <a:schemeClr val="tx1"/>
                </a:solidFill>
                <a:latin typeface="Arial"/>
                <a:ea typeface="Arial"/>
                <a:cs typeface="Arial"/>
              </a:rPr>
              <a:t> power-flow simulations.</a:t>
            </a:r>
          </a:p>
          <a:p xmlns:a="http://schemas.openxmlformats.org/drawingml/2006/main"/>
          <a:p xmlns:a="http://schemas.openxmlformats.org/drawingml/2006/main">
            <a:r>
              <a:rPr sz="1200">
                <a:solidFill>
                  <a:schemeClr val="tx1"/>
                </a:solidFill>
                <a:latin typeface="Arial"/>
                <a:ea typeface="Arial"/>
                <a:cs typeface="Arial"/>
              </a:rPr>
              <a:t>Others</a:t>
            </a:r>
            <a:r>
              <a:rPr sz="1200">
                <a:solidFill>
                  <a:schemeClr val="tx1"/>
                </a:solidFill>
                <a:latin typeface="Arial"/>
                <a:ea typeface="Arial"/>
                <a:cs typeface="Arial"/>
              </a:rPr>
              <a:t> </a:t>
            </a:r>
            <a:r>
              <a:rPr sz="1200">
                <a:solidFill>
                  <a:schemeClr val="tx1"/>
                </a:solidFill>
                <a:latin typeface="Arial"/>
                <a:ea typeface="Arial"/>
                <a:cs typeface="Arial"/>
              </a:rPr>
              <a:t>reduce</a:t>
            </a:r>
            <a:r>
              <a:rPr sz="1200">
                <a:solidFill>
                  <a:schemeClr val="tx1"/>
                </a:solidFill>
                <a:latin typeface="Arial"/>
                <a:ea typeface="Arial"/>
                <a:cs typeface="Arial"/>
              </a:rPr>
              <a:t> the action </a:t>
            </a:r>
            <a:r>
              <a:rPr sz="1200">
                <a:solidFill>
                  <a:schemeClr val="tx1"/>
                </a:solidFill>
                <a:latin typeface="Arial"/>
                <a:ea typeface="Arial"/>
                <a:cs typeface="Arial"/>
              </a:rPr>
              <a:t>space</a:t>
            </a:r>
            <a:r>
              <a:rPr sz="1200">
                <a:solidFill>
                  <a:schemeClr val="tx1"/>
                </a:solidFill>
                <a:latin typeface="Arial"/>
                <a:ea typeface="Arial"/>
                <a:cs typeface="Arial"/>
              </a:rPr>
              <a:t> </a:t>
            </a:r>
            <a:r>
              <a:rPr sz="1200">
                <a:solidFill>
                  <a:schemeClr val="tx1"/>
                </a:solidFill>
                <a:latin typeface="Arial"/>
                <a:ea typeface="Arial"/>
                <a:cs typeface="Arial"/>
              </a:rPr>
              <a:t>using</a:t>
            </a:r>
            <a:r>
              <a:rPr sz="1200">
                <a:solidFill>
                  <a:schemeClr val="tx1"/>
                </a:solidFill>
                <a:latin typeface="Arial"/>
                <a:ea typeface="Arial"/>
                <a:cs typeface="Arial"/>
              </a:rPr>
              <a:t> </a:t>
            </a:r>
            <a:r>
              <a:rPr sz="1200">
                <a:solidFill>
                  <a:schemeClr val="tx1"/>
                </a:solidFill>
                <a:latin typeface="Arial"/>
                <a:ea typeface="Arial"/>
                <a:cs typeface="Arial"/>
              </a:rPr>
              <a:t>masking</a:t>
            </a:r>
            <a:r>
              <a:rPr sz="1200">
                <a:solidFill>
                  <a:schemeClr val="tx1"/>
                </a:solidFill>
                <a:latin typeface="Arial"/>
                <a:ea typeface="Arial"/>
                <a:cs typeface="Arial"/>
              </a:rPr>
              <a:t> or </a:t>
            </a:r>
            <a:r>
              <a:rPr sz="1200">
                <a:solidFill>
                  <a:schemeClr val="tx1"/>
                </a:solidFill>
                <a:latin typeface="Arial"/>
                <a:ea typeface="Arial"/>
                <a:cs typeface="Arial"/>
              </a:rPr>
              <a:t>pruning</a:t>
            </a:r>
            <a:r>
              <a:rPr sz="1200">
                <a:solidFill>
                  <a:schemeClr val="tx1"/>
                </a:solidFill>
                <a:latin typeface="Arial"/>
                <a:ea typeface="Arial"/>
                <a:cs typeface="Arial"/>
              </a:rPr>
              <a:t>.</a:t>
            </a:r>
          </a:p>
          <a:p xmlns:a="http://schemas.openxmlformats.org/drawingml/2006/main"/>
          <a:p xmlns:a="http://schemas.openxmlformats.org/drawingml/2006/main">
            <a:r>
              <a:rPr sz="1200">
                <a:solidFill>
                  <a:schemeClr val="tx1"/>
                </a:solidFill>
                <a:latin typeface="Arial"/>
                <a:ea typeface="Arial"/>
                <a:cs typeface="Arial"/>
              </a:rPr>
              <a:t>These</a:t>
            </a:r>
            <a:r>
              <a:rPr sz="1200">
                <a:solidFill>
                  <a:schemeClr val="tx1"/>
                </a:solidFill>
                <a:latin typeface="Arial"/>
                <a:ea typeface="Arial"/>
                <a:cs typeface="Arial"/>
              </a:rPr>
              <a:t> </a:t>
            </a:r>
            <a:r>
              <a:rPr sz="1200">
                <a:solidFill>
                  <a:schemeClr val="tx1"/>
                </a:solidFill>
                <a:latin typeface="Arial"/>
                <a:ea typeface="Arial"/>
                <a:cs typeface="Arial"/>
              </a:rPr>
              <a:t>methods</a:t>
            </a:r>
            <a:r>
              <a:rPr sz="1200">
                <a:solidFill>
                  <a:schemeClr val="tx1"/>
                </a:solidFill>
                <a:latin typeface="Arial"/>
                <a:ea typeface="Arial"/>
                <a:cs typeface="Arial"/>
              </a:rPr>
              <a:t> can </a:t>
            </a:r>
            <a:r>
              <a:rPr sz="1200">
                <a:solidFill>
                  <a:schemeClr val="tx1"/>
                </a:solidFill>
                <a:latin typeface="Arial"/>
                <a:ea typeface="Arial"/>
                <a:cs typeface="Arial"/>
              </a:rPr>
              <a:t>work</a:t>
            </a:r>
            <a:r>
              <a:rPr sz="1200">
                <a:solidFill>
                  <a:schemeClr val="tx1"/>
                </a:solidFill>
                <a:latin typeface="Arial"/>
                <a:ea typeface="Arial"/>
                <a:cs typeface="Arial"/>
              </a:rPr>
              <a:t>, </a:t>
            </a:r>
            <a:r>
              <a:rPr sz="1200">
                <a:solidFill>
                  <a:schemeClr val="tx1"/>
                </a:solidFill>
                <a:latin typeface="Arial"/>
                <a:ea typeface="Arial"/>
                <a:cs typeface="Arial"/>
              </a:rPr>
              <a:t>so</a:t>
            </a:r>
            <a:r>
              <a:rPr sz="1200">
                <a:solidFill>
                  <a:schemeClr val="tx1"/>
                </a:solidFill>
                <a:latin typeface="Arial"/>
                <a:ea typeface="Arial"/>
                <a:cs typeface="Arial"/>
              </a:rPr>
              <a:t> </a:t>
            </a:r>
            <a:r>
              <a:rPr sz="1200">
                <a:solidFill>
                  <a:schemeClr val="tx1"/>
                </a:solidFill>
                <a:latin typeface="Arial"/>
                <a:ea typeface="Arial"/>
                <a:cs typeface="Arial"/>
              </a:rPr>
              <a:t>mixing</a:t>
            </a:r>
            <a:r>
              <a:rPr sz="1200">
                <a:solidFill>
                  <a:schemeClr val="tx1"/>
                </a:solidFill>
                <a:latin typeface="Arial"/>
                <a:ea typeface="Arial"/>
                <a:cs typeface="Arial"/>
              </a:rPr>
              <a:t> a single agent </a:t>
            </a:r>
            <a:r>
              <a:rPr sz="1200">
                <a:solidFill>
                  <a:schemeClr val="tx1"/>
                </a:solidFill>
                <a:latin typeface="Arial"/>
                <a:ea typeface="Arial"/>
                <a:cs typeface="Arial"/>
              </a:rPr>
              <a:t>with</a:t>
            </a:r>
            <a:r>
              <a:rPr sz="1200">
                <a:solidFill>
                  <a:schemeClr val="tx1"/>
                </a:solidFill>
                <a:latin typeface="Arial"/>
                <a:ea typeface="Arial"/>
                <a:cs typeface="Arial"/>
              </a:rPr>
              <a:t> </a:t>
            </a:r>
            <a:r>
              <a:rPr sz="1200">
                <a:solidFill>
                  <a:schemeClr val="tx1"/>
                </a:solidFill>
                <a:latin typeface="Arial"/>
                <a:ea typeface="Arial"/>
                <a:cs typeface="Arial"/>
              </a:rPr>
              <a:t>rules</a:t>
            </a:r>
            <a:r>
              <a:rPr sz="1200">
                <a:solidFill>
                  <a:schemeClr val="tx1"/>
                </a:solidFill>
                <a:latin typeface="Arial"/>
                <a:ea typeface="Arial"/>
                <a:cs typeface="Arial"/>
              </a:rPr>
              <a:t>, but </a:t>
            </a:r>
            <a:r>
              <a:rPr sz="1200">
                <a:solidFill>
                  <a:schemeClr val="tx1"/>
                </a:solidFill>
                <a:latin typeface="Arial"/>
                <a:ea typeface="Arial"/>
                <a:cs typeface="Arial"/>
              </a:rPr>
              <a:t>they</a:t>
            </a:r>
            <a:r>
              <a:rPr sz="1200">
                <a:solidFill>
                  <a:schemeClr val="tx1"/>
                </a:solidFill>
                <a:latin typeface="Arial"/>
                <a:ea typeface="Arial"/>
                <a:cs typeface="Arial"/>
              </a:rPr>
              <a:t> </a:t>
            </a:r>
            <a:r>
              <a:rPr sz="1200">
                <a:solidFill>
                  <a:schemeClr val="tx1"/>
                </a:solidFill>
                <a:latin typeface="Arial"/>
                <a:ea typeface="Arial"/>
                <a:cs typeface="Arial"/>
              </a:rPr>
              <a:t>suffer</a:t>
            </a:r>
            <a:r>
              <a:rPr sz="1200">
                <a:solidFill>
                  <a:schemeClr val="tx1"/>
                </a:solidFill>
                <a:latin typeface="Arial"/>
                <a:ea typeface="Arial"/>
                <a:cs typeface="Arial"/>
              </a:rPr>
              <a:t> </a:t>
            </a:r>
            <a:r>
              <a:rPr sz="1200">
                <a:solidFill>
                  <a:schemeClr val="tx1"/>
                </a:solidFill>
                <a:latin typeface="Arial"/>
                <a:ea typeface="Arial"/>
                <a:cs typeface="Arial"/>
              </a:rPr>
              <a:t>because</a:t>
            </a:r>
            <a:r>
              <a:rPr sz="1200">
                <a:solidFill>
                  <a:schemeClr val="tx1"/>
                </a:solidFill>
                <a:latin typeface="Arial"/>
                <a:ea typeface="Arial"/>
                <a:cs typeface="Arial"/>
              </a:rPr>
              <a:t> the action </a:t>
            </a:r>
            <a:r>
              <a:rPr sz="1200">
                <a:solidFill>
                  <a:schemeClr val="tx1"/>
                </a:solidFill>
                <a:latin typeface="Arial"/>
                <a:ea typeface="Arial"/>
                <a:cs typeface="Arial"/>
              </a:rPr>
              <a:t>space</a:t>
            </a:r>
            <a:r>
              <a:rPr sz="1200">
                <a:solidFill>
                  <a:schemeClr val="tx1"/>
                </a:solidFill>
                <a:latin typeface="Arial"/>
                <a:ea typeface="Arial"/>
                <a:cs typeface="Arial"/>
              </a:rPr>
              <a:t> </a:t>
            </a:r>
            <a:r>
              <a:rPr sz="1200">
                <a:solidFill>
                  <a:schemeClr val="tx1"/>
                </a:solidFill>
                <a:latin typeface="Arial"/>
                <a:ea typeface="Arial"/>
                <a:cs typeface="Arial"/>
              </a:rPr>
              <a:t>remains</a:t>
            </a:r>
            <a:r>
              <a:rPr sz="1200">
                <a:solidFill>
                  <a:schemeClr val="tx1"/>
                </a:solidFill>
                <a:latin typeface="Arial"/>
                <a:ea typeface="Arial"/>
                <a:cs typeface="Arial"/>
              </a:rPr>
              <a:t> </a:t>
            </a:r>
            <a:r>
              <a:rPr sz="1200">
                <a:solidFill>
                  <a:schemeClr val="tx1"/>
                </a:solidFill>
                <a:latin typeface="Arial"/>
                <a:ea typeface="Arial"/>
                <a:cs typeface="Arial"/>
              </a:rPr>
              <a:t>very</a:t>
            </a:r>
            <a:r>
              <a:rPr sz="1200">
                <a:solidFill>
                  <a:schemeClr val="tx1"/>
                </a:solidFill>
                <a:latin typeface="Arial"/>
                <a:ea typeface="Arial"/>
                <a:cs typeface="Arial"/>
              </a:rPr>
              <a:t> large.”</a:t>
            </a:r>
          </a:p>
          <a:p xmlns:a="http://schemas.openxmlformats.org/drawingml/2006/main"/>
          <a:p xmlns:a="http://schemas.openxmlformats.org/drawingml/2006/main">
            <a:r>
              <a:rPr sz="1200">
                <a:solidFill>
                  <a:schemeClr val="tx1"/>
                </a:solidFill>
                <a:latin typeface="Arial"/>
                <a:ea typeface="Arial"/>
                <a:cs typeface="Arial"/>
              </a:rPr>
              <a:t>Another</a:t>
            </a:r>
            <a:r>
              <a:rPr sz="1200">
                <a:solidFill>
                  <a:schemeClr val="tx1"/>
                </a:solidFill>
                <a:latin typeface="Arial"/>
                <a:ea typeface="Arial"/>
                <a:cs typeface="Arial"/>
              </a:rPr>
              <a:t> important </a:t>
            </a:r>
            <a:r>
              <a:rPr sz="1200">
                <a:solidFill>
                  <a:schemeClr val="tx1"/>
                </a:solidFill>
                <a:latin typeface="Arial"/>
                <a:ea typeface="Arial"/>
                <a:cs typeface="Arial"/>
              </a:rPr>
              <a:t>idea</a:t>
            </a:r>
            <a:r>
              <a:rPr sz="1200">
                <a:solidFill>
                  <a:schemeClr val="tx1"/>
                </a:solidFill>
                <a:latin typeface="Arial"/>
                <a:ea typeface="Arial"/>
                <a:cs typeface="Arial"/>
              </a:rPr>
              <a:t> </a:t>
            </a:r>
            <a:r>
              <a:rPr sz="1200">
                <a:solidFill>
                  <a:schemeClr val="tx1"/>
                </a:solidFill>
                <a:latin typeface="Arial"/>
                <a:ea typeface="Arial"/>
                <a:cs typeface="Arial"/>
              </a:rPr>
              <a:t>is</a:t>
            </a:r>
            <a:r>
              <a:rPr sz="1200">
                <a:solidFill>
                  <a:schemeClr val="tx1"/>
                </a:solidFill>
                <a:latin typeface="Arial"/>
                <a:ea typeface="Arial"/>
                <a:cs typeface="Arial"/>
              </a:rPr>
              <a:t> to </a:t>
            </a:r>
            <a:r>
              <a:rPr sz="1200">
                <a:solidFill>
                  <a:schemeClr val="tx1"/>
                </a:solidFill>
                <a:latin typeface="Arial"/>
                <a:ea typeface="Arial"/>
                <a:cs typeface="Arial"/>
              </a:rPr>
              <a:t>predict</a:t>
            </a:r>
            <a:r>
              <a:rPr sz="1200">
                <a:solidFill>
                  <a:schemeClr val="tx1"/>
                </a:solidFill>
                <a:latin typeface="Arial"/>
                <a:ea typeface="Arial"/>
                <a:cs typeface="Arial"/>
              </a:rPr>
              <a:t> a </a:t>
            </a:r>
            <a:r>
              <a:rPr sz="1200" b="1">
                <a:solidFill>
                  <a:schemeClr val="tx1"/>
                </a:solidFill>
                <a:latin typeface="Arial"/>
                <a:ea typeface="Arial"/>
                <a:cs typeface="Arial"/>
              </a:rPr>
              <a:t>target</a:t>
            </a:r>
            <a:r>
              <a:rPr sz="1200" b="1">
                <a:solidFill>
                  <a:schemeClr val="tx1"/>
                </a:solidFill>
                <a:latin typeface="Arial"/>
                <a:ea typeface="Arial"/>
                <a:cs typeface="Arial"/>
              </a:rPr>
              <a:t> </a:t>
            </a:r>
            <a:r>
              <a:rPr sz="1200" b="1">
                <a:solidFill>
                  <a:schemeClr val="tx1"/>
                </a:solidFill>
                <a:latin typeface="Arial"/>
                <a:ea typeface="Arial"/>
                <a:cs typeface="Arial"/>
              </a:rPr>
              <a:t>topology</a:t>
            </a:r>
            <a:r>
              <a:rPr sz="1200" b="1">
                <a:solidFill>
                  <a:schemeClr val="tx1"/>
                </a:solidFill>
                <a:latin typeface="Arial"/>
                <a:ea typeface="Arial"/>
                <a:cs typeface="Arial"/>
              </a:rPr>
              <a:t> </a:t>
            </a:r>
            <a:r>
              <a:rPr sz="1200" b="1">
                <a:solidFill>
                  <a:schemeClr val="tx1"/>
                </a:solidFill>
                <a:latin typeface="Arial"/>
                <a:ea typeface="Arial"/>
                <a:cs typeface="Arial"/>
              </a:rPr>
              <a:t>instead</a:t>
            </a:r>
            <a:r>
              <a:rPr sz="1200" b="1">
                <a:solidFill>
                  <a:schemeClr val="tx1"/>
                </a:solidFill>
                <a:latin typeface="Arial"/>
                <a:ea typeface="Arial"/>
                <a:cs typeface="Arial"/>
              </a:rPr>
              <a:t> of </a:t>
            </a:r>
            <a:r>
              <a:rPr sz="1200" b="1">
                <a:solidFill>
                  <a:schemeClr val="tx1"/>
                </a:solidFill>
                <a:latin typeface="Arial"/>
                <a:ea typeface="Arial"/>
                <a:cs typeface="Arial"/>
              </a:rPr>
              <a:t>raw</a:t>
            </a:r>
            <a:r>
              <a:rPr sz="1200" b="1">
                <a:solidFill>
                  <a:schemeClr val="tx1"/>
                </a:solidFill>
                <a:latin typeface="Arial"/>
                <a:ea typeface="Arial"/>
                <a:cs typeface="Arial"/>
              </a:rPr>
              <a:t> actions</a:t>
            </a:r>
            <a:r>
              <a:rPr sz="1200">
                <a:solidFill>
                  <a:schemeClr val="tx1"/>
                </a:solidFill>
                <a:latin typeface="Arial"/>
                <a:ea typeface="Arial"/>
                <a:cs typeface="Arial"/>
              </a:rPr>
              <a:t>.</a:t>
            </a:r>
          </a:p>
          <a:p xmlns:a="http://schemas.openxmlformats.org/drawingml/2006/main"/>
          <a:p xmlns:a="http://schemas.openxmlformats.org/drawingml/2006/main">
            <a:r>
              <a:rPr sz="1200">
                <a:solidFill>
                  <a:schemeClr val="tx1"/>
                </a:solidFill>
                <a:latin typeface="Arial"/>
                <a:ea typeface="Arial"/>
                <a:cs typeface="Arial"/>
              </a:rPr>
              <a:t>This </a:t>
            </a:r>
            <a:r>
              <a:rPr sz="1200">
                <a:solidFill>
                  <a:schemeClr val="tx1"/>
                </a:solidFill>
                <a:latin typeface="Arial"/>
                <a:ea typeface="Arial"/>
                <a:cs typeface="Arial"/>
              </a:rPr>
              <a:t>is</a:t>
            </a:r>
            <a:r>
              <a:rPr sz="1200">
                <a:solidFill>
                  <a:schemeClr val="tx1"/>
                </a:solidFill>
                <a:latin typeface="Arial"/>
                <a:ea typeface="Arial"/>
                <a:cs typeface="Arial"/>
              </a:rPr>
              <a:t> </a:t>
            </a:r>
            <a:r>
              <a:rPr sz="1200">
                <a:solidFill>
                  <a:schemeClr val="tx1"/>
                </a:solidFill>
                <a:latin typeface="Arial"/>
                <a:ea typeface="Arial"/>
                <a:cs typeface="Arial"/>
              </a:rPr>
              <a:t>used</a:t>
            </a:r>
            <a:r>
              <a:rPr sz="1200">
                <a:solidFill>
                  <a:schemeClr val="tx1"/>
                </a:solidFill>
                <a:latin typeface="Arial"/>
                <a:ea typeface="Arial"/>
                <a:cs typeface="Arial"/>
              </a:rPr>
              <a:t> in SMAAC, </a:t>
            </a:r>
            <a:r>
              <a:rPr sz="1200">
                <a:solidFill>
                  <a:schemeClr val="tx1"/>
                </a:solidFill>
                <a:latin typeface="Arial"/>
                <a:ea typeface="Arial"/>
                <a:cs typeface="Arial"/>
              </a:rPr>
              <a:t>where</a:t>
            </a:r>
            <a:r>
              <a:rPr sz="1200">
                <a:solidFill>
                  <a:schemeClr val="tx1"/>
                </a:solidFill>
                <a:latin typeface="Arial"/>
                <a:ea typeface="Arial"/>
                <a:cs typeface="Arial"/>
              </a:rPr>
              <a:t> </a:t>
            </a:r>
            <a:r>
              <a:rPr sz="1200">
                <a:solidFill>
                  <a:schemeClr val="tx1"/>
                </a:solidFill>
                <a:latin typeface="Arial"/>
                <a:ea typeface="Arial"/>
                <a:cs typeface="Arial"/>
              </a:rPr>
              <a:t>the</a:t>
            </a:r>
            <a:r>
              <a:rPr sz="1200">
                <a:solidFill>
                  <a:schemeClr val="tx1"/>
                </a:solidFill>
                <a:latin typeface="Arial"/>
                <a:ea typeface="Arial"/>
                <a:cs typeface="Arial"/>
              </a:rPr>
              <a:t> </a:t>
            </a:r>
            <a:r>
              <a:rPr sz="1200">
                <a:solidFill>
                  <a:schemeClr val="tx1"/>
                </a:solidFill>
                <a:latin typeface="Arial"/>
                <a:ea typeface="Arial"/>
                <a:cs typeface="Arial"/>
              </a:rPr>
              <a:t>agent</a:t>
            </a:r>
            <a:r>
              <a:rPr sz="1200">
                <a:solidFill>
                  <a:schemeClr val="tx1"/>
                </a:solidFill>
                <a:latin typeface="Arial"/>
                <a:ea typeface="Arial"/>
                <a:cs typeface="Arial"/>
              </a:rPr>
              <a:t> </a:t>
            </a:r>
            <a:r>
              <a:rPr sz="1200">
                <a:solidFill>
                  <a:schemeClr val="tx1"/>
                </a:solidFill>
                <a:latin typeface="Arial"/>
                <a:ea typeface="Arial"/>
                <a:cs typeface="Arial"/>
              </a:rPr>
              <a:t>learns</a:t>
            </a:r>
            <a:r>
              <a:rPr sz="1200">
                <a:solidFill>
                  <a:schemeClr val="tx1"/>
                </a:solidFill>
                <a:latin typeface="Arial"/>
                <a:ea typeface="Arial"/>
                <a:cs typeface="Arial"/>
              </a:rPr>
              <a:t> an </a:t>
            </a:r>
            <a:r>
              <a:rPr sz="1200">
                <a:solidFill>
                  <a:schemeClr val="tx1"/>
                </a:solidFill>
                <a:latin typeface="Arial"/>
                <a:ea typeface="Arial"/>
                <a:cs typeface="Arial"/>
              </a:rPr>
              <a:t>afterstate</a:t>
            </a:r>
            <a:r>
              <a:rPr sz="1200">
                <a:solidFill>
                  <a:schemeClr val="tx1"/>
                </a:solidFill>
                <a:latin typeface="Arial"/>
                <a:ea typeface="Arial"/>
                <a:cs typeface="Arial"/>
              </a:rPr>
              <a:t> </a:t>
            </a:r>
            <a:r>
              <a:rPr sz="1200">
                <a:solidFill>
                  <a:schemeClr val="tx1"/>
                </a:solidFill>
                <a:latin typeface="Arial"/>
                <a:ea typeface="Arial"/>
                <a:cs typeface="Arial"/>
              </a:rPr>
              <a:t>representation</a:t>
            </a:r>
            <a:r>
              <a:rPr sz="1200">
                <a:solidFill>
                  <a:schemeClr val="tx1"/>
                </a:solidFill>
                <a:latin typeface="Arial"/>
                <a:ea typeface="Arial"/>
                <a:cs typeface="Arial"/>
              </a:rPr>
              <a:t>—</a:t>
            </a:r>
            <a:r>
              <a:rPr sz="1200">
                <a:solidFill>
                  <a:schemeClr val="tx1"/>
                </a:solidFill>
                <a:latin typeface="Arial"/>
                <a:ea typeface="Arial"/>
                <a:cs typeface="Arial"/>
              </a:rPr>
              <a:t>basically</a:t>
            </a:r>
            <a:r>
              <a:rPr sz="1200">
                <a:solidFill>
                  <a:schemeClr val="tx1"/>
                </a:solidFill>
                <a:latin typeface="Arial"/>
                <a:ea typeface="Arial"/>
                <a:cs typeface="Arial"/>
              </a:rPr>
              <a:t> </a:t>
            </a:r>
            <a:r>
              <a:rPr sz="1200">
                <a:solidFill>
                  <a:schemeClr val="tx1"/>
                </a:solidFill>
                <a:latin typeface="Arial"/>
                <a:ea typeface="Arial"/>
                <a:cs typeface="Arial"/>
              </a:rPr>
              <a:t>the</a:t>
            </a:r>
            <a:r>
              <a:rPr sz="1200">
                <a:solidFill>
                  <a:schemeClr val="tx1"/>
                </a:solidFill>
                <a:latin typeface="Arial"/>
                <a:ea typeface="Arial"/>
                <a:cs typeface="Arial"/>
              </a:rPr>
              <a:t> </a:t>
            </a:r>
            <a:r>
              <a:rPr sz="1200">
                <a:solidFill>
                  <a:schemeClr val="tx1"/>
                </a:solidFill>
                <a:latin typeface="Arial"/>
                <a:ea typeface="Arial"/>
                <a:cs typeface="Arial"/>
              </a:rPr>
              <a:t>resulting</a:t>
            </a:r>
            <a:r>
              <a:rPr sz="1200">
                <a:solidFill>
                  <a:schemeClr val="tx1"/>
                </a:solidFill>
                <a:latin typeface="Arial"/>
                <a:ea typeface="Arial"/>
                <a:cs typeface="Arial"/>
              </a:rPr>
              <a:t> </a:t>
            </a:r>
            <a:r>
              <a:rPr sz="1200">
                <a:solidFill>
                  <a:schemeClr val="tx1"/>
                </a:solidFill>
                <a:latin typeface="Arial"/>
                <a:ea typeface="Arial"/>
                <a:cs typeface="Arial"/>
              </a:rPr>
              <a:t>topology</a:t>
            </a:r>
            <a:r>
              <a:rPr sz="1200">
                <a:solidFill>
                  <a:schemeClr val="tx1"/>
                </a:solidFill>
                <a:latin typeface="Arial"/>
                <a:ea typeface="Arial"/>
                <a:cs typeface="Arial"/>
              </a:rPr>
              <a:t> after an </a:t>
            </a:r>
            <a:r>
              <a:rPr sz="1200">
                <a:solidFill>
                  <a:schemeClr val="tx1"/>
                </a:solidFill>
                <a:latin typeface="Arial"/>
                <a:ea typeface="Arial"/>
                <a:cs typeface="Arial"/>
              </a:rPr>
              <a:t>action</a:t>
            </a:r>
            <a:r>
              <a:rPr sz="1200">
                <a:solidFill>
                  <a:schemeClr val="tx1"/>
                </a:solidFill>
                <a:latin typeface="Arial"/>
                <a:ea typeface="Arial"/>
                <a:cs typeface="Arial"/>
              </a:rPr>
              <a:t>.</a:t>
            </a:r>
          </a:p>
          <a:p xmlns:a="http://schemas.openxmlformats.org/drawingml/2006/main"/>
          <a:p xmlns:a="http://schemas.openxmlformats.org/drawingml/2006/main">
            <a:r>
              <a:rPr sz="1200">
                <a:solidFill>
                  <a:schemeClr val="tx1"/>
                </a:solidFill>
                <a:latin typeface="Arial"/>
                <a:ea typeface="Arial"/>
                <a:cs typeface="Arial"/>
              </a:rPr>
              <a:t>This </a:t>
            </a:r>
            <a:r>
              <a:rPr sz="1200">
                <a:solidFill>
                  <a:schemeClr val="tx1"/>
                </a:solidFill>
                <a:latin typeface="Arial"/>
                <a:ea typeface="Arial"/>
                <a:cs typeface="Arial"/>
              </a:rPr>
              <a:t>helps</a:t>
            </a:r>
            <a:r>
              <a:rPr sz="1200">
                <a:solidFill>
                  <a:schemeClr val="tx1"/>
                </a:solidFill>
                <a:latin typeface="Arial"/>
                <a:ea typeface="Arial"/>
                <a:cs typeface="Arial"/>
              </a:rPr>
              <a:t> </a:t>
            </a:r>
            <a:r>
              <a:rPr sz="1200">
                <a:solidFill>
                  <a:schemeClr val="tx1"/>
                </a:solidFill>
                <a:latin typeface="Arial"/>
                <a:ea typeface="Arial"/>
                <a:cs typeface="Arial"/>
              </a:rPr>
              <a:t>because</a:t>
            </a:r>
            <a:r>
              <a:rPr sz="1200">
                <a:solidFill>
                  <a:schemeClr val="tx1"/>
                </a:solidFill>
                <a:latin typeface="Arial"/>
                <a:ea typeface="Arial"/>
                <a:cs typeface="Arial"/>
              </a:rPr>
              <a:t> multiple </a:t>
            </a:r>
            <a:r>
              <a:rPr sz="1200">
                <a:solidFill>
                  <a:schemeClr val="tx1"/>
                </a:solidFill>
                <a:latin typeface="Arial"/>
                <a:ea typeface="Arial"/>
                <a:cs typeface="Arial"/>
              </a:rPr>
              <a:t>sequences</a:t>
            </a:r>
            <a:r>
              <a:rPr sz="1200">
                <a:solidFill>
                  <a:schemeClr val="tx1"/>
                </a:solidFill>
                <a:latin typeface="Arial"/>
                <a:ea typeface="Arial"/>
                <a:cs typeface="Arial"/>
              </a:rPr>
              <a:t> of actions can lead to the </a:t>
            </a:r>
            <a:r>
              <a:rPr sz="1200">
                <a:solidFill>
                  <a:schemeClr val="tx1"/>
                </a:solidFill>
                <a:latin typeface="Arial"/>
                <a:ea typeface="Arial"/>
                <a:cs typeface="Arial"/>
              </a:rPr>
              <a:t>same</a:t>
            </a:r>
            <a:r>
              <a:rPr sz="1200">
                <a:solidFill>
                  <a:schemeClr val="tx1"/>
                </a:solidFill>
                <a:latin typeface="Arial"/>
                <a:ea typeface="Arial"/>
                <a:cs typeface="Arial"/>
              </a:rPr>
              <a:t> configuration. So </a:t>
            </a:r>
            <a:r>
              <a:rPr sz="1200">
                <a:solidFill>
                  <a:schemeClr val="tx1"/>
                </a:solidFill>
                <a:latin typeface="Arial"/>
                <a:ea typeface="Arial"/>
                <a:cs typeface="Arial"/>
              </a:rPr>
              <a:t>it</a:t>
            </a:r>
            <a:r>
              <a:rPr sz="1200">
                <a:solidFill>
                  <a:schemeClr val="tx1"/>
                </a:solidFill>
                <a:latin typeface="Arial"/>
                <a:ea typeface="Arial"/>
                <a:cs typeface="Arial"/>
              </a:rPr>
              <a:t> </a:t>
            </a:r>
            <a:r>
              <a:rPr sz="1200">
                <a:solidFill>
                  <a:schemeClr val="tx1"/>
                </a:solidFill>
                <a:latin typeface="Arial"/>
                <a:ea typeface="Arial"/>
                <a:cs typeface="Arial"/>
              </a:rPr>
              <a:t>reduces</a:t>
            </a:r>
            <a:r>
              <a:rPr sz="1200">
                <a:solidFill>
                  <a:schemeClr val="tx1"/>
                </a:solidFill>
                <a:latin typeface="Arial"/>
                <a:ea typeface="Arial"/>
                <a:cs typeface="Arial"/>
              </a:rPr>
              <a:t> the action </a:t>
            </a:r>
            <a:r>
              <a:rPr sz="1200">
                <a:solidFill>
                  <a:schemeClr val="tx1"/>
                </a:solidFill>
                <a:latin typeface="Arial"/>
                <a:ea typeface="Arial"/>
                <a:cs typeface="Arial"/>
              </a:rPr>
              <a:t>space</a:t>
            </a:r>
          </a:p>
          <a:p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a:solidFill>
                  <a:schemeClr val="tx1"/>
                </a:solidFill>
                <a:latin typeface="Arial"/>
                <a:ea typeface="Arial"/>
                <a:cs typeface="Arial"/>
              </a:rPr>
              <a:t>To dive a </a:t>
            </a:r>
            <a:r>
              <a:rPr sz="1200">
                <a:solidFill>
                  <a:schemeClr val="tx1"/>
                </a:solidFill>
                <a:latin typeface="Arial"/>
                <a:ea typeface="Arial"/>
                <a:cs typeface="Arial"/>
              </a:rPr>
              <a:t>little</a:t>
            </a:r>
            <a:r>
              <a:rPr sz="1200">
                <a:solidFill>
                  <a:schemeClr val="tx1"/>
                </a:solidFill>
                <a:latin typeface="Arial"/>
                <a:ea typeface="Arial"/>
                <a:cs typeface="Arial"/>
              </a:rPr>
              <a:t> </a:t>
            </a:r>
            <a:r>
              <a:rPr sz="1200">
                <a:solidFill>
                  <a:schemeClr val="tx1"/>
                </a:solidFill>
                <a:latin typeface="Arial"/>
                <a:ea typeface="Arial"/>
                <a:cs typeface="Arial"/>
              </a:rPr>
              <a:t>deeper</a:t>
            </a:r>
            <a:r>
              <a:rPr sz="1200">
                <a:solidFill>
                  <a:schemeClr val="tx1"/>
                </a:solidFill>
                <a:latin typeface="Arial"/>
                <a:ea typeface="Arial"/>
                <a:cs typeface="Arial"/>
              </a:rPr>
              <a:t> i have been </a:t>
            </a:r>
            <a:r>
              <a:rPr sz="1200">
                <a:solidFill>
                  <a:schemeClr val="tx1"/>
                </a:solidFill>
                <a:latin typeface="Arial"/>
                <a:ea typeface="Arial"/>
                <a:cs typeface="Arial"/>
              </a:rPr>
              <a:t>looking</a:t>
            </a:r>
            <a:r>
              <a:rPr sz="1200">
                <a:solidFill>
                  <a:schemeClr val="tx1"/>
                </a:solidFill>
                <a:latin typeface="Arial"/>
                <a:ea typeface="Arial"/>
                <a:cs typeface="Arial"/>
              </a:rPr>
              <a:t> at a </a:t>
            </a:r>
            <a:r>
              <a:rPr sz="1200">
                <a:solidFill>
                  <a:schemeClr val="tx1"/>
                </a:solidFill>
                <a:latin typeface="Arial"/>
                <a:ea typeface="Arial"/>
                <a:cs typeface="Arial"/>
              </a:rPr>
              <a:t>survey</a:t>
            </a:r>
            <a:r>
              <a:rPr sz="1200">
                <a:solidFill>
                  <a:schemeClr val="tx1"/>
                </a:solidFill>
                <a:latin typeface="Arial"/>
                <a:ea typeface="Arial"/>
                <a:cs typeface="Arial"/>
              </a:rPr>
              <a:t> </a:t>
            </a:r>
            <a:r>
              <a:rPr sz="1200">
                <a:solidFill>
                  <a:schemeClr val="tx1"/>
                </a:solidFill>
                <a:latin typeface="Arial"/>
                <a:ea typeface="Arial"/>
                <a:cs typeface="Arial"/>
              </a:rPr>
              <a:t>that</a:t>
            </a:r>
            <a:r>
              <a:rPr sz="1200">
                <a:solidFill>
                  <a:schemeClr val="tx1"/>
                </a:solidFill>
                <a:latin typeface="Arial"/>
                <a:ea typeface="Arial"/>
                <a:cs typeface="Arial"/>
              </a:rPr>
              <a:t> </a:t>
            </a:r>
            <a:r>
              <a:rPr sz="1200">
                <a:solidFill>
                  <a:schemeClr val="tx1"/>
                </a:solidFill>
                <a:latin typeface="Arial"/>
                <a:ea typeface="Arial"/>
                <a:cs typeface="Arial"/>
              </a:rPr>
              <a:t>summarize</a:t>
            </a:r>
            <a:r>
              <a:rPr sz="1200">
                <a:solidFill>
                  <a:schemeClr val="tx1"/>
                </a:solidFill>
                <a:latin typeface="Arial"/>
                <a:ea typeface="Arial"/>
                <a:cs typeface="Arial"/>
              </a:rPr>
              <a:t> all the </a:t>
            </a:r>
            <a:r>
              <a:rPr sz="1200">
                <a:solidFill>
                  <a:schemeClr val="tx1"/>
                </a:solidFill>
                <a:latin typeface="Arial"/>
                <a:ea typeface="Arial"/>
                <a:cs typeface="Arial"/>
              </a:rPr>
              <a:t>algorithms</a:t>
            </a:r>
            <a:r>
              <a:rPr sz="1200">
                <a:solidFill>
                  <a:schemeClr val="tx1"/>
                </a:solidFill>
                <a:latin typeface="Arial"/>
                <a:ea typeface="Arial"/>
                <a:cs typeface="Arial"/>
              </a:rPr>
              <a:t> </a:t>
            </a:r>
            <a:r>
              <a:rPr sz="1200">
                <a:solidFill>
                  <a:schemeClr val="tx1"/>
                </a:solidFill>
                <a:latin typeface="Arial"/>
                <a:ea typeface="Arial"/>
                <a:cs typeface="Arial"/>
              </a:rPr>
              <a:t>that</a:t>
            </a:r>
            <a:r>
              <a:rPr sz="1200">
                <a:solidFill>
                  <a:schemeClr val="tx1"/>
                </a:solidFill>
                <a:latin typeface="Arial"/>
                <a:ea typeface="Arial"/>
                <a:cs typeface="Arial"/>
              </a:rPr>
              <a:t> won the l2rpn challenge and </a:t>
            </a:r>
            <a:r>
              <a:rPr sz="1200">
                <a:solidFill>
                  <a:schemeClr val="tx1"/>
                </a:solidFill>
                <a:latin typeface="Arial"/>
                <a:ea typeface="Arial"/>
                <a:cs typeface="Arial"/>
              </a:rPr>
              <a:t>this</a:t>
            </a:r>
            <a:r>
              <a:rPr sz="1200">
                <a:solidFill>
                  <a:schemeClr val="tx1"/>
                </a:solidFill>
                <a:latin typeface="Arial"/>
                <a:ea typeface="Arial"/>
                <a:cs typeface="Arial"/>
              </a:rPr>
              <a:t> </a:t>
            </a:r>
            <a:r>
              <a:rPr sz="1200">
                <a:solidFill>
                  <a:schemeClr val="tx1"/>
                </a:solidFill>
                <a:latin typeface="Arial"/>
                <a:ea typeface="Arial"/>
                <a:cs typeface="Arial"/>
              </a:rPr>
              <a:t>is</a:t>
            </a:r>
            <a:r>
              <a:rPr sz="1200">
                <a:solidFill>
                  <a:schemeClr val="tx1"/>
                </a:solidFill>
                <a:latin typeface="Arial"/>
                <a:ea typeface="Arial"/>
                <a:cs typeface="Arial"/>
              </a:rPr>
              <a:t> the main </a:t>
            </a:r>
            <a:r>
              <a:rPr sz="1200">
                <a:solidFill>
                  <a:schemeClr val="tx1"/>
                </a:solidFill>
                <a:latin typeface="Arial"/>
                <a:ea typeface="Arial"/>
                <a:cs typeface="Arial"/>
              </a:rPr>
              <a:t>categories</a:t>
            </a:r>
            <a:r>
              <a:rPr sz="1200">
                <a:solidFill>
                  <a:schemeClr val="tx1"/>
                </a:solidFill>
                <a:latin typeface="Arial"/>
                <a:ea typeface="Arial"/>
                <a:cs typeface="Arial"/>
              </a:rPr>
              <a:t> of </a:t>
            </a:r>
            <a:r>
              <a:rPr sz="1200">
                <a:solidFill>
                  <a:schemeClr val="tx1"/>
                </a:solidFill>
                <a:latin typeface="Arial"/>
                <a:ea typeface="Arial"/>
                <a:cs typeface="Arial"/>
              </a:rPr>
              <a:t>succesfull</a:t>
            </a:r>
            <a:r>
              <a:rPr sz="1200">
                <a:solidFill>
                  <a:schemeClr val="tx1"/>
                </a:solidFill>
                <a:latin typeface="Arial"/>
                <a:ea typeface="Arial"/>
                <a:cs typeface="Arial"/>
              </a:rPr>
              <a:t> </a:t>
            </a:r>
            <a:r>
              <a:rPr sz="1200">
                <a:solidFill>
                  <a:schemeClr val="tx1"/>
                </a:solidFill>
                <a:latin typeface="Arial"/>
                <a:ea typeface="Arial"/>
                <a:cs typeface="Arial"/>
              </a:rPr>
              <a:t>agentthat</a:t>
            </a:r>
            <a:r>
              <a:rPr sz="1200">
                <a:solidFill>
                  <a:schemeClr val="tx1"/>
                </a:solidFill>
                <a:latin typeface="Arial"/>
                <a:ea typeface="Arial"/>
                <a:cs typeface="Arial"/>
              </a:rPr>
              <a:t> won the challenge.</a:t>
            </a:r>
          </a:p>
          <a:p xmlns:a="http://schemas.openxmlformats.org/drawingml/2006/main"/>
          <a:p xmlns:a="http://schemas.openxmlformats.org/drawingml/2006/main">
            <a:r>
              <a:rPr sz="1200">
                <a:solidFill>
                  <a:schemeClr val="tx1"/>
                </a:solidFill>
                <a:latin typeface="Arial"/>
                <a:ea typeface="Arial"/>
                <a:cs typeface="Arial"/>
              </a:rPr>
              <a:t>Some</a:t>
            </a:r>
            <a:r>
              <a:rPr sz="1200">
                <a:solidFill>
                  <a:schemeClr val="tx1"/>
                </a:solidFill>
                <a:latin typeface="Arial"/>
                <a:ea typeface="Arial"/>
                <a:cs typeface="Arial"/>
              </a:rPr>
              <a:t> </a:t>
            </a:r>
            <a:r>
              <a:rPr sz="1200">
                <a:solidFill>
                  <a:schemeClr val="tx1"/>
                </a:solidFill>
                <a:latin typeface="Arial"/>
                <a:ea typeface="Arial"/>
                <a:cs typeface="Arial"/>
              </a:rPr>
              <a:t>approaches</a:t>
            </a:r>
            <a:r>
              <a:rPr sz="1200">
                <a:solidFill>
                  <a:schemeClr val="tx1"/>
                </a:solidFill>
                <a:latin typeface="Arial"/>
                <a:ea typeface="Arial"/>
                <a:cs typeface="Arial"/>
              </a:rPr>
              <a:t> </a:t>
            </a:r>
            <a:r>
              <a:rPr sz="1200">
                <a:solidFill>
                  <a:schemeClr val="tx1"/>
                </a:solidFill>
                <a:latin typeface="Arial"/>
                <a:ea typeface="Arial"/>
                <a:cs typeface="Arial"/>
              </a:rPr>
              <a:t>rely</a:t>
            </a:r>
            <a:r>
              <a:rPr sz="1200">
                <a:solidFill>
                  <a:schemeClr val="tx1"/>
                </a:solidFill>
                <a:latin typeface="Arial"/>
                <a:ea typeface="Arial"/>
                <a:cs typeface="Arial"/>
              </a:rPr>
              <a:t> on a single global agent </a:t>
            </a:r>
            <a:r>
              <a:rPr sz="1200">
                <a:solidFill>
                  <a:schemeClr val="tx1"/>
                </a:solidFill>
                <a:latin typeface="Arial"/>
                <a:ea typeface="Arial"/>
                <a:cs typeface="Arial"/>
              </a:rPr>
              <a:t>with</a:t>
            </a:r>
            <a:r>
              <a:rPr sz="1200">
                <a:solidFill>
                  <a:schemeClr val="tx1"/>
                </a:solidFill>
                <a:latin typeface="Arial"/>
                <a:ea typeface="Arial"/>
                <a:cs typeface="Arial"/>
              </a:rPr>
              <a:t> </a:t>
            </a:r>
            <a:r>
              <a:rPr sz="1200">
                <a:solidFill>
                  <a:schemeClr val="tx1"/>
                </a:solidFill>
                <a:latin typeface="Arial"/>
                <a:ea typeface="Arial"/>
                <a:cs typeface="Arial"/>
              </a:rPr>
              <a:t>strong</a:t>
            </a:r>
            <a:r>
              <a:rPr sz="1200">
                <a:solidFill>
                  <a:schemeClr val="tx1"/>
                </a:solidFill>
                <a:latin typeface="Arial"/>
                <a:ea typeface="Arial"/>
                <a:cs typeface="Arial"/>
              </a:rPr>
              <a:t> engineering tricks.</a:t>
            </a:r>
          </a:p>
          <a:p xmlns:a="http://schemas.openxmlformats.org/drawingml/2006/main"/>
          <a:p xmlns:a="http://schemas.openxmlformats.org/drawingml/2006/main">
            <a:r>
              <a:rPr sz="1200">
                <a:solidFill>
                  <a:schemeClr val="tx1"/>
                </a:solidFill>
                <a:latin typeface="Arial"/>
                <a:ea typeface="Arial"/>
                <a:cs typeface="Arial"/>
              </a:rPr>
              <a:t>For </a:t>
            </a:r>
            <a:r>
              <a:rPr sz="1200">
                <a:solidFill>
                  <a:schemeClr val="tx1"/>
                </a:solidFill>
                <a:latin typeface="Arial"/>
                <a:ea typeface="Arial"/>
                <a:cs typeface="Arial"/>
              </a:rPr>
              <a:t>example</a:t>
            </a:r>
            <a:r>
              <a:rPr sz="1200">
                <a:solidFill>
                  <a:schemeClr val="tx1"/>
                </a:solidFill>
                <a:latin typeface="Arial"/>
                <a:ea typeface="Arial"/>
                <a:cs typeface="Arial"/>
              </a:rPr>
              <a:t>, </a:t>
            </a:r>
            <a:r>
              <a:rPr sz="1200">
                <a:solidFill>
                  <a:schemeClr val="tx1"/>
                </a:solidFill>
                <a:latin typeface="Arial"/>
                <a:ea typeface="Arial"/>
                <a:cs typeface="Arial"/>
              </a:rPr>
              <a:t>they</a:t>
            </a:r>
            <a:r>
              <a:rPr sz="1200">
                <a:solidFill>
                  <a:schemeClr val="tx1"/>
                </a:solidFill>
                <a:latin typeface="Arial"/>
                <a:ea typeface="Arial"/>
                <a:cs typeface="Arial"/>
              </a:rPr>
              <a:t> use graph neural networks </a:t>
            </a:r>
            <a:r>
              <a:rPr sz="1200">
                <a:solidFill>
                  <a:schemeClr val="tx1"/>
                </a:solidFill>
                <a:latin typeface="Arial"/>
                <a:ea typeface="Arial"/>
                <a:cs typeface="Arial"/>
              </a:rPr>
              <a:t>combined</a:t>
            </a:r>
            <a:r>
              <a:rPr sz="1200">
                <a:solidFill>
                  <a:schemeClr val="tx1"/>
                </a:solidFill>
                <a:latin typeface="Arial"/>
                <a:ea typeface="Arial"/>
                <a:cs typeface="Arial"/>
              </a:rPr>
              <a:t> </a:t>
            </a:r>
            <a:r>
              <a:rPr sz="1200">
                <a:solidFill>
                  <a:schemeClr val="tx1"/>
                </a:solidFill>
                <a:latin typeface="Arial"/>
                <a:ea typeface="Arial"/>
                <a:cs typeface="Arial"/>
              </a:rPr>
              <a:t>with</a:t>
            </a:r>
            <a:r>
              <a:rPr sz="1200">
                <a:solidFill>
                  <a:schemeClr val="tx1"/>
                </a:solidFill>
                <a:latin typeface="Arial"/>
                <a:ea typeface="Arial"/>
                <a:cs typeface="Arial"/>
              </a:rPr>
              <a:t> value-</a:t>
            </a:r>
            <a:r>
              <a:rPr sz="1200">
                <a:solidFill>
                  <a:schemeClr val="tx1"/>
                </a:solidFill>
                <a:latin typeface="Arial"/>
                <a:ea typeface="Arial"/>
                <a:cs typeface="Arial"/>
              </a:rPr>
              <a:t>based</a:t>
            </a:r>
            <a:r>
              <a:rPr sz="1200">
                <a:solidFill>
                  <a:schemeClr val="tx1"/>
                </a:solidFill>
                <a:latin typeface="Arial"/>
                <a:ea typeface="Arial"/>
                <a:cs typeface="Arial"/>
              </a:rPr>
              <a:t> RL, and </a:t>
            </a:r>
            <a:r>
              <a:rPr sz="1200">
                <a:solidFill>
                  <a:schemeClr val="tx1"/>
                </a:solidFill>
                <a:latin typeface="Arial"/>
                <a:ea typeface="Arial"/>
                <a:cs typeface="Arial"/>
              </a:rPr>
              <a:t>validate</a:t>
            </a:r>
            <a:r>
              <a:rPr sz="1200">
                <a:solidFill>
                  <a:schemeClr val="tx1"/>
                </a:solidFill>
                <a:latin typeface="Arial"/>
                <a:ea typeface="Arial"/>
                <a:cs typeface="Arial"/>
              </a:rPr>
              <a:t> actions </a:t>
            </a:r>
            <a:r>
              <a:rPr sz="1200">
                <a:solidFill>
                  <a:schemeClr val="tx1"/>
                </a:solidFill>
                <a:latin typeface="Arial"/>
                <a:ea typeface="Arial"/>
                <a:cs typeface="Arial"/>
              </a:rPr>
              <a:t>using</a:t>
            </a:r>
            <a:r>
              <a:rPr sz="1200">
                <a:solidFill>
                  <a:schemeClr val="tx1"/>
                </a:solidFill>
                <a:latin typeface="Arial"/>
                <a:ea typeface="Arial"/>
                <a:cs typeface="Arial"/>
              </a:rPr>
              <a:t> power-flow simulations.</a:t>
            </a:r>
          </a:p>
          <a:p xmlns:a="http://schemas.openxmlformats.org/drawingml/2006/main"/>
          <a:p xmlns:a="http://schemas.openxmlformats.org/drawingml/2006/main">
            <a:r>
              <a:rPr sz="1200">
                <a:solidFill>
                  <a:schemeClr val="tx1"/>
                </a:solidFill>
                <a:latin typeface="Arial"/>
                <a:ea typeface="Arial"/>
                <a:cs typeface="Arial"/>
              </a:rPr>
              <a:t>Others</a:t>
            </a:r>
            <a:r>
              <a:rPr sz="1200">
                <a:solidFill>
                  <a:schemeClr val="tx1"/>
                </a:solidFill>
                <a:latin typeface="Arial"/>
                <a:ea typeface="Arial"/>
                <a:cs typeface="Arial"/>
              </a:rPr>
              <a:t> </a:t>
            </a:r>
            <a:r>
              <a:rPr sz="1200">
                <a:solidFill>
                  <a:schemeClr val="tx1"/>
                </a:solidFill>
                <a:latin typeface="Arial"/>
                <a:ea typeface="Arial"/>
                <a:cs typeface="Arial"/>
              </a:rPr>
              <a:t>reduce</a:t>
            </a:r>
            <a:r>
              <a:rPr sz="1200">
                <a:solidFill>
                  <a:schemeClr val="tx1"/>
                </a:solidFill>
                <a:latin typeface="Arial"/>
                <a:ea typeface="Arial"/>
                <a:cs typeface="Arial"/>
              </a:rPr>
              <a:t> the action </a:t>
            </a:r>
            <a:r>
              <a:rPr sz="1200">
                <a:solidFill>
                  <a:schemeClr val="tx1"/>
                </a:solidFill>
                <a:latin typeface="Arial"/>
                <a:ea typeface="Arial"/>
                <a:cs typeface="Arial"/>
              </a:rPr>
              <a:t>space</a:t>
            </a:r>
            <a:r>
              <a:rPr sz="1200">
                <a:solidFill>
                  <a:schemeClr val="tx1"/>
                </a:solidFill>
                <a:latin typeface="Arial"/>
                <a:ea typeface="Arial"/>
                <a:cs typeface="Arial"/>
              </a:rPr>
              <a:t> </a:t>
            </a:r>
            <a:r>
              <a:rPr sz="1200">
                <a:solidFill>
                  <a:schemeClr val="tx1"/>
                </a:solidFill>
                <a:latin typeface="Arial"/>
                <a:ea typeface="Arial"/>
                <a:cs typeface="Arial"/>
              </a:rPr>
              <a:t>using</a:t>
            </a:r>
            <a:r>
              <a:rPr sz="1200">
                <a:solidFill>
                  <a:schemeClr val="tx1"/>
                </a:solidFill>
                <a:latin typeface="Arial"/>
                <a:ea typeface="Arial"/>
                <a:cs typeface="Arial"/>
              </a:rPr>
              <a:t> </a:t>
            </a:r>
            <a:r>
              <a:rPr sz="1200">
                <a:solidFill>
                  <a:schemeClr val="tx1"/>
                </a:solidFill>
                <a:latin typeface="Arial"/>
                <a:ea typeface="Arial"/>
                <a:cs typeface="Arial"/>
              </a:rPr>
              <a:t>masking</a:t>
            </a:r>
            <a:r>
              <a:rPr sz="1200">
                <a:solidFill>
                  <a:schemeClr val="tx1"/>
                </a:solidFill>
                <a:latin typeface="Arial"/>
                <a:ea typeface="Arial"/>
                <a:cs typeface="Arial"/>
              </a:rPr>
              <a:t> or </a:t>
            </a:r>
            <a:r>
              <a:rPr sz="1200">
                <a:solidFill>
                  <a:schemeClr val="tx1"/>
                </a:solidFill>
                <a:latin typeface="Arial"/>
                <a:ea typeface="Arial"/>
                <a:cs typeface="Arial"/>
              </a:rPr>
              <a:t>pruning</a:t>
            </a:r>
            <a:r>
              <a:rPr sz="1200">
                <a:solidFill>
                  <a:schemeClr val="tx1"/>
                </a:solidFill>
                <a:latin typeface="Arial"/>
                <a:ea typeface="Arial"/>
                <a:cs typeface="Arial"/>
              </a:rPr>
              <a:t>.</a:t>
            </a:r>
          </a:p>
          <a:p xmlns:a="http://schemas.openxmlformats.org/drawingml/2006/main"/>
          <a:p xmlns:a="http://schemas.openxmlformats.org/drawingml/2006/main">
            <a:r>
              <a:rPr sz="1200">
                <a:solidFill>
                  <a:schemeClr val="tx1"/>
                </a:solidFill>
                <a:latin typeface="Arial"/>
                <a:ea typeface="Arial"/>
                <a:cs typeface="Arial"/>
              </a:rPr>
              <a:t>These</a:t>
            </a:r>
            <a:r>
              <a:rPr sz="1200">
                <a:solidFill>
                  <a:schemeClr val="tx1"/>
                </a:solidFill>
                <a:latin typeface="Arial"/>
                <a:ea typeface="Arial"/>
                <a:cs typeface="Arial"/>
              </a:rPr>
              <a:t> </a:t>
            </a:r>
            <a:r>
              <a:rPr sz="1200">
                <a:solidFill>
                  <a:schemeClr val="tx1"/>
                </a:solidFill>
                <a:latin typeface="Arial"/>
                <a:ea typeface="Arial"/>
                <a:cs typeface="Arial"/>
              </a:rPr>
              <a:t>methods</a:t>
            </a:r>
            <a:r>
              <a:rPr sz="1200">
                <a:solidFill>
                  <a:schemeClr val="tx1"/>
                </a:solidFill>
                <a:latin typeface="Arial"/>
                <a:ea typeface="Arial"/>
                <a:cs typeface="Arial"/>
              </a:rPr>
              <a:t> can </a:t>
            </a:r>
            <a:r>
              <a:rPr sz="1200">
                <a:solidFill>
                  <a:schemeClr val="tx1"/>
                </a:solidFill>
                <a:latin typeface="Arial"/>
                <a:ea typeface="Arial"/>
                <a:cs typeface="Arial"/>
              </a:rPr>
              <a:t>work</a:t>
            </a:r>
            <a:r>
              <a:rPr sz="1200">
                <a:solidFill>
                  <a:schemeClr val="tx1"/>
                </a:solidFill>
                <a:latin typeface="Arial"/>
                <a:ea typeface="Arial"/>
                <a:cs typeface="Arial"/>
              </a:rPr>
              <a:t>, </a:t>
            </a:r>
            <a:r>
              <a:rPr sz="1200">
                <a:solidFill>
                  <a:schemeClr val="tx1"/>
                </a:solidFill>
                <a:latin typeface="Arial"/>
                <a:ea typeface="Arial"/>
                <a:cs typeface="Arial"/>
              </a:rPr>
              <a:t>so</a:t>
            </a:r>
            <a:r>
              <a:rPr sz="1200">
                <a:solidFill>
                  <a:schemeClr val="tx1"/>
                </a:solidFill>
                <a:latin typeface="Arial"/>
                <a:ea typeface="Arial"/>
                <a:cs typeface="Arial"/>
              </a:rPr>
              <a:t> </a:t>
            </a:r>
            <a:r>
              <a:rPr sz="1200">
                <a:solidFill>
                  <a:schemeClr val="tx1"/>
                </a:solidFill>
                <a:latin typeface="Arial"/>
                <a:ea typeface="Arial"/>
                <a:cs typeface="Arial"/>
              </a:rPr>
              <a:t>mixing</a:t>
            </a:r>
            <a:r>
              <a:rPr sz="1200">
                <a:solidFill>
                  <a:schemeClr val="tx1"/>
                </a:solidFill>
                <a:latin typeface="Arial"/>
                <a:ea typeface="Arial"/>
                <a:cs typeface="Arial"/>
              </a:rPr>
              <a:t> a single agent </a:t>
            </a:r>
            <a:r>
              <a:rPr sz="1200">
                <a:solidFill>
                  <a:schemeClr val="tx1"/>
                </a:solidFill>
                <a:latin typeface="Arial"/>
                <a:ea typeface="Arial"/>
                <a:cs typeface="Arial"/>
              </a:rPr>
              <a:t>with</a:t>
            </a:r>
            <a:r>
              <a:rPr sz="1200">
                <a:solidFill>
                  <a:schemeClr val="tx1"/>
                </a:solidFill>
                <a:latin typeface="Arial"/>
                <a:ea typeface="Arial"/>
                <a:cs typeface="Arial"/>
              </a:rPr>
              <a:t> </a:t>
            </a:r>
            <a:r>
              <a:rPr sz="1200">
                <a:solidFill>
                  <a:schemeClr val="tx1"/>
                </a:solidFill>
                <a:latin typeface="Arial"/>
                <a:ea typeface="Arial"/>
                <a:cs typeface="Arial"/>
              </a:rPr>
              <a:t>rules</a:t>
            </a:r>
            <a:r>
              <a:rPr sz="1200">
                <a:solidFill>
                  <a:schemeClr val="tx1"/>
                </a:solidFill>
                <a:latin typeface="Arial"/>
                <a:ea typeface="Arial"/>
                <a:cs typeface="Arial"/>
              </a:rPr>
              <a:t>, but </a:t>
            </a:r>
            <a:r>
              <a:rPr sz="1200">
                <a:solidFill>
                  <a:schemeClr val="tx1"/>
                </a:solidFill>
                <a:latin typeface="Arial"/>
                <a:ea typeface="Arial"/>
                <a:cs typeface="Arial"/>
              </a:rPr>
              <a:t>they</a:t>
            </a:r>
            <a:r>
              <a:rPr sz="1200">
                <a:solidFill>
                  <a:schemeClr val="tx1"/>
                </a:solidFill>
                <a:latin typeface="Arial"/>
                <a:ea typeface="Arial"/>
                <a:cs typeface="Arial"/>
              </a:rPr>
              <a:t> </a:t>
            </a:r>
            <a:r>
              <a:rPr sz="1200">
                <a:solidFill>
                  <a:schemeClr val="tx1"/>
                </a:solidFill>
                <a:latin typeface="Arial"/>
                <a:ea typeface="Arial"/>
                <a:cs typeface="Arial"/>
              </a:rPr>
              <a:t>suffer</a:t>
            </a:r>
            <a:r>
              <a:rPr sz="1200">
                <a:solidFill>
                  <a:schemeClr val="tx1"/>
                </a:solidFill>
                <a:latin typeface="Arial"/>
                <a:ea typeface="Arial"/>
                <a:cs typeface="Arial"/>
              </a:rPr>
              <a:t> </a:t>
            </a:r>
            <a:r>
              <a:rPr sz="1200">
                <a:solidFill>
                  <a:schemeClr val="tx1"/>
                </a:solidFill>
                <a:latin typeface="Arial"/>
                <a:ea typeface="Arial"/>
                <a:cs typeface="Arial"/>
              </a:rPr>
              <a:t>because</a:t>
            </a:r>
            <a:r>
              <a:rPr sz="1200">
                <a:solidFill>
                  <a:schemeClr val="tx1"/>
                </a:solidFill>
                <a:latin typeface="Arial"/>
                <a:ea typeface="Arial"/>
                <a:cs typeface="Arial"/>
              </a:rPr>
              <a:t> the action </a:t>
            </a:r>
            <a:r>
              <a:rPr sz="1200">
                <a:solidFill>
                  <a:schemeClr val="tx1"/>
                </a:solidFill>
                <a:latin typeface="Arial"/>
                <a:ea typeface="Arial"/>
                <a:cs typeface="Arial"/>
              </a:rPr>
              <a:t>space</a:t>
            </a:r>
            <a:r>
              <a:rPr sz="1200">
                <a:solidFill>
                  <a:schemeClr val="tx1"/>
                </a:solidFill>
                <a:latin typeface="Arial"/>
                <a:ea typeface="Arial"/>
                <a:cs typeface="Arial"/>
              </a:rPr>
              <a:t> </a:t>
            </a:r>
            <a:r>
              <a:rPr sz="1200">
                <a:solidFill>
                  <a:schemeClr val="tx1"/>
                </a:solidFill>
                <a:latin typeface="Arial"/>
                <a:ea typeface="Arial"/>
                <a:cs typeface="Arial"/>
              </a:rPr>
              <a:t>remains</a:t>
            </a:r>
            <a:r>
              <a:rPr sz="1200">
                <a:solidFill>
                  <a:schemeClr val="tx1"/>
                </a:solidFill>
                <a:latin typeface="Arial"/>
                <a:ea typeface="Arial"/>
                <a:cs typeface="Arial"/>
              </a:rPr>
              <a:t> </a:t>
            </a:r>
            <a:r>
              <a:rPr sz="1200">
                <a:solidFill>
                  <a:schemeClr val="tx1"/>
                </a:solidFill>
                <a:latin typeface="Arial"/>
                <a:ea typeface="Arial"/>
                <a:cs typeface="Arial"/>
              </a:rPr>
              <a:t>very</a:t>
            </a:r>
            <a:r>
              <a:rPr sz="1200">
                <a:solidFill>
                  <a:schemeClr val="tx1"/>
                </a:solidFill>
                <a:latin typeface="Arial"/>
                <a:ea typeface="Arial"/>
                <a:cs typeface="Arial"/>
              </a:rPr>
              <a:t> large.”</a:t>
            </a:r>
          </a:p>
          <a:p xmlns:a="http://schemas.openxmlformats.org/drawingml/2006/main"/>
          <a:p xmlns:a="http://schemas.openxmlformats.org/drawingml/2006/main">
            <a:r>
              <a:rPr sz="1200">
                <a:solidFill>
                  <a:schemeClr val="tx1"/>
                </a:solidFill>
                <a:latin typeface="Arial"/>
                <a:ea typeface="Arial"/>
                <a:cs typeface="Arial"/>
              </a:rPr>
              <a:t>Another</a:t>
            </a:r>
            <a:r>
              <a:rPr sz="1200">
                <a:solidFill>
                  <a:schemeClr val="tx1"/>
                </a:solidFill>
                <a:latin typeface="Arial"/>
                <a:ea typeface="Arial"/>
                <a:cs typeface="Arial"/>
              </a:rPr>
              <a:t> important </a:t>
            </a:r>
            <a:r>
              <a:rPr sz="1200">
                <a:solidFill>
                  <a:schemeClr val="tx1"/>
                </a:solidFill>
                <a:latin typeface="Arial"/>
                <a:ea typeface="Arial"/>
                <a:cs typeface="Arial"/>
              </a:rPr>
              <a:t>idea</a:t>
            </a:r>
            <a:r>
              <a:rPr sz="1200">
                <a:solidFill>
                  <a:schemeClr val="tx1"/>
                </a:solidFill>
                <a:latin typeface="Arial"/>
                <a:ea typeface="Arial"/>
                <a:cs typeface="Arial"/>
              </a:rPr>
              <a:t> </a:t>
            </a:r>
            <a:r>
              <a:rPr sz="1200">
                <a:solidFill>
                  <a:schemeClr val="tx1"/>
                </a:solidFill>
                <a:latin typeface="Arial"/>
                <a:ea typeface="Arial"/>
                <a:cs typeface="Arial"/>
              </a:rPr>
              <a:t>is</a:t>
            </a:r>
            <a:r>
              <a:rPr sz="1200">
                <a:solidFill>
                  <a:schemeClr val="tx1"/>
                </a:solidFill>
                <a:latin typeface="Arial"/>
                <a:ea typeface="Arial"/>
                <a:cs typeface="Arial"/>
              </a:rPr>
              <a:t> to </a:t>
            </a:r>
            <a:r>
              <a:rPr sz="1200">
                <a:solidFill>
                  <a:schemeClr val="tx1"/>
                </a:solidFill>
                <a:latin typeface="Arial"/>
                <a:ea typeface="Arial"/>
                <a:cs typeface="Arial"/>
              </a:rPr>
              <a:t>predict</a:t>
            </a:r>
            <a:r>
              <a:rPr sz="1200">
                <a:solidFill>
                  <a:schemeClr val="tx1"/>
                </a:solidFill>
                <a:latin typeface="Arial"/>
                <a:ea typeface="Arial"/>
                <a:cs typeface="Arial"/>
              </a:rPr>
              <a:t> a </a:t>
            </a:r>
            <a:r>
              <a:rPr sz="1200" b="1">
                <a:solidFill>
                  <a:schemeClr val="tx1"/>
                </a:solidFill>
                <a:latin typeface="Arial"/>
                <a:ea typeface="Arial"/>
                <a:cs typeface="Arial"/>
              </a:rPr>
              <a:t>target</a:t>
            </a:r>
            <a:r>
              <a:rPr sz="1200" b="1">
                <a:solidFill>
                  <a:schemeClr val="tx1"/>
                </a:solidFill>
                <a:latin typeface="Arial"/>
                <a:ea typeface="Arial"/>
                <a:cs typeface="Arial"/>
              </a:rPr>
              <a:t> </a:t>
            </a:r>
            <a:r>
              <a:rPr sz="1200" b="1">
                <a:solidFill>
                  <a:schemeClr val="tx1"/>
                </a:solidFill>
                <a:latin typeface="Arial"/>
                <a:ea typeface="Arial"/>
                <a:cs typeface="Arial"/>
              </a:rPr>
              <a:t>topology</a:t>
            </a:r>
            <a:r>
              <a:rPr sz="1200" b="1">
                <a:solidFill>
                  <a:schemeClr val="tx1"/>
                </a:solidFill>
                <a:latin typeface="Arial"/>
                <a:ea typeface="Arial"/>
                <a:cs typeface="Arial"/>
              </a:rPr>
              <a:t> </a:t>
            </a:r>
            <a:r>
              <a:rPr sz="1200" b="1">
                <a:solidFill>
                  <a:schemeClr val="tx1"/>
                </a:solidFill>
                <a:latin typeface="Arial"/>
                <a:ea typeface="Arial"/>
                <a:cs typeface="Arial"/>
              </a:rPr>
              <a:t>instead</a:t>
            </a:r>
            <a:r>
              <a:rPr sz="1200" b="1">
                <a:solidFill>
                  <a:schemeClr val="tx1"/>
                </a:solidFill>
                <a:latin typeface="Arial"/>
                <a:ea typeface="Arial"/>
                <a:cs typeface="Arial"/>
              </a:rPr>
              <a:t> of </a:t>
            </a:r>
            <a:r>
              <a:rPr sz="1200" b="1">
                <a:solidFill>
                  <a:schemeClr val="tx1"/>
                </a:solidFill>
                <a:latin typeface="Arial"/>
                <a:ea typeface="Arial"/>
                <a:cs typeface="Arial"/>
              </a:rPr>
              <a:t>raw</a:t>
            </a:r>
            <a:r>
              <a:rPr sz="1200" b="1">
                <a:solidFill>
                  <a:schemeClr val="tx1"/>
                </a:solidFill>
                <a:latin typeface="Arial"/>
                <a:ea typeface="Arial"/>
                <a:cs typeface="Arial"/>
              </a:rPr>
              <a:t> actions</a:t>
            </a:r>
            <a:r>
              <a:rPr sz="1200">
                <a:solidFill>
                  <a:schemeClr val="tx1"/>
                </a:solidFill>
                <a:latin typeface="Arial"/>
                <a:ea typeface="Arial"/>
                <a:cs typeface="Arial"/>
              </a:rPr>
              <a:t>.</a:t>
            </a:r>
          </a:p>
          <a:p xmlns:a="http://schemas.openxmlformats.org/drawingml/2006/main"/>
          <a:p xmlns:a="http://schemas.openxmlformats.org/drawingml/2006/main">
            <a:r>
              <a:rPr sz="1200">
                <a:solidFill>
                  <a:schemeClr val="tx1"/>
                </a:solidFill>
                <a:latin typeface="Arial"/>
                <a:ea typeface="Arial"/>
                <a:cs typeface="Arial"/>
              </a:rPr>
              <a:t>This </a:t>
            </a:r>
            <a:r>
              <a:rPr sz="1200">
                <a:solidFill>
                  <a:schemeClr val="tx1"/>
                </a:solidFill>
                <a:latin typeface="Arial"/>
                <a:ea typeface="Arial"/>
                <a:cs typeface="Arial"/>
              </a:rPr>
              <a:t>is</a:t>
            </a:r>
            <a:r>
              <a:rPr sz="1200">
                <a:solidFill>
                  <a:schemeClr val="tx1"/>
                </a:solidFill>
                <a:latin typeface="Arial"/>
                <a:ea typeface="Arial"/>
                <a:cs typeface="Arial"/>
              </a:rPr>
              <a:t> </a:t>
            </a:r>
            <a:r>
              <a:rPr sz="1200">
                <a:solidFill>
                  <a:schemeClr val="tx1"/>
                </a:solidFill>
                <a:latin typeface="Arial"/>
                <a:ea typeface="Arial"/>
                <a:cs typeface="Arial"/>
              </a:rPr>
              <a:t>used</a:t>
            </a:r>
            <a:r>
              <a:rPr sz="1200">
                <a:solidFill>
                  <a:schemeClr val="tx1"/>
                </a:solidFill>
                <a:latin typeface="Arial"/>
                <a:ea typeface="Arial"/>
                <a:cs typeface="Arial"/>
              </a:rPr>
              <a:t> in SMAAC, </a:t>
            </a:r>
            <a:r>
              <a:rPr sz="1200">
                <a:solidFill>
                  <a:schemeClr val="tx1"/>
                </a:solidFill>
                <a:latin typeface="Arial"/>
                <a:ea typeface="Arial"/>
                <a:cs typeface="Arial"/>
              </a:rPr>
              <a:t>where</a:t>
            </a:r>
            <a:r>
              <a:rPr sz="1200">
                <a:solidFill>
                  <a:schemeClr val="tx1"/>
                </a:solidFill>
                <a:latin typeface="Arial"/>
                <a:ea typeface="Arial"/>
                <a:cs typeface="Arial"/>
              </a:rPr>
              <a:t> </a:t>
            </a:r>
            <a:r>
              <a:rPr sz="1200">
                <a:solidFill>
                  <a:schemeClr val="tx1"/>
                </a:solidFill>
                <a:latin typeface="Arial"/>
                <a:ea typeface="Arial"/>
                <a:cs typeface="Arial"/>
              </a:rPr>
              <a:t>the</a:t>
            </a:r>
            <a:r>
              <a:rPr sz="1200">
                <a:solidFill>
                  <a:schemeClr val="tx1"/>
                </a:solidFill>
                <a:latin typeface="Arial"/>
                <a:ea typeface="Arial"/>
                <a:cs typeface="Arial"/>
              </a:rPr>
              <a:t> </a:t>
            </a:r>
            <a:r>
              <a:rPr sz="1200">
                <a:solidFill>
                  <a:schemeClr val="tx1"/>
                </a:solidFill>
                <a:latin typeface="Arial"/>
                <a:ea typeface="Arial"/>
                <a:cs typeface="Arial"/>
              </a:rPr>
              <a:t>agent</a:t>
            </a:r>
            <a:r>
              <a:rPr sz="1200">
                <a:solidFill>
                  <a:schemeClr val="tx1"/>
                </a:solidFill>
                <a:latin typeface="Arial"/>
                <a:ea typeface="Arial"/>
                <a:cs typeface="Arial"/>
              </a:rPr>
              <a:t> </a:t>
            </a:r>
            <a:r>
              <a:rPr sz="1200">
                <a:solidFill>
                  <a:schemeClr val="tx1"/>
                </a:solidFill>
                <a:latin typeface="Arial"/>
                <a:ea typeface="Arial"/>
                <a:cs typeface="Arial"/>
              </a:rPr>
              <a:t>learns</a:t>
            </a:r>
            <a:r>
              <a:rPr sz="1200">
                <a:solidFill>
                  <a:schemeClr val="tx1"/>
                </a:solidFill>
                <a:latin typeface="Arial"/>
                <a:ea typeface="Arial"/>
                <a:cs typeface="Arial"/>
              </a:rPr>
              <a:t> an </a:t>
            </a:r>
            <a:r>
              <a:rPr sz="1200">
                <a:solidFill>
                  <a:schemeClr val="tx1"/>
                </a:solidFill>
                <a:latin typeface="Arial"/>
                <a:ea typeface="Arial"/>
                <a:cs typeface="Arial"/>
              </a:rPr>
              <a:t>afterstate</a:t>
            </a:r>
            <a:r>
              <a:rPr sz="1200">
                <a:solidFill>
                  <a:schemeClr val="tx1"/>
                </a:solidFill>
                <a:latin typeface="Arial"/>
                <a:ea typeface="Arial"/>
                <a:cs typeface="Arial"/>
              </a:rPr>
              <a:t> </a:t>
            </a:r>
            <a:r>
              <a:rPr sz="1200">
                <a:solidFill>
                  <a:schemeClr val="tx1"/>
                </a:solidFill>
                <a:latin typeface="Arial"/>
                <a:ea typeface="Arial"/>
                <a:cs typeface="Arial"/>
              </a:rPr>
              <a:t>representation</a:t>
            </a:r>
            <a:r>
              <a:rPr sz="1200">
                <a:solidFill>
                  <a:schemeClr val="tx1"/>
                </a:solidFill>
                <a:latin typeface="Arial"/>
                <a:ea typeface="Arial"/>
                <a:cs typeface="Arial"/>
              </a:rPr>
              <a:t>—</a:t>
            </a:r>
            <a:r>
              <a:rPr sz="1200">
                <a:solidFill>
                  <a:schemeClr val="tx1"/>
                </a:solidFill>
                <a:latin typeface="Arial"/>
                <a:ea typeface="Arial"/>
                <a:cs typeface="Arial"/>
              </a:rPr>
              <a:t>basically</a:t>
            </a:r>
            <a:r>
              <a:rPr sz="1200">
                <a:solidFill>
                  <a:schemeClr val="tx1"/>
                </a:solidFill>
                <a:latin typeface="Arial"/>
                <a:ea typeface="Arial"/>
                <a:cs typeface="Arial"/>
              </a:rPr>
              <a:t> </a:t>
            </a:r>
            <a:r>
              <a:rPr sz="1200">
                <a:solidFill>
                  <a:schemeClr val="tx1"/>
                </a:solidFill>
                <a:latin typeface="Arial"/>
                <a:ea typeface="Arial"/>
                <a:cs typeface="Arial"/>
              </a:rPr>
              <a:t>the</a:t>
            </a:r>
            <a:r>
              <a:rPr sz="1200">
                <a:solidFill>
                  <a:schemeClr val="tx1"/>
                </a:solidFill>
                <a:latin typeface="Arial"/>
                <a:ea typeface="Arial"/>
                <a:cs typeface="Arial"/>
              </a:rPr>
              <a:t> </a:t>
            </a:r>
            <a:r>
              <a:rPr sz="1200">
                <a:solidFill>
                  <a:schemeClr val="tx1"/>
                </a:solidFill>
                <a:latin typeface="Arial"/>
                <a:ea typeface="Arial"/>
                <a:cs typeface="Arial"/>
              </a:rPr>
              <a:t>resulting</a:t>
            </a:r>
            <a:r>
              <a:rPr sz="1200">
                <a:solidFill>
                  <a:schemeClr val="tx1"/>
                </a:solidFill>
                <a:latin typeface="Arial"/>
                <a:ea typeface="Arial"/>
                <a:cs typeface="Arial"/>
              </a:rPr>
              <a:t> </a:t>
            </a:r>
            <a:r>
              <a:rPr sz="1200">
                <a:solidFill>
                  <a:schemeClr val="tx1"/>
                </a:solidFill>
                <a:latin typeface="Arial"/>
                <a:ea typeface="Arial"/>
                <a:cs typeface="Arial"/>
              </a:rPr>
              <a:t>topology</a:t>
            </a:r>
            <a:r>
              <a:rPr sz="1200">
                <a:solidFill>
                  <a:schemeClr val="tx1"/>
                </a:solidFill>
                <a:latin typeface="Arial"/>
                <a:ea typeface="Arial"/>
                <a:cs typeface="Arial"/>
              </a:rPr>
              <a:t> after an </a:t>
            </a:r>
            <a:r>
              <a:rPr sz="1200">
                <a:solidFill>
                  <a:schemeClr val="tx1"/>
                </a:solidFill>
                <a:latin typeface="Arial"/>
                <a:ea typeface="Arial"/>
                <a:cs typeface="Arial"/>
              </a:rPr>
              <a:t>action</a:t>
            </a:r>
            <a:r>
              <a:rPr sz="1200">
                <a:solidFill>
                  <a:schemeClr val="tx1"/>
                </a:solidFill>
                <a:latin typeface="Arial"/>
                <a:ea typeface="Arial"/>
                <a:cs typeface="Arial"/>
              </a:rPr>
              <a:t>.</a:t>
            </a:r>
          </a:p>
          <a:p xmlns:a="http://schemas.openxmlformats.org/drawingml/2006/main"/>
          <a:p xmlns:a="http://schemas.openxmlformats.org/drawingml/2006/main">
            <a:r>
              <a:rPr sz="1200">
                <a:solidFill>
                  <a:schemeClr val="tx1"/>
                </a:solidFill>
                <a:latin typeface="Arial"/>
                <a:ea typeface="Arial"/>
                <a:cs typeface="Arial"/>
              </a:rPr>
              <a:t>This </a:t>
            </a:r>
            <a:r>
              <a:rPr sz="1200">
                <a:solidFill>
                  <a:schemeClr val="tx1"/>
                </a:solidFill>
                <a:latin typeface="Arial"/>
                <a:ea typeface="Arial"/>
                <a:cs typeface="Arial"/>
              </a:rPr>
              <a:t>helps</a:t>
            </a:r>
            <a:r>
              <a:rPr sz="1200">
                <a:solidFill>
                  <a:schemeClr val="tx1"/>
                </a:solidFill>
                <a:latin typeface="Arial"/>
                <a:ea typeface="Arial"/>
                <a:cs typeface="Arial"/>
              </a:rPr>
              <a:t> </a:t>
            </a:r>
            <a:r>
              <a:rPr sz="1200">
                <a:solidFill>
                  <a:schemeClr val="tx1"/>
                </a:solidFill>
                <a:latin typeface="Arial"/>
                <a:ea typeface="Arial"/>
                <a:cs typeface="Arial"/>
              </a:rPr>
              <a:t>because</a:t>
            </a:r>
            <a:r>
              <a:rPr sz="1200">
                <a:solidFill>
                  <a:schemeClr val="tx1"/>
                </a:solidFill>
                <a:latin typeface="Arial"/>
                <a:ea typeface="Arial"/>
                <a:cs typeface="Arial"/>
              </a:rPr>
              <a:t> multiple </a:t>
            </a:r>
            <a:r>
              <a:rPr sz="1200">
                <a:solidFill>
                  <a:schemeClr val="tx1"/>
                </a:solidFill>
                <a:latin typeface="Arial"/>
                <a:ea typeface="Arial"/>
                <a:cs typeface="Arial"/>
              </a:rPr>
              <a:t>sequences</a:t>
            </a:r>
            <a:r>
              <a:rPr sz="1200">
                <a:solidFill>
                  <a:schemeClr val="tx1"/>
                </a:solidFill>
                <a:latin typeface="Arial"/>
                <a:ea typeface="Arial"/>
                <a:cs typeface="Arial"/>
              </a:rPr>
              <a:t> of actions can lead to the </a:t>
            </a:r>
            <a:r>
              <a:rPr sz="1200">
                <a:solidFill>
                  <a:schemeClr val="tx1"/>
                </a:solidFill>
                <a:latin typeface="Arial"/>
                <a:ea typeface="Arial"/>
                <a:cs typeface="Arial"/>
              </a:rPr>
              <a:t>same</a:t>
            </a:r>
            <a:r>
              <a:rPr sz="1200">
                <a:solidFill>
                  <a:schemeClr val="tx1"/>
                </a:solidFill>
                <a:latin typeface="Arial"/>
                <a:ea typeface="Arial"/>
                <a:cs typeface="Arial"/>
              </a:rPr>
              <a:t> configuration. So </a:t>
            </a:r>
            <a:r>
              <a:rPr sz="1200">
                <a:solidFill>
                  <a:schemeClr val="tx1"/>
                </a:solidFill>
                <a:latin typeface="Arial"/>
                <a:ea typeface="Arial"/>
                <a:cs typeface="Arial"/>
              </a:rPr>
              <a:t>it</a:t>
            </a:r>
            <a:r>
              <a:rPr sz="1200">
                <a:solidFill>
                  <a:schemeClr val="tx1"/>
                </a:solidFill>
                <a:latin typeface="Arial"/>
                <a:ea typeface="Arial"/>
                <a:cs typeface="Arial"/>
              </a:rPr>
              <a:t> </a:t>
            </a:r>
            <a:r>
              <a:rPr sz="1200">
                <a:solidFill>
                  <a:schemeClr val="tx1"/>
                </a:solidFill>
                <a:latin typeface="Arial"/>
                <a:ea typeface="Arial"/>
                <a:cs typeface="Arial"/>
              </a:rPr>
              <a:t>reduces</a:t>
            </a:r>
            <a:r>
              <a:rPr sz="1200">
                <a:solidFill>
                  <a:schemeClr val="tx1"/>
                </a:solidFill>
                <a:latin typeface="Arial"/>
                <a:ea typeface="Arial"/>
                <a:cs typeface="Arial"/>
              </a:rPr>
              <a:t> the action </a:t>
            </a:r>
            <a:r>
              <a:rPr sz="1200">
                <a:solidFill>
                  <a:schemeClr val="tx1"/>
                </a:solidFill>
                <a:latin typeface="Arial"/>
                <a:ea typeface="Arial"/>
                <a:cs typeface="Arial"/>
              </a:rPr>
              <a:t>space</a:t>
            </a:r>
          </a:p>
          <a:p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a:solidFill>
                  <a:schemeClr val="tx1"/>
                </a:solidFill>
                <a:latin typeface="Arial"/>
                <a:ea typeface="Arial"/>
                <a:cs typeface="Arial"/>
              </a:rPr>
              <a:t>To dive a </a:t>
            </a:r>
            <a:r>
              <a:rPr sz="1200">
                <a:solidFill>
                  <a:schemeClr val="tx1"/>
                </a:solidFill>
                <a:latin typeface="Arial"/>
                <a:ea typeface="Arial"/>
                <a:cs typeface="Arial"/>
              </a:rPr>
              <a:t>little</a:t>
            </a:r>
            <a:r>
              <a:rPr sz="1200">
                <a:solidFill>
                  <a:schemeClr val="tx1"/>
                </a:solidFill>
                <a:latin typeface="Arial"/>
                <a:ea typeface="Arial"/>
                <a:cs typeface="Arial"/>
              </a:rPr>
              <a:t> </a:t>
            </a:r>
            <a:r>
              <a:rPr sz="1200">
                <a:solidFill>
                  <a:schemeClr val="tx1"/>
                </a:solidFill>
                <a:latin typeface="Arial"/>
                <a:ea typeface="Arial"/>
                <a:cs typeface="Arial"/>
              </a:rPr>
              <a:t>deeper</a:t>
            </a:r>
            <a:r>
              <a:rPr sz="1200">
                <a:solidFill>
                  <a:schemeClr val="tx1"/>
                </a:solidFill>
                <a:latin typeface="Arial"/>
                <a:ea typeface="Arial"/>
                <a:cs typeface="Arial"/>
              </a:rPr>
              <a:t> i have been </a:t>
            </a:r>
            <a:r>
              <a:rPr sz="1200">
                <a:solidFill>
                  <a:schemeClr val="tx1"/>
                </a:solidFill>
                <a:latin typeface="Arial"/>
                <a:ea typeface="Arial"/>
                <a:cs typeface="Arial"/>
              </a:rPr>
              <a:t>looking</a:t>
            </a:r>
            <a:r>
              <a:rPr sz="1200">
                <a:solidFill>
                  <a:schemeClr val="tx1"/>
                </a:solidFill>
                <a:latin typeface="Arial"/>
                <a:ea typeface="Arial"/>
                <a:cs typeface="Arial"/>
              </a:rPr>
              <a:t> at a </a:t>
            </a:r>
            <a:r>
              <a:rPr sz="1200">
                <a:solidFill>
                  <a:schemeClr val="tx1"/>
                </a:solidFill>
                <a:latin typeface="Arial"/>
                <a:ea typeface="Arial"/>
                <a:cs typeface="Arial"/>
              </a:rPr>
              <a:t>survey</a:t>
            </a:r>
            <a:r>
              <a:rPr sz="1200">
                <a:solidFill>
                  <a:schemeClr val="tx1"/>
                </a:solidFill>
                <a:latin typeface="Arial"/>
                <a:ea typeface="Arial"/>
                <a:cs typeface="Arial"/>
              </a:rPr>
              <a:t> </a:t>
            </a:r>
            <a:r>
              <a:rPr sz="1200">
                <a:solidFill>
                  <a:schemeClr val="tx1"/>
                </a:solidFill>
                <a:latin typeface="Arial"/>
                <a:ea typeface="Arial"/>
                <a:cs typeface="Arial"/>
              </a:rPr>
              <a:t>that</a:t>
            </a:r>
            <a:r>
              <a:rPr sz="1200">
                <a:solidFill>
                  <a:schemeClr val="tx1"/>
                </a:solidFill>
                <a:latin typeface="Arial"/>
                <a:ea typeface="Arial"/>
                <a:cs typeface="Arial"/>
              </a:rPr>
              <a:t> </a:t>
            </a:r>
            <a:r>
              <a:rPr sz="1200">
                <a:solidFill>
                  <a:schemeClr val="tx1"/>
                </a:solidFill>
                <a:latin typeface="Arial"/>
                <a:ea typeface="Arial"/>
                <a:cs typeface="Arial"/>
              </a:rPr>
              <a:t>summarize</a:t>
            </a:r>
            <a:r>
              <a:rPr sz="1200">
                <a:solidFill>
                  <a:schemeClr val="tx1"/>
                </a:solidFill>
                <a:latin typeface="Arial"/>
                <a:ea typeface="Arial"/>
                <a:cs typeface="Arial"/>
              </a:rPr>
              <a:t> all the </a:t>
            </a:r>
            <a:r>
              <a:rPr sz="1200">
                <a:solidFill>
                  <a:schemeClr val="tx1"/>
                </a:solidFill>
                <a:latin typeface="Arial"/>
                <a:ea typeface="Arial"/>
                <a:cs typeface="Arial"/>
              </a:rPr>
              <a:t>algorithms</a:t>
            </a:r>
            <a:r>
              <a:rPr sz="1200">
                <a:solidFill>
                  <a:schemeClr val="tx1"/>
                </a:solidFill>
                <a:latin typeface="Arial"/>
                <a:ea typeface="Arial"/>
                <a:cs typeface="Arial"/>
              </a:rPr>
              <a:t> </a:t>
            </a:r>
            <a:r>
              <a:rPr sz="1200">
                <a:solidFill>
                  <a:schemeClr val="tx1"/>
                </a:solidFill>
                <a:latin typeface="Arial"/>
                <a:ea typeface="Arial"/>
                <a:cs typeface="Arial"/>
              </a:rPr>
              <a:t>that</a:t>
            </a:r>
            <a:r>
              <a:rPr sz="1200">
                <a:solidFill>
                  <a:schemeClr val="tx1"/>
                </a:solidFill>
                <a:latin typeface="Arial"/>
                <a:ea typeface="Arial"/>
                <a:cs typeface="Arial"/>
              </a:rPr>
              <a:t> won the l2rpn challenge and </a:t>
            </a:r>
            <a:r>
              <a:rPr sz="1200">
                <a:solidFill>
                  <a:schemeClr val="tx1"/>
                </a:solidFill>
                <a:latin typeface="Arial"/>
                <a:ea typeface="Arial"/>
                <a:cs typeface="Arial"/>
              </a:rPr>
              <a:t>this</a:t>
            </a:r>
            <a:r>
              <a:rPr sz="1200">
                <a:solidFill>
                  <a:schemeClr val="tx1"/>
                </a:solidFill>
                <a:latin typeface="Arial"/>
                <a:ea typeface="Arial"/>
                <a:cs typeface="Arial"/>
              </a:rPr>
              <a:t> </a:t>
            </a:r>
            <a:r>
              <a:rPr sz="1200">
                <a:solidFill>
                  <a:schemeClr val="tx1"/>
                </a:solidFill>
                <a:latin typeface="Arial"/>
                <a:ea typeface="Arial"/>
                <a:cs typeface="Arial"/>
              </a:rPr>
              <a:t>is</a:t>
            </a:r>
            <a:r>
              <a:rPr sz="1200">
                <a:solidFill>
                  <a:schemeClr val="tx1"/>
                </a:solidFill>
                <a:latin typeface="Arial"/>
                <a:ea typeface="Arial"/>
                <a:cs typeface="Arial"/>
              </a:rPr>
              <a:t> the main </a:t>
            </a:r>
            <a:r>
              <a:rPr sz="1200">
                <a:solidFill>
                  <a:schemeClr val="tx1"/>
                </a:solidFill>
                <a:latin typeface="Arial"/>
                <a:ea typeface="Arial"/>
                <a:cs typeface="Arial"/>
              </a:rPr>
              <a:t>categories</a:t>
            </a:r>
            <a:r>
              <a:rPr sz="1200">
                <a:solidFill>
                  <a:schemeClr val="tx1"/>
                </a:solidFill>
                <a:latin typeface="Arial"/>
                <a:ea typeface="Arial"/>
                <a:cs typeface="Arial"/>
              </a:rPr>
              <a:t> of </a:t>
            </a:r>
            <a:r>
              <a:rPr sz="1200">
                <a:solidFill>
                  <a:schemeClr val="tx1"/>
                </a:solidFill>
                <a:latin typeface="Arial"/>
                <a:ea typeface="Arial"/>
                <a:cs typeface="Arial"/>
              </a:rPr>
              <a:t>succesfull</a:t>
            </a:r>
            <a:r>
              <a:rPr sz="1200">
                <a:solidFill>
                  <a:schemeClr val="tx1"/>
                </a:solidFill>
                <a:latin typeface="Arial"/>
                <a:ea typeface="Arial"/>
                <a:cs typeface="Arial"/>
              </a:rPr>
              <a:t> </a:t>
            </a:r>
            <a:r>
              <a:rPr sz="1200">
                <a:solidFill>
                  <a:schemeClr val="tx1"/>
                </a:solidFill>
                <a:latin typeface="Arial"/>
                <a:ea typeface="Arial"/>
                <a:cs typeface="Arial"/>
              </a:rPr>
              <a:t>agentthat</a:t>
            </a:r>
            <a:r>
              <a:rPr sz="1200">
                <a:solidFill>
                  <a:schemeClr val="tx1"/>
                </a:solidFill>
                <a:latin typeface="Arial"/>
                <a:ea typeface="Arial"/>
                <a:cs typeface="Arial"/>
              </a:rPr>
              <a:t> won the challenge.</a:t>
            </a:r>
          </a:p>
          <a:p xmlns:a="http://schemas.openxmlformats.org/drawingml/2006/main"/>
          <a:p xmlns:a="http://schemas.openxmlformats.org/drawingml/2006/main">
            <a:r>
              <a:rPr sz="1200">
                <a:solidFill>
                  <a:schemeClr val="tx1"/>
                </a:solidFill>
                <a:latin typeface="Arial"/>
                <a:ea typeface="Arial"/>
                <a:cs typeface="Arial"/>
              </a:rPr>
              <a:t>Some</a:t>
            </a:r>
            <a:r>
              <a:rPr sz="1200">
                <a:solidFill>
                  <a:schemeClr val="tx1"/>
                </a:solidFill>
                <a:latin typeface="Arial"/>
                <a:ea typeface="Arial"/>
                <a:cs typeface="Arial"/>
              </a:rPr>
              <a:t> </a:t>
            </a:r>
            <a:r>
              <a:rPr sz="1200">
                <a:solidFill>
                  <a:schemeClr val="tx1"/>
                </a:solidFill>
                <a:latin typeface="Arial"/>
                <a:ea typeface="Arial"/>
                <a:cs typeface="Arial"/>
              </a:rPr>
              <a:t>approaches</a:t>
            </a:r>
            <a:r>
              <a:rPr sz="1200">
                <a:solidFill>
                  <a:schemeClr val="tx1"/>
                </a:solidFill>
                <a:latin typeface="Arial"/>
                <a:ea typeface="Arial"/>
                <a:cs typeface="Arial"/>
              </a:rPr>
              <a:t> </a:t>
            </a:r>
            <a:r>
              <a:rPr sz="1200">
                <a:solidFill>
                  <a:schemeClr val="tx1"/>
                </a:solidFill>
                <a:latin typeface="Arial"/>
                <a:ea typeface="Arial"/>
                <a:cs typeface="Arial"/>
              </a:rPr>
              <a:t>rely</a:t>
            </a:r>
            <a:r>
              <a:rPr sz="1200">
                <a:solidFill>
                  <a:schemeClr val="tx1"/>
                </a:solidFill>
                <a:latin typeface="Arial"/>
                <a:ea typeface="Arial"/>
                <a:cs typeface="Arial"/>
              </a:rPr>
              <a:t> on a single global agent </a:t>
            </a:r>
            <a:r>
              <a:rPr sz="1200">
                <a:solidFill>
                  <a:schemeClr val="tx1"/>
                </a:solidFill>
                <a:latin typeface="Arial"/>
                <a:ea typeface="Arial"/>
                <a:cs typeface="Arial"/>
              </a:rPr>
              <a:t>with</a:t>
            </a:r>
            <a:r>
              <a:rPr sz="1200">
                <a:solidFill>
                  <a:schemeClr val="tx1"/>
                </a:solidFill>
                <a:latin typeface="Arial"/>
                <a:ea typeface="Arial"/>
                <a:cs typeface="Arial"/>
              </a:rPr>
              <a:t> </a:t>
            </a:r>
            <a:r>
              <a:rPr sz="1200">
                <a:solidFill>
                  <a:schemeClr val="tx1"/>
                </a:solidFill>
                <a:latin typeface="Arial"/>
                <a:ea typeface="Arial"/>
                <a:cs typeface="Arial"/>
              </a:rPr>
              <a:t>strong</a:t>
            </a:r>
            <a:r>
              <a:rPr sz="1200">
                <a:solidFill>
                  <a:schemeClr val="tx1"/>
                </a:solidFill>
                <a:latin typeface="Arial"/>
                <a:ea typeface="Arial"/>
                <a:cs typeface="Arial"/>
              </a:rPr>
              <a:t> engineering tricks.</a:t>
            </a:r>
          </a:p>
          <a:p xmlns:a="http://schemas.openxmlformats.org/drawingml/2006/main"/>
          <a:p xmlns:a="http://schemas.openxmlformats.org/drawingml/2006/main">
            <a:r>
              <a:rPr sz="1200">
                <a:solidFill>
                  <a:schemeClr val="tx1"/>
                </a:solidFill>
                <a:latin typeface="Arial"/>
                <a:ea typeface="Arial"/>
                <a:cs typeface="Arial"/>
              </a:rPr>
              <a:t>For </a:t>
            </a:r>
            <a:r>
              <a:rPr sz="1200">
                <a:solidFill>
                  <a:schemeClr val="tx1"/>
                </a:solidFill>
                <a:latin typeface="Arial"/>
                <a:ea typeface="Arial"/>
                <a:cs typeface="Arial"/>
              </a:rPr>
              <a:t>example</a:t>
            </a:r>
            <a:r>
              <a:rPr sz="1200">
                <a:solidFill>
                  <a:schemeClr val="tx1"/>
                </a:solidFill>
                <a:latin typeface="Arial"/>
                <a:ea typeface="Arial"/>
                <a:cs typeface="Arial"/>
              </a:rPr>
              <a:t>, </a:t>
            </a:r>
            <a:r>
              <a:rPr sz="1200">
                <a:solidFill>
                  <a:schemeClr val="tx1"/>
                </a:solidFill>
                <a:latin typeface="Arial"/>
                <a:ea typeface="Arial"/>
                <a:cs typeface="Arial"/>
              </a:rPr>
              <a:t>they</a:t>
            </a:r>
            <a:r>
              <a:rPr sz="1200">
                <a:solidFill>
                  <a:schemeClr val="tx1"/>
                </a:solidFill>
                <a:latin typeface="Arial"/>
                <a:ea typeface="Arial"/>
                <a:cs typeface="Arial"/>
              </a:rPr>
              <a:t> use graph neural networks </a:t>
            </a:r>
            <a:r>
              <a:rPr sz="1200">
                <a:solidFill>
                  <a:schemeClr val="tx1"/>
                </a:solidFill>
                <a:latin typeface="Arial"/>
                <a:ea typeface="Arial"/>
                <a:cs typeface="Arial"/>
              </a:rPr>
              <a:t>combined</a:t>
            </a:r>
            <a:r>
              <a:rPr sz="1200">
                <a:solidFill>
                  <a:schemeClr val="tx1"/>
                </a:solidFill>
                <a:latin typeface="Arial"/>
                <a:ea typeface="Arial"/>
                <a:cs typeface="Arial"/>
              </a:rPr>
              <a:t> </a:t>
            </a:r>
            <a:r>
              <a:rPr sz="1200">
                <a:solidFill>
                  <a:schemeClr val="tx1"/>
                </a:solidFill>
                <a:latin typeface="Arial"/>
                <a:ea typeface="Arial"/>
                <a:cs typeface="Arial"/>
              </a:rPr>
              <a:t>with</a:t>
            </a:r>
            <a:r>
              <a:rPr sz="1200">
                <a:solidFill>
                  <a:schemeClr val="tx1"/>
                </a:solidFill>
                <a:latin typeface="Arial"/>
                <a:ea typeface="Arial"/>
                <a:cs typeface="Arial"/>
              </a:rPr>
              <a:t> value-</a:t>
            </a:r>
            <a:r>
              <a:rPr sz="1200">
                <a:solidFill>
                  <a:schemeClr val="tx1"/>
                </a:solidFill>
                <a:latin typeface="Arial"/>
                <a:ea typeface="Arial"/>
                <a:cs typeface="Arial"/>
              </a:rPr>
              <a:t>based</a:t>
            </a:r>
            <a:r>
              <a:rPr sz="1200">
                <a:solidFill>
                  <a:schemeClr val="tx1"/>
                </a:solidFill>
                <a:latin typeface="Arial"/>
                <a:ea typeface="Arial"/>
                <a:cs typeface="Arial"/>
              </a:rPr>
              <a:t> RL, and </a:t>
            </a:r>
            <a:r>
              <a:rPr sz="1200">
                <a:solidFill>
                  <a:schemeClr val="tx1"/>
                </a:solidFill>
                <a:latin typeface="Arial"/>
                <a:ea typeface="Arial"/>
                <a:cs typeface="Arial"/>
              </a:rPr>
              <a:t>validate</a:t>
            </a:r>
            <a:r>
              <a:rPr sz="1200">
                <a:solidFill>
                  <a:schemeClr val="tx1"/>
                </a:solidFill>
                <a:latin typeface="Arial"/>
                <a:ea typeface="Arial"/>
                <a:cs typeface="Arial"/>
              </a:rPr>
              <a:t> actions </a:t>
            </a:r>
            <a:r>
              <a:rPr sz="1200">
                <a:solidFill>
                  <a:schemeClr val="tx1"/>
                </a:solidFill>
                <a:latin typeface="Arial"/>
                <a:ea typeface="Arial"/>
                <a:cs typeface="Arial"/>
              </a:rPr>
              <a:t>using</a:t>
            </a:r>
            <a:r>
              <a:rPr sz="1200">
                <a:solidFill>
                  <a:schemeClr val="tx1"/>
                </a:solidFill>
                <a:latin typeface="Arial"/>
                <a:ea typeface="Arial"/>
                <a:cs typeface="Arial"/>
              </a:rPr>
              <a:t> power-flow simulations.</a:t>
            </a:r>
          </a:p>
          <a:p xmlns:a="http://schemas.openxmlformats.org/drawingml/2006/main"/>
          <a:p xmlns:a="http://schemas.openxmlformats.org/drawingml/2006/main">
            <a:r>
              <a:rPr sz="1200">
                <a:solidFill>
                  <a:schemeClr val="tx1"/>
                </a:solidFill>
                <a:latin typeface="Arial"/>
                <a:ea typeface="Arial"/>
                <a:cs typeface="Arial"/>
              </a:rPr>
              <a:t>Others</a:t>
            </a:r>
            <a:r>
              <a:rPr sz="1200">
                <a:solidFill>
                  <a:schemeClr val="tx1"/>
                </a:solidFill>
                <a:latin typeface="Arial"/>
                <a:ea typeface="Arial"/>
                <a:cs typeface="Arial"/>
              </a:rPr>
              <a:t> </a:t>
            </a:r>
            <a:r>
              <a:rPr sz="1200">
                <a:solidFill>
                  <a:schemeClr val="tx1"/>
                </a:solidFill>
                <a:latin typeface="Arial"/>
                <a:ea typeface="Arial"/>
                <a:cs typeface="Arial"/>
              </a:rPr>
              <a:t>reduce</a:t>
            </a:r>
            <a:r>
              <a:rPr sz="1200">
                <a:solidFill>
                  <a:schemeClr val="tx1"/>
                </a:solidFill>
                <a:latin typeface="Arial"/>
                <a:ea typeface="Arial"/>
                <a:cs typeface="Arial"/>
              </a:rPr>
              <a:t> the action </a:t>
            </a:r>
            <a:r>
              <a:rPr sz="1200">
                <a:solidFill>
                  <a:schemeClr val="tx1"/>
                </a:solidFill>
                <a:latin typeface="Arial"/>
                <a:ea typeface="Arial"/>
                <a:cs typeface="Arial"/>
              </a:rPr>
              <a:t>space</a:t>
            </a:r>
            <a:r>
              <a:rPr sz="1200">
                <a:solidFill>
                  <a:schemeClr val="tx1"/>
                </a:solidFill>
                <a:latin typeface="Arial"/>
                <a:ea typeface="Arial"/>
                <a:cs typeface="Arial"/>
              </a:rPr>
              <a:t> </a:t>
            </a:r>
            <a:r>
              <a:rPr sz="1200">
                <a:solidFill>
                  <a:schemeClr val="tx1"/>
                </a:solidFill>
                <a:latin typeface="Arial"/>
                <a:ea typeface="Arial"/>
                <a:cs typeface="Arial"/>
              </a:rPr>
              <a:t>using</a:t>
            </a:r>
            <a:r>
              <a:rPr sz="1200">
                <a:solidFill>
                  <a:schemeClr val="tx1"/>
                </a:solidFill>
                <a:latin typeface="Arial"/>
                <a:ea typeface="Arial"/>
                <a:cs typeface="Arial"/>
              </a:rPr>
              <a:t> </a:t>
            </a:r>
            <a:r>
              <a:rPr sz="1200">
                <a:solidFill>
                  <a:schemeClr val="tx1"/>
                </a:solidFill>
                <a:latin typeface="Arial"/>
                <a:ea typeface="Arial"/>
                <a:cs typeface="Arial"/>
              </a:rPr>
              <a:t>masking</a:t>
            </a:r>
            <a:r>
              <a:rPr sz="1200">
                <a:solidFill>
                  <a:schemeClr val="tx1"/>
                </a:solidFill>
                <a:latin typeface="Arial"/>
                <a:ea typeface="Arial"/>
                <a:cs typeface="Arial"/>
              </a:rPr>
              <a:t> or </a:t>
            </a:r>
            <a:r>
              <a:rPr sz="1200">
                <a:solidFill>
                  <a:schemeClr val="tx1"/>
                </a:solidFill>
                <a:latin typeface="Arial"/>
                <a:ea typeface="Arial"/>
                <a:cs typeface="Arial"/>
              </a:rPr>
              <a:t>pruning</a:t>
            </a:r>
            <a:r>
              <a:rPr sz="1200">
                <a:solidFill>
                  <a:schemeClr val="tx1"/>
                </a:solidFill>
                <a:latin typeface="Arial"/>
                <a:ea typeface="Arial"/>
                <a:cs typeface="Arial"/>
              </a:rPr>
              <a:t>.</a:t>
            </a:r>
          </a:p>
          <a:p xmlns:a="http://schemas.openxmlformats.org/drawingml/2006/main"/>
          <a:p xmlns:a="http://schemas.openxmlformats.org/drawingml/2006/main">
            <a:r>
              <a:rPr sz="1200">
                <a:solidFill>
                  <a:schemeClr val="tx1"/>
                </a:solidFill>
                <a:latin typeface="Arial"/>
                <a:ea typeface="Arial"/>
                <a:cs typeface="Arial"/>
              </a:rPr>
              <a:t>These</a:t>
            </a:r>
            <a:r>
              <a:rPr sz="1200">
                <a:solidFill>
                  <a:schemeClr val="tx1"/>
                </a:solidFill>
                <a:latin typeface="Arial"/>
                <a:ea typeface="Arial"/>
                <a:cs typeface="Arial"/>
              </a:rPr>
              <a:t> </a:t>
            </a:r>
            <a:r>
              <a:rPr sz="1200">
                <a:solidFill>
                  <a:schemeClr val="tx1"/>
                </a:solidFill>
                <a:latin typeface="Arial"/>
                <a:ea typeface="Arial"/>
                <a:cs typeface="Arial"/>
              </a:rPr>
              <a:t>methods</a:t>
            </a:r>
            <a:r>
              <a:rPr sz="1200">
                <a:solidFill>
                  <a:schemeClr val="tx1"/>
                </a:solidFill>
                <a:latin typeface="Arial"/>
                <a:ea typeface="Arial"/>
                <a:cs typeface="Arial"/>
              </a:rPr>
              <a:t> can </a:t>
            </a:r>
            <a:r>
              <a:rPr sz="1200">
                <a:solidFill>
                  <a:schemeClr val="tx1"/>
                </a:solidFill>
                <a:latin typeface="Arial"/>
                <a:ea typeface="Arial"/>
                <a:cs typeface="Arial"/>
              </a:rPr>
              <a:t>work</a:t>
            </a:r>
            <a:r>
              <a:rPr sz="1200">
                <a:solidFill>
                  <a:schemeClr val="tx1"/>
                </a:solidFill>
                <a:latin typeface="Arial"/>
                <a:ea typeface="Arial"/>
                <a:cs typeface="Arial"/>
              </a:rPr>
              <a:t>, </a:t>
            </a:r>
            <a:r>
              <a:rPr sz="1200">
                <a:solidFill>
                  <a:schemeClr val="tx1"/>
                </a:solidFill>
                <a:latin typeface="Arial"/>
                <a:ea typeface="Arial"/>
                <a:cs typeface="Arial"/>
              </a:rPr>
              <a:t>so</a:t>
            </a:r>
            <a:r>
              <a:rPr sz="1200">
                <a:solidFill>
                  <a:schemeClr val="tx1"/>
                </a:solidFill>
                <a:latin typeface="Arial"/>
                <a:ea typeface="Arial"/>
                <a:cs typeface="Arial"/>
              </a:rPr>
              <a:t> </a:t>
            </a:r>
            <a:r>
              <a:rPr sz="1200">
                <a:solidFill>
                  <a:schemeClr val="tx1"/>
                </a:solidFill>
                <a:latin typeface="Arial"/>
                <a:ea typeface="Arial"/>
                <a:cs typeface="Arial"/>
              </a:rPr>
              <a:t>mixing</a:t>
            </a:r>
            <a:r>
              <a:rPr sz="1200">
                <a:solidFill>
                  <a:schemeClr val="tx1"/>
                </a:solidFill>
                <a:latin typeface="Arial"/>
                <a:ea typeface="Arial"/>
                <a:cs typeface="Arial"/>
              </a:rPr>
              <a:t> a single agent </a:t>
            </a:r>
            <a:r>
              <a:rPr sz="1200">
                <a:solidFill>
                  <a:schemeClr val="tx1"/>
                </a:solidFill>
                <a:latin typeface="Arial"/>
                <a:ea typeface="Arial"/>
                <a:cs typeface="Arial"/>
              </a:rPr>
              <a:t>with</a:t>
            </a:r>
            <a:r>
              <a:rPr sz="1200">
                <a:solidFill>
                  <a:schemeClr val="tx1"/>
                </a:solidFill>
                <a:latin typeface="Arial"/>
                <a:ea typeface="Arial"/>
                <a:cs typeface="Arial"/>
              </a:rPr>
              <a:t> </a:t>
            </a:r>
            <a:r>
              <a:rPr sz="1200">
                <a:solidFill>
                  <a:schemeClr val="tx1"/>
                </a:solidFill>
                <a:latin typeface="Arial"/>
                <a:ea typeface="Arial"/>
                <a:cs typeface="Arial"/>
              </a:rPr>
              <a:t>rules</a:t>
            </a:r>
            <a:r>
              <a:rPr sz="1200">
                <a:solidFill>
                  <a:schemeClr val="tx1"/>
                </a:solidFill>
                <a:latin typeface="Arial"/>
                <a:ea typeface="Arial"/>
                <a:cs typeface="Arial"/>
              </a:rPr>
              <a:t>, but </a:t>
            </a:r>
            <a:r>
              <a:rPr sz="1200">
                <a:solidFill>
                  <a:schemeClr val="tx1"/>
                </a:solidFill>
                <a:latin typeface="Arial"/>
                <a:ea typeface="Arial"/>
                <a:cs typeface="Arial"/>
              </a:rPr>
              <a:t>they</a:t>
            </a:r>
            <a:r>
              <a:rPr sz="1200">
                <a:solidFill>
                  <a:schemeClr val="tx1"/>
                </a:solidFill>
                <a:latin typeface="Arial"/>
                <a:ea typeface="Arial"/>
                <a:cs typeface="Arial"/>
              </a:rPr>
              <a:t> </a:t>
            </a:r>
            <a:r>
              <a:rPr sz="1200">
                <a:solidFill>
                  <a:schemeClr val="tx1"/>
                </a:solidFill>
                <a:latin typeface="Arial"/>
                <a:ea typeface="Arial"/>
                <a:cs typeface="Arial"/>
              </a:rPr>
              <a:t>suffer</a:t>
            </a:r>
            <a:r>
              <a:rPr sz="1200">
                <a:solidFill>
                  <a:schemeClr val="tx1"/>
                </a:solidFill>
                <a:latin typeface="Arial"/>
                <a:ea typeface="Arial"/>
                <a:cs typeface="Arial"/>
              </a:rPr>
              <a:t> </a:t>
            </a:r>
            <a:r>
              <a:rPr sz="1200">
                <a:solidFill>
                  <a:schemeClr val="tx1"/>
                </a:solidFill>
                <a:latin typeface="Arial"/>
                <a:ea typeface="Arial"/>
                <a:cs typeface="Arial"/>
              </a:rPr>
              <a:t>because</a:t>
            </a:r>
            <a:r>
              <a:rPr sz="1200">
                <a:solidFill>
                  <a:schemeClr val="tx1"/>
                </a:solidFill>
                <a:latin typeface="Arial"/>
                <a:ea typeface="Arial"/>
                <a:cs typeface="Arial"/>
              </a:rPr>
              <a:t> the action </a:t>
            </a:r>
            <a:r>
              <a:rPr sz="1200">
                <a:solidFill>
                  <a:schemeClr val="tx1"/>
                </a:solidFill>
                <a:latin typeface="Arial"/>
                <a:ea typeface="Arial"/>
                <a:cs typeface="Arial"/>
              </a:rPr>
              <a:t>space</a:t>
            </a:r>
            <a:r>
              <a:rPr sz="1200">
                <a:solidFill>
                  <a:schemeClr val="tx1"/>
                </a:solidFill>
                <a:latin typeface="Arial"/>
                <a:ea typeface="Arial"/>
                <a:cs typeface="Arial"/>
              </a:rPr>
              <a:t> </a:t>
            </a:r>
            <a:r>
              <a:rPr sz="1200">
                <a:solidFill>
                  <a:schemeClr val="tx1"/>
                </a:solidFill>
                <a:latin typeface="Arial"/>
                <a:ea typeface="Arial"/>
                <a:cs typeface="Arial"/>
              </a:rPr>
              <a:t>remains</a:t>
            </a:r>
            <a:r>
              <a:rPr sz="1200">
                <a:solidFill>
                  <a:schemeClr val="tx1"/>
                </a:solidFill>
                <a:latin typeface="Arial"/>
                <a:ea typeface="Arial"/>
                <a:cs typeface="Arial"/>
              </a:rPr>
              <a:t> </a:t>
            </a:r>
            <a:r>
              <a:rPr sz="1200">
                <a:solidFill>
                  <a:schemeClr val="tx1"/>
                </a:solidFill>
                <a:latin typeface="Arial"/>
                <a:ea typeface="Arial"/>
                <a:cs typeface="Arial"/>
              </a:rPr>
              <a:t>very</a:t>
            </a:r>
            <a:r>
              <a:rPr sz="1200">
                <a:solidFill>
                  <a:schemeClr val="tx1"/>
                </a:solidFill>
                <a:latin typeface="Arial"/>
                <a:ea typeface="Arial"/>
                <a:cs typeface="Arial"/>
              </a:rPr>
              <a:t> large.”</a:t>
            </a:r>
          </a:p>
          <a:p xmlns:a="http://schemas.openxmlformats.org/drawingml/2006/main"/>
          <a:p xmlns:a="http://schemas.openxmlformats.org/drawingml/2006/main">
            <a:r>
              <a:rPr sz="1200">
                <a:solidFill>
                  <a:schemeClr val="tx1"/>
                </a:solidFill>
                <a:latin typeface="Arial"/>
                <a:ea typeface="Arial"/>
                <a:cs typeface="Arial"/>
              </a:rPr>
              <a:t>Another</a:t>
            </a:r>
            <a:r>
              <a:rPr sz="1200">
                <a:solidFill>
                  <a:schemeClr val="tx1"/>
                </a:solidFill>
                <a:latin typeface="Arial"/>
                <a:ea typeface="Arial"/>
                <a:cs typeface="Arial"/>
              </a:rPr>
              <a:t> important </a:t>
            </a:r>
            <a:r>
              <a:rPr sz="1200">
                <a:solidFill>
                  <a:schemeClr val="tx1"/>
                </a:solidFill>
                <a:latin typeface="Arial"/>
                <a:ea typeface="Arial"/>
                <a:cs typeface="Arial"/>
              </a:rPr>
              <a:t>idea</a:t>
            </a:r>
            <a:r>
              <a:rPr sz="1200">
                <a:solidFill>
                  <a:schemeClr val="tx1"/>
                </a:solidFill>
                <a:latin typeface="Arial"/>
                <a:ea typeface="Arial"/>
                <a:cs typeface="Arial"/>
              </a:rPr>
              <a:t> </a:t>
            </a:r>
            <a:r>
              <a:rPr sz="1200">
                <a:solidFill>
                  <a:schemeClr val="tx1"/>
                </a:solidFill>
                <a:latin typeface="Arial"/>
                <a:ea typeface="Arial"/>
                <a:cs typeface="Arial"/>
              </a:rPr>
              <a:t>is</a:t>
            </a:r>
            <a:r>
              <a:rPr sz="1200">
                <a:solidFill>
                  <a:schemeClr val="tx1"/>
                </a:solidFill>
                <a:latin typeface="Arial"/>
                <a:ea typeface="Arial"/>
                <a:cs typeface="Arial"/>
              </a:rPr>
              <a:t> to </a:t>
            </a:r>
            <a:r>
              <a:rPr sz="1200">
                <a:solidFill>
                  <a:schemeClr val="tx1"/>
                </a:solidFill>
                <a:latin typeface="Arial"/>
                <a:ea typeface="Arial"/>
                <a:cs typeface="Arial"/>
              </a:rPr>
              <a:t>predict</a:t>
            </a:r>
            <a:r>
              <a:rPr sz="1200">
                <a:solidFill>
                  <a:schemeClr val="tx1"/>
                </a:solidFill>
                <a:latin typeface="Arial"/>
                <a:ea typeface="Arial"/>
                <a:cs typeface="Arial"/>
              </a:rPr>
              <a:t> a </a:t>
            </a:r>
            <a:r>
              <a:rPr sz="1200" b="1">
                <a:solidFill>
                  <a:schemeClr val="tx1"/>
                </a:solidFill>
                <a:latin typeface="Arial"/>
                <a:ea typeface="Arial"/>
                <a:cs typeface="Arial"/>
              </a:rPr>
              <a:t>target</a:t>
            </a:r>
            <a:r>
              <a:rPr sz="1200" b="1">
                <a:solidFill>
                  <a:schemeClr val="tx1"/>
                </a:solidFill>
                <a:latin typeface="Arial"/>
                <a:ea typeface="Arial"/>
                <a:cs typeface="Arial"/>
              </a:rPr>
              <a:t> </a:t>
            </a:r>
            <a:r>
              <a:rPr sz="1200" b="1">
                <a:solidFill>
                  <a:schemeClr val="tx1"/>
                </a:solidFill>
                <a:latin typeface="Arial"/>
                <a:ea typeface="Arial"/>
                <a:cs typeface="Arial"/>
              </a:rPr>
              <a:t>topology</a:t>
            </a:r>
            <a:r>
              <a:rPr sz="1200" b="1">
                <a:solidFill>
                  <a:schemeClr val="tx1"/>
                </a:solidFill>
                <a:latin typeface="Arial"/>
                <a:ea typeface="Arial"/>
                <a:cs typeface="Arial"/>
              </a:rPr>
              <a:t> </a:t>
            </a:r>
            <a:r>
              <a:rPr sz="1200" b="1">
                <a:solidFill>
                  <a:schemeClr val="tx1"/>
                </a:solidFill>
                <a:latin typeface="Arial"/>
                <a:ea typeface="Arial"/>
                <a:cs typeface="Arial"/>
              </a:rPr>
              <a:t>instead</a:t>
            </a:r>
            <a:r>
              <a:rPr sz="1200" b="1">
                <a:solidFill>
                  <a:schemeClr val="tx1"/>
                </a:solidFill>
                <a:latin typeface="Arial"/>
                <a:ea typeface="Arial"/>
                <a:cs typeface="Arial"/>
              </a:rPr>
              <a:t> of </a:t>
            </a:r>
            <a:r>
              <a:rPr sz="1200" b="1">
                <a:solidFill>
                  <a:schemeClr val="tx1"/>
                </a:solidFill>
                <a:latin typeface="Arial"/>
                <a:ea typeface="Arial"/>
                <a:cs typeface="Arial"/>
              </a:rPr>
              <a:t>raw</a:t>
            </a:r>
            <a:r>
              <a:rPr sz="1200" b="1">
                <a:solidFill>
                  <a:schemeClr val="tx1"/>
                </a:solidFill>
                <a:latin typeface="Arial"/>
                <a:ea typeface="Arial"/>
                <a:cs typeface="Arial"/>
              </a:rPr>
              <a:t> actions</a:t>
            </a:r>
            <a:r>
              <a:rPr sz="1200">
                <a:solidFill>
                  <a:schemeClr val="tx1"/>
                </a:solidFill>
                <a:latin typeface="Arial"/>
                <a:ea typeface="Arial"/>
                <a:cs typeface="Arial"/>
              </a:rPr>
              <a:t>.</a:t>
            </a:r>
          </a:p>
          <a:p xmlns:a="http://schemas.openxmlformats.org/drawingml/2006/main"/>
          <a:p xmlns:a="http://schemas.openxmlformats.org/drawingml/2006/main">
            <a:r>
              <a:rPr sz="1200">
                <a:solidFill>
                  <a:schemeClr val="tx1"/>
                </a:solidFill>
                <a:latin typeface="Arial"/>
                <a:ea typeface="Arial"/>
                <a:cs typeface="Arial"/>
              </a:rPr>
              <a:t>This </a:t>
            </a:r>
            <a:r>
              <a:rPr sz="1200">
                <a:solidFill>
                  <a:schemeClr val="tx1"/>
                </a:solidFill>
                <a:latin typeface="Arial"/>
                <a:ea typeface="Arial"/>
                <a:cs typeface="Arial"/>
              </a:rPr>
              <a:t>is</a:t>
            </a:r>
            <a:r>
              <a:rPr sz="1200">
                <a:solidFill>
                  <a:schemeClr val="tx1"/>
                </a:solidFill>
                <a:latin typeface="Arial"/>
                <a:ea typeface="Arial"/>
                <a:cs typeface="Arial"/>
              </a:rPr>
              <a:t> </a:t>
            </a:r>
            <a:r>
              <a:rPr sz="1200">
                <a:solidFill>
                  <a:schemeClr val="tx1"/>
                </a:solidFill>
                <a:latin typeface="Arial"/>
                <a:ea typeface="Arial"/>
                <a:cs typeface="Arial"/>
              </a:rPr>
              <a:t>used</a:t>
            </a:r>
            <a:r>
              <a:rPr sz="1200">
                <a:solidFill>
                  <a:schemeClr val="tx1"/>
                </a:solidFill>
                <a:latin typeface="Arial"/>
                <a:ea typeface="Arial"/>
                <a:cs typeface="Arial"/>
              </a:rPr>
              <a:t> in SMAAC, </a:t>
            </a:r>
            <a:r>
              <a:rPr sz="1200">
                <a:solidFill>
                  <a:schemeClr val="tx1"/>
                </a:solidFill>
                <a:latin typeface="Arial"/>
                <a:ea typeface="Arial"/>
                <a:cs typeface="Arial"/>
              </a:rPr>
              <a:t>where</a:t>
            </a:r>
            <a:r>
              <a:rPr sz="1200">
                <a:solidFill>
                  <a:schemeClr val="tx1"/>
                </a:solidFill>
                <a:latin typeface="Arial"/>
                <a:ea typeface="Arial"/>
                <a:cs typeface="Arial"/>
              </a:rPr>
              <a:t> </a:t>
            </a:r>
            <a:r>
              <a:rPr sz="1200">
                <a:solidFill>
                  <a:schemeClr val="tx1"/>
                </a:solidFill>
                <a:latin typeface="Arial"/>
                <a:ea typeface="Arial"/>
                <a:cs typeface="Arial"/>
              </a:rPr>
              <a:t>the</a:t>
            </a:r>
            <a:r>
              <a:rPr sz="1200">
                <a:solidFill>
                  <a:schemeClr val="tx1"/>
                </a:solidFill>
                <a:latin typeface="Arial"/>
                <a:ea typeface="Arial"/>
                <a:cs typeface="Arial"/>
              </a:rPr>
              <a:t> </a:t>
            </a:r>
            <a:r>
              <a:rPr sz="1200">
                <a:solidFill>
                  <a:schemeClr val="tx1"/>
                </a:solidFill>
                <a:latin typeface="Arial"/>
                <a:ea typeface="Arial"/>
                <a:cs typeface="Arial"/>
              </a:rPr>
              <a:t>agent</a:t>
            </a:r>
            <a:r>
              <a:rPr sz="1200">
                <a:solidFill>
                  <a:schemeClr val="tx1"/>
                </a:solidFill>
                <a:latin typeface="Arial"/>
                <a:ea typeface="Arial"/>
                <a:cs typeface="Arial"/>
              </a:rPr>
              <a:t> </a:t>
            </a:r>
            <a:r>
              <a:rPr sz="1200">
                <a:solidFill>
                  <a:schemeClr val="tx1"/>
                </a:solidFill>
                <a:latin typeface="Arial"/>
                <a:ea typeface="Arial"/>
                <a:cs typeface="Arial"/>
              </a:rPr>
              <a:t>learns</a:t>
            </a:r>
            <a:r>
              <a:rPr sz="1200">
                <a:solidFill>
                  <a:schemeClr val="tx1"/>
                </a:solidFill>
                <a:latin typeface="Arial"/>
                <a:ea typeface="Arial"/>
                <a:cs typeface="Arial"/>
              </a:rPr>
              <a:t> an </a:t>
            </a:r>
            <a:r>
              <a:rPr sz="1200">
                <a:solidFill>
                  <a:schemeClr val="tx1"/>
                </a:solidFill>
                <a:latin typeface="Arial"/>
                <a:ea typeface="Arial"/>
                <a:cs typeface="Arial"/>
              </a:rPr>
              <a:t>afterstate</a:t>
            </a:r>
            <a:r>
              <a:rPr sz="1200">
                <a:solidFill>
                  <a:schemeClr val="tx1"/>
                </a:solidFill>
                <a:latin typeface="Arial"/>
                <a:ea typeface="Arial"/>
                <a:cs typeface="Arial"/>
              </a:rPr>
              <a:t> </a:t>
            </a:r>
            <a:r>
              <a:rPr sz="1200">
                <a:solidFill>
                  <a:schemeClr val="tx1"/>
                </a:solidFill>
                <a:latin typeface="Arial"/>
                <a:ea typeface="Arial"/>
                <a:cs typeface="Arial"/>
              </a:rPr>
              <a:t>representation</a:t>
            </a:r>
            <a:r>
              <a:rPr sz="1200">
                <a:solidFill>
                  <a:schemeClr val="tx1"/>
                </a:solidFill>
                <a:latin typeface="Arial"/>
                <a:ea typeface="Arial"/>
                <a:cs typeface="Arial"/>
              </a:rPr>
              <a:t>—</a:t>
            </a:r>
            <a:r>
              <a:rPr sz="1200">
                <a:solidFill>
                  <a:schemeClr val="tx1"/>
                </a:solidFill>
                <a:latin typeface="Arial"/>
                <a:ea typeface="Arial"/>
                <a:cs typeface="Arial"/>
              </a:rPr>
              <a:t>basically</a:t>
            </a:r>
            <a:r>
              <a:rPr sz="1200">
                <a:solidFill>
                  <a:schemeClr val="tx1"/>
                </a:solidFill>
                <a:latin typeface="Arial"/>
                <a:ea typeface="Arial"/>
                <a:cs typeface="Arial"/>
              </a:rPr>
              <a:t> </a:t>
            </a:r>
            <a:r>
              <a:rPr sz="1200">
                <a:solidFill>
                  <a:schemeClr val="tx1"/>
                </a:solidFill>
                <a:latin typeface="Arial"/>
                <a:ea typeface="Arial"/>
                <a:cs typeface="Arial"/>
              </a:rPr>
              <a:t>the</a:t>
            </a:r>
            <a:r>
              <a:rPr sz="1200">
                <a:solidFill>
                  <a:schemeClr val="tx1"/>
                </a:solidFill>
                <a:latin typeface="Arial"/>
                <a:ea typeface="Arial"/>
                <a:cs typeface="Arial"/>
              </a:rPr>
              <a:t> </a:t>
            </a:r>
            <a:r>
              <a:rPr sz="1200">
                <a:solidFill>
                  <a:schemeClr val="tx1"/>
                </a:solidFill>
                <a:latin typeface="Arial"/>
                <a:ea typeface="Arial"/>
                <a:cs typeface="Arial"/>
              </a:rPr>
              <a:t>resulting</a:t>
            </a:r>
            <a:r>
              <a:rPr sz="1200">
                <a:solidFill>
                  <a:schemeClr val="tx1"/>
                </a:solidFill>
                <a:latin typeface="Arial"/>
                <a:ea typeface="Arial"/>
                <a:cs typeface="Arial"/>
              </a:rPr>
              <a:t> </a:t>
            </a:r>
            <a:r>
              <a:rPr sz="1200">
                <a:solidFill>
                  <a:schemeClr val="tx1"/>
                </a:solidFill>
                <a:latin typeface="Arial"/>
                <a:ea typeface="Arial"/>
                <a:cs typeface="Arial"/>
              </a:rPr>
              <a:t>topology</a:t>
            </a:r>
            <a:r>
              <a:rPr sz="1200">
                <a:solidFill>
                  <a:schemeClr val="tx1"/>
                </a:solidFill>
                <a:latin typeface="Arial"/>
                <a:ea typeface="Arial"/>
                <a:cs typeface="Arial"/>
              </a:rPr>
              <a:t> after an </a:t>
            </a:r>
            <a:r>
              <a:rPr sz="1200">
                <a:solidFill>
                  <a:schemeClr val="tx1"/>
                </a:solidFill>
                <a:latin typeface="Arial"/>
                <a:ea typeface="Arial"/>
                <a:cs typeface="Arial"/>
              </a:rPr>
              <a:t>action</a:t>
            </a:r>
            <a:r>
              <a:rPr sz="1200">
                <a:solidFill>
                  <a:schemeClr val="tx1"/>
                </a:solidFill>
                <a:latin typeface="Arial"/>
                <a:ea typeface="Arial"/>
                <a:cs typeface="Arial"/>
              </a:rPr>
              <a:t>.</a:t>
            </a:r>
          </a:p>
          <a:p xmlns:a="http://schemas.openxmlformats.org/drawingml/2006/main"/>
          <a:p xmlns:a="http://schemas.openxmlformats.org/drawingml/2006/main">
            <a:r>
              <a:rPr sz="1200">
                <a:solidFill>
                  <a:schemeClr val="tx1"/>
                </a:solidFill>
                <a:latin typeface="Arial"/>
                <a:ea typeface="Arial"/>
                <a:cs typeface="Arial"/>
              </a:rPr>
              <a:t>This </a:t>
            </a:r>
            <a:r>
              <a:rPr sz="1200">
                <a:solidFill>
                  <a:schemeClr val="tx1"/>
                </a:solidFill>
                <a:latin typeface="Arial"/>
                <a:ea typeface="Arial"/>
                <a:cs typeface="Arial"/>
              </a:rPr>
              <a:t>helps</a:t>
            </a:r>
            <a:r>
              <a:rPr sz="1200">
                <a:solidFill>
                  <a:schemeClr val="tx1"/>
                </a:solidFill>
                <a:latin typeface="Arial"/>
                <a:ea typeface="Arial"/>
                <a:cs typeface="Arial"/>
              </a:rPr>
              <a:t> </a:t>
            </a:r>
            <a:r>
              <a:rPr sz="1200">
                <a:solidFill>
                  <a:schemeClr val="tx1"/>
                </a:solidFill>
                <a:latin typeface="Arial"/>
                <a:ea typeface="Arial"/>
                <a:cs typeface="Arial"/>
              </a:rPr>
              <a:t>because</a:t>
            </a:r>
            <a:r>
              <a:rPr sz="1200">
                <a:solidFill>
                  <a:schemeClr val="tx1"/>
                </a:solidFill>
                <a:latin typeface="Arial"/>
                <a:ea typeface="Arial"/>
                <a:cs typeface="Arial"/>
              </a:rPr>
              <a:t> multiple </a:t>
            </a:r>
            <a:r>
              <a:rPr sz="1200">
                <a:solidFill>
                  <a:schemeClr val="tx1"/>
                </a:solidFill>
                <a:latin typeface="Arial"/>
                <a:ea typeface="Arial"/>
                <a:cs typeface="Arial"/>
              </a:rPr>
              <a:t>sequences</a:t>
            </a:r>
            <a:r>
              <a:rPr sz="1200">
                <a:solidFill>
                  <a:schemeClr val="tx1"/>
                </a:solidFill>
                <a:latin typeface="Arial"/>
                <a:ea typeface="Arial"/>
                <a:cs typeface="Arial"/>
              </a:rPr>
              <a:t> of actions can lead to the </a:t>
            </a:r>
            <a:r>
              <a:rPr sz="1200">
                <a:solidFill>
                  <a:schemeClr val="tx1"/>
                </a:solidFill>
                <a:latin typeface="Arial"/>
                <a:ea typeface="Arial"/>
                <a:cs typeface="Arial"/>
              </a:rPr>
              <a:t>same</a:t>
            </a:r>
            <a:r>
              <a:rPr sz="1200">
                <a:solidFill>
                  <a:schemeClr val="tx1"/>
                </a:solidFill>
                <a:latin typeface="Arial"/>
                <a:ea typeface="Arial"/>
                <a:cs typeface="Arial"/>
              </a:rPr>
              <a:t> configuration. So </a:t>
            </a:r>
            <a:r>
              <a:rPr sz="1200">
                <a:solidFill>
                  <a:schemeClr val="tx1"/>
                </a:solidFill>
                <a:latin typeface="Arial"/>
                <a:ea typeface="Arial"/>
                <a:cs typeface="Arial"/>
              </a:rPr>
              <a:t>it</a:t>
            </a:r>
            <a:r>
              <a:rPr sz="1200">
                <a:solidFill>
                  <a:schemeClr val="tx1"/>
                </a:solidFill>
                <a:latin typeface="Arial"/>
                <a:ea typeface="Arial"/>
                <a:cs typeface="Arial"/>
              </a:rPr>
              <a:t> </a:t>
            </a:r>
            <a:r>
              <a:rPr sz="1200">
                <a:solidFill>
                  <a:schemeClr val="tx1"/>
                </a:solidFill>
                <a:latin typeface="Arial"/>
                <a:ea typeface="Arial"/>
                <a:cs typeface="Arial"/>
              </a:rPr>
              <a:t>reduces</a:t>
            </a:r>
            <a:r>
              <a:rPr sz="1200">
                <a:solidFill>
                  <a:schemeClr val="tx1"/>
                </a:solidFill>
                <a:latin typeface="Arial"/>
                <a:ea typeface="Arial"/>
                <a:cs typeface="Arial"/>
              </a:rPr>
              <a:t> the action </a:t>
            </a:r>
            <a:r>
              <a:rPr sz="1200">
                <a:solidFill>
                  <a:schemeClr val="tx1"/>
                </a:solidFill>
                <a:latin typeface="Arial"/>
                <a:ea typeface="Arial"/>
                <a:cs typeface="Arial"/>
              </a:rPr>
              <a:t>space</a:t>
            </a:r>
          </a:p>
          <a:p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a:solidFill>
                  <a:schemeClr val="tx1"/>
                </a:solidFill>
                <a:latin typeface="Arial"/>
                <a:ea typeface="Arial"/>
                <a:cs typeface="Arial"/>
              </a:rPr>
              <a:t>To dive a </a:t>
            </a:r>
            <a:r>
              <a:rPr sz="1200">
                <a:solidFill>
                  <a:schemeClr val="tx1"/>
                </a:solidFill>
                <a:latin typeface="Arial"/>
                <a:ea typeface="Arial"/>
                <a:cs typeface="Arial"/>
              </a:rPr>
              <a:t>little</a:t>
            </a:r>
            <a:r>
              <a:rPr sz="1200">
                <a:solidFill>
                  <a:schemeClr val="tx1"/>
                </a:solidFill>
                <a:latin typeface="Arial"/>
                <a:ea typeface="Arial"/>
                <a:cs typeface="Arial"/>
              </a:rPr>
              <a:t> </a:t>
            </a:r>
            <a:r>
              <a:rPr sz="1200">
                <a:solidFill>
                  <a:schemeClr val="tx1"/>
                </a:solidFill>
                <a:latin typeface="Arial"/>
                <a:ea typeface="Arial"/>
                <a:cs typeface="Arial"/>
              </a:rPr>
              <a:t>deeper</a:t>
            </a:r>
            <a:r>
              <a:rPr sz="1200">
                <a:solidFill>
                  <a:schemeClr val="tx1"/>
                </a:solidFill>
                <a:latin typeface="Arial"/>
                <a:ea typeface="Arial"/>
                <a:cs typeface="Arial"/>
              </a:rPr>
              <a:t> i have been </a:t>
            </a:r>
            <a:r>
              <a:rPr sz="1200">
                <a:solidFill>
                  <a:schemeClr val="tx1"/>
                </a:solidFill>
                <a:latin typeface="Arial"/>
                <a:ea typeface="Arial"/>
                <a:cs typeface="Arial"/>
              </a:rPr>
              <a:t>looking</a:t>
            </a:r>
            <a:r>
              <a:rPr sz="1200">
                <a:solidFill>
                  <a:schemeClr val="tx1"/>
                </a:solidFill>
                <a:latin typeface="Arial"/>
                <a:ea typeface="Arial"/>
                <a:cs typeface="Arial"/>
              </a:rPr>
              <a:t> at a </a:t>
            </a:r>
            <a:r>
              <a:rPr sz="1200">
                <a:solidFill>
                  <a:schemeClr val="tx1"/>
                </a:solidFill>
                <a:latin typeface="Arial"/>
                <a:ea typeface="Arial"/>
                <a:cs typeface="Arial"/>
              </a:rPr>
              <a:t>survey</a:t>
            </a:r>
            <a:r>
              <a:rPr sz="1200">
                <a:solidFill>
                  <a:schemeClr val="tx1"/>
                </a:solidFill>
                <a:latin typeface="Arial"/>
                <a:ea typeface="Arial"/>
                <a:cs typeface="Arial"/>
              </a:rPr>
              <a:t> </a:t>
            </a:r>
            <a:r>
              <a:rPr sz="1200">
                <a:solidFill>
                  <a:schemeClr val="tx1"/>
                </a:solidFill>
                <a:latin typeface="Arial"/>
                <a:ea typeface="Arial"/>
                <a:cs typeface="Arial"/>
              </a:rPr>
              <a:t>that</a:t>
            </a:r>
            <a:r>
              <a:rPr sz="1200">
                <a:solidFill>
                  <a:schemeClr val="tx1"/>
                </a:solidFill>
                <a:latin typeface="Arial"/>
                <a:ea typeface="Arial"/>
                <a:cs typeface="Arial"/>
              </a:rPr>
              <a:t> </a:t>
            </a:r>
            <a:r>
              <a:rPr sz="1200">
                <a:solidFill>
                  <a:schemeClr val="tx1"/>
                </a:solidFill>
                <a:latin typeface="Arial"/>
                <a:ea typeface="Arial"/>
                <a:cs typeface="Arial"/>
              </a:rPr>
              <a:t>summarize</a:t>
            </a:r>
            <a:r>
              <a:rPr sz="1200">
                <a:solidFill>
                  <a:schemeClr val="tx1"/>
                </a:solidFill>
                <a:latin typeface="Arial"/>
                <a:ea typeface="Arial"/>
                <a:cs typeface="Arial"/>
              </a:rPr>
              <a:t> all the </a:t>
            </a:r>
            <a:r>
              <a:rPr sz="1200">
                <a:solidFill>
                  <a:schemeClr val="tx1"/>
                </a:solidFill>
                <a:latin typeface="Arial"/>
                <a:ea typeface="Arial"/>
                <a:cs typeface="Arial"/>
              </a:rPr>
              <a:t>algorithms</a:t>
            </a:r>
            <a:r>
              <a:rPr sz="1200">
                <a:solidFill>
                  <a:schemeClr val="tx1"/>
                </a:solidFill>
                <a:latin typeface="Arial"/>
                <a:ea typeface="Arial"/>
                <a:cs typeface="Arial"/>
              </a:rPr>
              <a:t> </a:t>
            </a:r>
            <a:r>
              <a:rPr sz="1200">
                <a:solidFill>
                  <a:schemeClr val="tx1"/>
                </a:solidFill>
                <a:latin typeface="Arial"/>
                <a:ea typeface="Arial"/>
                <a:cs typeface="Arial"/>
              </a:rPr>
              <a:t>that</a:t>
            </a:r>
            <a:r>
              <a:rPr sz="1200">
                <a:solidFill>
                  <a:schemeClr val="tx1"/>
                </a:solidFill>
                <a:latin typeface="Arial"/>
                <a:ea typeface="Arial"/>
                <a:cs typeface="Arial"/>
              </a:rPr>
              <a:t> won the l2rpn challenge and </a:t>
            </a:r>
            <a:r>
              <a:rPr sz="1200">
                <a:solidFill>
                  <a:schemeClr val="tx1"/>
                </a:solidFill>
                <a:latin typeface="Arial"/>
                <a:ea typeface="Arial"/>
                <a:cs typeface="Arial"/>
              </a:rPr>
              <a:t>this</a:t>
            </a:r>
            <a:r>
              <a:rPr sz="1200">
                <a:solidFill>
                  <a:schemeClr val="tx1"/>
                </a:solidFill>
                <a:latin typeface="Arial"/>
                <a:ea typeface="Arial"/>
                <a:cs typeface="Arial"/>
              </a:rPr>
              <a:t> </a:t>
            </a:r>
            <a:r>
              <a:rPr sz="1200">
                <a:solidFill>
                  <a:schemeClr val="tx1"/>
                </a:solidFill>
                <a:latin typeface="Arial"/>
                <a:ea typeface="Arial"/>
                <a:cs typeface="Arial"/>
              </a:rPr>
              <a:t>is</a:t>
            </a:r>
            <a:r>
              <a:rPr sz="1200">
                <a:solidFill>
                  <a:schemeClr val="tx1"/>
                </a:solidFill>
                <a:latin typeface="Arial"/>
                <a:ea typeface="Arial"/>
                <a:cs typeface="Arial"/>
              </a:rPr>
              <a:t> the main </a:t>
            </a:r>
            <a:r>
              <a:rPr sz="1200">
                <a:solidFill>
                  <a:schemeClr val="tx1"/>
                </a:solidFill>
                <a:latin typeface="Arial"/>
                <a:ea typeface="Arial"/>
                <a:cs typeface="Arial"/>
              </a:rPr>
              <a:t>categories</a:t>
            </a:r>
            <a:r>
              <a:rPr sz="1200">
                <a:solidFill>
                  <a:schemeClr val="tx1"/>
                </a:solidFill>
                <a:latin typeface="Arial"/>
                <a:ea typeface="Arial"/>
                <a:cs typeface="Arial"/>
              </a:rPr>
              <a:t> of </a:t>
            </a:r>
            <a:r>
              <a:rPr sz="1200">
                <a:solidFill>
                  <a:schemeClr val="tx1"/>
                </a:solidFill>
                <a:latin typeface="Arial"/>
                <a:ea typeface="Arial"/>
                <a:cs typeface="Arial"/>
              </a:rPr>
              <a:t>succesfull</a:t>
            </a:r>
            <a:r>
              <a:rPr sz="1200">
                <a:solidFill>
                  <a:schemeClr val="tx1"/>
                </a:solidFill>
                <a:latin typeface="Arial"/>
                <a:ea typeface="Arial"/>
                <a:cs typeface="Arial"/>
              </a:rPr>
              <a:t> </a:t>
            </a:r>
            <a:r>
              <a:rPr sz="1200">
                <a:solidFill>
                  <a:schemeClr val="tx1"/>
                </a:solidFill>
                <a:latin typeface="Arial"/>
                <a:ea typeface="Arial"/>
                <a:cs typeface="Arial"/>
              </a:rPr>
              <a:t>agentthat</a:t>
            </a:r>
            <a:r>
              <a:rPr sz="1200">
                <a:solidFill>
                  <a:schemeClr val="tx1"/>
                </a:solidFill>
                <a:latin typeface="Arial"/>
                <a:ea typeface="Arial"/>
                <a:cs typeface="Arial"/>
              </a:rPr>
              <a:t> won the challenge.</a:t>
            </a:r>
          </a:p>
          <a:p xmlns:a="http://schemas.openxmlformats.org/drawingml/2006/main"/>
          <a:p xmlns:a="http://schemas.openxmlformats.org/drawingml/2006/main">
            <a:r>
              <a:rPr sz="1200">
                <a:solidFill>
                  <a:schemeClr val="tx1"/>
                </a:solidFill>
                <a:latin typeface="Arial"/>
                <a:ea typeface="Arial"/>
                <a:cs typeface="Arial"/>
              </a:rPr>
              <a:t>Some</a:t>
            </a:r>
            <a:r>
              <a:rPr sz="1200">
                <a:solidFill>
                  <a:schemeClr val="tx1"/>
                </a:solidFill>
                <a:latin typeface="Arial"/>
                <a:ea typeface="Arial"/>
                <a:cs typeface="Arial"/>
              </a:rPr>
              <a:t> </a:t>
            </a:r>
            <a:r>
              <a:rPr sz="1200">
                <a:solidFill>
                  <a:schemeClr val="tx1"/>
                </a:solidFill>
                <a:latin typeface="Arial"/>
                <a:ea typeface="Arial"/>
                <a:cs typeface="Arial"/>
              </a:rPr>
              <a:t>approaches</a:t>
            </a:r>
            <a:r>
              <a:rPr sz="1200">
                <a:solidFill>
                  <a:schemeClr val="tx1"/>
                </a:solidFill>
                <a:latin typeface="Arial"/>
                <a:ea typeface="Arial"/>
                <a:cs typeface="Arial"/>
              </a:rPr>
              <a:t> </a:t>
            </a:r>
            <a:r>
              <a:rPr sz="1200">
                <a:solidFill>
                  <a:schemeClr val="tx1"/>
                </a:solidFill>
                <a:latin typeface="Arial"/>
                <a:ea typeface="Arial"/>
                <a:cs typeface="Arial"/>
              </a:rPr>
              <a:t>rely</a:t>
            </a:r>
            <a:r>
              <a:rPr sz="1200">
                <a:solidFill>
                  <a:schemeClr val="tx1"/>
                </a:solidFill>
                <a:latin typeface="Arial"/>
                <a:ea typeface="Arial"/>
                <a:cs typeface="Arial"/>
              </a:rPr>
              <a:t> on a single global agent </a:t>
            </a:r>
            <a:r>
              <a:rPr sz="1200">
                <a:solidFill>
                  <a:schemeClr val="tx1"/>
                </a:solidFill>
                <a:latin typeface="Arial"/>
                <a:ea typeface="Arial"/>
                <a:cs typeface="Arial"/>
              </a:rPr>
              <a:t>with</a:t>
            </a:r>
            <a:r>
              <a:rPr sz="1200">
                <a:solidFill>
                  <a:schemeClr val="tx1"/>
                </a:solidFill>
                <a:latin typeface="Arial"/>
                <a:ea typeface="Arial"/>
                <a:cs typeface="Arial"/>
              </a:rPr>
              <a:t> </a:t>
            </a:r>
            <a:r>
              <a:rPr sz="1200">
                <a:solidFill>
                  <a:schemeClr val="tx1"/>
                </a:solidFill>
                <a:latin typeface="Arial"/>
                <a:ea typeface="Arial"/>
                <a:cs typeface="Arial"/>
              </a:rPr>
              <a:t>strong</a:t>
            </a:r>
            <a:r>
              <a:rPr sz="1200">
                <a:solidFill>
                  <a:schemeClr val="tx1"/>
                </a:solidFill>
                <a:latin typeface="Arial"/>
                <a:ea typeface="Arial"/>
                <a:cs typeface="Arial"/>
              </a:rPr>
              <a:t> engineering tricks.</a:t>
            </a:r>
          </a:p>
          <a:p xmlns:a="http://schemas.openxmlformats.org/drawingml/2006/main"/>
          <a:p xmlns:a="http://schemas.openxmlformats.org/drawingml/2006/main">
            <a:r>
              <a:rPr sz="1200">
                <a:solidFill>
                  <a:schemeClr val="tx1"/>
                </a:solidFill>
                <a:latin typeface="Arial"/>
                <a:ea typeface="Arial"/>
                <a:cs typeface="Arial"/>
              </a:rPr>
              <a:t>For </a:t>
            </a:r>
            <a:r>
              <a:rPr sz="1200">
                <a:solidFill>
                  <a:schemeClr val="tx1"/>
                </a:solidFill>
                <a:latin typeface="Arial"/>
                <a:ea typeface="Arial"/>
                <a:cs typeface="Arial"/>
              </a:rPr>
              <a:t>example</a:t>
            </a:r>
            <a:r>
              <a:rPr sz="1200">
                <a:solidFill>
                  <a:schemeClr val="tx1"/>
                </a:solidFill>
                <a:latin typeface="Arial"/>
                <a:ea typeface="Arial"/>
                <a:cs typeface="Arial"/>
              </a:rPr>
              <a:t>, </a:t>
            </a:r>
            <a:r>
              <a:rPr sz="1200">
                <a:solidFill>
                  <a:schemeClr val="tx1"/>
                </a:solidFill>
                <a:latin typeface="Arial"/>
                <a:ea typeface="Arial"/>
                <a:cs typeface="Arial"/>
              </a:rPr>
              <a:t>they</a:t>
            </a:r>
            <a:r>
              <a:rPr sz="1200">
                <a:solidFill>
                  <a:schemeClr val="tx1"/>
                </a:solidFill>
                <a:latin typeface="Arial"/>
                <a:ea typeface="Arial"/>
                <a:cs typeface="Arial"/>
              </a:rPr>
              <a:t> use graph neural networks </a:t>
            </a:r>
            <a:r>
              <a:rPr sz="1200">
                <a:solidFill>
                  <a:schemeClr val="tx1"/>
                </a:solidFill>
                <a:latin typeface="Arial"/>
                <a:ea typeface="Arial"/>
                <a:cs typeface="Arial"/>
              </a:rPr>
              <a:t>combined</a:t>
            </a:r>
            <a:r>
              <a:rPr sz="1200">
                <a:solidFill>
                  <a:schemeClr val="tx1"/>
                </a:solidFill>
                <a:latin typeface="Arial"/>
                <a:ea typeface="Arial"/>
                <a:cs typeface="Arial"/>
              </a:rPr>
              <a:t> </a:t>
            </a:r>
            <a:r>
              <a:rPr sz="1200">
                <a:solidFill>
                  <a:schemeClr val="tx1"/>
                </a:solidFill>
                <a:latin typeface="Arial"/>
                <a:ea typeface="Arial"/>
                <a:cs typeface="Arial"/>
              </a:rPr>
              <a:t>with</a:t>
            </a:r>
            <a:r>
              <a:rPr sz="1200">
                <a:solidFill>
                  <a:schemeClr val="tx1"/>
                </a:solidFill>
                <a:latin typeface="Arial"/>
                <a:ea typeface="Arial"/>
                <a:cs typeface="Arial"/>
              </a:rPr>
              <a:t> value-</a:t>
            </a:r>
            <a:r>
              <a:rPr sz="1200">
                <a:solidFill>
                  <a:schemeClr val="tx1"/>
                </a:solidFill>
                <a:latin typeface="Arial"/>
                <a:ea typeface="Arial"/>
                <a:cs typeface="Arial"/>
              </a:rPr>
              <a:t>based</a:t>
            </a:r>
            <a:r>
              <a:rPr sz="1200">
                <a:solidFill>
                  <a:schemeClr val="tx1"/>
                </a:solidFill>
                <a:latin typeface="Arial"/>
                <a:ea typeface="Arial"/>
                <a:cs typeface="Arial"/>
              </a:rPr>
              <a:t> RL, and </a:t>
            </a:r>
            <a:r>
              <a:rPr sz="1200">
                <a:solidFill>
                  <a:schemeClr val="tx1"/>
                </a:solidFill>
                <a:latin typeface="Arial"/>
                <a:ea typeface="Arial"/>
                <a:cs typeface="Arial"/>
              </a:rPr>
              <a:t>validate</a:t>
            </a:r>
            <a:r>
              <a:rPr sz="1200">
                <a:solidFill>
                  <a:schemeClr val="tx1"/>
                </a:solidFill>
                <a:latin typeface="Arial"/>
                <a:ea typeface="Arial"/>
                <a:cs typeface="Arial"/>
              </a:rPr>
              <a:t> actions </a:t>
            </a:r>
            <a:r>
              <a:rPr sz="1200">
                <a:solidFill>
                  <a:schemeClr val="tx1"/>
                </a:solidFill>
                <a:latin typeface="Arial"/>
                <a:ea typeface="Arial"/>
                <a:cs typeface="Arial"/>
              </a:rPr>
              <a:t>using</a:t>
            </a:r>
            <a:r>
              <a:rPr sz="1200">
                <a:solidFill>
                  <a:schemeClr val="tx1"/>
                </a:solidFill>
                <a:latin typeface="Arial"/>
                <a:ea typeface="Arial"/>
                <a:cs typeface="Arial"/>
              </a:rPr>
              <a:t> power-flow simulations.</a:t>
            </a:r>
          </a:p>
          <a:p xmlns:a="http://schemas.openxmlformats.org/drawingml/2006/main"/>
          <a:p xmlns:a="http://schemas.openxmlformats.org/drawingml/2006/main">
            <a:r>
              <a:rPr sz="1200">
                <a:solidFill>
                  <a:schemeClr val="tx1"/>
                </a:solidFill>
                <a:latin typeface="Arial"/>
                <a:ea typeface="Arial"/>
                <a:cs typeface="Arial"/>
              </a:rPr>
              <a:t>Others</a:t>
            </a:r>
            <a:r>
              <a:rPr sz="1200">
                <a:solidFill>
                  <a:schemeClr val="tx1"/>
                </a:solidFill>
                <a:latin typeface="Arial"/>
                <a:ea typeface="Arial"/>
                <a:cs typeface="Arial"/>
              </a:rPr>
              <a:t> </a:t>
            </a:r>
            <a:r>
              <a:rPr sz="1200">
                <a:solidFill>
                  <a:schemeClr val="tx1"/>
                </a:solidFill>
                <a:latin typeface="Arial"/>
                <a:ea typeface="Arial"/>
                <a:cs typeface="Arial"/>
              </a:rPr>
              <a:t>reduce</a:t>
            </a:r>
            <a:r>
              <a:rPr sz="1200">
                <a:solidFill>
                  <a:schemeClr val="tx1"/>
                </a:solidFill>
                <a:latin typeface="Arial"/>
                <a:ea typeface="Arial"/>
                <a:cs typeface="Arial"/>
              </a:rPr>
              <a:t> the action </a:t>
            </a:r>
            <a:r>
              <a:rPr sz="1200">
                <a:solidFill>
                  <a:schemeClr val="tx1"/>
                </a:solidFill>
                <a:latin typeface="Arial"/>
                <a:ea typeface="Arial"/>
                <a:cs typeface="Arial"/>
              </a:rPr>
              <a:t>space</a:t>
            </a:r>
            <a:r>
              <a:rPr sz="1200">
                <a:solidFill>
                  <a:schemeClr val="tx1"/>
                </a:solidFill>
                <a:latin typeface="Arial"/>
                <a:ea typeface="Arial"/>
                <a:cs typeface="Arial"/>
              </a:rPr>
              <a:t> </a:t>
            </a:r>
            <a:r>
              <a:rPr sz="1200">
                <a:solidFill>
                  <a:schemeClr val="tx1"/>
                </a:solidFill>
                <a:latin typeface="Arial"/>
                <a:ea typeface="Arial"/>
                <a:cs typeface="Arial"/>
              </a:rPr>
              <a:t>using</a:t>
            </a:r>
            <a:r>
              <a:rPr sz="1200">
                <a:solidFill>
                  <a:schemeClr val="tx1"/>
                </a:solidFill>
                <a:latin typeface="Arial"/>
                <a:ea typeface="Arial"/>
                <a:cs typeface="Arial"/>
              </a:rPr>
              <a:t> </a:t>
            </a:r>
            <a:r>
              <a:rPr sz="1200">
                <a:solidFill>
                  <a:schemeClr val="tx1"/>
                </a:solidFill>
                <a:latin typeface="Arial"/>
                <a:ea typeface="Arial"/>
                <a:cs typeface="Arial"/>
              </a:rPr>
              <a:t>masking</a:t>
            </a:r>
            <a:r>
              <a:rPr sz="1200">
                <a:solidFill>
                  <a:schemeClr val="tx1"/>
                </a:solidFill>
                <a:latin typeface="Arial"/>
                <a:ea typeface="Arial"/>
                <a:cs typeface="Arial"/>
              </a:rPr>
              <a:t> or </a:t>
            </a:r>
            <a:r>
              <a:rPr sz="1200">
                <a:solidFill>
                  <a:schemeClr val="tx1"/>
                </a:solidFill>
                <a:latin typeface="Arial"/>
                <a:ea typeface="Arial"/>
                <a:cs typeface="Arial"/>
              </a:rPr>
              <a:t>pruning</a:t>
            </a:r>
            <a:r>
              <a:rPr sz="1200">
                <a:solidFill>
                  <a:schemeClr val="tx1"/>
                </a:solidFill>
                <a:latin typeface="Arial"/>
                <a:ea typeface="Arial"/>
                <a:cs typeface="Arial"/>
              </a:rPr>
              <a:t>.</a:t>
            </a:r>
          </a:p>
          <a:p xmlns:a="http://schemas.openxmlformats.org/drawingml/2006/main"/>
          <a:p xmlns:a="http://schemas.openxmlformats.org/drawingml/2006/main">
            <a:r>
              <a:rPr sz="1200">
                <a:solidFill>
                  <a:schemeClr val="tx1"/>
                </a:solidFill>
                <a:latin typeface="Arial"/>
                <a:ea typeface="Arial"/>
                <a:cs typeface="Arial"/>
              </a:rPr>
              <a:t>These</a:t>
            </a:r>
            <a:r>
              <a:rPr sz="1200">
                <a:solidFill>
                  <a:schemeClr val="tx1"/>
                </a:solidFill>
                <a:latin typeface="Arial"/>
                <a:ea typeface="Arial"/>
                <a:cs typeface="Arial"/>
              </a:rPr>
              <a:t> </a:t>
            </a:r>
            <a:r>
              <a:rPr sz="1200">
                <a:solidFill>
                  <a:schemeClr val="tx1"/>
                </a:solidFill>
                <a:latin typeface="Arial"/>
                <a:ea typeface="Arial"/>
                <a:cs typeface="Arial"/>
              </a:rPr>
              <a:t>methods</a:t>
            </a:r>
            <a:r>
              <a:rPr sz="1200">
                <a:solidFill>
                  <a:schemeClr val="tx1"/>
                </a:solidFill>
                <a:latin typeface="Arial"/>
                <a:ea typeface="Arial"/>
                <a:cs typeface="Arial"/>
              </a:rPr>
              <a:t> can </a:t>
            </a:r>
            <a:r>
              <a:rPr sz="1200">
                <a:solidFill>
                  <a:schemeClr val="tx1"/>
                </a:solidFill>
                <a:latin typeface="Arial"/>
                <a:ea typeface="Arial"/>
                <a:cs typeface="Arial"/>
              </a:rPr>
              <a:t>work</a:t>
            </a:r>
            <a:r>
              <a:rPr sz="1200">
                <a:solidFill>
                  <a:schemeClr val="tx1"/>
                </a:solidFill>
                <a:latin typeface="Arial"/>
                <a:ea typeface="Arial"/>
                <a:cs typeface="Arial"/>
              </a:rPr>
              <a:t>, </a:t>
            </a:r>
            <a:r>
              <a:rPr sz="1200">
                <a:solidFill>
                  <a:schemeClr val="tx1"/>
                </a:solidFill>
                <a:latin typeface="Arial"/>
                <a:ea typeface="Arial"/>
                <a:cs typeface="Arial"/>
              </a:rPr>
              <a:t>so</a:t>
            </a:r>
            <a:r>
              <a:rPr sz="1200">
                <a:solidFill>
                  <a:schemeClr val="tx1"/>
                </a:solidFill>
                <a:latin typeface="Arial"/>
                <a:ea typeface="Arial"/>
                <a:cs typeface="Arial"/>
              </a:rPr>
              <a:t> </a:t>
            </a:r>
            <a:r>
              <a:rPr sz="1200">
                <a:solidFill>
                  <a:schemeClr val="tx1"/>
                </a:solidFill>
                <a:latin typeface="Arial"/>
                <a:ea typeface="Arial"/>
                <a:cs typeface="Arial"/>
              </a:rPr>
              <a:t>mixing</a:t>
            </a:r>
            <a:r>
              <a:rPr sz="1200">
                <a:solidFill>
                  <a:schemeClr val="tx1"/>
                </a:solidFill>
                <a:latin typeface="Arial"/>
                <a:ea typeface="Arial"/>
                <a:cs typeface="Arial"/>
              </a:rPr>
              <a:t> a single agent </a:t>
            </a:r>
            <a:r>
              <a:rPr sz="1200">
                <a:solidFill>
                  <a:schemeClr val="tx1"/>
                </a:solidFill>
                <a:latin typeface="Arial"/>
                <a:ea typeface="Arial"/>
                <a:cs typeface="Arial"/>
              </a:rPr>
              <a:t>with</a:t>
            </a:r>
            <a:r>
              <a:rPr sz="1200">
                <a:solidFill>
                  <a:schemeClr val="tx1"/>
                </a:solidFill>
                <a:latin typeface="Arial"/>
                <a:ea typeface="Arial"/>
                <a:cs typeface="Arial"/>
              </a:rPr>
              <a:t> </a:t>
            </a:r>
            <a:r>
              <a:rPr sz="1200">
                <a:solidFill>
                  <a:schemeClr val="tx1"/>
                </a:solidFill>
                <a:latin typeface="Arial"/>
                <a:ea typeface="Arial"/>
                <a:cs typeface="Arial"/>
              </a:rPr>
              <a:t>rules</a:t>
            </a:r>
            <a:r>
              <a:rPr sz="1200">
                <a:solidFill>
                  <a:schemeClr val="tx1"/>
                </a:solidFill>
                <a:latin typeface="Arial"/>
                <a:ea typeface="Arial"/>
                <a:cs typeface="Arial"/>
              </a:rPr>
              <a:t>, but </a:t>
            </a:r>
            <a:r>
              <a:rPr sz="1200">
                <a:solidFill>
                  <a:schemeClr val="tx1"/>
                </a:solidFill>
                <a:latin typeface="Arial"/>
                <a:ea typeface="Arial"/>
                <a:cs typeface="Arial"/>
              </a:rPr>
              <a:t>they</a:t>
            </a:r>
            <a:r>
              <a:rPr sz="1200">
                <a:solidFill>
                  <a:schemeClr val="tx1"/>
                </a:solidFill>
                <a:latin typeface="Arial"/>
                <a:ea typeface="Arial"/>
                <a:cs typeface="Arial"/>
              </a:rPr>
              <a:t> </a:t>
            </a:r>
            <a:r>
              <a:rPr sz="1200">
                <a:solidFill>
                  <a:schemeClr val="tx1"/>
                </a:solidFill>
                <a:latin typeface="Arial"/>
                <a:ea typeface="Arial"/>
                <a:cs typeface="Arial"/>
              </a:rPr>
              <a:t>suffer</a:t>
            </a:r>
            <a:r>
              <a:rPr sz="1200">
                <a:solidFill>
                  <a:schemeClr val="tx1"/>
                </a:solidFill>
                <a:latin typeface="Arial"/>
                <a:ea typeface="Arial"/>
                <a:cs typeface="Arial"/>
              </a:rPr>
              <a:t> </a:t>
            </a:r>
            <a:r>
              <a:rPr sz="1200">
                <a:solidFill>
                  <a:schemeClr val="tx1"/>
                </a:solidFill>
                <a:latin typeface="Arial"/>
                <a:ea typeface="Arial"/>
                <a:cs typeface="Arial"/>
              </a:rPr>
              <a:t>because</a:t>
            </a:r>
            <a:r>
              <a:rPr sz="1200">
                <a:solidFill>
                  <a:schemeClr val="tx1"/>
                </a:solidFill>
                <a:latin typeface="Arial"/>
                <a:ea typeface="Arial"/>
                <a:cs typeface="Arial"/>
              </a:rPr>
              <a:t> the action </a:t>
            </a:r>
            <a:r>
              <a:rPr sz="1200">
                <a:solidFill>
                  <a:schemeClr val="tx1"/>
                </a:solidFill>
                <a:latin typeface="Arial"/>
                <a:ea typeface="Arial"/>
                <a:cs typeface="Arial"/>
              </a:rPr>
              <a:t>space</a:t>
            </a:r>
            <a:r>
              <a:rPr sz="1200">
                <a:solidFill>
                  <a:schemeClr val="tx1"/>
                </a:solidFill>
                <a:latin typeface="Arial"/>
                <a:ea typeface="Arial"/>
                <a:cs typeface="Arial"/>
              </a:rPr>
              <a:t> </a:t>
            </a:r>
            <a:r>
              <a:rPr sz="1200">
                <a:solidFill>
                  <a:schemeClr val="tx1"/>
                </a:solidFill>
                <a:latin typeface="Arial"/>
                <a:ea typeface="Arial"/>
                <a:cs typeface="Arial"/>
              </a:rPr>
              <a:t>remains</a:t>
            </a:r>
            <a:r>
              <a:rPr sz="1200">
                <a:solidFill>
                  <a:schemeClr val="tx1"/>
                </a:solidFill>
                <a:latin typeface="Arial"/>
                <a:ea typeface="Arial"/>
                <a:cs typeface="Arial"/>
              </a:rPr>
              <a:t> </a:t>
            </a:r>
            <a:r>
              <a:rPr sz="1200">
                <a:solidFill>
                  <a:schemeClr val="tx1"/>
                </a:solidFill>
                <a:latin typeface="Arial"/>
                <a:ea typeface="Arial"/>
                <a:cs typeface="Arial"/>
              </a:rPr>
              <a:t>very</a:t>
            </a:r>
            <a:r>
              <a:rPr sz="1200">
                <a:solidFill>
                  <a:schemeClr val="tx1"/>
                </a:solidFill>
                <a:latin typeface="Arial"/>
                <a:ea typeface="Arial"/>
                <a:cs typeface="Arial"/>
              </a:rPr>
              <a:t> large.”</a:t>
            </a:r>
          </a:p>
          <a:p xmlns:a="http://schemas.openxmlformats.org/drawingml/2006/main"/>
          <a:p xmlns:a="http://schemas.openxmlformats.org/drawingml/2006/main">
            <a:r>
              <a:rPr sz="1200">
                <a:solidFill>
                  <a:schemeClr val="tx1"/>
                </a:solidFill>
                <a:latin typeface="Arial"/>
                <a:ea typeface="Arial"/>
                <a:cs typeface="Arial"/>
              </a:rPr>
              <a:t>Another</a:t>
            </a:r>
            <a:r>
              <a:rPr sz="1200">
                <a:solidFill>
                  <a:schemeClr val="tx1"/>
                </a:solidFill>
                <a:latin typeface="Arial"/>
                <a:ea typeface="Arial"/>
                <a:cs typeface="Arial"/>
              </a:rPr>
              <a:t> important </a:t>
            </a:r>
            <a:r>
              <a:rPr sz="1200">
                <a:solidFill>
                  <a:schemeClr val="tx1"/>
                </a:solidFill>
                <a:latin typeface="Arial"/>
                <a:ea typeface="Arial"/>
                <a:cs typeface="Arial"/>
              </a:rPr>
              <a:t>idea</a:t>
            </a:r>
            <a:r>
              <a:rPr sz="1200">
                <a:solidFill>
                  <a:schemeClr val="tx1"/>
                </a:solidFill>
                <a:latin typeface="Arial"/>
                <a:ea typeface="Arial"/>
                <a:cs typeface="Arial"/>
              </a:rPr>
              <a:t> </a:t>
            </a:r>
            <a:r>
              <a:rPr sz="1200">
                <a:solidFill>
                  <a:schemeClr val="tx1"/>
                </a:solidFill>
                <a:latin typeface="Arial"/>
                <a:ea typeface="Arial"/>
                <a:cs typeface="Arial"/>
              </a:rPr>
              <a:t>is</a:t>
            </a:r>
            <a:r>
              <a:rPr sz="1200">
                <a:solidFill>
                  <a:schemeClr val="tx1"/>
                </a:solidFill>
                <a:latin typeface="Arial"/>
                <a:ea typeface="Arial"/>
                <a:cs typeface="Arial"/>
              </a:rPr>
              <a:t> to </a:t>
            </a:r>
            <a:r>
              <a:rPr sz="1200">
                <a:solidFill>
                  <a:schemeClr val="tx1"/>
                </a:solidFill>
                <a:latin typeface="Arial"/>
                <a:ea typeface="Arial"/>
                <a:cs typeface="Arial"/>
              </a:rPr>
              <a:t>predict</a:t>
            </a:r>
            <a:r>
              <a:rPr sz="1200">
                <a:solidFill>
                  <a:schemeClr val="tx1"/>
                </a:solidFill>
                <a:latin typeface="Arial"/>
                <a:ea typeface="Arial"/>
                <a:cs typeface="Arial"/>
              </a:rPr>
              <a:t> a </a:t>
            </a:r>
            <a:r>
              <a:rPr sz="1200" b="1">
                <a:solidFill>
                  <a:schemeClr val="tx1"/>
                </a:solidFill>
                <a:latin typeface="Arial"/>
                <a:ea typeface="Arial"/>
                <a:cs typeface="Arial"/>
              </a:rPr>
              <a:t>target</a:t>
            </a:r>
            <a:r>
              <a:rPr sz="1200" b="1">
                <a:solidFill>
                  <a:schemeClr val="tx1"/>
                </a:solidFill>
                <a:latin typeface="Arial"/>
                <a:ea typeface="Arial"/>
                <a:cs typeface="Arial"/>
              </a:rPr>
              <a:t> </a:t>
            </a:r>
            <a:r>
              <a:rPr sz="1200" b="1">
                <a:solidFill>
                  <a:schemeClr val="tx1"/>
                </a:solidFill>
                <a:latin typeface="Arial"/>
                <a:ea typeface="Arial"/>
                <a:cs typeface="Arial"/>
              </a:rPr>
              <a:t>topology</a:t>
            </a:r>
            <a:r>
              <a:rPr sz="1200" b="1">
                <a:solidFill>
                  <a:schemeClr val="tx1"/>
                </a:solidFill>
                <a:latin typeface="Arial"/>
                <a:ea typeface="Arial"/>
                <a:cs typeface="Arial"/>
              </a:rPr>
              <a:t> </a:t>
            </a:r>
            <a:r>
              <a:rPr sz="1200" b="1">
                <a:solidFill>
                  <a:schemeClr val="tx1"/>
                </a:solidFill>
                <a:latin typeface="Arial"/>
                <a:ea typeface="Arial"/>
                <a:cs typeface="Arial"/>
              </a:rPr>
              <a:t>instead</a:t>
            </a:r>
            <a:r>
              <a:rPr sz="1200" b="1">
                <a:solidFill>
                  <a:schemeClr val="tx1"/>
                </a:solidFill>
                <a:latin typeface="Arial"/>
                <a:ea typeface="Arial"/>
                <a:cs typeface="Arial"/>
              </a:rPr>
              <a:t> of </a:t>
            </a:r>
            <a:r>
              <a:rPr sz="1200" b="1">
                <a:solidFill>
                  <a:schemeClr val="tx1"/>
                </a:solidFill>
                <a:latin typeface="Arial"/>
                <a:ea typeface="Arial"/>
                <a:cs typeface="Arial"/>
              </a:rPr>
              <a:t>raw</a:t>
            </a:r>
            <a:r>
              <a:rPr sz="1200" b="1">
                <a:solidFill>
                  <a:schemeClr val="tx1"/>
                </a:solidFill>
                <a:latin typeface="Arial"/>
                <a:ea typeface="Arial"/>
                <a:cs typeface="Arial"/>
              </a:rPr>
              <a:t> actions</a:t>
            </a:r>
            <a:r>
              <a:rPr sz="1200">
                <a:solidFill>
                  <a:schemeClr val="tx1"/>
                </a:solidFill>
                <a:latin typeface="Arial"/>
                <a:ea typeface="Arial"/>
                <a:cs typeface="Arial"/>
              </a:rPr>
              <a:t>.</a:t>
            </a:r>
          </a:p>
          <a:p xmlns:a="http://schemas.openxmlformats.org/drawingml/2006/main"/>
          <a:p xmlns:a="http://schemas.openxmlformats.org/drawingml/2006/main">
            <a:r>
              <a:rPr sz="1200">
                <a:solidFill>
                  <a:schemeClr val="tx1"/>
                </a:solidFill>
                <a:latin typeface="Arial"/>
                <a:ea typeface="Arial"/>
                <a:cs typeface="Arial"/>
              </a:rPr>
              <a:t>This </a:t>
            </a:r>
            <a:r>
              <a:rPr sz="1200">
                <a:solidFill>
                  <a:schemeClr val="tx1"/>
                </a:solidFill>
                <a:latin typeface="Arial"/>
                <a:ea typeface="Arial"/>
                <a:cs typeface="Arial"/>
              </a:rPr>
              <a:t>is</a:t>
            </a:r>
            <a:r>
              <a:rPr sz="1200">
                <a:solidFill>
                  <a:schemeClr val="tx1"/>
                </a:solidFill>
                <a:latin typeface="Arial"/>
                <a:ea typeface="Arial"/>
                <a:cs typeface="Arial"/>
              </a:rPr>
              <a:t> </a:t>
            </a:r>
            <a:r>
              <a:rPr sz="1200">
                <a:solidFill>
                  <a:schemeClr val="tx1"/>
                </a:solidFill>
                <a:latin typeface="Arial"/>
                <a:ea typeface="Arial"/>
                <a:cs typeface="Arial"/>
              </a:rPr>
              <a:t>used</a:t>
            </a:r>
            <a:r>
              <a:rPr sz="1200">
                <a:solidFill>
                  <a:schemeClr val="tx1"/>
                </a:solidFill>
                <a:latin typeface="Arial"/>
                <a:ea typeface="Arial"/>
                <a:cs typeface="Arial"/>
              </a:rPr>
              <a:t> in SMAAC, </a:t>
            </a:r>
            <a:r>
              <a:rPr sz="1200">
                <a:solidFill>
                  <a:schemeClr val="tx1"/>
                </a:solidFill>
                <a:latin typeface="Arial"/>
                <a:ea typeface="Arial"/>
                <a:cs typeface="Arial"/>
              </a:rPr>
              <a:t>where</a:t>
            </a:r>
            <a:r>
              <a:rPr sz="1200">
                <a:solidFill>
                  <a:schemeClr val="tx1"/>
                </a:solidFill>
                <a:latin typeface="Arial"/>
                <a:ea typeface="Arial"/>
                <a:cs typeface="Arial"/>
              </a:rPr>
              <a:t> </a:t>
            </a:r>
            <a:r>
              <a:rPr sz="1200">
                <a:solidFill>
                  <a:schemeClr val="tx1"/>
                </a:solidFill>
                <a:latin typeface="Arial"/>
                <a:ea typeface="Arial"/>
                <a:cs typeface="Arial"/>
              </a:rPr>
              <a:t>the</a:t>
            </a:r>
            <a:r>
              <a:rPr sz="1200">
                <a:solidFill>
                  <a:schemeClr val="tx1"/>
                </a:solidFill>
                <a:latin typeface="Arial"/>
                <a:ea typeface="Arial"/>
                <a:cs typeface="Arial"/>
              </a:rPr>
              <a:t> </a:t>
            </a:r>
            <a:r>
              <a:rPr sz="1200">
                <a:solidFill>
                  <a:schemeClr val="tx1"/>
                </a:solidFill>
                <a:latin typeface="Arial"/>
                <a:ea typeface="Arial"/>
                <a:cs typeface="Arial"/>
              </a:rPr>
              <a:t>agent</a:t>
            </a:r>
            <a:r>
              <a:rPr sz="1200">
                <a:solidFill>
                  <a:schemeClr val="tx1"/>
                </a:solidFill>
                <a:latin typeface="Arial"/>
                <a:ea typeface="Arial"/>
                <a:cs typeface="Arial"/>
              </a:rPr>
              <a:t> </a:t>
            </a:r>
            <a:r>
              <a:rPr sz="1200">
                <a:solidFill>
                  <a:schemeClr val="tx1"/>
                </a:solidFill>
                <a:latin typeface="Arial"/>
                <a:ea typeface="Arial"/>
                <a:cs typeface="Arial"/>
              </a:rPr>
              <a:t>learns</a:t>
            </a:r>
            <a:r>
              <a:rPr sz="1200">
                <a:solidFill>
                  <a:schemeClr val="tx1"/>
                </a:solidFill>
                <a:latin typeface="Arial"/>
                <a:ea typeface="Arial"/>
                <a:cs typeface="Arial"/>
              </a:rPr>
              <a:t> an </a:t>
            </a:r>
            <a:r>
              <a:rPr sz="1200">
                <a:solidFill>
                  <a:schemeClr val="tx1"/>
                </a:solidFill>
                <a:latin typeface="Arial"/>
                <a:ea typeface="Arial"/>
                <a:cs typeface="Arial"/>
              </a:rPr>
              <a:t>afterstate</a:t>
            </a:r>
            <a:r>
              <a:rPr sz="1200">
                <a:solidFill>
                  <a:schemeClr val="tx1"/>
                </a:solidFill>
                <a:latin typeface="Arial"/>
                <a:ea typeface="Arial"/>
                <a:cs typeface="Arial"/>
              </a:rPr>
              <a:t> </a:t>
            </a:r>
            <a:r>
              <a:rPr sz="1200">
                <a:solidFill>
                  <a:schemeClr val="tx1"/>
                </a:solidFill>
                <a:latin typeface="Arial"/>
                <a:ea typeface="Arial"/>
                <a:cs typeface="Arial"/>
              </a:rPr>
              <a:t>representation</a:t>
            </a:r>
            <a:r>
              <a:rPr sz="1200">
                <a:solidFill>
                  <a:schemeClr val="tx1"/>
                </a:solidFill>
                <a:latin typeface="Arial"/>
                <a:ea typeface="Arial"/>
                <a:cs typeface="Arial"/>
              </a:rPr>
              <a:t>—</a:t>
            </a:r>
            <a:r>
              <a:rPr sz="1200">
                <a:solidFill>
                  <a:schemeClr val="tx1"/>
                </a:solidFill>
                <a:latin typeface="Arial"/>
                <a:ea typeface="Arial"/>
                <a:cs typeface="Arial"/>
              </a:rPr>
              <a:t>basically</a:t>
            </a:r>
            <a:r>
              <a:rPr sz="1200">
                <a:solidFill>
                  <a:schemeClr val="tx1"/>
                </a:solidFill>
                <a:latin typeface="Arial"/>
                <a:ea typeface="Arial"/>
                <a:cs typeface="Arial"/>
              </a:rPr>
              <a:t> </a:t>
            </a:r>
            <a:r>
              <a:rPr sz="1200">
                <a:solidFill>
                  <a:schemeClr val="tx1"/>
                </a:solidFill>
                <a:latin typeface="Arial"/>
                <a:ea typeface="Arial"/>
                <a:cs typeface="Arial"/>
              </a:rPr>
              <a:t>the</a:t>
            </a:r>
            <a:r>
              <a:rPr sz="1200">
                <a:solidFill>
                  <a:schemeClr val="tx1"/>
                </a:solidFill>
                <a:latin typeface="Arial"/>
                <a:ea typeface="Arial"/>
                <a:cs typeface="Arial"/>
              </a:rPr>
              <a:t> </a:t>
            </a:r>
            <a:r>
              <a:rPr sz="1200">
                <a:solidFill>
                  <a:schemeClr val="tx1"/>
                </a:solidFill>
                <a:latin typeface="Arial"/>
                <a:ea typeface="Arial"/>
                <a:cs typeface="Arial"/>
              </a:rPr>
              <a:t>resulting</a:t>
            </a:r>
            <a:r>
              <a:rPr sz="1200">
                <a:solidFill>
                  <a:schemeClr val="tx1"/>
                </a:solidFill>
                <a:latin typeface="Arial"/>
                <a:ea typeface="Arial"/>
                <a:cs typeface="Arial"/>
              </a:rPr>
              <a:t> </a:t>
            </a:r>
            <a:r>
              <a:rPr sz="1200">
                <a:solidFill>
                  <a:schemeClr val="tx1"/>
                </a:solidFill>
                <a:latin typeface="Arial"/>
                <a:ea typeface="Arial"/>
                <a:cs typeface="Arial"/>
              </a:rPr>
              <a:t>topology</a:t>
            </a:r>
            <a:r>
              <a:rPr sz="1200">
                <a:solidFill>
                  <a:schemeClr val="tx1"/>
                </a:solidFill>
                <a:latin typeface="Arial"/>
                <a:ea typeface="Arial"/>
                <a:cs typeface="Arial"/>
              </a:rPr>
              <a:t> after an </a:t>
            </a:r>
            <a:r>
              <a:rPr sz="1200">
                <a:solidFill>
                  <a:schemeClr val="tx1"/>
                </a:solidFill>
                <a:latin typeface="Arial"/>
                <a:ea typeface="Arial"/>
                <a:cs typeface="Arial"/>
              </a:rPr>
              <a:t>action</a:t>
            </a:r>
            <a:r>
              <a:rPr sz="1200">
                <a:solidFill>
                  <a:schemeClr val="tx1"/>
                </a:solidFill>
                <a:latin typeface="Arial"/>
                <a:ea typeface="Arial"/>
                <a:cs typeface="Arial"/>
              </a:rPr>
              <a:t>.</a:t>
            </a:r>
          </a:p>
          <a:p xmlns:a="http://schemas.openxmlformats.org/drawingml/2006/main"/>
          <a:p xmlns:a="http://schemas.openxmlformats.org/drawingml/2006/main">
            <a:r>
              <a:rPr sz="1200">
                <a:solidFill>
                  <a:schemeClr val="tx1"/>
                </a:solidFill>
                <a:latin typeface="Arial"/>
                <a:ea typeface="Arial"/>
                <a:cs typeface="Arial"/>
              </a:rPr>
              <a:t>This </a:t>
            </a:r>
            <a:r>
              <a:rPr sz="1200">
                <a:solidFill>
                  <a:schemeClr val="tx1"/>
                </a:solidFill>
                <a:latin typeface="Arial"/>
                <a:ea typeface="Arial"/>
                <a:cs typeface="Arial"/>
              </a:rPr>
              <a:t>helps</a:t>
            </a:r>
            <a:r>
              <a:rPr sz="1200">
                <a:solidFill>
                  <a:schemeClr val="tx1"/>
                </a:solidFill>
                <a:latin typeface="Arial"/>
                <a:ea typeface="Arial"/>
                <a:cs typeface="Arial"/>
              </a:rPr>
              <a:t> </a:t>
            </a:r>
            <a:r>
              <a:rPr sz="1200">
                <a:solidFill>
                  <a:schemeClr val="tx1"/>
                </a:solidFill>
                <a:latin typeface="Arial"/>
                <a:ea typeface="Arial"/>
                <a:cs typeface="Arial"/>
              </a:rPr>
              <a:t>because</a:t>
            </a:r>
            <a:r>
              <a:rPr sz="1200">
                <a:solidFill>
                  <a:schemeClr val="tx1"/>
                </a:solidFill>
                <a:latin typeface="Arial"/>
                <a:ea typeface="Arial"/>
                <a:cs typeface="Arial"/>
              </a:rPr>
              <a:t> multiple </a:t>
            </a:r>
            <a:r>
              <a:rPr sz="1200">
                <a:solidFill>
                  <a:schemeClr val="tx1"/>
                </a:solidFill>
                <a:latin typeface="Arial"/>
                <a:ea typeface="Arial"/>
                <a:cs typeface="Arial"/>
              </a:rPr>
              <a:t>sequences</a:t>
            </a:r>
            <a:r>
              <a:rPr sz="1200">
                <a:solidFill>
                  <a:schemeClr val="tx1"/>
                </a:solidFill>
                <a:latin typeface="Arial"/>
                <a:ea typeface="Arial"/>
                <a:cs typeface="Arial"/>
              </a:rPr>
              <a:t> of actions can lead to the </a:t>
            </a:r>
            <a:r>
              <a:rPr sz="1200">
                <a:solidFill>
                  <a:schemeClr val="tx1"/>
                </a:solidFill>
                <a:latin typeface="Arial"/>
                <a:ea typeface="Arial"/>
                <a:cs typeface="Arial"/>
              </a:rPr>
              <a:t>same</a:t>
            </a:r>
            <a:r>
              <a:rPr sz="1200">
                <a:solidFill>
                  <a:schemeClr val="tx1"/>
                </a:solidFill>
                <a:latin typeface="Arial"/>
                <a:ea typeface="Arial"/>
                <a:cs typeface="Arial"/>
              </a:rPr>
              <a:t> configuration. So </a:t>
            </a:r>
            <a:r>
              <a:rPr sz="1200">
                <a:solidFill>
                  <a:schemeClr val="tx1"/>
                </a:solidFill>
                <a:latin typeface="Arial"/>
                <a:ea typeface="Arial"/>
                <a:cs typeface="Arial"/>
              </a:rPr>
              <a:t>it</a:t>
            </a:r>
            <a:r>
              <a:rPr sz="1200">
                <a:solidFill>
                  <a:schemeClr val="tx1"/>
                </a:solidFill>
                <a:latin typeface="Arial"/>
                <a:ea typeface="Arial"/>
                <a:cs typeface="Arial"/>
              </a:rPr>
              <a:t> </a:t>
            </a:r>
            <a:r>
              <a:rPr sz="1200">
                <a:solidFill>
                  <a:schemeClr val="tx1"/>
                </a:solidFill>
                <a:latin typeface="Arial"/>
                <a:ea typeface="Arial"/>
                <a:cs typeface="Arial"/>
              </a:rPr>
              <a:t>reduces</a:t>
            </a:r>
            <a:r>
              <a:rPr sz="1200">
                <a:solidFill>
                  <a:schemeClr val="tx1"/>
                </a:solidFill>
                <a:latin typeface="Arial"/>
                <a:ea typeface="Arial"/>
                <a:cs typeface="Arial"/>
              </a:rPr>
              <a:t> the action </a:t>
            </a:r>
            <a:r>
              <a:rPr sz="1200">
                <a:solidFill>
                  <a:schemeClr val="tx1"/>
                </a:solidFill>
                <a:latin typeface="Arial"/>
                <a:ea typeface="Arial"/>
                <a:cs typeface="Arial"/>
              </a:rPr>
              <a:t>space</a:t>
            </a:r>
          </a:p>
          <a:p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a:solidFill>
                  <a:schemeClr val="tx1"/>
                </a:solidFill>
                <a:latin typeface="Arial"/>
                <a:ea typeface="Arial"/>
                <a:cs typeface="Arial"/>
              </a:rPr>
              <a:t>To dive a </a:t>
            </a:r>
            <a:r>
              <a:rPr sz="1200">
                <a:solidFill>
                  <a:schemeClr val="tx1"/>
                </a:solidFill>
                <a:latin typeface="Arial"/>
                <a:ea typeface="Arial"/>
                <a:cs typeface="Arial"/>
              </a:rPr>
              <a:t>little</a:t>
            </a:r>
            <a:r>
              <a:rPr sz="1200">
                <a:solidFill>
                  <a:schemeClr val="tx1"/>
                </a:solidFill>
                <a:latin typeface="Arial"/>
                <a:ea typeface="Arial"/>
                <a:cs typeface="Arial"/>
              </a:rPr>
              <a:t> </a:t>
            </a:r>
            <a:r>
              <a:rPr sz="1200">
                <a:solidFill>
                  <a:schemeClr val="tx1"/>
                </a:solidFill>
                <a:latin typeface="Arial"/>
                <a:ea typeface="Arial"/>
                <a:cs typeface="Arial"/>
              </a:rPr>
              <a:t>deeper</a:t>
            </a:r>
            <a:r>
              <a:rPr sz="1200">
                <a:solidFill>
                  <a:schemeClr val="tx1"/>
                </a:solidFill>
                <a:latin typeface="Arial"/>
                <a:ea typeface="Arial"/>
                <a:cs typeface="Arial"/>
              </a:rPr>
              <a:t> i have been </a:t>
            </a:r>
            <a:r>
              <a:rPr sz="1200">
                <a:solidFill>
                  <a:schemeClr val="tx1"/>
                </a:solidFill>
                <a:latin typeface="Arial"/>
                <a:ea typeface="Arial"/>
                <a:cs typeface="Arial"/>
              </a:rPr>
              <a:t>looking</a:t>
            </a:r>
            <a:r>
              <a:rPr sz="1200">
                <a:solidFill>
                  <a:schemeClr val="tx1"/>
                </a:solidFill>
                <a:latin typeface="Arial"/>
                <a:ea typeface="Arial"/>
                <a:cs typeface="Arial"/>
              </a:rPr>
              <a:t> at a </a:t>
            </a:r>
            <a:r>
              <a:rPr sz="1200">
                <a:solidFill>
                  <a:schemeClr val="tx1"/>
                </a:solidFill>
                <a:latin typeface="Arial"/>
                <a:ea typeface="Arial"/>
                <a:cs typeface="Arial"/>
              </a:rPr>
              <a:t>survey</a:t>
            </a:r>
            <a:r>
              <a:rPr sz="1200">
                <a:solidFill>
                  <a:schemeClr val="tx1"/>
                </a:solidFill>
                <a:latin typeface="Arial"/>
                <a:ea typeface="Arial"/>
                <a:cs typeface="Arial"/>
              </a:rPr>
              <a:t> </a:t>
            </a:r>
            <a:r>
              <a:rPr sz="1200">
                <a:solidFill>
                  <a:schemeClr val="tx1"/>
                </a:solidFill>
                <a:latin typeface="Arial"/>
                <a:ea typeface="Arial"/>
                <a:cs typeface="Arial"/>
              </a:rPr>
              <a:t>that</a:t>
            </a:r>
            <a:r>
              <a:rPr sz="1200">
                <a:solidFill>
                  <a:schemeClr val="tx1"/>
                </a:solidFill>
                <a:latin typeface="Arial"/>
                <a:ea typeface="Arial"/>
                <a:cs typeface="Arial"/>
              </a:rPr>
              <a:t> </a:t>
            </a:r>
            <a:r>
              <a:rPr sz="1200">
                <a:solidFill>
                  <a:schemeClr val="tx1"/>
                </a:solidFill>
                <a:latin typeface="Arial"/>
                <a:ea typeface="Arial"/>
                <a:cs typeface="Arial"/>
              </a:rPr>
              <a:t>summarize</a:t>
            </a:r>
            <a:r>
              <a:rPr sz="1200">
                <a:solidFill>
                  <a:schemeClr val="tx1"/>
                </a:solidFill>
                <a:latin typeface="Arial"/>
                <a:ea typeface="Arial"/>
                <a:cs typeface="Arial"/>
              </a:rPr>
              <a:t> all the </a:t>
            </a:r>
            <a:r>
              <a:rPr sz="1200">
                <a:solidFill>
                  <a:schemeClr val="tx1"/>
                </a:solidFill>
                <a:latin typeface="Arial"/>
                <a:ea typeface="Arial"/>
                <a:cs typeface="Arial"/>
              </a:rPr>
              <a:t>algorithms</a:t>
            </a:r>
            <a:r>
              <a:rPr sz="1200">
                <a:solidFill>
                  <a:schemeClr val="tx1"/>
                </a:solidFill>
                <a:latin typeface="Arial"/>
                <a:ea typeface="Arial"/>
                <a:cs typeface="Arial"/>
              </a:rPr>
              <a:t> </a:t>
            </a:r>
            <a:r>
              <a:rPr sz="1200">
                <a:solidFill>
                  <a:schemeClr val="tx1"/>
                </a:solidFill>
                <a:latin typeface="Arial"/>
                <a:ea typeface="Arial"/>
                <a:cs typeface="Arial"/>
              </a:rPr>
              <a:t>that</a:t>
            </a:r>
            <a:r>
              <a:rPr sz="1200">
                <a:solidFill>
                  <a:schemeClr val="tx1"/>
                </a:solidFill>
                <a:latin typeface="Arial"/>
                <a:ea typeface="Arial"/>
                <a:cs typeface="Arial"/>
              </a:rPr>
              <a:t> won the l2rpn challenge and </a:t>
            </a:r>
            <a:r>
              <a:rPr sz="1200">
                <a:solidFill>
                  <a:schemeClr val="tx1"/>
                </a:solidFill>
                <a:latin typeface="Arial"/>
                <a:ea typeface="Arial"/>
                <a:cs typeface="Arial"/>
              </a:rPr>
              <a:t>this</a:t>
            </a:r>
            <a:r>
              <a:rPr sz="1200">
                <a:solidFill>
                  <a:schemeClr val="tx1"/>
                </a:solidFill>
                <a:latin typeface="Arial"/>
                <a:ea typeface="Arial"/>
                <a:cs typeface="Arial"/>
              </a:rPr>
              <a:t> </a:t>
            </a:r>
            <a:r>
              <a:rPr sz="1200">
                <a:solidFill>
                  <a:schemeClr val="tx1"/>
                </a:solidFill>
                <a:latin typeface="Arial"/>
                <a:ea typeface="Arial"/>
                <a:cs typeface="Arial"/>
              </a:rPr>
              <a:t>is</a:t>
            </a:r>
            <a:r>
              <a:rPr sz="1200">
                <a:solidFill>
                  <a:schemeClr val="tx1"/>
                </a:solidFill>
                <a:latin typeface="Arial"/>
                <a:ea typeface="Arial"/>
                <a:cs typeface="Arial"/>
              </a:rPr>
              <a:t> the main </a:t>
            </a:r>
            <a:r>
              <a:rPr sz="1200">
                <a:solidFill>
                  <a:schemeClr val="tx1"/>
                </a:solidFill>
                <a:latin typeface="Arial"/>
                <a:ea typeface="Arial"/>
                <a:cs typeface="Arial"/>
              </a:rPr>
              <a:t>categories</a:t>
            </a:r>
            <a:r>
              <a:rPr sz="1200">
                <a:solidFill>
                  <a:schemeClr val="tx1"/>
                </a:solidFill>
                <a:latin typeface="Arial"/>
                <a:ea typeface="Arial"/>
                <a:cs typeface="Arial"/>
              </a:rPr>
              <a:t> of </a:t>
            </a:r>
            <a:r>
              <a:rPr sz="1200">
                <a:solidFill>
                  <a:schemeClr val="tx1"/>
                </a:solidFill>
                <a:latin typeface="Arial"/>
                <a:ea typeface="Arial"/>
                <a:cs typeface="Arial"/>
              </a:rPr>
              <a:t>succesfull</a:t>
            </a:r>
            <a:r>
              <a:rPr sz="1200">
                <a:solidFill>
                  <a:schemeClr val="tx1"/>
                </a:solidFill>
                <a:latin typeface="Arial"/>
                <a:ea typeface="Arial"/>
                <a:cs typeface="Arial"/>
              </a:rPr>
              <a:t> </a:t>
            </a:r>
            <a:r>
              <a:rPr sz="1200">
                <a:solidFill>
                  <a:schemeClr val="tx1"/>
                </a:solidFill>
                <a:latin typeface="Arial"/>
                <a:ea typeface="Arial"/>
                <a:cs typeface="Arial"/>
              </a:rPr>
              <a:t>agentthat</a:t>
            </a:r>
            <a:r>
              <a:rPr sz="1200">
                <a:solidFill>
                  <a:schemeClr val="tx1"/>
                </a:solidFill>
                <a:latin typeface="Arial"/>
                <a:ea typeface="Arial"/>
                <a:cs typeface="Arial"/>
              </a:rPr>
              <a:t> won the challenge.</a:t>
            </a:r>
          </a:p>
          <a:p xmlns:a="http://schemas.openxmlformats.org/drawingml/2006/main"/>
          <a:p xmlns:a="http://schemas.openxmlformats.org/drawingml/2006/main">
            <a:r>
              <a:rPr sz="1200">
                <a:solidFill>
                  <a:schemeClr val="tx1"/>
                </a:solidFill>
                <a:latin typeface="Arial"/>
                <a:ea typeface="Arial"/>
                <a:cs typeface="Arial"/>
              </a:rPr>
              <a:t>Some</a:t>
            </a:r>
            <a:r>
              <a:rPr sz="1200">
                <a:solidFill>
                  <a:schemeClr val="tx1"/>
                </a:solidFill>
                <a:latin typeface="Arial"/>
                <a:ea typeface="Arial"/>
                <a:cs typeface="Arial"/>
              </a:rPr>
              <a:t> </a:t>
            </a:r>
            <a:r>
              <a:rPr sz="1200">
                <a:solidFill>
                  <a:schemeClr val="tx1"/>
                </a:solidFill>
                <a:latin typeface="Arial"/>
                <a:ea typeface="Arial"/>
                <a:cs typeface="Arial"/>
              </a:rPr>
              <a:t>approaches</a:t>
            </a:r>
            <a:r>
              <a:rPr sz="1200">
                <a:solidFill>
                  <a:schemeClr val="tx1"/>
                </a:solidFill>
                <a:latin typeface="Arial"/>
                <a:ea typeface="Arial"/>
                <a:cs typeface="Arial"/>
              </a:rPr>
              <a:t> </a:t>
            </a:r>
            <a:r>
              <a:rPr sz="1200">
                <a:solidFill>
                  <a:schemeClr val="tx1"/>
                </a:solidFill>
                <a:latin typeface="Arial"/>
                <a:ea typeface="Arial"/>
                <a:cs typeface="Arial"/>
              </a:rPr>
              <a:t>rely</a:t>
            </a:r>
            <a:r>
              <a:rPr sz="1200">
                <a:solidFill>
                  <a:schemeClr val="tx1"/>
                </a:solidFill>
                <a:latin typeface="Arial"/>
                <a:ea typeface="Arial"/>
                <a:cs typeface="Arial"/>
              </a:rPr>
              <a:t> on a single global agent </a:t>
            </a:r>
            <a:r>
              <a:rPr sz="1200">
                <a:solidFill>
                  <a:schemeClr val="tx1"/>
                </a:solidFill>
                <a:latin typeface="Arial"/>
                <a:ea typeface="Arial"/>
                <a:cs typeface="Arial"/>
              </a:rPr>
              <a:t>with</a:t>
            </a:r>
            <a:r>
              <a:rPr sz="1200">
                <a:solidFill>
                  <a:schemeClr val="tx1"/>
                </a:solidFill>
                <a:latin typeface="Arial"/>
                <a:ea typeface="Arial"/>
                <a:cs typeface="Arial"/>
              </a:rPr>
              <a:t> </a:t>
            </a:r>
            <a:r>
              <a:rPr sz="1200">
                <a:solidFill>
                  <a:schemeClr val="tx1"/>
                </a:solidFill>
                <a:latin typeface="Arial"/>
                <a:ea typeface="Arial"/>
                <a:cs typeface="Arial"/>
              </a:rPr>
              <a:t>strong</a:t>
            </a:r>
            <a:r>
              <a:rPr sz="1200">
                <a:solidFill>
                  <a:schemeClr val="tx1"/>
                </a:solidFill>
                <a:latin typeface="Arial"/>
                <a:ea typeface="Arial"/>
                <a:cs typeface="Arial"/>
              </a:rPr>
              <a:t> engineering tricks.</a:t>
            </a:r>
          </a:p>
          <a:p xmlns:a="http://schemas.openxmlformats.org/drawingml/2006/main"/>
          <a:p xmlns:a="http://schemas.openxmlformats.org/drawingml/2006/main">
            <a:r>
              <a:rPr sz="1200">
                <a:solidFill>
                  <a:schemeClr val="tx1"/>
                </a:solidFill>
                <a:latin typeface="Arial"/>
                <a:ea typeface="Arial"/>
                <a:cs typeface="Arial"/>
              </a:rPr>
              <a:t>For </a:t>
            </a:r>
            <a:r>
              <a:rPr sz="1200">
                <a:solidFill>
                  <a:schemeClr val="tx1"/>
                </a:solidFill>
                <a:latin typeface="Arial"/>
                <a:ea typeface="Arial"/>
                <a:cs typeface="Arial"/>
              </a:rPr>
              <a:t>example</a:t>
            </a:r>
            <a:r>
              <a:rPr sz="1200">
                <a:solidFill>
                  <a:schemeClr val="tx1"/>
                </a:solidFill>
                <a:latin typeface="Arial"/>
                <a:ea typeface="Arial"/>
                <a:cs typeface="Arial"/>
              </a:rPr>
              <a:t>, </a:t>
            </a:r>
            <a:r>
              <a:rPr sz="1200">
                <a:solidFill>
                  <a:schemeClr val="tx1"/>
                </a:solidFill>
                <a:latin typeface="Arial"/>
                <a:ea typeface="Arial"/>
                <a:cs typeface="Arial"/>
              </a:rPr>
              <a:t>they</a:t>
            </a:r>
            <a:r>
              <a:rPr sz="1200">
                <a:solidFill>
                  <a:schemeClr val="tx1"/>
                </a:solidFill>
                <a:latin typeface="Arial"/>
                <a:ea typeface="Arial"/>
                <a:cs typeface="Arial"/>
              </a:rPr>
              <a:t> use graph neural networks </a:t>
            </a:r>
            <a:r>
              <a:rPr sz="1200">
                <a:solidFill>
                  <a:schemeClr val="tx1"/>
                </a:solidFill>
                <a:latin typeface="Arial"/>
                <a:ea typeface="Arial"/>
                <a:cs typeface="Arial"/>
              </a:rPr>
              <a:t>combined</a:t>
            </a:r>
            <a:r>
              <a:rPr sz="1200">
                <a:solidFill>
                  <a:schemeClr val="tx1"/>
                </a:solidFill>
                <a:latin typeface="Arial"/>
                <a:ea typeface="Arial"/>
                <a:cs typeface="Arial"/>
              </a:rPr>
              <a:t> </a:t>
            </a:r>
            <a:r>
              <a:rPr sz="1200">
                <a:solidFill>
                  <a:schemeClr val="tx1"/>
                </a:solidFill>
                <a:latin typeface="Arial"/>
                <a:ea typeface="Arial"/>
                <a:cs typeface="Arial"/>
              </a:rPr>
              <a:t>with</a:t>
            </a:r>
            <a:r>
              <a:rPr sz="1200">
                <a:solidFill>
                  <a:schemeClr val="tx1"/>
                </a:solidFill>
                <a:latin typeface="Arial"/>
                <a:ea typeface="Arial"/>
                <a:cs typeface="Arial"/>
              </a:rPr>
              <a:t> value-</a:t>
            </a:r>
            <a:r>
              <a:rPr sz="1200">
                <a:solidFill>
                  <a:schemeClr val="tx1"/>
                </a:solidFill>
                <a:latin typeface="Arial"/>
                <a:ea typeface="Arial"/>
                <a:cs typeface="Arial"/>
              </a:rPr>
              <a:t>based</a:t>
            </a:r>
            <a:r>
              <a:rPr sz="1200">
                <a:solidFill>
                  <a:schemeClr val="tx1"/>
                </a:solidFill>
                <a:latin typeface="Arial"/>
                <a:ea typeface="Arial"/>
                <a:cs typeface="Arial"/>
              </a:rPr>
              <a:t> RL, and </a:t>
            </a:r>
            <a:r>
              <a:rPr sz="1200">
                <a:solidFill>
                  <a:schemeClr val="tx1"/>
                </a:solidFill>
                <a:latin typeface="Arial"/>
                <a:ea typeface="Arial"/>
                <a:cs typeface="Arial"/>
              </a:rPr>
              <a:t>validate</a:t>
            </a:r>
            <a:r>
              <a:rPr sz="1200">
                <a:solidFill>
                  <a:schemeClr val="tx1"/>
                </a:solidFill>
                <a:latin typeface="Arial"/>
                <a:ea typeface="Arial"/>
                <a:cs typeface="Arial"/>
              </a:rPr>
              <a:t> actions </a:t>
            </a:r>
            <a:r>
              <a:rPr sz="1200">
                <a:solidFill>
                  <a:schemeClr val="tx1"/>
                </a:solidFill>
                <a:latin typeface="Arial"/>
                <a:ea typeface="Arial"/>
                <a:cs typeface="Arial"/>
              </a:rPr>
              <a:t>using</a:t>
            </a:r>
            <a:r>
              <a:rPr sz="1200">
                <a:solidFill>
                  <a:schemeClr val="tx1"/>
                </a:solidFill>
                <a:latin typeface="Arial"/>
                <a:ea typeface="Arial"/>
                <a:cs typeface="Arial"/>
              </a:rPr>
              <a:t> power-flow simulations.</a:t>
            </a:r>
          </a:p>
          <a:p xmlns:a="http://schemas.openxmlformats.org/drawingml/2006/main"/>
          <a:p xmlns:a="http://schemas.openxmlformats.org/drawingml/2006/main">
            <a:r>
              <a:rPr sz="1200">
                <a:solidFill>
                  <a:schemeClr val="tx1"/>
                </a:solidFill>
                <a:latin typeface="Arial"/>
                <a:ea typeface="Arial"/>
                <a:cs typeface="Arial"/>
              </a:rPr>
              <a:t>Others</a:t>
            </a:r>
            <a:r>
              <a:rPr sz="1200">
                <a:solidFill>
                  <a:schemeClr val="tx1"/>
                </a:solidFill>
                <a:latin typeface="Arial"/>
                <a:ea typeface="Arial"/>
                <a:cs typeface="Arial"/>
              </a:rPr>
              <a:t> </a:t>
            </a:r>
            <a:r>
              <a:rPr sz="1200">
                <a:solidFill>
                  <a:schemeClr val="tx1"/>
                </a:solidFill>
                <a:latin typeface="Arial"/>
                <a:ea typeface="Arial"/>
                <a:cs typeface="Arial"/>
              </a:rPr>
              <a:t>reduce</a:t>
            </a:r>
            <a:r>
              <a:rPr sz="1200">
                <a:solidFill>
                  <a:schemeClr val="tx1"/>
                </a:solidFill>
                <a:latin typeface="Arial"/>
                <a:ea typeface="Arial"/>
                <a:cs typeface="Arial"/>
              </a:rPr>
              <a:t> the action </a:t>
            </a:r>
            <a:r>
              <a:rPr sz="1200">
                <a:solidFill>
                  <a:schemeClr val="tx1"/>
                </a:solidFill>
                <a:latin typeface="Arial"/>
                <a:ea typeface="Arial"/>
                <a:cs typeface="Arial"/>
              </a:rPr>
              <a:t>space</a:t>
            </a:r>
            <a:r>
              <a:rPr sz="1200">
                <a:solidFill>
                  <a:schemeClr val="tx1"/>
                </a:solidFill>
                <a:latin typeface="Arial"/>
                <a:ea typeface="Arial"/>
                <a:cs typeface="Arial"/>
              </a:rPr>
              <a:t> </a:t>
            </a:r>
            <a:r>
              <a:rPr sz="1200">
                <a:solidFill>
                  <a:schemeClr val="tx1"/>
                </a:solidFill>
                <a:latin typeface="Arial"/>
                <a:ea typeface="Arial"/>
                <a:cs typeface="Arial"/>
              </a:rPr>
              <a:t>using</a:t>
            </a:r>
            <a:r>
              <a:rPr sz="1200">
                <a:solidFill>
                  <a:schemeClr val="tx1"/>
                </a:solidFill>
                <a:latin typeface="Arial"/>
                <a:ea typeface="Arial"/>
                <a:cs typeface="Arial"/>
              </a:rPr>
              <a:t> </a:t>
            </a:r>
            <a:r>
              <a:rPr sz="1200">
                <a:solidFill>
                  <a:schemeClr val="tx1"/>
                </a:solidFill>
                <a:latin typeface="Arial"/>
                <a:ea typeface="Arial"/>
                <a:cs typeface="Arial"/>
              </a:rPr>
              <a:t>masking</a:t>
            </a:r>
            <a:r>
              <a:rPr sz="1200">
                <a:solidFill>
                  <a:schemeClr val="tx1"/>
                </a:solidFill>
                <a:latin typeface="Arial"/>
                <a:ea typeface="Arial"/>
                <a:cs typeface="Arial"/>
              </a:rPr>
              <a:t> or </a:t>
            </a:r>
            <a:r>
              <a:rPr sz="1200">
                <a:solidFill>
                  <a:schemeClr val="tx1"/>
                </a:solidFill>
                <a:latin typeface="Arial"/>
                <a:ea typeface="Arial"/>
                <a:cs typeface="Arial"/>
              </a:rPr>
              <a:t>pruning</a:t>
            </a:r>
            <a:r>
              <a:rPr sz="1200">
                <a:solidFill>
                  <a:schemeClr val="tx1"/>
                </a:solidFill>
                <a:latin typeface="Arial"/>
                <a:ea typeface="Arial"/>
                <a:cs typeface="Arial"/>
              </a:rPr>
              <a:t>.</a:t>
            </a:r>
          </a:p>
          <a:p xmlns:a="http://schemas.openxmlformats.org/drawingml/2006/main"/>
          <a:p xmlns:a="http://schemas.openxmlformats.org/drawingml/2006/main">
            <a:r>
              <a:rPr sz="1200">
                <a:solidFill>
                  <a:schemeClr val="tx1"/>
                </a:solidFill>
                <a:latin typeface="Arial"/>
                <a:ea typeface="Arial"/>
                <a:cs typeface="Arial"/>
              </a:rPr>
              <a:t>These</a:t>
            </a:r>
            <a:r>
              <a:rPr sz="1200">
                <a:solidFill>
                  <a:schemeClr val="tx1"/>
                </a:solidFill>
                <a:latin typeface="Arial"/>
                <a:ea typeface="Arial"/>
                <a:cs typeface="Arial"/>
              </a:rPr>
              <a:t> </a:t>
            </a:r>
            <a:r>
              <a:rPr sz="1200">
                <a:solidFill>
                  <a:schemeClr val="tx1"/>
                </a:solidFill>
                <a:latin typeface="Arial"/>
                <a:ea typeface="Arial"/>
                <a:cs typeface="Arial"/>
              </a:rPr>
              <a:t>methods</a:t>
            </a:r>
            <a:r>
              <a:rPr sz="1200">
                <a:solidFill>
                  <a:schemeClr val="tx1"/>
                </a:solidFill>
                <a:latin typeface="Arial"/>
                <a:ea typeface="Arial"/>
                <a:cs typeface="Arial"/>
              </a:rPr>
              <a:t> can </a:t>
            </a:r>
            <a:r>
              <a:rPr sz="1200">
                <a:solidFill>
                  <a:schemeClr val="tx1"/>
                </a:solidFill>
                <a:latin typeface="Arial"/>
                <a:ea typeface="Arial"/>
                <a:cs typeface="Arial"/>
              </a:rPr>
              <a:t>work</a:t>
            </a:r>
            <a:r>
              <a:rPr sz="1200">
                <a:solidFill>
                  <a:schemeClr val="tx1"/>
                </a:solidFill>
                <a:latin typeface="Arial"/>
                <a:ea typeface="Arial"/>
                <a:cs typeface="Arial"/>
              </a:rPr>
              <a:t>, </a:t>
            </a:r>
            <a:r>
              <a:rPr sz="1200">
                <a:solidFill>
                  <a:schemeClr val="tx1"/>
                </a:solidFill>
                <a:latin typeface="Arial"/>
                <a:ea typeface="Arial"/>
                <a:cs typeface="Arial"/>
              </a:rPr>
              <a:t>so</a:t>
            </a:r>
            <a:r>
              <a:rPr sz="1200">
                <a:solidFill>
                  <a:schemeClr val="tx1"/>
                </a:solidFill>
                <a:latin typeface="Arial"/>
                <a:ea typeface="Arial"/>
                <a:cs typeface="Arial"/>
              </a:rPr>
              <a:t> </a:t>
            </a:r>
            <a:r>
              <a:rPr sz="1200">
                <a:solidFill>
                  <a:schemeClr val="tx1"/>
                </a:solidFill>
                <a:latin typeface="Arial"/>
                <a:ea typeface="Arial"/>
                <a:cs typeface="Arial"/>
              </a:rPr>
              <a:t>mixing</a:t>
            </a:r>
            <a:r>
              <a:rPr sz="1200">
                <a:solidFill>
                  <a:schemeClr val="tx1"/>
                </a:solidFill>
                <a:latin typeface="Arial"/>
                <a:ea typeface="Arial"/>
                <a:cs typeface="Arial"/>
              </a:rPr>
              <a:t> a single agent </a:t>
            </a:r>
            <a:r>
              <a:rPr sz="1200">
                <a:solidFill>
                  <a:schemeClr val="tx1"/>
                </a:solidFill>
                <a:latin typeface="Arial"/>
                <a:ea typeface="Arial"/>
                <a:cs typeface="Arial"/>
              </a:rPr>
              <a:t>with</a:t>
            </a:r>
            <a:r>
              <a:rPr sz="1200">
                <a:solidFill>
                  <a:schemeClr val="tx1"/>
                </a:solidFill>
                <a:latin typeface="Arial"/>
                <a:ea typeface="Arial"/>
                <a:cs typeface="Arial"/>
              </a:rPr>
              <a:t> </a:t>
            </a:r>
            <a:r>
              <a:rPr sz="1200">
                <a:solidFill>
                  <a:schemeClr val="tx1"/>
                </a:solidFill>
                <a:latin typeface="Arial"/>
                <a:ea typeface="Arial"/>
                <a:cs typeface="Arial"/>
              </a:rPr>
              <a:t>rules</a:t>
            </a:r>
            <a:r>
              <a:rPr sz="1200">
                <a:solidFill>
                  <a:schemeClr val="tx1"/>
                </a:solidFill>
                <a:latin typeface="Arial"/>
                <a:ea typeface="Arial"/>
                <a:cs typeface="Arial"/>
              </a:rPr>
              <a:t>, but </a:t>
            </a:r>
            <a:r>
              <a:rPr sz="1200">
                <a:solidFill>
                  <a:schemeClr val="tx1"/>
                </a:solidFill>
                <a:latin typeface="Arial"/>
                <a:ea typeface="Arial"/>
                <a:cs typeface="Arial"/>
              </a:rPr>
              <a:t>they</a:t>
            </a:r>
            <a:r>
              <a:rPr sz="1200">
                <a:solidFill>
                  <a:schemeClr val="tx1"/>
                </a:solidFill>
                <a:latin typeface="Arial"/>
                <a:ea typeface="Arial"/>
                <a:cs typeface="Arial"/>
              </a:rPr>
              <a:t> </a:t>
            </a:r>
            <a:r>
              <a:rPr sz="1200">
                <a:solidFill>
                  <a:schemeClr val="tx1"/>
                </a:solidFill>
                <a:latin typeface="Arial"/>
                <a:ea typeface="Arial"/>
                <a:cs typeface="Arial"/>
              </a:rPr>
              <a:t>suffer</a:t>
            </a:r>
            <a:r>
              <a:rPr sz="1200">
                <a:solidFill>
                  <a:schemeClr val="tx1"/>
                </a:solidFill>
                <a:latin typeface="Arial"/>
                <a:ea typeface="Arial"/>
                <a:cs typeface="Arial"/>
              </a:rPr>
              <a:t> </a:t>
            </a:r>
            <a:r>
              <a:rPr sz="1200">
                <a:solidFill>
                  <a:schemeClr val="tx1"/>
                </a:solidFill>
                <a:latin typeface="Arial"/>
                <a:ea typeface="Arial"/>
                <a:cs typeface="Arial"/>
              </a:rPr>
              <a:t>because</a:t>
            </a:r>
            <a:r>
              <a:rPr sz="1200">
                <a:solidFill>
                  <a:schemeClr val="tx1"/>
                </a:solidFill>
                <a:latin typeface="Arial"/>
                <a:ea typeface="Arial"/>
                <a:cs typeface="Arial"/>
              </a:rPr>
              <a:t> the action </a:t>
            </a:r>
            <a:r>
              <a:rPr sz="1200">
                <a:solidFill>
                  <a:schemeClr val="tx1"/>
                </a:solidFill>
                <a:latin typeface="Arial"/>
                <a:ea typeface="Arial"/>
                <a:cs typeface="Arial"/>
              </a:rPr>
              <a:t>space</a:t>
            </a:r>
            <a:r>
              <a:rPr sz="1200">
                <a:solidFill>
                  <a:schemeClr val="tx1"/>
                </a:solidFill>
                <a:latin typeface="Arial"/>
                <a:ea typeface="Arial"/>
                <a:cs typeface="Arial"/>
              </a:rPr>
              <a:t> </a:t>
            </a:r>
            <a:r>
              <a:rPr sz="1200">
                <a:solidFill>
                  <a:schemeClr val="tx1"/>
                </a:solidFill>
                <a:latin typeface="Arial"/>
                <a:ea typeface="Arial"/>
                <a:cs typeface="Arial"/>
              </a:rPr>
              <a:t>remains</a:t>
            </a:r>
            <a:r>
              <a:rPr sz="1200">
                <a:solidFill>
                  <a:schemeClr val="tx1"/>
                </a:solidFill>
                <a:latin typeface="Arial"/>
                <a:ea typeface="Arial"/>
                <a:cs typeface="Arial"/>
              </a:rPr>
              <a:t> </a:t>
            </a:r>
            <a:r>
              <a:rPr sz="1200">
                <a:solidFill>
                  <a:schemeClr val="tx1"/>
                </a:solidFill>
                <a:latin typeface="Arial"/>
                <a:ea typeface="Arial"/>
                <a:cs typeface="Arial"/>
              </a:rPr>
              <a:t>very</a:t>
            </a:r>
            <a:r>
              <a:rPr sz="1200">
                <a:solidFill>
                  <a:schemeClr val="tx1"/>
                </a:solidFill>
                <a:latin typeface="Arial"/>
                <a:ea typeface="Arial"/>
                <a:cs typeface="Arial"/>
              </a:rPr>
              <a:t> large.”</a:t>
            </a:r>
          </a:p>
          <a:p xmlns:a="http://schemas.openxmlformats.org/drawingml/2006/main"/>
          <a:p xmlns:a="http://schemas.openxmlformats.org/drawingml/2006/main">
            <a:r>
              <a:rPr sz="1200">
                <a:solidFill>
                  <a:schemeClr val="tx1"/>
                </a:solidFill>
                <a:latin typeface="Arial"/>
                <a:ea typeface="Arial"/>
                <a:cs typeface="Arial"/>
              </a:rPr>
              <a:t>Another</a:t>
            </a:r>
            <a:r>
              <a:rPr sz="1200">
                <a:solidFill>
                  <a:schemeClr val="tx1"/>
                </a:solidFill>
                <a:latin typeface="Arial"/>
                <a:ea typeface="Arial"/>
                <a:cs typeface="Arial"/>
              </a:rPr>
              <a:t> important </a:t>
            </a:r>
            <a:r>
              <a:rPr sz="1200">
                <a:solidFill>
                  <a:schemeClr val="tx1"/>
                </a:solidFill>
                <a:latin typeface="Arial"/>
                <a:ea typeface="Arial"/>
                <a:cs typeface="Arial"/>
              </a:rPr>
              <a:t>idea</a:t>
            </a:r>
            <a:r>
              <a:rPr sz="1200">
                <a:solidFill>
                  <a:schemeClr val="tx1"/>
                </a:solidFill>
                <a:latin typeface="Arial"/>
                <a:ea typeface="Arial"/>
                <a:cs typeface="Arial"/>
              </a:rPr>
              <a:t> </a:t>
            </a:r>
            <a:r>
              <a:rPr sz="1200">
                <a:solidFill>
                  <a:schemeClr val="tx1"/>
                </a:solidFill>
                <a:latin typeface="Arial"/>
                <a:ea typeface="Arial"/>
                <a:cs typeface="Arial"/>
              </a:rPr>
              <a:t>is</a:t>
            </a:r>
            <a:r>
              <a:rPr sz="1200">
                <a:solidFill>
                  <a:schemeClr val="tx1"/>
                </a:solidFill>
                <a:latin typeface="Arial"/>
                <a:ea typeface="Arial"/>
                <a:cs typeface="Arial"/>
              </a:rPr>
              <a:t> to </a:t>
            </a:r>
            <a:r>
              <a:rPr sz="1200">
                <a:solidFill>
                  <a:schemeClr val="tx1"/>
                </a:solidFill>
                <a:latin typeface="Arial"/>
                <a:ea typeface="Arial"/>
                <a:cs typeface="Arial"/>
              </a:rPr>
              <a:t>predict</a:t>
            </a:r>
            <a:r>
              <a:rPr sz="1200">
                <a:solidFill>
                  <a:schemeClr val="tx1"/>
                </a:solidFill>
                <a:latin typeface="Arial"/>
                <a:ea typeface="Arial"/>
                <a:cs typeface="Arial"/>
              </a:rPr>
              <a:t> a </a:t>
            </a:r>
            <a:r>
              <a:rPr sz="1200" b="1">
                <a:solidFill>
                  <a:schemeClr val="tx1"/>
                </a:solidFill>
                <a:latin typeface="Arial"/>
                <a:ea typeface="Arial"/>
                <a:cs typeface="Arial"/>
              </a:rPr>
              <a:t>target</a:t>
            </a:r>
            <a:r>
              <a:rPr sz="1200" b="1">
                <a:solidFill>
                  <a:schemeClr val="tx1"/>
                </a:solidFill>
                <a:latin typeface="Arial"/>
                <a:ea typeface="Arial"/>
                <a:cs typeface="Arial"/>
              </a:rPr>
              <a:t> </a:t>
            </a:r>
            <a:r>
              <a:rPr sz="1200" b="1">
                <a:solidFill>
                  <a:schemeClr val="tx1"/>
                </a:solidFill>
                <a:latin typeface="Arial"/>
                <a:ea typeface="Arial"/>
                <a:cs typeface="Arial"/>
              </a:rPr>
              <a:t>topology</a:t>
            </a:r>
            <a:r>
              <a:rPr sz="1200" b="1">
                <a:solidFill>
                  <a:schemeClr val="tx1"/>
                </a:solidFill>
                <a:latin typeface="Arial"/>
                <a:ea typeface="Arial"/>
                <a:cs typeface="Arial"/>
              </a:rPr>
              <a:t> </a:t>
            </a:r>
            <a:r>
              <a:rPr sz="1200" b="1">
                <a:solidFill>
                  <a:schemeClr val="tx1"/>
                </a:solidFill>
                <a:latin typeface="Arial"/>
                <a:ea typeface="Arial"/>
                <a:cs typeface="Arial"/>
              </a:rPr>
              <a:t>instead</a:t>
            </a:r>
            <a:r>
              <a:rPr sz="1200" b="1">
                <a:solidFill>
                  <a:schemeClr val="tx1"/>
                </a:solidFill>
                <a:latin typeface="Arial"/>
                <a:ea typeface="Arial"/>
                <a:cs typeface="Arial"/>
              </a:rPr>
              <a:t> of </a:t>
            </a:r>
            <a:r>
              <a:rPr sz="1200" b="1">
                <a:solidFill>
                  <a:schemeClr val="tx1"/>
                </a:solidFill>
                <a:latin typeface="Arial"/>
                <a:ea typeface="Arial"/>
                <a:cs typeface="Arial"/>
              </a:rPr>
              <a:t>raw</a:t>
            </a:r>
            <a:r>
              <a:rPr sz="1200" b="1">
                <a:solidFill>
                  <a:schemeClr val="tx1"/>
                </a:solidFill>
                <a:latin typeface="Arial"/>
                <a:ea typeface="Arial"/>
                <a:cs typeface="Arial"/>
              </a:rPr>
              <a:t> actions</a:t>
            </a:r>
            <a:r>
              <a:rPr sz="1200">
                <a:solidFill>
                  <a:schemeClr val="tx1"/>
                </a:solidFill>
                <a:latin typeface="Arial"/>
                <a:ea typeface="Arial"/>
                <a:cs typeface="Arial"/>
              </a:rPr>
              <a:t>.</a:t>
            </a:r>
          </a:p>
          <a:p xmlns:a="http://schemas.openxmlformats.org/drawingml/2006/main"/>
          <a:p xmlns:a="http://schemas.openxmlformats.org/drawingml/2006/main">
            <a:r>
              <a:rPr sz="1200">
                <a:solidFill>
                  <a:schemeClr val="tx1"/>
                </a:solidFill>
                <a:latin typeface="Arial"/>
                <a:ea typeface="Arial"/>
                <a:cs typeface="Arial"/>
              </a:rPr>
              <a:t>This </a:t>
            </a:r>
            <a:r>
              <a:rPr sz="1200">
                <a:solidFill>
                  <a:schemeClr val="tx1"/>
                </a:solidFill>
                <a:latin typeface="Arial"/>
                <a:ea typeface="Arial"/>
                <a:cs typeface="Arial"/>
              </a:rPr>
              <a:t>is</a:t>
            </a:r>
            <a:r>
              <a:rPr sz="1200">
                <a:solidFill>
                  <a:schemeClr val="tx1"/>
                </a:solidFill>
                <a:latin typeface="Arial"/>
                <a:ea typeface="Arial"/>
                <a:cs typeface="Arial"/>
              </a:rPr>
              <a:t> </a:t>
            </a:r>
            <a:r>
              <a:rPr sz="1200">
                <a:solidFill>
                  <a:schemeClr val="tx1"/>
                </a:solidFill>
                <a:latin typeface="Arial"/>
                <a:ea typeface="Arial"/>
                <a:cs typeface="Arial"/>
              </a:rPr>
              <a:t>used</a:t>
            </a:r>
            <a:r>
              <a:rPr sz="1200">
                <a:solidFill>
                  <a:schemeClr val="tx1"/>
                </a:solidFill>
                <a:latin typeface="Arial"/>
                <a:ea typeface="Arial"/>
                <a:cs typeface="Arial"/>
              </a:rPr>
              <a:t> in SMAAC, </a:t>
            </a:r>
            <a:r>
              <a:rPr sz="1200">
                <a:solidFill>
                  <a:schemeClr val="tx1"/>
                </a:solidFill>
                <a:latin typeface="Arial"/>
                <a:ea typeface="Arial"/>
                <a:cs typeface="Arial"/>
              </a:rPr>
              <a:t>where</a:t>
            </a:r>
            <a:r>
              <a:rPr sz="1200">
                <a:solidFill>
                  <a:schemeClr val="tx1"/>
                </a:solidFill>
                <a:latin typeface="Arial"/>
                <a:ea typeface="Arial"/>
                <a:cs typeface="Arial"/>
              </a:rPr>
              <a:t> </a:t>
            </a:r>
            <a:r>
              <a:rPr sz="1200">
                <a:solidFill>
                  <a:schemeClr val="tx1"/>
                </a:solidFill>
                <a:latin typeface="Arial"/>
                <a:ea typeface="Arial"/>
                <a:cs typeface="Arial"/>
              </a:rPr>
              <a:t>the</a:t>
            </a:r>
            <a:r>
              <a:rPr sz="1200">
                <a:solidFill>
                  <a:schemeClr val="tx1"/>
                </a:solidFill>
                <a:latin typeface="Arial"/>
                <a:ea typeface="Arial"/>
                <a:cs typeface="Arial"/>
              </a:rPr>
              <a:t> </a:t>
            </a:r>
            <a:r>
              <a:rPr sz="1200">
                <a:solidFill>
                  <a:schemeClr val="tx1"/>
                </a:solidFill>
                <a:latin typeface="Arial"/>
                <a:ea typeface="Arial"/>
                <a:cs typeface="Arial"/>
              </a:rPr>
              <a:t>agent</a:t>
            </a:r>
            <a:r>
              <a:rPr sz="1200">
                <a:solidFill>
                  <a:schemeClr val="tx1"/>
                </a:solidFill>
                <a:latin typeface="Arial"/>
                <a:ea typeface="Arial"/>
                <a:cs typeface="Arial"/>
              </a:rPr>
              <a:t> </a:t>
            </a:r>
            <a:r>
              <a:rPr sz="1200">
                <a:solidFill>
                  <a:schemeClr val="tx1"/>
                </a:solidFill>
                <a:latin typeface="Arial"/>
                <a:ea typeface="Arial"/>
                <a:cs typeface="Arial"/>
              </a:rPr>
              <a:t>learns</a:t>
            </a:r>
            <a:r>
              <a:rPr sz="1200">
                <a:solidFill>
                  <a:schemeClr val="tx1"/>
                </a:solidFill>
                <a:latin typeface="Arial"/>
                <a:ea typeface="Arial"/>
                <a:cs typeface="Arial"/>
              </a:rPr>
              <a:t> an </a:t>
            </a:r>
            <a:r>
              <a:rPr sz="1200">
                <a:solidFill>
                  <a:schemeClr val="tx1"/>
                </a:solidFill>
                <a:latin typeface="Arial"/>
                <a:ea typeface="Arial"/>
                <a:cs typeface="Arial"/>
              </a:rPr>
              <a:t>afterstate</a:t>
            </a:r>
            <a:r>
              <a:rPr sz="1200">
                <a:solidFill>
                  <a:schemeClr val="tx1"/>
                </a:solidFill>
                <a:latin typeface="Arial"/>
                <a:ea typeface="Arial"/>
                <a:cs typeface="Arial"/>
              </a:rPr>
              <a:t> </a:t>
            </a:r>
            <a:r>
              <a:rPr sz="1200">
                <a:solidFill>
                  <a:schemeClr val="tx1"/>
                </a:solidFill>
                <a:latin typeface="Arial"/>
                <a:ea typeface="Arial"/>
                <a:cs typeface="Arial"/>
              </a:rPr>
              <a:t>representation</a:t>
            </a:r>
            <a:r>
              <a:rPr sz="1200">
                <a:solidFill>
                  <a:schemeClr val="tx1"/>
                </a:solidFill>
                <a:latin typeface="Arial"/>
                <a:ea typeface="Arial"/>
                <a:cs typeface="Arial"/>
              </a:rPr>
              <a:t>—</a:t>
            </a:r>
            <a:r>
              <a:rPr sz="1200">
                <a:solidFill>
                  <a:schemeClr val="tx1"/>
                </a:solidFill>
                <a:latin typeface="Arial"/>
                <a:ea typeface="Arial"/>
                <a:cs typeface="Arial"/>
              </a:rPr>
              <a:t>basically</a:t>
            </a:r>
            <a:r>
              <a:rPr sz="1200">
                <a:solidFill>
                  <a:schemeClr val="tx1"/>
                </a:solidFill>
                <a:latin typeface="Arial"/>
                <a:ea typeface="Arial"/>
                <a:cs typeface="Arial"/>
              </a:rPr>
              <a:t> </a:t>
            </a:r>
            <a:r>
              <a:rPr sz="1200">
                <a:solidFill>
                  <a:schemeClr val="tx1"/>
                </a:solidFill>
                <a:latin typeface="Arial"/>
                <a:ea typeface="Arial"/>
                <a:cs typeface="Arial"/>
              </a:rPr>
              <a:t>the</a:t>
            </a:r>
            <a:r>
              <a:rPr sz="1200">
                <a:solidFill>
                  <a:schemeClr val="tx1"/>
                </a:solidFill>
                <a:latin typeface="Arial"/>
                <a:ea typeface="Arial"/>
                <a:cs typeface="Arial"/>
              </a:rPr>
              <a:t> </a:t>
            </a:r>
            <a:r>
              <a:rPr sz="1200">
                <a:solidFill>
                  <a:schemeClr val="tx1"/>
                </a:solidFill>
                <a:latin typeface="Arial"/>
                <a:ea typeface="Arial"/>
                <a:cs typeface="Arial"/>
              </a:rPr>
              <a:t>resulting</a:t>
            </a:r>
            <a:r>
              <a:rPr sz="1200">
                <a:solidFill>
                  <a:schemeClr val="tx1"/>
                </a:solidFill>
                <a:latin typeface="Arial"/>
                <a:ea typeface="Arial"/>
                <a:cs typeface="Arial"/>
              </a:rPr>
              <a:t> </a:t>
            </a:r>
            <a:r>
              <a:rPr sz="1200">
                <a:solidFill>
                  <a:schemeClr val="tx1"/>
                </a:solidFill>
                <a:latin typeface="Arial"/>
                <a:ea typeface="Arial"/>
                <a:cs typeface="Arial"/>
              </a:rPr>
              <a:t>topology</a:t>
            </a:r>
            <a:r>
              <a:rPr sz="1200">
                <a:solidFill>
                  <a:schemeClr val="tx1"/>
                </a:solidFill>
                <a:latin typeface="Arial"/>
                <a:ea typeface="Arial"/>
                <a:cs typeface="Arial"/>
              </a:rPr>
              <a:t> after an </a:t>
            </a:r>
            <a:r>
              <a:rPr sz="1200">
                <a:solidFill>
                  <a:schemeClr val="tx1"/>
                </a:solidFill>
                <a:latin typeface="Arial"/>
                <a:ea typeface="Arial"/>
                <a:cs typeface="Arial"/>
              </a:rPr>
              <a:t>action</a:t>
            </a:r>
            <a:r>
              <a:rPr sz="1200">
                <a:solidFill>
                  <a:schemeClr val="tx1"/>
                </a:solidFill>
                <a:latin typeface="Arial"/>
                <a:ea typeface="Arial"/>
                <a:cs typeface="Arial"/>
              </a:rPr>
              <a:t>.</a:t>
            </a:r>
          </a:p>
          <a:p xmlns:a="http://schemas.openxmlformats.org/drawingml/2006/main"/>
          <a:p xmlns:a="http://schemas.openxmlformats.org/drawingml/2006/main">
            <a:r>
              <a:rPr sz="1200">
                <a:solidFill>
                  <a:schemeClr val="tx1"/>
                </a:solidFill>
                <a:latin typeface="Arial"/>
                <a:ea typeface="Arial"/>
                <a:cs typeface="Arial"/>
              </a:rPr>
              <a:t>This </a:t>
            </a:r>
            <a:r>
              <a:rPr sz="1200">
                <a:solidFill>
                  <a:schemeClr val="tx1"/>
                </a:solidFill>
                <a:latin typeface="Arial"/>
                <a:ea typeface="Arial"/>
                <a:cs typeface="Arial"/>
              </a:rPr>
              <a:t>helps</a:t>
            </a:r>
            <a:r>
              <a:rPr sz="1200">
                <a:solidFill>
                  <a:schemeClr val="tx1"/>
                </a:solidFill>
                <a:latin typeface="Arial"/>
                <a:ea typeface="Arial"/>
                <a:cs typeface="Arial"/>
              </a:rPr>
              <a:t> </a:t>
            </a:r>
            <a:r>
              <a:rPr sz="1200">
                <a:solidFill>
                  <a:schemeClr val="tx1"/>
                </a:solidFill>
                <a:latin typeface="Arial"/>
                <a:ea typeface="Arial"/>
                <a:cs typeface="Arial"/>
              </a:rPr>
              <a:t>because</a:t>
            </a:r>
            <a:r>
              <a:rPr sz="1200">
                <a:solidFill>
                  <a:schemeClr val="tx1"/>
                </a:solidFill>
                <a:latin typeface="Arial"/>
                <a:ea typeface="Arial"/>
                <a:cs typeface="Arial"/>
              </a:rPr>
              <a:t> multiple </a:t>
            </a:r>
            <a:r>
              <a:rPr sz="1200">
                <a:solidFill>
                  <a:schemeClr val="tx1"/>
                </a:solidFill>
                <a:latin typeface="Arial"/>
                <a:ea typeface="Arial"/>
                <a:cs typeface="Arial"/>
              </a:rPr>
              <a:t>sequences</a:t>
            </a:r>
            <a:r>
              <a:rPr sz="1200">
                <a:solidFill>
                  <a:schemeClr val="tx1"/>
                </a:solidFill>
                <a:latin typeface="Arial"/>
                <a:ea typeface="Arial"/>
                <a:cs typeface="Arial"/>
              </a:rPr>
              <a:t> of actions can lead to the </a:t>
            </a:r>
            <a:r>
              <a:rPr sz="1200">
                <a:solidFill>
                  <a:schemeClr val="tx1"/>
                </a:solidFill>
                <a:latin typeface="Arial"/>
                <a:ea typeface="Arial"/>
                <a:cs typeface="Arial"/>
              </a:rPr>
              <a:t>same</a:t>
            </a:r>
            <a:r>
              <a:rPr sz="1200">
                <a:solidFill>
                  <a:schemeClr val="tx1"/>
                </a:solidFill>
                <a:latin typeface="Arial"/>
                <a:ea typeface="Arial"/>
                <a:cs typeface="Arial"/>
              </a:rPr>
              <a:t> configuration. So </a:t>
            </a:r>
            <a:r>
              <a:rPr sz="1200">
                <a:solidFill>
                  <a:schemeClr val="tx1"/>
                </a:solidFill>
                <a:latin typeface="Arial"/>
                <a:ea typeface="Arial"/>
                <a:cs typeface="Arial"/>
              </a:rPr>
              <a:t>it</a:t>
            </a:r>
            <a:r>
              <a:rPr sz="1200">
                <a:solidFill>
                  <a:schemeClr val="tx1"/>
                </a:solidFill>
                <a:latin typeface="Arial"/>
                <a:ea typeface="Arial"/>
                <a:cs typeface="Arial"/>
              </a:rPr>
              <a:t> </a:t>
            </a:r>
            <a:r>
              <a:rPr sz="1200">
                <a:solidFill>
                  <a:schemeClr val="tx1"/>
                </a:solidFill>
                <a:latin typeface="Arial"/>
                <a:ea typeface="Arial"/>
                <a:cs typeface="Arial"/>
              </a:rPr>
              <a:t>reduces</a:t>
            </a:r>
            <a:r>
              <a:rPr sz="1200">
                <a:solidFill>
                  <a:schemeClr val="tx1"/>
                </a:solidFill>
                <a:latin typeface="Arial"/>
                <a:ea typeface="Arial"/>
                <a:cs typeface="Arial"/>
              </a:rPr>
              <a:t> the action </a:t>
            </a:r>
            <a:r>
              <a:rPr sz="1200">
                <a:solidFill>
                  <a:schemeClr val="tx1"/>
                </a:solidFill>
                <a:latin typeface="Arial"/>
                <a:ea typeface="Arial"/>
                <a:cs typeface="Arial"/>
              </a:rPr>
              <a:t>space</a:t>
            </a:r>
          </a:p>
          <a:p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a:solidFill>
                  <a:schemeClr val="tx1"/>
                </a:solidFill>
                <a:latin typeface="Arial"/>
                <a:ea typeface="Arial"/>
                <a:cs typeface="Arial"/>
              </a:rPr>
              <a:t>To dive a </a:t>
            </a:r>
            <a:r>
              <a:rPr sz="1200">
                <a:solidFill>
                  <a:schemeClr val="tx1"/>
                </a:solidFill>
                <a:latin typeface="Arial"/>
                <a:ea typeface="Arial"/>
                <a:cs typeface="Arial"/>
              </a:rPr>
              <a:t>little</a:t>
            </a:r>
            <a:r>
              <a:rPr sz="1200">
                <a:solidFill>
                  <a:schemeClr val="tx1"/>
                </a:solidFill>
                <a:latin typeface="Arial"/>
                <a:ea typeface="Arial"/>
                <a:cs typeface="Arial"/>
              </a:rPr>
              <a:t> </a:t>
            </a:r>
            <a:r>
              <a:rPr sz="1200">
                <a:solidFill>
                  <a:schemeClr val="tx1"/>
                </a:solidFill>
                <a:latin typeface="Arial"/>
                <a:ea typeface="Arial"/>
                <a:cs typeface="Arial"/>
              </a:rPr>
              <a:t>deeper</a:t>
            </a:r>
            <a:r>
              <a:rPr sz="1200">
                <a:solidFill>
                  <a:schemeClr val="tx1"/>
                </a:solidFill>
                <a:latin typeface="Arial"/>
                <a:ea typeface="Arial"/>
                <a:cs typeface="Arial"/>
              </a:rPr>
              <a:t> i have been </a:t>
            </a:r>
            <a:r>
              <a:rPr sz="1200">
                <a:solidFill>
                  <a:schemeClr val="tx1"/>
                </a:solidFill>
                <a:latin typeface="Arial"/>
                <a:ea typeface="Arial"/>
                <a:cs typeface="Arial"/>
              </a:rPr>
              <a:t>looking</a:t>
            </a:r>
            <a:r>
              <a:rPr sz="1200">
                <a:solidFill>
                  <a:schemeClr val="tx1"/>
                </a:solidFill>
                <a:latin typeface="Arial"/>
                <a:ea typeface="Arial"/>
                <a:cs typeface="Arial"/>
              </a:rPr>
              <a:t> at a </a:t>
            </a:r>
            <a:r>
              <a:rPr sz="1200">
                <a:solidFill>
                  <a:schemeClr val="tx1"/>
                </a:solidFill>
                <a:latin typeface="Arial"/>
                <a:ea typeface="Arial"/>
                <a:cs typeface="Arial"/>
              </a:rPr>
              <a:t>survey</a:t>
            </a:r>
            <a:r>
              <a:rPr sz="1200">
                <a:solidFill>
                  <a:schemeClr val="tx1"/>
                </a:solidFill>
                <a:latin typeface="Arial"/>
                <a:ea typeface="Arial"/>
                <a:cs typeface="Arial"/>
              </a:rPr>
              <a:t> </a:t>
            </a:r>
            <a:r>
              <a:rPr sz="1200">
                <a:solidFill>
                  <a:schemeClr val="tx1"/>
                </a:solidFill>
                <a:latin typeface="Arial"/>
                <a:ea typeface="Arial"/>
                <a:cs typeface="Arial"/>
              </a:rPr>
              <a:t>that</a:t>
            </a:r>
            <a:r>
              <a:rPr sz="1200">
                <a:solidFill>
                  <a:schemeClr val="tx1"/>
                </a:solidFill>
                <a:latin typeface="Arial"/>
                <a:ea typeface="Arial"/>
                <a:cs typeface="Arial"/>
              </a:rPr>
              <a:t> </a:t>
            </a:r>
            <a:r>
              <a:rPr sz="1200">
                <a:solidFill>
                  <a:schemeClr val="tx1"/>
                </a:solidFill>
                <a:latin typeface="Arial"/>
                <a:ea typeface="Arial"/>
                <a:cs typeface="Arial"/>
              </a:rPr>
              <a:t>summarize</a:t>
            </a:r>
            <a:r>
              <a:rPr sz="1200">
                <a:solidFill>
                  <a:schemeClr val="tx1"/>
                </a:solidFill>
                <a:latin typeface="Arial"/>
                <a:ea typeface="Arial"/>
                <a:cs typeface="Arial"/>
              </a:rPr>
              <a:t> all the </a:t>
            </a:r>
            <a:r>
              <a:rPr sz="1200">
                <a:solidFill>
                  <a:schemeClr val="tx1"/>
                </a:solidFill>
                <a:latin typeface="Arial"/>
                <a:ea typeface="Arial"/>
                <a:cs typeface="Arial"/>
              </a:rPr>
              <a:t>algorithms</a:t>
            </a:r>
            <a:r>
              <a:rPr sz="1200">
                <a:solidFill>
                  <a:schemeClr val="tx1"/>
                </a:solidFill>
                <a:latin typeface="Arial"/>
                <a:ea typeface="Arial"/>
                <a:cs typeface="Arial"/>
              </a:rPr>
              <a:t> </a:t>
            </a:r>
            <a:r>
              <a:rPr sz="1200">
                <a:solidFill>
                  <a:schemeClr val="tx1"/>
                </a:solidFill>
                <a:latin typeface="Arial"/>
                <a:ea typeface="Arial"/>
                <a:cs typeface="Arial"/>
              </a:rPr>
              <a:t>that</a:t>
            </a:r>
            <a:r>
              <a:rPr sz="1200">
                <a:solidFill>
                  <a:schemeClr val="tx1"/>
                </a:solidFill>
                <a:latin typeface="Arial"/>
                <a:ea typeface="Arial"/>
                <a:cs typeface="Arial"/>
              </a:rPr>
              <a:t> won the l2rpn challenge and </a:t>
            </a:r>
            <a:r>
              <a:rPr sz="1200">
                <a:solidFill>
                  <a:schemeClr val="tx1"/>
                </a:solidFill>
                <a:latin typeface="Arial"/>
                <a:ea typeface="Arial"/>
                <a:cs typeface="Arial"/>
              </a:rPr>
              <a:t>this</a:t>
            </a:r>
            <a:r>
              <a:rPr sz="1200">
                <a:solidFill>
                  <a:schemeClr val="tx1"/>
                </a:solidFill>
                <a:latin typeface="Arial"/>
                <a:ea typeface="Arial"/>
                <a:cs typeface="Arial"/>
              </a:rPr>
              <a:t> </a:t>
            </a:r>
            <a:r>
              <a:rPr sz="1200">
                <a:solidFill>
                  <a:schemeClr val="tx1"/>
                </a:solidFill>
                <a:latin typeface="Arial"/>
                <a:ea typeface="Arial"/>
                <a:cs typeface="Arial"/>
              </a:rPr>
              <a:t>is</a:t>
            </a:r>
            <a:r>
              <a:rPr sz="1200">
                <a:solidFill>
                  <a:schemeClr val="tx1"/>
                </a:solidFill>
                <a:latin typeface="Arial"/>
                <a:ea typeface="Arial"/>
                <a:cs typeface="Arial"/>
              </a:rPr>
              <a:t> the main </a:t>
            </a:r>
            <a:r>
              <a:rPr sz="1200">
                <a:solidFill>
                  <a:schemeClr val="tx1"/>
                </a:solidFill>
                <a:latin typeface="Arial"/>
                <a:ea typeface="Arial"/>
                <a:cs typeface="Arial"/>
              </a:rPr>
              <a:t>categories</a:t>
            </a:r>
            <a:r>
              <a:rPr sz="1200">
                <a:solidFill>
                  <a:schemeClr val="tx1"/>
                </a:solidFill>
                <a:latin typeface="Arial"/>
                <a:ea typeface="Arial"/>
                <a:cs typeface="Arial"/>
              </a:rPr>
              <a:t> of </a:t>
            </a:r>
            <a:r>
              <a:rPr sz="1200">
                <a:solidFill>
                  <a:schemeClr val="tx1"/>
                </a:solidFill>
                <a:latin typeface="Arial"/>
                <a:ea typeface="Arial"/>
                <a:cs typeface="Arial"/>
              </a:rPr>
              <a:t>succesfull</a:t>
            </a:r>
            <a:r>
              <a:rPr sz="1200">
                <a:solidFill>
                  <a:schemeClr val="tx1"/>
                </a:solidFill>
                <a:latin typeface="Arial"/>
                <a:ea typeface="Arial"/>
                <a:cs typeface="Arial"/>
              </a:rPr>
              <a:t> </a:t>
            </a:r>
            <a:r>
              <a:rPr sz="1200">
                <a:solidFill>
                  <a:schemeClr val="tx1"/>
                </a:solidFill>
                <a:latin typeface="Arial"/>
                <a:ea typeface="Arial"/>
                <a:cs typeface="Arial"/>
              </a:rPr>
              <a:t>agentthat</a:t>
            </a:r>
            <a:r>
              <a:rPr sz="1200">
                <a:solidFill>
                  <a:schemeClr val="tx1"/>
                </a:solidFill>
                <a:latin typeface="Arial"/>
                <a:ea typeface="Arial"/>
                <a:cs typeface="Arial"/>
              </a:rPr>
              <a:t> won the challenge.</a:t>
            </a:r>
          </a:p>
          <a:p xmlns:a="http://schemas.openxmlformats.org/drawingml/2006/main"/>
          <a:p xmlns:a="http://schemas.openxmlformats.org/drawingml/2006/main">
            <a:r>
              <a:rPr sz="1200">
                <a:solidFill>
                  <a:schemeClr val="tx1"/>
                </a:solidFill>
                <a:latin typeface="Arial"/>
                <a:ea typeface="Arial"/>
                <a:cs typeface="Arial"/>
              </a:rPr>
              <a:t>Some</a:t>
            </a:r>
            <a:r>
              <a:rPr sz="1200">
                <a:solidFill>
                  <a:schemeClr val="tx1"/>
                </a:solidFill>
                <a:latin typeface="Arial"/>
                <a:ea typeface="Arial"/>
                <a:cs typeface="Arial"/>
              </a:rPr>
              <a:t> </a:t>
            </a:r>
            <a:r>
              <a:rPr sz="1200">
                <a:solidFill>
                  <a:schemeClr val="tx1"/>
                </a:solidFill>
                <a:latin typeface="Arial"/>
                <a:ea typeface="Arial"/>
                <a:cs typeface="Arial"/>
              </a:rPr>
              <a:t>approaches</a:t>
            </a:r>
            <a:r>
              <a:rPr sz="1200">
                <a:solidFill>
                  <a:schemeClr val="tx1"/>
                </a:solidFill>
                <a:latin typeface="Arial"/>
                <a:ea typeface="Arial"/>
                <a:cs typeface="Arial"/>
              </a:rPr>
              <a:t> </a:t>
            </a:r>
            <a:r>
              <a:rPr sz="1200">
                <a:solidFill>
                  <a:schemeClr val="tx1"/>
                </a:solidFill>
                <a:latin typeface="Arial"/>
                <a:ea typeface="Arial"/>
                <a:cs typeface="Arial"/>
              </a:rPr>
              <a:t>rely</a:t>
            </a:r>
            <a:r>
              <a:rPr sz="1200">
                <a:solidFill>
                  <a:schemeClr val="tx1"/>
                </a:solidFill>
                <a:latin typeface="Arial"/>
                <a:ea typeface="Arial"/>
                <a:cs typeface="Arial"/>
              </a:rPr>
              <a:t> on a single global agent </a:t>
            </a:r>
            <a:r>
              <a:rPr sz="1200">
                <a:solidFill>
                  <a:schemeClr val="tx1"/>
                </a:solidFill>
                <a:latin typeface="Arial"/>
                <a:ea typeface="Arial"/>
                <a:cs typeface="Arial"/>
              </a:rPr>
              <a:t>with</a:t>
            </a:r>
            <a:r>
              <a:rPr sz="1200">
                <a:solidFill>
                  <a:schemeClr val="tx1"/>
                </a:solidFill>
                <a:latin typeface="Arial"/>
                <a:ea typeface="Arial"/>
                <a:cs typeface="Arial"/>
              </a:rPr>
              <a:t> </a:t>
            </a:r>
            <a:r>
              <a:rPr sz="1200">
                <a:solidFill>
                  <a:schemeClr val="tx1"/>
                </a:solidFill>
                <a:latin typeface="Arial"/>
                <a:ea typeface="Arial"/>
                <a:cs typeface="Arial"/>
              </a:rPr>
              <a:t>strong</a:t>
            </a:r>
            <a:r>
              <a:rPr sz="1200">
                <a:solidFill>
                  <a:schemeClr val="tx1"/>
                </a:solidFill>
                <a:latin typeface="Arial"/>
                <a:ea typeface="Arial"/>
                <a:cs typeface="Arial"/>
              </a:rPr>
              <a:t> engineering tricks.</a:t>
            </a:r>
          </a:p>
          <a:p xmlns:a="http://schemas.openxmlformats.org/drawingml/2006/main"/>
          <a:p xmlns:a="http://schemas.openxmlformats.org/drawingml/2006/main">
            <a:r>
              <a:rPr sz="1200">
                <a:solidFill>
                  <a:schemeClr val="tx1"/>
                </a:solidFill>
                <a:latin typeface="Arial"/>
                <a:ea typeface="Arial"/>
                <a:cs typeface="Arial"/>
              </a:rPr>
              <a:t>For </a:t>
            </a:r>
            <a:r>
              <a:rPr sz="1200">
                <a:solidFill>
                  <a:schemeClr val="tx1"/>
                </a:solidFill>
                <a:latin typeface="Arial"/>
                <a:ea typeface="Arial"/>
                <a:cs typeface="Arial"/>
              </a:rPr>
              <a:t>example</a:t>
            </a:r>
            <a:r>
              <a:rPr sz="1200">
                <a:solidFill>
                  <a:schemeClr val="tx1"/>
                </a:solidFill>
                <a:latin typeface="Arial"/>
                <a:ea typeface="Arial"/>
                <a:cs typeface="Arial"/>
              </a:rPr>
              <a:t>, </a:t>
            </a:r>
            <a:r>
              <a:rPr sz="1200">
                <a:solidFill>
                  <a:schemeClr val="tx1"/>
                </a:solidFill>
                <a:latin typeface="Arial"/>
                <a:ea typeface="Arial"/>
                <a:cs typeface="Arial"/>
              </a:rPr>
              <a:t>they</a:t>
            </a:r>
            <a:r>
              <a:rPr sz="1200">
                <a:solidFill>
                  <a:schemeClr val="tx1"/>
                </a:solidFill>
                <a:latin typeface="Arial"/>
                <a:ea typeface="Arial"/>
                <a:cs typeface="Arial"/>
              </a:rPr>
              <a:t> use graph neural networks </a:t>
            </a:r>
            <a:r>
              <a:rPr sz="1200">
                <a:solidFill>
                  <a:schemeClr val="tx1"/>
                </a:solidFill>
                <a:latin typeface="Arial"/>
                <a:ea typeface="Arial"/>
                <a:cs typeface="Arial"/>
              </a:rPr>
              <a:t>combined</a:t>
            </a:r>
            <a:r>
              <a:rPr sz="1200">
                <a:solidFill>
                  <a:schemeClr val="tx1"/>
                </a:solidFill>
                <a:latin typeface="Arial"/>
                <a:ea typeface="Arial"/>
                <a:cs typeface="Arial"/>
              </a:rPr>
              <a:t> </a:t>
            </a:r>
            <a:r>
              <a:rPr sz="1200">
                <a:solidFill>
                  <a:schemeClr val="tx1"/>
                </a:solidFill>
                <a:latin typeface="Arial"/>
                <a:ea typeface="Arial"/>
                <a:cs typeface="Arial"/>
              </a:rPr>
              <a:t>with</a:t>
            </a:r>
            <a:r>
              <a:rPr sz="1200">
                <a:solidFill>
                  <a:schemeClr val="tx1"/>
                </a:solidFill>
                <a:latin typeface="Arial"/>
                <a:ea typeface="Arial"/>
                <a:cs typeface="Arial"/>
              </a:rPr>
              <a:t> value-</a:t>
            </a:r>
            <a:r>
              <a:rPr sz="1200">
                <a:solidFill>
                  <a:schemeClr val="tx1"/>
                </a:solidFill>
                <a:latin typeface="Arial"/>
                <a:ea typeface="Arial"/>
                <a:cs typeface="Arial"/>
              </a:rPr>
              <a:t>based</a:t>
            </a:r>
            <a:r>
              <a:rPr sz="1200">
                <a:solidFill>
                  <a:schemeClr val="tx1"/>
                </a:solidFill>
                <a:latin typeface="Arial"/>
                <a:ea typeface="Arial"/>
                <a:cs typeface="Arial"/>
              </a:rPr>
              <a:t> RL, and </a:t>
            </a:r>
            <a:r>
              <a:rPr sz="1200">
                <a:solidFill>
                  <a:schemeClr val="tx1"/>
                </a:solidFill>
                <a:latin typeface="Arial"/>
                <a:ea typeface="Arial"/>
                <a:cs typeface="Arial"/>
              </a:rPr>
              <a:t>validate</a:t>
            </a:r>
            <a:r>
              <a:rPr sz="1200">
                <a:solidFill>
                  <a:schemeClr val="tx1"/>
                </a:solidFill>
                <a:latin typeface="Arial"/>
                <a:ea typeface="Arial"/>
                <a:cs typeface="Arial"/>
              </a:rPr>
              <a:t> actions </a:t>
            </a:r>
            <a:r>
              <a:rPr sz="1200">
                <a:solidFill>
                  <a:schemeClr val="tx1"/>
                </a:solidFill>
                <a:latin typeface="Arial"/>
                <a:ea typeface="Arial"/>
                <a:cs typeface="Arial"/>
              </a:rPr>
              <a:t>using</a:t>
            </a:r>
            <a:r>
              <a:rPr sz="1200">
                <a:solidFill>
                  <a:schemeClr val="tx1"/>
                </a:solidFill>
                <a:latin typeface="Arial"/>
                <a:ea typeface="Arial"/>
                <a:cs typeface="Arial"/>
              </a:rPr>
              <a:t> power-flow simulations.</a:t>
            </a:r>
          </a:p>
          <a:p xmlns:a="http://schemas.openxmlformats.org/drawingml/2006/main"/>
          <a:p xmlns:a="http://schemas.openxmlformats.org/drawingml/2006/main">
            <a:r>
              <a:rPr sz="1200">
                <a:solidFill>
                  <a:schemeClr val="tx1"/>
                </a:solidFill>
                <a:latin typeface="Arial"/>
                <a:ea typeface="Arial"/>
                <a:cs typeface="Arial"/>
              </a:rPr>
              <a:t>Others</a:t>
            </a:r>
            <a:r>
              <a:rPr sz="1200">
                <a:solidFill>
                  <a:schemeClr val="tx1"/>
                </a:solidFill>
                <a:latin typeface="Arial"/>
                <a:ea typeface="Arial"/>
                <a:cs typeface="Arial"/>
              </a:rPr>
              <a:t> </a:t>
            </a:r>
            <a:r>
              <a:rPr sz="1200">
                <a:solidFill>
                  <a:schemeClr val="tx1"/>
                </a:solidFill>
                <a:latin typeface="Arial"/>
                <a:ea typeface="Arial"/>
                <a:cs typeface="Arial"/>
              </a:rPr>
              <a:t>reduce</a:t>
            </a:r>
            <a:r>
              <a:rPr sz="1200">
                <a:solidFill>
                  <a:schemeClr val="tx1"/>
                </a:solidFill>
                <a:latin typeface="Arial"/>
                <a:ea typeface="Arial"/>
                <a:cs typeface="Arial"/>
              </a:rPr>
              <a:t> the action </a:t>
            </a:r>
            <a:r>
              <a:rPr sz="1200">
                <a:solidFill>
                  <a:schemeClr val="tx1"/>
                </a:solidFill>
                <a:latin typeface="Arial"/>
                <a:ea typeface="Arial"/>
                <a:cs typeface="Arial"/>
              </a:rPr>
              <a:t>space</a:t>
            </a:r>
            <a:r>
              <a:rPr sz="1200">
                <a:solidFill>
                  <a:schemeClr val="tx1"/>
                </a:solidFill>
                <a:latin typeface="Arial"/>
                <a:ea typeface="Arial"/>
                <a:cs typeface="Arial"/>
              </a:rPr>
              <a:t> </a:t>
            </a:r>
            <a:r>
              <a:rPr sz="1200">
                <a:solidFill>
                  <a:schemeClr val="tx1"/>
                </a:solidFill>
                <a:latin typeface="Arial"/>
                <a:ea typeface="Arial"/>
                <a:cs typeface="Arial"/>
              </a:rPr>
              <a:t>using</a:t>
            </a:r>
            <a:r>
              <a:rPr sz="1200">
                <a:solidFill>
                  <a:schemeClr val="tx1"/>
                </a:solidFill>
                <a:latin typeface="Arial"/>
                <a:ea typeface="Arial"/>
                <a:cs typeface="Arial"/>
              </a:rPr>
              <a:t> </a:t>
            </a:r>
            <a:r>
              <a:rPr sz="1200">
                <a:solidFill>
                  <a:schemeClr val="tx1"/>
                </a:solidFill>
                <a:latin typeface="Arial"/>
                <a:ea typeface="Arial"/>
                <a:cs typeface="Arial"/>
              </a:rPr>
              <a:t>masking</a:t>
            </a:r>
            <a:r>
              <a:rPr sz="1200">
                <a:solidFill>
                  <a:schemeClr val="tx1"/>
                </a:solidFill>
                <a:latin typeface="Arial"/>
                <a:ea typeface="Arial"/>
                <a:cs typeface="Arial"/>
              </a:rPr>
              <a:t> or </a:t>
            </a:r>
            <a:r>
              <a:rPr sz="1200">
                <a:solidFill>
                  <a:schemeClr val="tx1"/>
                </a:solidFill>
                <a:latin typeface="Arial"/>
                <a:ea typeface="Arial"/>
                <a:cs typeface="Arial"/>
              </a:rPr>
              <a:t>pruning</a:t>
            </a:r>
            <a:r>
              <a:rPr sz="1200">
                <a:solidFill>
                  <a:schemeClr val="tx1"/>
                </a:solidFill>
                <a:latin typeface="Arial"/>
                <a:ea typeface="Arial"/>
                <a:cs typeface="Arial"/>
              </a:rPr>
              <a:t>.</a:t>
            </a:r>
          </a:p>
          <a:p xmlns:a="http://schemas.openxmlformats.org/drawingml/2006/main"/>
          <a:p xmlns:a="http://schemas.openxmlformats.org/drawingml/2006/main">
            <a:r>
              <a:rPr sz="1200">
                <a:solidFill>
                  <a:schemeClr val="tx1"/>
                </a:solidFill>
                <a:latin typeface="Arial"/>
                <a:ea typeface="Arial"/>
                <a:cs typeface="Arial"/>
              </a:rPr>
              <a:t>These</a:t>
            </a:r>
            <a:r>
              <a:rPr sz="1200">
                <a:solidFill>
                  <a:schemeClr val="tx1"/>
                </a:solidFill>
                <a:latin typeface="Arial"/>
                <a:ea typeface="Arial"/>
                <a:cs typeface="Arial"/>
              </a:rPr>
              <a:t> </a:t>
            </a:r>
            <a:r>
              <a:rPr sz="1200">
                <a:solidFill>
                  <a:schemeClr val="tx1"/>
                </a:solidFill>
                <a:latin typeface="Arial"/>
                <a:ea typeface="Arial"/>
                <a:cs typeface="Arial"/>
              </a:rPr>
              <a:t>methods</a:t>
            </a:r>
            <a:r>
              <a:rPr sz="1200">
                <a:solidFill>
                  <a:schemeClr val="tx1"/>
                </a:solidFill>
                <a:latin typeface="Arial"/>
                <a:ea typeface="Arial"/>
                <a:cs typeface="Arial"/>
              </a:rPr>
              <a:t> can </a:t>
            </a:r>
            <a:r>
              <a:rPr sz="1200">
                <a:solidFill>
                  <a:schemeClr val="tx1"/>
                </a:solidFill>
                <a:latin typeface="Arial"/>
                <a:ea typeface="Arial"/>
                <a:cs typeface="Arial"/>
              </a:rPr>
              <a:t>work</a:t>
            </a:r>
            <a:r>
              <a:rPr sz="1200">
                <a:solidFill>
                  <a:schemeClr val="tx1"/>
                </a:solidFill>
                <a:latin typeface="Arial"/>
                <a:ea typeface="Arial"/>
                <a:cs typeface="Arial"/>
              </a:rPr>
              <a:t>, </a:t>
            </a:r>
            <a:r>
              <a:rPr sz="1200">
                <a:solidFill>
                  <a:schemeClr val="tx1"/>
                </a:solidFill>
                <a:latin typeface="Arial"/>
                <a:ea typeface="Arial"/>
                <a:cs typeface="Arial"/>
              </a:rPr>
              <a:t>so</a:t>
            </a:r>
            <a:r>
              <a:rPr sz="1200">
                <a:solidFill>
                  <a:schemeClr val="tx1"/>
                </a:solidFill>
                <a:latin typeface="Arial"/>
                <a:ea typeface="Arial"/>
                <a:cs typeface="Arial"/>
              </a:rPr>
              <a:t> </a:t>
            </a:r>
            <a:r>
              <a:rPr sz="1200">
                <a:solidFill>
                  <a:schemeClr val="tx1"/>
                </a:solidFill>
                <a:latin typeface="Arial"/>
                <a:ea typeface="Arial"/>
                <a:cs typeface="Arial"/>
              </a:rPr>
              <a:t>mixing</a:t>
            </a:r>
            <a:r>
              <a:rPr sz="1200">
                <a:solidFill>
                  <a:schemeClr val="tx1"/>
                </a:solidFill>
                <a:latin typeface="Arial"/>
                <a:ea typeface="Arial"/>
                <a:cs typeface="Arial"/>
              </a:rPr>
              <a:t> a single agent </a:t>
            </a:r>
            <a:r>
              <a:rPr sz="1200">
                <a:solidFill>
                  <a:schemeClr val="tx1"/>
                </a:solidFill>
                <a:latin typeface="Arial"/>
                <a:ea typeface="Arial"/>
                <a:cs typeface="Arial"/>
              </a:rPr>
              <a:t>with</a:t>
            </a:r>
            <a:r>
              <a:rPr sz="1200">
                <a:solidFill>
                  <a:schemeClr val="tx1"/>
                </a:solidFill>
                <a:latin typeface="Arial"/>
                <a:ea typeface="Arial"/>
                <a:cs typeface="Arial"/>
              </a:rPr>
              <a:t> </a:t>
            </a:r>
            <a:r>
              <a:rPr sz="1200">
                <a:solidFill>
                  <a:schemeClr val="tx1"/>
                </a:solidFill>
                <a:latin typeface="Arial"/>
                <a:ea typeface="Arial"/>
                <a:cs typeface="Arial"/>
              </a:rPr>
              <a:t>rules</a:t>
            </a:r>
            <a:r>
              <a:rPr sz="1200">
                <a:solidFill>
                  <a:schemeClr val="tx1"/>
                </a:solidFill>
                <a:latin typeface="Arial"/>
                <a:ea typeface="Arial"/>
                <a:cs typeface="Arial"/>
              </a:rPr>
              <a:t>, but </a:t>
            </a:r>
            <a:r>
              <a:rPr sz="1200">
                <a:solidFill>
                  <a:schemeClr val="tx1"/>
                </a:solidFill>
                <a:latin typeface="Arial"/>
                <a:ea typeface="Arial"/>
                <a:cs typeface="Arial"/>
              </a:rPr>
              <a:t>they</a:t>
            </a:r>
            <a:r>
              <a:rPr sz="1200">
                <a:solidFill>
                  <a:schemeClr val="tx1"/>
                </a:solidFill>
                <a:latin typeface="Arial"/>
                <a:ea typeface="Arial"/>
                <a:cs typeface="Arial"/>
              </a:rPr>
              <a:t> </a:t>
            </a:r>
            <a:r>
              <a:rPr sz="1200">
                <a:solidFill>
                  <a:schemeClr val="tx1"/>
                </a:solidFill>
                <a:latin typeface="Arial"/>
                <a:ea typeface="Arial"/>
                <a:cs typeface="Arial"/>
              </a:rPr>
              <a:t>suffer</a:t>
            </a:r>
            <a:r>
              <a:rPr sz="1200">
                <a:solidFill>
                  <a:schemeClr val="tx1"/>
                </a:solidFill>
                <a:latin typeface="Arial"/>
                <a:ea typeface="Arial"/>
                <a:cs typeface="Arial"/>
              </a:rPr>
              <a:t> </a:t>
            </a:r>
            <a:r>
              <a:rPr sz="1200">
                <a:solidFill>
                  <a:schemeClr val="tx1"/>
                </a:solidFill>
                <a:latin typeface="Arial"/>
                <a:ea typeface="Arial"/>
                <a:cs typeface="Arial"/>
              </a:rPr>
              <a:t>because</a:t>
            </a:r>
            <a:r>
              <a:rPr sz="1200">
                <a:solidFill>
                  <a:schemeClr val="tx1"/>
                </a:solidFill>
                <a:latin typeface="Arial"/>
                <a:ea typeface="Arial"/>
                <a:cs typeface="Arial"/>
              </a:rPr>
              <a:t> the action </a:t>
            </a:r>
            <a:r>
              <a:rPr sz="1200">
                <a:solidFill>
                  <a:schemeClr val="tx1"/>
                </a:solidFill>
                <a:latin typeface="Arial"/>
                <a:ea typeface="Arial"/>
                <a:cs typeface="Arial"/>
              </a:rPr>
              <a:t>space</a:t>
            </a:r>
            <a:r>
              <a:rPr sz="1200">
                <a:solidFill>
                  <a:schemeClr val="tx1"/>
                </a:solidFill>
                <a:latin typeface="Arial"/>
                <a:ea typeface="Arial"/>
                <a:cs typeface="Arial"/>
              </a:rPr>
              <a:t> </a:t>
            </a:r>
            <a:r>
              <a:rPr sz="1200">
                <a:solidFill>
                  <a:schemeClr val="tx1"/>
                </a:solidFill>
                <a:latin typeface="Arial"/>
                <a:ea typeface="Arial"/>
                <a:cs typeface="Arial"/>
              </a:rPr>
              <a:t>remains</a:t>
            </a:r>
            <a:r>
              <a:rPr sz="1200">
                <a:solidFill>
                  <a:schemeClr val="tx1"/>
                </a:solidFill>
                <a:latin typeface="Arial"/>
                <a:ea typeface="Arial"/>
                <a:cs typeface="Arial"/>
              </a:rPr>
              <a:t> </a:t>
            </a:r>
            <a:r>
              <a:rPr sz="1200">
                <a:solidFill>
                  <a:schemeClr val="tx1"/>
                </a:solidFill>
                <a:latin typeface="Arial"/>
                <a:ea typeface="Arial"/>
                <a:cs typeface="Arial"/>
              </a:rPr>
              <a:t>very</a:t>
            </a:r>
            <a:r>
              <a:rPr sz="1200">
                <a:solidFill>
                  <a:schemeClr val="tx1"/>
                </a:solidFill>
                <a:latin typeface="Arial"/>
                <a:ea typeface="Arial"/>
                <a:cs typeface="Arial"/>
              </a:rPr>
              <a:t> large.”</a:t>
            </a:r>
          </a:p>
          <a:p xmlns:a="http://schemas.openxmlformats.org/drawingml/2006/main"/>
          <a:p xmlns:a="http://schemas.openxmlformats.org/drawingml/2006/main">
            <a:r>
              <a:rPr sz="1200">
                <a:solidFill>
                  <a:schemeClr val="tx1"/>
                </a:solidFill>
                <a:latin typeface="Arial"/>
                <a:ea typeface="Arial"/>
                <a:cs typeface="Arial"/>
              </a:rPr>
              <a:t>Another</a:t>
            </a:r>
            <a:r>
              <a:rPr sz="1200">
                <a:solidFill>
                  <a:schemeClr val="tx1"/>
                </a:solidFill>
                <a:latin typeface="Arial"/>
                <a:ea typeface="Arial"/>
                <a:cs typeface="Arial"/>
              </a:rPr>
              <a:t> important </a:t>
            </a:r>
            <a:r>
              <a:rPr sz="1200">
                <a:solidFill>
                  <a:schemeClr val="tx1"/>
                </a:solidFill>
                <a:latin typeface="Arial"/>
                <a:ea typeface="Arial"/>
                <a:cs typeface="Arial"/>
              </a:rPr>
              <a:t>idea</a:t>
            </a:r>
            <a:r>
              <a:rPr sz="1200">
                <a:solidFill>
                  <a:schemeClr val="tx1"/>
                </a:solidFill>
                <a:latin typeface="Arial"/>
                <a:ea typeface="Arial"/>
                <a:cs typeface="Arial"/>
              </a:rPr>
              <a:t> </a:t>
            </a:r>
            <a:r>
              <a:rPr sz="1200">
                <a:solidFill>
                  <a:schemeClr val="tx1"/>
                </a:solidFill>
                <a:latin typeface="Arial"/>
                <a:ea typeface="Arial"/>
                <a:cs typeface="Arial"/>
              </a:rPr>
              <a:t>is</a:t>
            </a:r>
            <a:r>
              <a:rPr sz="1200">
                <a:solidFill>
                  <a:schemeClr val="tx1"/>
                </a:solidFill>
                <a:latin typeface="Arial"/>
                <a:ea typeface="Arial"/>
                <a:cs typeface="Arial"/>
              </a:rPr>
              <a:t> to </a:t>
            </a:r>
            <a:r>
              <a:rPr sz="1200">
                <a:solidFill>
                  <a:schemeClr val="tx1"/>
                </a:solidFill>
                <a:latin typeface="Arial"/>
                <a:ea typeface="Arial"/>
                <a:cs typeface="Arial"/>
              </a:rPr>
              <a:t>predict</a:t>
            </a:r>
            <a:r>
              <a:rPr sz="1200">
                <a:solidFill>
                  <a:schemeClr val="tx1"/>
                </a:solidFill>
                <a:latin typeface="Arial"/>
                <a:ea typeface="Arial"/>
                <a:cs typeface="Arial"/>
              </a:rPr>
              <a:t> a </a:t>
            </a:r>
            <a:r>
              <a:rPr sz="1200" b="1">
                <a:solidFill>
                  <a:schemeClr val="tx1"/>
                </a:solidFill>
                <a:latin typeface="Arial"/>
                <a:ea typeface="Arial"/>
                <a:cs typeface="Arial"/>
              </a:rPr>
              <a:t>target</a:t>
            </a:r>
            <a:r>
              <a:rPr sz="1200" b="1">
                <a:solidFill>
                  <a:schemeClr val="tx1"/>
                </a:solidFill>
                <a:latin typeface="Arial"/>
                <a:ea typeface="Arial"/>
                <a:cs typeface="Arial"/>
              </a:rPr>
              <a:t> </a:t>
            </a:r>
            <a:r>
              <a:rPr sz="1200" b="1">
                <a:solidFill>
                  <a:schemeClr val="tx1"/>
                </a:solidFill>
                <a:latin typeface="Arial"/>
                <a:ea typeface="Arial"/>
                <a:cs typeface="Arial"/>
              </a:rPr>
              <a:t>topology</a:t>
            </a:r>
            <a:r>
              <a:rPr sz="1200" b="1">
                <a:solidFill>
                  <a:schemeClr val="tx1"/>
                </a:solidFill>
                <a:latin typeface="Arial"/>
                <a:ea typeface="Arial"/>
                <a:cs typeface="Arial"/>
              </a:rPr>
              <a:t> </a:t>
            </a:r>
            <a:r>
              <a:rPr sz="1200" b="1">
                <a:solidFill>
                  <a:schemeClr val="tx1"/>
                </a:solidFill>
                <a:latin typeface="Arial"/>
                <a:ea typeface="Arial"/>
                <a:cs typeface="Arial"/>
              </a:rPr>
              <a:t>instead</a:t>
            </a:r>
            <a:r>
              <a:rPr sz="1200" b="1">
                <a:solidFill>
                  <a:schemeClr val="tx1"/>
                </a:solidFill>
                <a:latin typeface="Arial"/>
                <a:ea typeface="Arial"/>
                <a:cs typeface="Arial"/>
              </a:rPr>
              <a:t> of </a:t>
            </a:r>
            <a:r>
              <a:rPr sz="1200" b="1">
                <a:solidFill>
                  <a:schemeClr val="tx1"/>
                </a:solidFill>
                <a:latin typeface="Arial"/>
                <a:ea typeface="Arial"/>
                <a:cs typeface="Arial"/>
              </a:rPr>
              <a:t>raw</a:t>
            </a:r>
            <a:r>
              <a:rPr sz="1200" b="1">
                <a:solidFill>
                  <a:schemeClr val="tx1"/>
                </a:solidFill>
                <a:latin typeface="Arial"/>
                <a:ea typeface="Arial"/>
                <a:cs typeface="Arial"/>
              </a:rPr>
              <a:t> actions</a:t>
            </a:r>
            <a:r>
              <a:rPr sz="1200">
                <a:solidFill>
                  <a:schemeClr val="tx1"/>
                </a:solidFill>
                <a:latin typeface="Arial"/>
                <a:ea typeface="Arial"/>
                <a:cs typeface="Arial"/>
              </a:rPr>
              <a:t>.</a:t>
            </a:r>
          </a:p>
          <a:p xmlns:a="http://schemas.openxmlformats.org/drawingml/2006/main"/>
          <a:p xmlns:a="http://schemas.openxmlformats.org/drawingml/2006/main">
            <a:r>
              <a:rPr sz="1200">
                <a:solidFill>
                  <a:schemeClr val="tx1"/>
                </a:solidFill>
                <a:latin typeface="Arial"/>
                <a:ea typeface="Arial"/>
                <a:cs typeface="Arial"/>
              </a:rPr>
              <a:t>This </a:t>
            </a:r>
            <a:r>
              <a:rPr sz="1200">
                <a:solidFill>
                  <a:schemeClr val="tx1"/>
                </a:solidFill>
                <a:latin typeface="Arial"/>
                <a:ea typeface="Arial"/>
                <a:cs typeface="Arial"/>
              </a:rPr>
              <a:t>is</a:t>
            </a:r>
            <a:r>
              <a:rPr sz="1200">
                <a:solidFill>
                  <a:schemeClr val="tx1"/>
                </a:solidFill>
                <a:latin typeface="Arial"/>
                <a:ea typeface="Arial"/>
                <a:cs typeface="Arial"/>
              </a:rPr>
              <a:t> </a:t>
            </a:r>
            <a:r>
              <a:rPr sz="1200">
                <a:solidFill>
                  <a:schemeClr val="tx1"/>
                </a:solidFill>
                <a:latin typeface="Arial"/>
                <a:ea typeface="Arial"/>
                <a:cs typeface="Arial"/>
              </a:rPr>
              <a:t>used</a:t>
            </a:r>
            <a:r>
              <a:rPr sz="1200">
                <a:solidFill>
                  <a:schemeClr val="tx1"/>
                </a:solidFill>
                <a:latin typeface="Arial"/>
                <a:ea typeface="Arial"/>
                <a:cs typeface="Arial"/>
              </a:rPr>
              <a:t> in SMAAC, </a:t>
            </a:r>
            <a:r>
              <a:rPr sz="1200">
                <a:solidFill>
                  <a:schemeClr val="tx1"/>
                </a:solidFill>
                <a:latin typeface="Arial"/>
                <a:ea typeface="Arial"/>
                <a:cs typeface="Arial"/>
              </a:rPr>
              <a:t>where</a:t>
            </a:r>
            <a:r>
              <a:rPr sz="1200">
                <a:solidFill>
                  <a:schemeClr val="tx1"/>
                </a:solidFill>
                <a:latin typeface="Arial"/>
                <a:ea typeface="Arial"/>
                <a:cs typeface="Arial"/>
              </a:rPr>
              <a:t> </a:t>
            </a:r>
            <a:r>
              <a:rPr sz="1200">
                <a:solidFill>
                  <a:schemeClr val="tx1"/>
                </a:solidFill>
                <a:latin typeface="Arial"/>
                <a:ea typeface="Arial"/>
                <a:cs typeface="Arial"/>
              </a:rPr>
              <a:t>the</a:t>
            </a:r>
            <a:r>
              <a:rPr sz="1200">
                <a:solidFill>
                  <a:schemeClr val="tx1"/>
                </a:solidFill>
                <a:latin typeface="Arial"/>
                <a:ea typeface="Arial"/>
                <a:cs typeface="Arial"/>
              </a:rPr>
              <a:t> </a:t>
            </a:r>
            <a:r>
              <a:rPr sz="1200">
                <a:solidFill>
                  <a:schemeClr val="tx1"/>
                </a:solidFill>
                <a:latin typeface="Arial"/>
                <a:ea typeface="Arial"/>
                <a:cs typeface="Arial"/>
              </a:rPr>
              <a:t>agent</a:t>
            </a:r>
            <a:r>
              <a:rPr sz="1200">
                <a:solidFill>
                  <a:schemeClr val="tx1"/>
                </a:solidFill>
                <a:latin typeface="Arial"/>
                <a:ea typeface="Arial"/>
                <a:cs typeface="Arial"/>
              </a:rPr>
              <a:t> </a:t>
            </a:r>
            <a:r>
              <a:rPr sz="1200">
                <a:solidFill>
                  <a:schemeClr val="tx1"/>
                </a:solidFill>
                <a:latin typeface="Arial"/>
                <a:ea typeface="Arial"/>
                <a:cs typeface="Arial"/>
              </a:rPr>
              <a:t>learns</a:t>
            </a:r>
            <a:r>
              <a:rPr sz="1200">
                <a:solidFill>
                  <a:schemeClr val="tx1"/>
                </a:solidFill>
                <a:latin typeface="Arial"/>
                <a:ea typeface="Arial"/>
                <a:cs typeface="Arial"/>
              </a:rPr>
              <a:t> an </a:t>
            </a:r>
            <a:r>
              <a:rPr sz="1200">
                <a:solidFill>
                  <a:schemeClr val="tx1"/>
                </a:solidFill>
                <a:latin typeface="Arial"/>
                <a:ea typeface="Arial"/>
                <a:cs typeface="Arial"/>
              </a:rPr>
              <a:t>afterstate</a:t>
            </a:r>
            <a:r>
              <a:rPr sz="1200">
                <a:solidFill>
                  <a:schemeClr val="tx1"/>
                </a:solidFill>
                <a:latin typeface="Arial"/>
                <a:ea typeface="Arial"/>
                <a:cs typeface="Arial"/>
              </a:rPr>
              <a:t> </a:t>
            </a:r>
            <a:r>
              <a:rPr sz="1200">
                <a:solidFill>
                  <a:schemeClr val="tx1"/>
                </a:solidFill>
                <a:latin typeface="Arial"/>
                <a:ea typeface="Arial"/>
                <a:cs typeface="Arial"/>
              </a:rPr>
              <a:t>representation</a:t>
            </a:r>
            <a:r>
              <a:rPr sz="1200">
                <a:solidFill>
                  <a:schemeClr val="tx1"/>
                </a:solidFill>
                <a:latin typeface="Arial"/>
                <a:ea typeface="Arial"/>
                <a:cs typeface="Arial"/>
              </a:rPr>
              <a:t>—</a:t>
            </a:r>
            <a:r>
              <a:rPr sz="1200">
                <a:solidFill>
                  <a:schemeClr val="tx1"/>
                </a:solidFill>
                <a:latin typeface="Arial"/>
                <a:ea typeface="Arial"/>
                <a:cs typeface="Arial"/>
              </a:rPr>
              <a:t>basically</a:t>
            </a:r>
            <a:r>
              <a:rPr sz="1200">
                <a:solidFill>
                  <a:schemeClr val="tx1"/>
                </a:solidFill>
                <a:latin typeface="Arial"/>
                <a:ea typeface="Arial"/>
                <a:cs typeface="Arial"/>
              </a:rPr>
              <a:t> </a:t>
            </a:r>
            <a:r>
              <a:rPr sz="1200">
                <a:solidFill>
                  <a:schemeClr val="tx1"/>
                </a:solidFill>
                <a:latin typeface="Arial"/>
                <a:ea typeface="Arial"/>
                <a:cs typeface="Arial"/>
              </a:rPr>
              <a:t>the</a:t>
            </a:r>
            <a:r>
              <a:rPr sz="1200">
                <a:solidFill>
                  <a:schemeClr val="tx1"/>
                </a:solidFill>
                <a:latin typeface="Arial"/>
                <a:ea typeface="Arial"/>
                <a:cs typeface="Arial"/>
              </a:rPr>
              <a:t> </a:t>
            </a:r>
            <a:r>
              <a:rPr sz="1200">
                <a:solidFill>
                  <a:schemeClr val="tx1"/>
                </a:solidFill>
                <a:latin typeface="Arial"/>
                <a:ea typeface="Arial"/>
                <a:cs typeface="Arial"/>
              </a:rPr>
              <a:t>resulting</a:t>
            </a:r>
            <a:r>
              <a:rPr sz="1200">
                <a:solidFill>
                  <a:schemeClr val="tx1"/>
                </a:solidFill>
                <a:latin typeface="Arial"/>
                <a:ea typeface="Arial"/>
                <a:cs typeface="Arial"/>
              </a:rPr>
              <a:t> </a:t>
            </a:r>
            <a:r>
              <a:rPr sz="1200">
                <a:solidFill>
                  <a:schemeClr val="tx1"/>
                </a:solidFill>
                <a:latin typeface="Arial"/>
                <a:ea typeface="Arial"/>
                <a:cs typeface="Arial"/>
              </a:rPr>
              <a:t>topology</a:t>
            </a:r>
            <a:r>
              <a:rPr sz="1200">
                <a:solidFill>
                  <a:schemeClr val="tx1"/>
                </a:solidFill>
                <a:latin typeface="Arial"/>
                <a:ea typeface="Arial"/>
                <a:cs typeface="Arial"/>
              </a:rPr>
              <a:t> after an </a:t>
            </a:r>
            <a:r>
              <a:rPr sz="1200">
                <a:solidFill>
                  <a:schemeClr val="tx1"/>
                </a:solidFill>
                <a:latin typeface="Arial"/>
                <a:ea typeface="Arial"/>
                <a:cs typeface="Arial"/>
              </a:rPr>
              <a:t>action</a:t>
            </a:r>
            <a:r>
              <a:rPr sz="1200">
                <a:solidFill>
                  <a:schemeClr val="tx1"/>
                </a:solidFill>
                <a:latin typeface="Arial"/>
                <a:ea typeface="Arial"/>
                <a:cs typeface="Arial"/>
              </a:rPr>
              <a:t>.</a:t>
            </a:r>
          </a:p>
          <a:p xmlns:a="http://schemas.openxmlformats.org/drawingml/2006/main"/>
          <a:p xmlns:a="http://schemas.openxmlformats.org/drawingml/2006/main">
            <a:r>
              <a:rPr sz="1200">
                <a:solidFill>
                  <a:schemeClr val="tx1"/>
                </a:solidFill>
                <a:latin typeface="Arial"/>
                <a:ea typeface="Arial"/>
                <a:cs typeface="Arial"/>
              </a:rPr>
              <a:t>This </a:t>
            </a:r>
            <a:r>
              <a:rPr sz="1200">
                <a:solidFill>
                  <a:schemeClr val="tx1"/>
                </a:solidFill>
                <a:latin typeface="Arial"/>
                <a:ea typeface="Arial"/>
                <a:cs typeface="Arial"/>
              </a:rPr>
              <a:t>helps</a:t>
            </a:r>
            <a:r>
              <a:rPr sz="1200">
                <a:solidFill>
                  <a:schemeClr val="tx1"/>
                </a:solidFill>
                <a:latin typeface="Arial"/>
                <a:ea typeface="Arial"/>
                <a:cs typeface="Arial"/>
              </a:rPr>
              <a:t> </a:t>
            </a:r>
            <a:r>
              <a:rPr sz="1200">
                <a:solidFill>
                  <a:schemeClr val="tx1"/>
                </a:solidFill>
                <a:latin typeface="Arial"/>
                <a:ea typeface="Arial"/>
                <a:cs typeface="Arial"/>
              </a:rPr>
              <a:t>because</a:t>
            </a:r>
            <a:r>
              <a:rPr sz="1200">
                <a:solidFill>
                  <a:schemeClr val="tx1"/>
                </a:solidFill>
                <a:latin typeface="Arial"/>
                <a:ea typeface="Arial"/>
                <a:cs typeface="Arial"/>
              </a:rPr>
              <a:t> multiple </a:t>
            </a:r>
            <a:r>
              <a:rPr sz="1200">
                <a:solidFill>
                  <a:schemeClr val="tx1"/>
                </a:solidFill>
                <a:latin typeface="Arial"/>
                <a:ea typeface="Arial"/>
                <a:cs typeface="Arial"/>
              </a:rPr>
              <a:t>sequences</a:t>
            </a:r>
            <a:r>
              <a:rPr sz="1200">
                <a:solidFill>
                  <a:schemeClr val="tx1"/>
                </a:solidFill>
                <a:latin typeface="Arial"/>
                <a:ea typeface="Arial"/>
                <a:cs typeface="Arial"/>
              </a:rPr>
              <a:t> of actions can lead to the </a:t>
            </a:r>
            <a:r>
              <a:rPr sz="1200">
                <a:solidFill>
                  <a:schemeClr val="tx1"/>
                </a:solidFill>
                <a:latin typeface="Arial"/>
                <a:ea typeface="Arial"/>
                <a:cs typeface="Arial"/>
              </a:rPr>
              <a:t>same</a:t>
            </a:r>
            <a:r>
              <a:rPr sz="1200">
                <a:solidFill>
                  <a:schemeClr val="tx1"/>
                </a:solidFill>
                <a:latin typeface="Arial"/>
                <a:ea typeface="Arial"/>
                <a:cs typeface="Arial"/>
              </a:rPr>
              <a:t> configuration. So </a:t>
            </a:r>
            <a:r>
              <a:rPr sz="1200">
                <a:solidFill>
                  <a:schemeClr val="tx1"/>
                </a:solidFill>
                <a:latin typeface="Arial"/>
                <a:ea typeface="Arial"/>
                <a:cs typeface="Arial"/>
              </a:rPr>
              <a:t>it</a:t>
            </a:r>
            <a:r>
              <a:rPr sz="1200">
                <a:solidFill>
                  <a:schemeClr val="tx1"/>
                </a:solidFill>
                <a:latin typeface="Arial"/>
                <a:ea typeface="Arial"/>
                <a:cs typeface="Arial"/>
              </a:rPr>
              <a:t> </a:t>
            </a:r>
            <a:r>
              <a:rPr sz="1200">
                <a:solidFill>
                  <a:schemeClr val="tx1"/>
                </a:solidFill>
                <a:latin typeface="Arial"/>
                <a:ea typeface="Arial"/>
                <a:cs typeface="Arial"/>
              </a:rPr>
              <a:t>reduces</a:t>
            </a:r>
            <a:r>
              <a:rPr sz="1200">
                <a:solidFill>
                  <a:schemeClr val="tx1"/>
                </a:solidFill>
                <a:latin typeface="Arial"/>
                <a:ea typeface="Arial"/>
                <a:cs typeface="Arial"/>
              </a:rPr>
              <a:t> the action </a:t>
            </a:r>
            <a:r>
              <a:rPr sz="1200">
                <a:solidFill>
                  <a:schemeClr val="tx1"/>
                </a:solidFill>
                <a:latin typeface="Arial"/>
                <a:ea typeface="Arial"/>
                <a:cs typeface="Arial"/>
              </a:rPr>
              <a:t>space</a:t>
            </a:r>
          </a:p>
          <a:p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a:solidFill>
                  <a:schemeClr val="tx1"/>
                </a:solidFill>
                <a:latin typeface="Arial"/>
                <a:ea typeface="Arial"/>
                <a:cs typeface="Arial"/>
              </a:rPr>
              <a:t>To dive a </a:t>
            </a:r>
            <a:r>
              <a:rPr sz="1200">
                <a:solidFill>
                  <a:schemeClr val="tx1"/>
                </a:solidFill>
                <a:latin typeface="Arial"/>
                <a:ea typeface="Arial"/>
                <a:cs typeface="Arial"/>
              </a:rPr>
              <a:t>little</a:t>
            </a:r>
            <a:r>
              <a:rPr sz="1200">
                <a:solidFill>
                  <a:schemeClr val="tx1"/>
                </a:solidFill>
                <a:latin typeface="Arial"/>
                <a:ea typeface="Arial"/>
                <a:cs typeface="Arial"/>
              </a:rPr>
              <a:t> </a:t>
            </a:r>
            <a:r>
              <a:rPr sz="1200">
                <a:solidFill>
                  <a:schemeClr val="tx1"/>
                </a:solidFill>
                <a:latin typeface="Arial"/>
                <a:ea typeface="Arial"/>
                <a:cs typeface="Arial"/>
              </a:rPr>
              <a:t>deeper</a:t>
            </a:r>
            <a:r>
              <a:rPr sz="1200">
                <a:solidFill>
                  <a:schemeClr val="tx1"/>
                </a:solidFill>
                <a:latin typeface="Arial"/>
                <a:ea typeface="Arial"/>
                <a:cs typeface="Arial"/>
              </a:rPr>
              <a:t> i have been </a:t>
            </a:r>
            <a:r>
              <a:rPr sz="1200">
                <a:solidFill>
                  <a:schemeClr val="tx1"/>
                </a:solidFill>
                <a:latin typeface="Arial"/>
                <a:ea typeface="Arial"/>
                <a:cs typeface="Arial"/>
              </a:rPr>
              <a:t>looking</a:t>
            </a:r>
            <a:r>
              <a:rPr sz="1200">
                <a:solidFill>
                  <a:schemeClr val="tx1"/>
                </a:solidFill>
                <a:latin typeface="Arial"/>
                <a:ea typeface="Arial"/>
                <a:cs typeface="Arial"/>
              </a:rPr>
              <a:t> at a </a:t>
            </a:r>
            <a:r>
              <a:rPr sz="1200">
                <a:solidFill>
                  <a:schemeClr val="tx1"/>
                </a:solidFill>
                <a:latin typeface="Arial"/>
                <a:ea typeface="Arial"/>
                <a:cs typeface="Arial"/>
              </a:rPr>
              <a:t>survey</a:t>
            </a:r>
            <a:r>
              <a:rPr sz="1200">
                <a:solidFill>
                  <a:schemeClr val="tx1"/>
                </a:solidFill>
                <a:latin typeface="Arial"/>
                <a:ea typeface="Arial"/>
                <a:cs typeface="Arial"/>
              </a:rPr>
              <a:t> </a:t>
            </a:r>
            <a:r>
              <a:rPr sz="1200">
                <a:solidFill>
                  <a:schemeClr val="tx1"/>
                </a:solidFill>
                <a:latin typeface="Arial"/>
                <a:ea typeface="Arial"/>
                <a:cs typeface="Arial"/>
              </a:rPr>
              <a:t>that</a:t>
            </a:r>
            <a:r>
              <a:rPr sz="1200">
                <a:solidFill>
                  <a:schemeClr val="tx1"/>
                </a:solidFill>
                <a:latin typeface="Arial"/>
                <a:ea typeface="Arial"/>
                <a:cs typeface="Arial"/>
              </a:rPr>
              <a:t> </a:t>
            </a:r>
            <a:r>
              <a:rPr sz="1200">
                <a:solidFill>
                  <a:schemeClr val="tx1"/>
                </a:solidFill>
                <a:latin typeface="Arial"/>
                <a:ea typeface="Arial"/>
                <a:cs typeface="Arial"/>
              </a:rPr>
              <a:t>summarize</a:t>
            </a:r>
            <a:r>
              <a:rPr sz="1200">
                <a:solidFill>
                  <a:schemeClr val="tx1"/>
                </a:solidFill>
                <a:latin typeface="Arial"/>
                <a:ea typeface="Arial"/>
                <a:cs typeface="Arial"/>
              </a:rPr>
              <a:t> all the </a:t>
            </a:r>
            <a:r>
              <a:rPr sz="1200">
                <a:solidFill>
                  <a:schemeClr val="tx1"/>
                </a:solidFill>
                <a:latin typeface="Arial"/>
                <a:ea typeface="Arial"/>
                <a:cs typeface="Arial"/>
              </a:rPr>
              <a:t>algorithms</a:t>
            </a:r>
            <a:r>
              <a:rPr sz="1200">
                <a:solidFill>
                  <a:schemeClr val="tx1"/>
                </a:solidFill>
                <a:latin typeface="Arial"/>
                <a:ea typeface="Arial"/>
                <a:cs typeface="Arial"/>
              </a:rPr>
              <a:t> </a:t>
            </a:r>
            <a:r>
              <a:rPr sz="1200">
                <a:solidFill>
                  <a:schemeClr val="tx1"/>
                </a:solidFill>
                <a:latin typeface="Arial"/>
                <a:ea typeface="Arial"/>
                <a:cs typeface="Arial"/>
              </a:rPr>
              <a:t>that</a:t>
            </a:r>
            <a:r>
              <a:rPr sz="1200">
                <a:solidFill>
                  <a:schemeClr val="tx1"/>
                </a:solidFill>
                <a:latin typeface="Arial"/>
                <a:ea typeface="Arial"/>
                <a:cs typeface="Arial"/>
              </a:rPr>
              <a:t> won the l2rpn challenge and </a:t>
            </a:r>
            <a:r>
              <a:rPr sz="1200">
                <a:solidFill>
                  <a:schemeClr val="tx1"/>
                </a:solidFill>
                <a:latin typeface="Arial"/>
                <a:ea typeface="Arial"/>
                <a:cs typeface="Arial"/>
              </a:rPr>
              <a:t>this</a:t>
            </a:r>
            <a:r>
              <a:rPr sz="1200">
                <a:solidFill>
                  <a:schemeClr val="tx1"/>
                </a:solidFill>
                <a:latin typeface="Arial"/>
                <a:ea typeface="Arial"/>
                <a:cs typeface="Arial"/>
              </a:rPr>
              <a:t> </a:t>
            </a:r>
            <a:r>
              <a:rPr sz="1200">
                <a:solidFill>
                  <a:schemeClr val="tx1"/>
                </a:solidFill>
                <a:latin typeface="Arial"/>
                <a:ea typeface="Arial"/>
                <a:cs typeface="Arial"/>
              </a:rPr>
              <a:t>is</a:t>
            </a:r>
            <a:r>
              <a:rPr sz="1200">
                <a:solidFill>
                  <a:schemeClr val="tx1"/>
                </a:solidFill>
                <a:latin typeface="Arial"/>
                <a:ea typeface="Arial"/>
                <a:cs typeface="Arial"/>
              </a:rPr>
              <a:t> the main </a:t>
            </a:r>
            <a:r>
              <a:rPr sz="1200">
                <a:solidFill>
                  <a:schemeClr val="tx1"/>
                </a:solidFill>
                <a:latin typeface="Arial"/>
                <a:ea typeface="Arial"/>
                <a:cs typeface="Arial"/>
              </a:rPr>
              <a:t>categories</a:t>
            </a:r>
            <a:r>
              <a:rPr sz="1200">
                <a:solidFill>
                  <a:schemeClr val="tx1"/>
                </a:solidFill>
                <a:latin typeface="Arial"/>
                <a:ea typeface="Arial"/>
                <a:cs typeface="Arial"/>
              </a:rPr>
              <a:t> of </a:t>
            </a:r>
            <a:r>
              <a:rPr sz="1200">
                <a:solidFill>
                  <a:schemeClr val="tx1"/>
                </a:solidFill>
                <a:latin typeface="Arial"/>
                <a:ea typeface="Arial"/>
                <a:cs typeface="Arial"/>
              </a:rPr>
              <a:t>succesfull</a:t>
            </a:r>
            <a:r>
              <a:rPr sz="1200">
                <a:solidFill>
                  <a:schemeClr val="tx1"/>
                </a:solidFill>
                <a:latin typeface="Arial"/>
                <a:ea typeface="Arial"/>
                <a:cs typeface="Arial"/>
              </a:rPr>
              <a:t> </a:t>
            </a:r>
            <a:r>
              <a:rPr sz="1200">
                <a:solidFill>
                  <a:schemeClr val="tx1"/>
                </a:solidFill>
                <a:latin typeface="Arial"/>
                <a:ea typeface="Arial"/>
                <a:cs typeface="Arial"/>
              </a:rPr>
              <a:t>agentthat</a:t>
            </a:r>
            <a:r>
              <a:rPr sz="1200">
                <a:solidFill>
                  <a:schemeClr val="tx1"/>
                </a:solidFill>
                <a:latin typeface="Arial"/>
                <a:ea typeface="Arial"/>
                <a:cs typeface="Arial"/>
              </a:rPr>
              <a:t> won the challenge.</a:t>
            </a:r>
          </a:p>
          <a:p xmlns:a="http://schemas.openxmlformats.org/drawingml/2006/main"/>
          <a:p xmlns:a="http://schemas.openxmlformats.org/drawingml/2006/main">
            <a:r>
              <a:rPr sz="1200">
                <a:solidFill>
                  <a:schemeClr val="tx1"/>
                </a:solidFill>
                <a:latin typeface="Arial"/>
                <a:ea typeface="Arial"/>
                <a:cs typeface="Arial"/>
              </a:rPr>
              <a:t>Some</a:t>
            </a:r>
            <a:r>
              <a:rPr sz="1200">
                <a:solidFill>
                  <a:schemeClr val="tx1"/>
                </a:solidFill>
                <a:latin typeface="Arial"/>
                <a:ea typeface="Arial"/>
                <a:cs typeface="Arial"/>
              </a:rPr>
              <a:t> </a:t>
            </a:r>
            <a:r>
              <a:rPr sz="1200">
                <a:solidFill>
                  <a:schemeClr val="tx1"/>
                </a:solidFill>
                <a:latin typeface="Arial"/>
                <a:ea typeface="Arial"/>
                <a:cs typeface="Arial"/>
              </a:rPr>
              <a:t>approaches</a:t>
            </a:r>
            <a:r>
              <a:rPr sz="1200">
                <a:solidFill>
                  <a:schemeClr val="tx1"/>
                </a:solidFill>
                <a:latin typeface="Arial"/>
                <a:ea typeface="Arial"/>
                <a:cs typeface="Arial"/>
              </a:rPr>
              <a:t> </a:t>
            </a:r>
            <a:r>
              <a:rPr sz="1200">
                <a:solidFill>
                  <a:schemeClr val="tx1"/>
                </a:solidFill>
                <a:latin typeface="Arial"/>
                <a:ea typeface="Arial"/>
                <a:cs typeface="Arial"/>
              </a:rPr>
              <a:t>rely</a:t>
            </a:r>
            <a:r>
              <a:rPr sz="1200">
                <a:solidFill>
                  <a:schemeClr val="tx1"/>
                </a:solidFill>
                <a:latin typeface="Arial"/>
                <a:ea typeface="Arial"/>
                <a:cs typeface="Arial"/>
              </a:rPr>
              <a:t> on a single global agent </a:t>
            </a:r>
            <a:r>
              <a:rPr sz="1200">
                <a:solidFill>
                  <a:schemeClr val="tx1"/>
                </a:solidFill>
                <a:latin typeface="Arial"/>
                <a:ea typeface="Arial"/>
                <a:cs typeface="Arial"/>
              </a:rPr>
              <a:t>with</a:t>
            </a:r>
            <a:r>
              <a:rPr sz="1200">
                <a:solidFill>
                  <a:schemeClr val="tx1"/>
                </a:solidFill>
                <a:latin typeface="Arial"/>
                <a:ea typeface="Arial"/>
                <a:cs typeface="Arial"/>
              </a:rPr>
              <a:t> </a:t>
            </a:r>
            <a:r>
              <a:rPr sz="1200">
                <a:solidFill>
                  <a:schemeClr val="tx1"/>
                </a:solidFill>
                <a:latin typeface="Arial"/>
                <a:ea typeface="Arial"/>
                <a:cs typeface="Arial"/>
              </a:rPr>
              <a:t>strong</a:t>
            </a:r>
            <a:r>
              <a:rPr sz="1200">
                <a:solidFill>
                  <a:schemeClr val="tx1"/>
                </a:solidFill>
                <a:latin typeface="Arial"/>
                <a:ea typeface="Arial"/>
                <a:cs typeface="Arial"/>
              </a:rPr>
              <a:t> engineering tricks.</a:t>
            </a:r>
          </a:p>
          <a:p xmlns:a="http://schemas.openxmlformats.org/drawingml/2006/main"/>
          <a:p xmlns:a="http://schemas.openxmlformats.org/drawingml/2006/main">
            <a:r>
              <a:rPr sz="1200">
                <a:solidFill>
                  <a:schemeClr val="tx1"/>
                </a:solidFill>
                <a:latin typeface="Arial"/>
                <a:ea typeface="Arial"/>
                <a:cs typeface="Arial"/>
              </a:rPr>
              <a:t>For </a:t>
            </a:r>
            <a:r>
              <a:rPr sz="1200">
                <a:solidFill>
                  <a:schemeClr val="tx1"/>
                </a:solidFill>
                <a:latin typeface="Arial"/>
                <a:ea typeface="Arial"/>
                <a:cs typeface="Arial"/>
              </a:rPr>
              <a:t>example</a:t>
            </a:r>
            <a:r>
              <a:rPr sz="1200">
                <a:solidFill>
                  <a:schemeClr val="tx1"/>
                </a:solidFill>
                <a:latin typeface="Arial"/>
                <a:ea typeface="Arial"/>
                <a:cs typeface="Arial"/>
              </a:rPr>
              <a:t>, </a:t>
            </a:r>
            <a:r>
              <a:rPr sz="1200">
                <a:solidFill>
                  <a:schemeClr val="tx1"/>
                </a:solidFill>
                <a:latin typeface="Arial"/>
                <a:ea typeface="Arial"/>
                <a:cs typeface="Arial"/>
              </a:rPr>
              <a:t>they</a:t>
            </a:r>
            <a:r>
              <a:rPr sz="1200">
                <a:solidFill>
                  <a:schemeClr val="tx1"/>
                </a:solidFill>
                <a:latin typeface="Arial"/>
                <a:ea typeface="Arial"/>
                <a:cs typeface="Arial"/>
              </a:rPr>
              <a:t> use graph neural networks </a:t>
            </a:r>
            <a:r>
              <a:rPr sz="1200">
                <a:solidFill>
                  <a:schemeClr val="tx1"/>
                </a:solidFill>
                <a:latin typeface="Arial"/>
                <a:ea typeface="Arial"/>
                <a:cs typeface="Arial"/>
              </a:rPr>
              <a:t>combined</a:t>
            </a:r>
            <a:r>
              <a:rPr sz="1200">
                <a:solidFill>
                  <a:schemeClr val="tx1"/>
                </a:solidFill>
                <a:latin typeface="Arial"/>
                <a:ea typeface="Arial"/>
                <a:cs typeface="Arial"/>
              </a:rPr>
              <a:t> </a:t>
            </a:r>
            <a:r>
              <a:rPr sz="1200">
                <a:solidFill>
                  <a:schemeClr val="tx1"/>
                </a:solidFill>
                <a:latin typeface="Arial"/>
                <a:ea typeface="Arial"/>
                <a:cs typeface="Arial"/>
              </a:rPr>
              <a:t>with</a:t>
            </a:r>
            <a:r>
              <a:rPr sz="1200">
                <a:solidFill>
                  <a:schemeClr val="tx1"/>
                </a:solidFill>
                <a:latin typeface="Arial"/>
                <a:ea typeface="Arial"/>
                <a:cs typeface="Arial"/>
              </a:rPr>
              <a:t> value-</a:t>
            </a:r>
            <a:r>
              <a:rPr sz="1200">
                <a:solidFill>
                  <a:schemeClr val="tx1"/>
                </a:solidFill>
                <a:latin typeface="Arial"/>
                <a:ea typeface="Arial"/>
                <a:cs typeface="Arial"/>
              </a:rPr>
              <a:t>based</a:t>
            </a:r>
            <a:r>
              <a:rPr sz="1200">
                <a:solidFill>
                  <a:schemeClr val="tx1"/>
                </a:solidFill>
                <a:latin typeface="Arial"/>
                <a:ea typeface="Arial"/>
                <a:cs typeface="Arial"/>
              </a:rPr>
              <a:t> RL, and </a:t>
            </a:r>
            <a:r>
              <a:rPr sz="1200">
                <a:solidFill>
                  <a:schemeClr val="tx1"/>
                </a:solidFill>
                <a:latin typeface="Arial"/>
                <a:ea typeface="Arial"/>
                <a:cs typeface="Arial"/>
              </a:rPr>
              <a:t>validate</a:t>
            </a:r>
            <a:r>
              <a:rPr sz="1200">
                <a:solidFill>
                  <a:schemeClr val="tx1"/>
                </a:solidFill>
                <a:latin typeface="Arial"/>
                <a:ea typeface="Arial"/>
                <a:cs typeface="Arial"/>
              </a:rPr>
              <a:t> actions </a:t>
            </a:r>
            <a:r>
              <a:rPr sz="1200">
                <a:solidFill>
                  <a:schemeClr val="tx1"/>
                </a:solidFill>
                <a:latin typeface="Arial"/>
                <a:ea typeface="Arial"/>
                <a:cs typeface="Arial"/>
              </a:rPr>
              <a:t>using</a:t>
            </a:r>
            <a:r>
              <a:rPr sz="1200">
                <a:solidFill>
                  <a:schemeClr val="tx1"/>
                </a:solidFill>
                <a:latin typeface="Arial"/>
                <a:ea typeface="Arial"/>
                <a:cs typeface="Arial"/>
              </a:rPr>
              <a:t> power-flow simulations.</a:t>
            </a:r>
          </a:p>
          <a:p xmlns:a="http://schemas.openxmlformats.org/drawingml/2006/main"/>
          <a:p xmlns:a="http://schemas.openxmlformats.org/drawingml/2006/main">
            <a:r>
              <a:rPr sz="1200">
                <a:solidFill>
                  <a:schemeClr val="tx1"/>
                </a:solidFill>
                <a:latin typeface="Arial"/>
                <a:ea typeface="Arial"/>
                <a:cs typeface="Arial"/>
              </a:rPr>
              <a:t>Others</a:t>
            </a:r>
            <a:r>
              <a:rPr sz="1200">
                <a:solidFill>
                  <a:schemeClr val="tx1"/>
                </a:solidFill>
                <a:latin typeface="Arial"/>
                <a:ea typeface="Arial"/>
                <a:cs typeface="Arial"/>
              </a:rPr>
              <a:t> </a:t>
            </a:r>
            <a:r>
              <a:rPr sz="1200">
                <a:solidFill>
                  <a:schemeClr val="tx1"/>
                </a:solidFill>
                <a:latin typeface="Arial"/>
                <a:ea typeface="Arial"/>
                <a:cs typeface="Arial"/>
              </a:rPr>
              <a:t>reduce</a:t>
            </a:r>
            <a:r>
              <a:rPr sz="1200">
                <a:solidFill>
                  <a:schemeClr val="tx1"/>
                </a:solidFill>
                <a:latin typeface="Arial"/>
                <a:ea typeface="Arial"/>
                <a:cs typeface="Arial"/>
              </a:rPr>
              <a:t> the action </a:t>
            </a:r>
            <a:r>
              <a:rPr sz="1200">
                <a:solidFill>
                  <a:schemeClr val="tx1"/>
                </a:solidFill>
                <a:latin typeface="Arial"/>
                <a:ea typeface="Arial"/>
                <a:cs typeface="Arial"/>
              </a:rPr>
              <a:t>space</a:t>
            </a:r>
            <a:r>
              <a:rPr sz="1200">
                <a:solidFill>
                  <a:schemeClr val="tx1"/>
                </a:solidFill>
                <a:latin typeface="Arial"/>
                <a:ea typeface="Arial"/>
                <a:cs typeface="Arial"/>
              </a:rPr>
              <a:t> </a:t>
            </a:r>
            <a:r>
              <a:rPr sz="1200">
                <a:solidFill>
                  <a:schemeClr val="tx1"/>
                </a:solidFill>
                <a:latin typeface="Arial"/>
                <a:ea typeface="Arial"/>
                <a:cs typeface="Arial"/>
              </a:rPr>
              <a:t>using</a:t>
            </a:r>
            <a:r>
              <a:rPr sz="1200">
                <a:solidFill>
                  <a:schemeClr val="tx1"/>
                </a:solidFill>
                <a:latin typeface="Arial"/>
                <a:ea typeface="Arial"/>
                <a:cs typeface="Arial"/>
              </a:rPr>
              <a:t> </a:t>
            </a:r>
            <a:r>
              <a:rPr sz="1200">
                <a:solidFill>
                  <a:schemeClr val="tx1"/>
                </a:solidFill>
                <a:latin typeface="Arial"/>
                <a:ea typeface="Arial"/>
                <a:cs typeface="Arial"/>
              </a:rPr>
              <a:t>masking</a:t>
            </a:r>
            <a:r>
              <a:rPr sz="1200">
                <a:solidFill>
                  <a:schemeClr val="tx1"/>
                </a:solidFill>
                <a:latin typeface="Arial"/>
                <a:ea typeface="Arial"/>
                <a:cs typeface="Arial"/>
              </a:rPr>
              <a:t> or </a:t>
            </a:r>
            <a:r>
              <a:rPr sz="1200">
                <a:solidFill>
                  <a:schemeClr val="tx1"/>
                </a:solidFill>
                <a:latin typeface="Arial"/>
                <a:ea typeface="Arial"/>
                <a:cs typeface="Arial"/>
              </a:rPr>
              <a:t>pruning</a:t>
            </a:r>
            <a:r>
              <a:rPr sz="1200">
                <a:solidFill>
                  <a:schemeClr val="tx1"/>
                </a:solidFill>
                <a:latin typeface="Arial"/>
                <a:ea typeface="Arial"/>
                <a:cs typeface="Arial"/>
              </a:rPr>
              <a:t>.</a:t>
            </a:r>
          </a:p>
          <a:p xmlns:a="http://schemas.openxmlformats.org/drawingml/2006/main"/>
          <a:p xmlns:a="http://schemas.openxmlformats.org/drawingml/2006/main">
            <a:r>
              <a:rPr sz="1200">
                <a:solidFill>
                  <a:schemeClr val="tx1"/>
                </a:solidFill>
                <a:latin typeface="Arial"/>
                <a:ea typeface="Arial"/>
                <a:cs typeface="Arial"/>
              </a:rPr>
              <a:t>These</a:t>
            </a:r>
            <a:r>
              <a:rPr sz="1200">
                <a:solidFill>
                  <a:schemeClr val="tx1"/>
                </a:solidFill>
                <a:latin typeface="Arial"/>
                <a:ea typeface="Arial"/>
                <a:cs typeface="Arial"/>
              </a:rPr>
              <a:t> </a:t>
            </a:r>
            <a:r>
              <a:rPr sz="1200">
                <a:solidFill>
                  <a:schemeClr val="tx1"/>
                </a:solidFill>
                <a:latin typeface="Arial"/>
                <a:ea typeface="Arial"/>
                <a:cs typeface="Arial"/>
              </a:rPr>
              <a:t>methods</a:t>
            </a:r>
            <a:r>
              <a:rPr sz="1200">
                <a:solidFill>
                  <a:schemeClr val="tx1"/>
                </a:solidFill>
                <a:latin typeface="Arial"/>
                <a:ea typeface="Arial"/>
                <a:cs typeface="Arial"/>
              </a:rPr>
              <a:t> can </a:t>
            </a:r>
            <a:r>
              <a:rPr sz="1200">
                <a:solidFill>
                  <a:schemeClr val="tx1"/>
                </a:solidFill>
                <a:latin typeface="Arial"/>
                <a:ea typeface="Arial"/>
                <a:cs typeface="Arial"/>
              </a:rPr>
              <a:t>work</a:t>
            </a:r>
            <a:r>
              <a:rPr sz="1200">
                <a:solidFill>
                  <a:schemeClr val="tx1"/>
                </a:solidFill>
                <a:latin typeface="Arial"/>
                <a:ea typeface="Arial"/>
                <a:cs typeface="Arial"/>
              </a:rPr>
              <a:t>, </a:t>
            </a:r>
            <a:r>
              <a:rPr sz="1200">
                <a:solidFill>
                  <a:schemeClr val="tx1"/>
                </a:solidFill>
                <a:latin typeface="Arial"/>
                <a:ea typeface="Arial"/>
                <a:cs typeface="Arial"/>
              </a:rPr>
              <a:t>so</a:t>
            </a:r>
            <a:r>
              <a:rPr sz="1200">
                <a:solidFill>
                  <a:schemeClr val="tx1"/>
                </a:solidFill>
                <a:latin typeface="Arial"/>
                <a:ea typeface="Arial"/>
                <a:cs typeface="Arial"/>
              </a:rPr>
              <a:t> </a:t>
            </a:r>
            <a:r>
              <a:rPr sz="1200">
                <a:solidFill>
                  <a:schemeClr val="tx1"/>
                </a:solidFill>
                <a:latin typeface="Arial"/>
                <a:ea typeface="Arial"/>
                <a:cs typeface="Arial"/>
              </a:rPr>
              <a:t>mixing</a:t>
            </a:r>
            <a:r>
              <a:rPr sz="1200">
                <a:solidFill>
                  <a:schemeClr val="tx1"/>
                </a:solidFill>
                <a:latin typeface="Arial"/>
                <a:ea typeface="Arial"/>
                <a:cs typeface="Arial"/>
              </a:rPr>
              <a:t> a single agent </a:t>
            </a:r>
            <a:r>
              <a:rPr sz="1200">
                <a:solidFill>
                  <a:schemeClr val="tx1"/>
                </a:solidFill>
                <a:latin typeface="Arial"/>
                <a:ea typeface="Arial"/>
                <a:cs typeface="Arial"/>
              </a:rPr>
              <a:t>with</a:t>
            </a:r>
            <a:r>
              <a:rPr sz="1200">
                <a:solidFill>
                  <a:schemeClr val="tx1"/>
                </a:solidFill>
                <a:latin typeface="Arial"/>
                <a:ea typeface="Arial"/>
                <a:cs typeface="Arial"/>
              </a:rPr>
              <a:t> </a:t>
            </a:r>
            <a:r>
              <a:rPr sz="1200">
                <a:solidFill>
                  <a:schemeClr val="tx1"/>
                </a:solidFill>
                <a:latin typeface="Arial"/>
                <a:ea typeface="Arial"/>
                <a:cs typeface="Arial"/>
              </a:rPr>
              <a:t>rules</a:t>
            </a:r>
            <a:r>
              <a:rPr sz="1200">
                <a:solidFill>
                  <a:schemeClr val="tx1"/>
                </a:solidFill>
                <a:latin typeface="Arial"/>
                <a:ea typeface="Arial"/>
                <a:cs typeface="Arial"/>
              </a:rPr>
              <a:t>, but </a:t>
            </a:r>
            <a:r>
              <a:rPr sz="1200">
                <a:solidFill>
                  <a:schemeClr val="tx1"/>
                </a:solidFill>
                <a:latin typeface="Arial"/>
                <a:ea typeface="Arial"/>
                <a:cs typeface="Arial"/>
              </a:rPr>
              <a:t>they</a:t>
            </a:r>
            <a:r>
              <a:rPr sz="1200">
                <a:solidFill>
                  <a:schemeClr val="tx1"/>
                </a:solidFill>
                <a:latin typeface="Arial"/>
                <a:ea typeface="Arial"/>
                <a:cs typeface="Arial"/>
              </a:rPr>
              <a:t> </a:t>
            </a:r>
            <a:r>
              <a:rPr sz="1200">
                <a:solidFill>
                  <a:schemeClr val="tx1"/>
                </a:solidFill>
                <a:latin typeface="Arial"/>
                <a:ea typeface="Arial"/>
                <a:cs typeface="Arial"/>
              </a:rPr>
              <a:t>suffer</a:t>
            </a:r>
            <a:r>
              <a:rPr sz="1200">
                <a:solidFill>
                  <a:schemeClr val="tx1"/>
                </a:solidFill>
                <a:latin typeface="Arial"/>
                <a:ea typeface="Arial"/>
                <a:cs typeface="Arial"/>
              </a:rPr>
              <a:t> </a:t>
            </a:r>
            <a:r>
              <a:rPr sz="1200">
                <a:solidFill>
                  <a:schemeClr val="tx1"/>
                </a:solidFill>
                <a:latin typeface="Arial"/>
                <a:ea typeface="Arial"/>
                <a:cs typeface="Arial"/>
              </a:rPr>
              <a:t>because</a:t>
            </a:r>
            <a:r>
              <a:rPr sz="1200">
                <a:solidFill>
                  <a:schemeClr val="tx1"/>
                </a:solidFill>
                <a:latin typeface="Arial"/>
                <a:ea typeface="Arial"/>
                <a:cs typeface="Arial"/>
              </a:rPr>
              <a:t> the action </a:t>
            </a:r>
            <a:r>
              <a:rPr sz="1200">
                <a:solidFill>
                  <a:schemeClr val="tx1"/>
                </a:solidFill>
                <a:latin typeface="Arial"/>
                <a:ea typeface="Arial"/>
                <a:cs typeface="Arial"/>
              </a:rPr>
              <a:t>space</a:t>
            </a:r>
            <a:r>
              <a:rPr sz="1200">
                <a:solidFill>
                  <a:schemeClr val="tx1"/>
                </a:solidFill>
                <a:latin typeface="Arial"/>
                <a:ea typeface="Arial"/>
                <a:cs typeface="Arial"/>
              </a:rPr>
              <a:t> </a:t>
            </a:r>
            <a:r>
              <a:rPr sz="1200">
                <a:solidFill>
                  <a:schemeClr val="tx1"/>
                </a:solidFill>
                <a:latin typeface="Arial"/>
                <a:ea typeface="Arial"/>
                <a:cs typeface="Arial"/>
              </a:rPr>
              <a:t>remains</a:t>
            </a:r>
            <a:r>
              <a:rPr sz="1200">
                <a:solidFill>
                  <a:schemeClr val="tx1"/>
                </a:solidFill>
                <a:latin typeface="Arial"/>
                <a:ea typeface="Arial"/>
                <a:cs typeface="Arial"/>
              </a:rPr>
              <a:t> </a:t>
            </a:r>
            <a:r>
              <a:rPr sz="1200">
                <a:solidFill>
                  <a:schemeClr val="tx1"/>
                </a:solidFill>
                <a:latin typeface="Arial"/>
                <a:ea typeface="Arial"/>
                <a:cs typeface="Arial"/>
              </a:rPr>
              <a:t>very</a:t>
            </a:r>
            <a:r>
              <a:rPr sz="1200">
                <a:solidFill>
                  <a:schemeClr val="tx1"/>
                </a:solidFill>
                <a:latin typeface="Arial"/>
                <a:ea typeface="Arial"/>
                <a:cs typeface="Arial"/>
              </a:rPr>
              <a:t> large.”</a:t>
            </a:r>
          </a:p>
          <a:p xmlns:a="http://schemas.openxmlformats.org/drawingml/2006/main"/>
          <a:p xmlns:a="http://schemas.openxmlformats.org/drawingml/2006/main">
            <a:r>
              <a:rPr sz="1200">
                <a:solidFill>
                  <a:schemeClr val="tx1"/>
                </a:solidFill>
                <a:latin typeface="Arial"/>
                <a:ea typeface="Arial"/>
                <a:cs typeface="Arial"/>
              </a:rPr>
              <a:t>Another</a:t>
            </a:r>
            <a:r>
              <a:rPr sz="1200">
                <a:solidFill>
                  <a:schemeClr val="tx1"/>
                </a:solidFill>
                <a:latin typeface="Arial"/>
                <a:ea typeface="Arial"/>
                <a:cs typeface="Arial"/>
              </a:rPr>
              <a:t> important </a:t>
            </a:r>
            <a:r>
              <a:rPr sz="1200">
                <a:solidFill>
                  <a:schemeClr val="tx1"/>
                </a:solidFill>
                <a:latin typeface="Arial"/>
                <a:ea typeface="Arial"/>
                <a:cs typeface="Arial"/>
              </a:rPr>
              <a:t>idea</a:t>
            </a:r>
            <a:r>
              <a:rPr sz="1200">
                <a:solidFill>
                  <a:schemeClr val="tx1"/>
                </a:solidFill>
                <a:latin typeface="Arial"/>
                <a:ea typeface="Arial"/>
                <a:cs typeface="Arial"/>
              </a:rPr>
              <a:t> </a:t>
            </a:r>
            <a:r>
              <a:rPr sz="1200">
                <a:solidFill>
                  <a:schemeClr val="tx1"/>
                </a:solidFill>
                <a:latin typeface="Arial"/>
                <a:ea typeface="Arial"/>
                <a:cs typeface="Arial"/>
              </a:rPr>
              <a:t>is</a:t>
            </a:r>
            <a:r>
              <a:rPr sz="1200">
                <a:solidFill>
                  <a:schemeClr val="tx1"/>
                </a:solidFill>
                <a:latin typeface="Arial"/>
                <a:ea typeface="Arial"/>
                <a:cs typeface="Arial"/>
              </a:rPr>
              <a:t> to </a:t>
            </a:r>
            <a:r>
              <a:rPr sz="1200">
                <a:solidFill>
                  <a:schemeClr val="tx1"/>
                </a:solidFill>
                <a:latin typeface="Arial"/>
                <a:ea typeface="Arial"/>
                <a:cs typeface="Arial"/>
              </a:rPr>
              <a:t>predict</a:t>
            </a:r>
            <a:r>
              <a:rPr sz="1200">
                <a:solidFill>
                  <a:schemeClr val="tx1"/>
                </a:solidFill>
                <a:latin typeface="Arial"/>
                <a:ea typeface="Arial"/>
                <a:cs typeface="Arial"/>
              </a:rPr>
              <a:t> a </a:t>
            </a:r>
            <a:r>
              <a:rPr sz="1200" b="1">
                <a:solidFill>
                  <a:schemeClr val="tx1"/>
                </a:solidFill>
                <a:latin typeface="Arial"/>
                <a:ea typeface="Arial"/>
                <a:cs typeface="Arial"/>
              </a:rPr>
              <a:t>target</a:t>
            </a:r>
            <a:r>
              <a:rPr sz="1200" b="1">
                <a:solidFill>
                  <a:schemeClr val="tx1"/>
                </a:solidFill>
                <a:latin typeface="Arial"/>
                <a:ea typeface="Arial"/>
                <a:cs typeface="Arial"/>
              </a:rPr>
              <a:t> </a:t>
            </a:r>
            <a:r>
              <a:rPr sz="1200" b="1">
                <a:solidFill>
                  <a:schemeClr val="tx1"/>
                </a:solidFill>
                <a:latin typeface="Arial"/>
                <a:ea typeface="Arial"/>
                <a:cs typeface="Arial"/>
              </a:rPr>
              <a:t>topology</a:t>
            </a:r>
            <a:r>
              <a:rPr sz="1200" b="1">
                <a:solidFill>
                  <a:schemeClr val="tx1"/>
                </a:solidFill>
                <a:latin typeface="Arial"/>
                <a:ea typeface="Arial"/>
                <a:cs typeface="Arial"/>
              </a:rPr>
              <a:t> </a:t>
            </a:r>
            <a:r>
              <a:rPr sz="1200" b="1">
                <a:solidFill>
                  <a:schemeClr val="tx1"/>
                </a:solidFill>
                <a:latin typeface="Arial"/>
                <a:ea typeface="Arial"/>
                <a:cs typeface="Arial"/>
              </a:rPr>
              <a:t>instead</a:t>
            </a:r>
            <a:r>
              <a:rPr sz="1200" b="1">
                <a:solidFill>
                  <a:schemeClr val="tx1"/>
                </a:solidFill>
                <a:latin typeface="Arial"/>
                <a:ea typeface="Arial"/>
                <a:cs typeface="Arial"/>
              </a:rPr>
              <a:t> of </a:t>
            </a:r>
            <a:r>
              <a:rPr sz="1200" b="1">
                <a:solidFill>
                  <a:schemeClr val="tx1"/>
                </a:solidFill>
                <a:latin typeface="Arial"/>
                <a:ea typeface="Arial"/>
                <a:cs typeface="Arial"/>
              </a:rPr>
              <a:t>raw</a:t>
            </a:r>
            <a:r>
              <a:rPr sz="1200" b="1">
                <a:solidFill>
                  <a:schemeClr val="tx1"/>
                </a:solidFill>
                <a:latin typeface="Arial"/>
                <a:ea typeface="Arial"/>
                <a:cs typeface="Arial"/>
              </a:rPr>
              <a:t> actions</a:t>
            </a:r>
            <a:r>
              <a:rPr sz="1200">
                <a:solidFill>
                  <a:schemeClr val="tx1"/>
                </a:solidFill>
                <a:latin typeface="Arial"/>
                <a:ea typeface="Arial"/>
                <a:cs typeface="Arial"/>
              </a:rPr>
              <a:t>.</a:t>
            </a:r>
          </a:p>
          <a:p xmlns:a="http://schemas.openxmlformats.org/drawingml/2006/main"/>
          <a:p xmlns:a="http://schemas.openxmlformats.org/drawingml/2006/main">
            <a:r>
              <a:rPr sz="1200">
                <a:solidFill>
                  <a:schemeClr val="tx1"/>
                </a:solidFill>
                <a:latin typeface="Arial"/>
                <a:ea typeface="Arial"/>
                <a:cs typeface="Arial"/>
              </a:rPr>
              <a:t>This </a:t>
            </a:r>
            <a:r>
              <a:rPr sz="1200">
                <a:solidFill>
                  <a:schemeClr val="tx1"/>
                </a:solidFill>
                <a:latin typeface="Arial"/>
                <a:ea typeface="Arial"/>
                <a:cs typeface="Arial"/>
              </a:rPr>
              <a:t>is</a:t>
            </a:r>
            <a:r>
              <a:rPr sz="1200">
                <a:solidFill>
                  <a:schemeClr val="tx1"/>
                </a:solidFill>
                <a:latin typeface="Arial"/>
                <a:ea typeface="Arial"/>
                <a:cs typeface="Arial"/>
              </a:rPr>
              <a:t> </a:t>
            </a:r>
            <a:r>
              <a:rPr sz="1200">
                <a:solidFill>
                  <a:schemeClr val="tx1"/>
                </a:solidFill>
                <a:latin typeface="Arial"/>
                <a:ea typeface="Arial"/>
                <a:cs typeface="Arial"/>
              </a:rPr>
              <a:t>used</a:t>
            </a:r>
            <a:r>
              <a:rPr sz="1200">
                <a:solidFill>
                  <a:schemeClr val="tx1"/>
                </a:solidFill>
                <a:latin typeface="Arial"/>
                <a:ea typeface="Arial"/>
                <a:cs typeface="Arial"/>
              </a:rPr>
              <a:t> in SMAAC, </a:t>
            </a:r>
            <a:r>
              <a:rPr sz="1200">
                <a:solidFill>
                  <a:schemeClr val="tx1"/>
                </a:solidFill>
                <a:latin typeface="Arial"/>
                <a:ea typeface="Arial"/>
                <a:cs typeface="Arial"/>
              </a:rPr>
              <a:t>where</a:t>
            </a:r>
            <a:r>
              <a:rPr sz="1200">
                <a:solidFill>
                  <a:schemeClr val="tx1"/>
                </a:solidFill>
                <a:latin typeface="Arial"/>
                <a:ea typeface="Arial"/>
                <a:cs typeface="Arial"/>
              </a:rPr>
              <a:t> </a:t>
            </a:r>
            <a:r>
              <a:rPr sz="1200">
                <a:solidFill>
                  <a:schemeClr val="tx1"/>
                </a:solidFill>
                <a:latin typeface="Arial"/>
                <a:ea typeface="Arial"/>
                <a:cs typeface="Arial"/>
              </a:rPr>
              <a:t>the</a:t>
            </a:r>
            <a:r>
              <a:rPr sz="1200">
                <a:solidFill>
                  <a:schemeClr val="tx1"/>
                </a:solidFill>
                <a:latin typeface="Arial"/>
                <a:ea typeface="Arial"/>
                <a:cs typeface="Arial"/>
              </a:rPr>
              <a:t> </a:t>
            </a:r>
            <a:r>
              <a:rPr sz="1200">
                <a:solidFill>
                  <a:schemeClr val="tx1"/>
                </a:solidFill>
                <a:latin typeface="Arial"/>
                <a:ea typeface="Arial"/>
                <a:cs typeface="Arial"/>
              </a:rPr>
              <a:t>agent</a:t>
            </a:r>
            <a:r>
              <a:rPr sz="1200">
                <a:solidFill>
                  <a:schemeClr val="tx1"/>
                </a:solidFill>
                <a:latin typeface="Arial"/>
                <a:ea typeface="Arial"/>
                <a:cs typeface="Arial"/>
              </a:rPr>
              <a:t> </a:t>
            </a:r>
            <a:r>
              <a:rPr sz="1200">
                <a:solidFill>
                  <a:schemeClr val="tx1"/>
                </a:solidFill>
                <a:latin typeface="Arial"/>
                <a:ea typeface="Arial"/>
                <a:cs typeface="Arial"/>
              </a:rPr>
              <a:t>learns</a:t>
            </a:r>
            <a:r>
              <a:rPr sz="1200">
                <a:solidFill>
                  <a:schemeClr val="tx1"/>
                </a:solidFill>
                <a:latin typeface="Arial"/>
                <a:ea typeface="Arial"/>
                <a:cs typeface="Arial"/>
              </a:rPr>
              <a:t> an </a:t>
            </a:r>
            <a:r>
              <a:rPr sz="1200">
                <a:solidFill>
                  <a:schemeClr val="tx1"/>
                </a:solidFill>
                <a:latin typeface="Arial"/>
                <a:ea typeface="Arial"/>
                <a:cs typeface="Arial"/>
              </a:rPr>
              <a:t>afterstate</a:t>
            </a:r>
            <a:r>
              <a:rPr sz="1200">
                <a:solidFill>
                  <a:schemeClr val="tx1"/>
                </a:solidFill>
                <a:latin typeface="Arial"/>
                <a:ea typeface="Arial"/>
                <a:cs typeface="Arial"/>
              </a:rPr>
              <a:t> </a:t>
            </a:r>
            <a:r>
              <a:rPr sz="1200">
                <a:solidFill>
                  <a:schemeClr val="tx1"/>
                </a:solidFill>
                <a:latin typeface="Arial"/>
                <a:ea typeface="Arial"/>
                <a:cs typeface="Arial"/>
              </a:rPr>
              <a:t>representation</a:t>
            </a:r>
            <a:r>
              <a:rPr sz="1200">
                <a:solidFill>
                  <a:schemeClr val="tx1"/>
                </a:solidFill>
                <a:latin typeface="Arial"/>
                <a:ea typeface="Arial"/>
                <a:cs typeface="Arial"/>
              </a:rPr>
              <a:t>—</a:t>
            </a:r>
            <a:r>
              <a:rPr sz="1200">
                <a:solidFill>
                  <a:schemeClr val="tx1"/>
                </a:solidFill>
                <a:latin typeface="Arial"/>
                <a:ea typeface="Arial"/>
                <a:cs typeface="Arial"/>
              </a:rPr>
              <a:t>basically</a:t>
            </a:r>
            <a:r>
              <a:rPr sz="1200">
                <a:solidFill>
                  <a:schemeClr val="tx1"/>
                </a:solidFill>
                <a:latin typeface="Arial"/>
                <a:ea typeface="Arial"/>
                <a:cs typeface="Arial"/>
              </a:rPr>
              <a:t> </a:t>
            </a:r>
            <a:r>
              <a:rPr sz="1200">
                <a:solidFill>
                  <a:schemeClr val="tx1"/>
                </a:solidFill>
                <a:latin typeface="Arial"/>
                <a:ea typeface="Arial"/>
                <a:cs typeface="Arial"/>
              </a:rPr>
              <a:t>the</a:t>
            </a:r>
            <a:r>
              <a:rPr sz="1200">
                <a:solidFill>
                  <a:schemeClr val="tx1"/>
                </a:solidFill>
                <a:latin typeface="Arial"/>
                <a:ea typeface="Arial"/>
                <a:cs typeface="Arial"/>
              </a:rPr>
              <a:t> </a:t>
            </a:r>
            <a:r>
              <a:rPr sz="1200">
                <a:solidFill>
                  <a:schemeClr val="tx1"/>
                </a:solidFill>
                <a:latin typeface="Arial"/>
                <a:ea typeface="Arial"/>
                <a:cs typeface="Arial"/>
              </a:rPr>
              <a:t>resulting</a:t>
            </a:r>
            <a:r>
              <a:rPr sz="1200">
                <a:solidFill>
                  <a:schemeClr val="tx1"/>
                </a:solidFill>
                <a:latin typeface="Arial"/>
                <a:ea typeface="Arial"/>
                <a:cs typeface="Arial"/>
              </a:rPr>
              <a:t> </a:t>
            </a:r>
            <a:r>
              <a:rPr sz="1200">
                <a:solidFill>
                  <a:schemeClr val="tx1"/>
                </a:solidFill>
                <a:latin typeface="Arial"/>
                <a:ea typeface="Arial"/>
                <a:cs typeface="Arial"/>
              </a:rPr>
              <a:t>topology</a:t>
            </a:r>
            <a:r>
              <a:rPr sz="1200">
                <a:solidFill>
                  <a:schemeClr val="tx1"/>
                </a:solidFill>
                <a:latin typeface="Arial"/>
                <a:ea typeface="Arial"/>
                <a:cs typeface="Arial"/>
              </a:rPr>
              <a:t> after an </a:t>
            </a:r>
            <a:r>
              <a:rPr sz="1200">
                <a:solidFill>
                  <a:schemeClr val="tx1"/>
                </a:solidFill>
                <a:latin typeface="Arial"/>
                <a:ea typeface="Arial"/>
                <a:cs typeface="Arial"/>
              </a:rPr>
              <a:t>action</a:t>
            </a:r>
            <a:r>
              <a:rPr sz="1200">
                <a:solidFill>
                  <a:schemeClr val="tx1"/>
                </a:solidFill>
                <a:latin typeface="Arial"/>
                <a:ea typeface="Arial"/>
                <a:cs typeface="Arial"/>
              </a:rPr>
              <a:t>.</a:t>
            </a:r>
          </a:p>
          <a:p xmlns:a="http://schemas.openxmlformats.org/drawingml/2006/main"/>
          <a:p xmlns:a="http://schemas.openxmlformats.org/drawingml/2006/main">
            <a:r>
              <a:rPr sz="1200">
                <a:solidFill>
                  <a:schemeClr val="tx1"/>
                </a:solidFill>
                <a:latin typeface="Arial"/>
                <a:ea typeface="Arial"/>
                <a:cs typeface="Arial"/>
              </a:rPr>
              <a:t>This </a:t>
            </a:r>
            <a:r>
              <a:rPr sz="1200">
                <a:solidFill>
                  <a:schemeClr val="tx1"/>
                </a:solidFill>
                <a:latin typeface="Arial"/>
                <a:ea typeface="Arial"/>
                <a:cs typeface="Arial"/>
              </a:rPr>
              <a:t>helps</a:t>
            </a:r>
            <a:r>
              <a:rPr sz="1200">
                <a:solidFill>
                  <a:schemeClr val="tx1"/>
                </a:solidFill>
                <a:latin typeface="Arial"/>
                <a:ea typeface="Arial"/>
                <a:cs typeface="Arial"/>
              </a:rPr>
              <a:t> </a:t>
            </a:r>
            <a:r>
              <a:rPr sz="1200">
                <a:solidFill>
                  <a:schemeClr val="tx1"/>
                </a:solidFill>
                <a:latin typeface="Arial"/>
                <a:ea typeface="Arial"/>
                <a:cs typeface="Arial"/>
              </a:rPr>
              <a:t>because</a:t>
            </a:r>
            <a:r>
              <a:rPr sz="1200">
                <a:solidFill>
                  <a:schemeClr val="tx1"/>
                </a:solidFill>
                <a:latin typeface="Arial"/>
                <a:ea typeface="Arial"/>
                <a:cs typeface="Arial"/>
              </a:rPr>
              <a:t> multiple </a:t>
            </a:r>
            <a:r>
              <a:rPr sz="1200">
                <a:solidFill>
                  <a:schemeClr val="tx1"/>
                </a:solidFill>
                <a:latin typeface="Arial"/>
                <a:ea typeface="Arial"/>
                <a:cs typeface="Arial"/>
              </a:rPr>
              <a:t>sequences</a:t>
            </a:r>
            <a:r>
              <a:rPr sz="1200">
                <a:solidFill>
                  <a:schemeClr val="tx1"/>
                </a:solidFill>
                <a:latin typeface="Arial"/>
                <a:ea typeface="Arial"/>
                <a:cs typeface="Arial"/>
              </a:rPr>
              <a:t> of actions can lead to the </a:t>
            </a:r>
            <a:r>
              <a:rPr sz="1200">
                <a:solidFill>
                  <a:schemeClr val="tx1"/>
                </a:solidFill>
                <a:latin typeface="Arial"/>
                <a:ea typeface="Arial"/>
                <a:cs typeface="Arial"/>
              </a:rPr>
              <a:t>same</a:t>
            </a:r>
            <a:r>
              <a:rPr sz="1200">
                <a:solidFill>
                  <a:schemeClr val="tx1"/>
                </a:solidFill>
                <a:latin typeface="Arial"/>
                <a:ea typeface="Arial"/>
                <a:cs typeface="Arial"/>
              </a:rPr>
              <a:t> configuration. So </a:t>
            </a:r>
            <a:r>
              <a:rPr sz="1200">
                <a:solidFill>
                  <a:schemeClr val="tx1"/>
                </a:solidFill>
                <a:latin typeface="Arial"/>
                <a:ea typeface="Arial"/>
                <a:cs typeface="Arial"/>
              </a:rPr>
              <a:t>it</a:t>
            </a:r>
            <a:r>
              <a:rPr sz="1200">
                <a:solidFill>
                  <a:schemeClr val="tx1"/>
                </a:solidFill>
                <a:latin typeface="Arial"/>
                <a:ea typeface="Arial"/>
                <a:cs typeface="Arial"/>
              </a:rPr>
              <a:t> </a:t>
            </a:r>
            <a:r>
              <a:rPr sz="1200">
                <a:solidFill>
                  <a:schemeClr val="tx1"/>
                </a:solidFill>
                <a:latin typeface="Arial"/>
                <a:ea typeface="Arial"/>
                <a:cs typeface="Arial"/>
              </a:rPr>
              <a:t>reduces</a:t>
            </a:r>
            <a:r>
              <a:rPr sz="1200">
                <a:solidFill>
                  <a:schemeClr val="tx1"/>
                </a:solidFill>
                <a:latin typeface="Arial"/>
                <a:ea typeface="Arial"/>
                <a:cs typeface="Arial"/>
              </a:rPr>
              <a:t> the action </a:t>
            </a:r>
            <a:r>
              <a:rPr sz="1200">
                <a:solidFill>
                  <a:schemeClr val="tx1"/>
                </a:solidFill>
                <a:latin typeface="Arial"/>
                <a:ea typeface="Arial"/>
                <a:cs typeface="Arial"/>
              </a:rPr>
              <a:t>space</a:t>
            </a:r>
          </a:p>
          <a:p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a:solidFill>
                  <a:schemeClr val="tx1"/>
                </a:solidFill>
                <a:latin typeface="Arial"/>
                <a:ea typeface="Arial"/>
                <a:cs typeface="Arial"/>
              </a:rPr>
              <a:t>To dive a </a:t>
            </a:r>
            <a:r>
              <a:rPr sz="1200">
                <a:solidFill>
                  <a:schemeClr val="tx1"/>
                </a:solidFill>
                <a:latin typeface="Arial"/>
                <a:ea typeface="Arial"/>
                <a:cs typeface="Arial"/>
              </a:rPr>
              <a:t>little</a:t>
            </a:r>
            <a:r>
              <a:rPr sz="1200">
                <a:solidFill>
                  <a:schemeClr val="tx1"/>
                </a:solidFill>
                <a:latin typeface="Arial"/>
                <a:ea typeface="Arial"/>
                <a:cs typeface="Arial"/>
              </a:rPr>
              <a:t> </a:t>
            </a:r>
            <a:r>
              <a:rPr sz="1200">
                <a:solidFill>
                  <a:schemeClr val="tx1"/>
                </a:solidFill>
                <a:latin typeface="Arial"/>
                <a:ea typeface="Arial"/>
                <a:cs typeface="Arial"/>
              </a:rPr>
              <a:t>deeper</a:t>
            </a:r>
            <a:r>
              <a:rPr sz="1200">
                <a:solidFill>
                  <a:schemeClr val="tx1"/>
                </a:solidFill>
                <a:latin typeface="Arial"/>
                <a:ea typeface="Arial"/>
                <a:cs typeface="Arial"/>
              </a:rPr>
              <a:t> i have been </a:t>
            </a:r>
            <a:r>
              <a:rPr sz="1200">
                <a:solidFill>
                  <a:schemeClr val="tx1"/>
                </a:solidFill>
                <a:latin typeface="Arial"/>
                <a:ea typeface="Arial"/>
                <a:cs typeface="Arial"/>
              </a:rPr>
              <a:t>looking</a:t>
            </a:r>
            <a:r>
              <a:rPr sz="1200">
                <a:solidFill>
                  <a:schemeClr val="tx1"/>
                </a:solidFill>
                <a:latin typeface="Arial"/>
                <a:ea typeface="Arial"/>
                <a:cs typeface="Arial"/>
              </a:rPr>
              <a:t> at a </a:t>
            </a:r>
            <a:r>
              <a:rPr sz="1200">
                <a:solidFill>
                  <a:schemeClr val="tx1"/>
                </a:solidFill>
                <a:latin typeface="Arial"/>
                <a:ea typeface="Arial"/>
                <a:cs typeface="Arial"/>
              </a:rPr>
              <a:t>survey</a:t>
            </a:r>
            <a:r>
              <a:rPr sz="1200">
                <a:solidFill>
                  <a:schemeClr val="tx1"/>
                </a:solidFill>
                <a:latin typeface="Arial"/>
                <a:ea typeface="Arial"/>
                <a:cs typeface="Arial"/>
              </a:rPr>
              <a:t> </a:t>
            </a:r>
            <a:r>
              <a:rPr sz="1200">
                <a:solidFill>
                  <a:schemeClr val="tx1"/>
                </a:solidFill>
                <a:latin typeface="Arial"/>
                <a:ea typeface="Arial"/>
                <a:cs typeface="Arial"/>
              </a:rPr>
              <a:t>that</a:t>
            </a:r>
            <a:r>
              <a:rPr sz="1200">
                <a:solidFill>
                  <a:schemeClr val="tx1"/>
                </a:solidFill>
                <a:latin typeface="Arial"/>
                <a:ea typeface="Arial"/>
                <a:cs typeface="Arial"/>
              </a:rPr>
              <a:t> </a:t>
            </a:r>
            <a:r>
              <a:rPr sz="1200">
                <a:solidFill>
                  <a:schemeClr val="tx1"/>
                </a:solidFill>
                <a:latin typeface="Arial"/>
                <a:ea typeface="Arial"/>
                <a:cs typeface="Arial"/>
              </a:rPr>
              <a:t>summarize</a:t>
            </a:r>
            <a:r>
              <a:rPr sz="1200">
                <a:solidFill>
                  <a:schemeClr val="tx1"/>
                </a:solidFill>
                <a:latin typeface="Arial"/>
                <a:ea typeface="Arial"/>
                <a:cs typeface="Arial"/>
              </a:rPr>
              <a:t> all the </a:t>
            </a:r>
            <a:r>
              <a:rPr sz="1200">
                <a:solidFill>
                  <a:schemeClr val="tx1"/>
                </a:solidFill>
                <a:latin typeface="Arial"/>
                <a:ea typeface="Arial"/>
                <a:cs typeface="Arial"/>
              </a:rPr>
              <a:t>algorithms</a:t>
            </a:r>
            <a:r>
              <a:rPr sz="1200">
                <a:solidFill>
                  <a:schemeClr val="tx1"/>
                </a:solidFill>
                <a:latin typeface="Arial"/>
                <a:ea typeface="Arial"/>
                <a:cs typeface="Arial"/>
              </a:rPr>
              <a:t> </a:t>
            </a:r>
            <a:r>
              <a:rPr sz="1200">
                <a:solidFill>
                  <a:schemeClr val="tx1"/>
                </a:solidFill>
                <a:latin typeface="Arial"/>
                <a:ea typeface="Arial"/>
                <a:cs typeface="Arial"/>
              </a:rPr>
              <a:t>that</a:t>
            </a:r>
            <a:r>
              <a:rPr sz="1200">
                <a:solidFill>
                  <a:schemeClr val="tx1"/>
                </a:solidFill>
                <a:latin typeface="Arial"/>
                <a:ea typeface="Arial"/>
                <a:cs typeface="Arial"/>
              </a:rPr>
              <a:t> won the l2rpn challenge and </a:t>
            </a:r>
            <a:r>
              <a:rPr sz="1200">
                <a:solidFill>
                  <a:schemeClr val="tx1"/>
                </a:solidFill>
                <a:latin typeface="Arial"/>
                <a:ea typeface="Arial"/>
                <a:cs typeface="Arial"/>
              </a:rPr>
              <a:t>this</a:t>
            </a:r>
            <a:r>
              <a:rPr sz="1200">
                <a:solidFill>
                  <a:schemeClr val="tx1"/>
                </a:solidFill>
                <a:latin typeface="Arial"/>
                <a:ea typeface="Arial"/>
                <a:cs typeface="Arial"/>
              </a:rPr>
              <a:t> </a:t>
            </a:r>
            <a:r>
              <a:rPr sz="1200">
                <a:solidFill>
                  <a:schemeClr val="tx1"/>
                </a:solidFill>
                <a:latin typeface="Arial"/>
                <a:ea typeface="Arial"/>
                <a:cs typeface="Arial"/>
              </a:rPr>
              <a:t>is</a:t>
            </a:r>
            <a:r>
              <a:rPr sz="1200">
                <a:solidFill>
                  <a:schemeClr val="tx1"/>
                </a:solidFill>
                <a:latin typeface="Arial"/>
                <a:ea typeface="Arial"/>
                <a:cs typeface="Arial"/>
              </a:rPr>
              <a:t> the main </a:t>
            </a:r>
            <a:r>
              <a:rPr sz="1200">
                <a:solidFill>
                  <a:schemeClr val="tx1"/>
                </a:solidFill>
                <a:latin typeface="Arial"/>
                <a:ea typeface="Arial"/>
                <a:cs typeface="Arial"/>
              </a:rPr>
              <a:t>categories</a:t>
            </a:r>
            <a:r>
              <a:rPr sz="1200">
                <a:solidFill>
                  <a:schemeClr val="tx1"/>
                </a:solidFill>
                <a:latin typeface="Arial"/>
                <a:ea typeface="Arial"/>
                <a:cs typeface="Arial"/>
              </a:rPr>
              <a:t> of </a:t>
            </a:r>
            <a:r>
              <a:rPr sz="1200">
                <a:solidFill>
                  <a:schemeClr val="tx1"/>
                </a:solidFill>
                <a:latin typeface="Arial"/>
                <a:ea typeface="Arial"/>
                <a:cs typeface="Arial"/>
              </a:rPr>
              <a:t>succesfull</a:t>
            </a:r>
            <a:r>
              <a:rPr sz="1200">
                <a:solidFill>
                  <a:schemeClr val="tx1"/>
                </a:solidFill>
                <a:latin typeface="Arial"/>
                <a:ea typeface="Arial"/>
                <a:cs typeface="Arial"/>
              </a:rPr>
              <a:t> </a:t>
            </a:r>
            <a:r>
              <a:rPr sz="1200">
                <a:solidFill>
                  <a:schemeClr val="tx1"/>
                </a:solidFill>
                <a:latin typeface="Arial"/>
                <a:ea typeface="Arial"/>
                <a:cs typeface="Arial"/>
              </a:rPr>
              <a:t>agentthat</a:t>
            </a:r>
            <a:r>
              <a:rPr sz="1200">
                <a:solidFill>
                  <a:schemeClr val="tx1"/>
                </a:solidFill>
                <a:latin typeface="Arial"/>
                <a:ea typeface="Arial"/>
                <a:cs typeface="Arial"/>
              </a:rPr>
              <a:t> won the challenge.</a:t>
            </a:r>
          </a:p>
          <a:p xmlns:a="http://schemas.openxmlformats.org/drawingml/2006/main"/>
          <a:p xmlns:a="http://schemas.openxmlformats.org/drawingml/2006/main">
            <a:r>
              <a:rPr sz="1200">
                <a:solidFill>
                  <a:schemeClr val="tx1"/>
                </a:solidFill>
                <a:latin typeface="Arial"/>
                <a:ea typeface="Arial"/>
                <a:cs typeface="Arial"/>
              </a:rPr>
              <a:t>Some</a:t>
            </a:r>
            <a:r>
              <a:rPr sz="1200">
                <a:solidFill>
                  <a:schemeClr val="tx1"/>
                </a:solidFill>
                <a:latin typeface="Arial"/>
                <a:ea typeface="Arial"/>
                <a:cs typeface="Arial"/>
              </a:rPr>
              <a:t> </a:t>
            </a:r>
            <a:r>
              <a:rPr sz="1200">
                <a:solidFill>
                  <a:schemeClr val="tx1"/>
                </a:solidFill>
                <a:latin typeface="Arial"/>
                <a:ea typeface="Arial"/>
                <a:cs typeface="Arial"/>
              </a:rPr>
              <a:t>approaches</a:t>
            </a:r>
            <a:r>
              <a:rPr sz="1200">
                <a:solidFill>
                  <a:schemeClr val="tx1"/>
                </a:solidFill>
                <a:latin typeface="Arial"/>
                <a:ea typeface="Arial"/>
                <a:cs typeface="Arial"/>
              </a:rPr>
              <a:t> </a:t>
            </a:r>
            <a:r>
              <a:rPr sz="1200">
                <a:solidFill>
                  <a:schemeClr val="tx1"/>
                </a:solidFill>
                <a:latin typeface="Arial"/>
                <a:ea typeface="Arial"/>
                <a:cs typeface="Arial"/>
              </a:rPr>
              <a:t>rely</a:t>
            </a:r>
            <a:r>
              <a:rPr sz="1200">
                <a:solidFill>
                  <a:schemeClr val="tx1"/>
                </a:solidFill>
                <a:latin typeface="Arial"/>
                <a:ea typeface="Arial"/>
                <a:cs typeface="Arial"/>
              </a:rPr>
              <a:t> on a single global agent </a:t>
            </a:r>
            <a:r>
              <a:rPr sz="1200">
                <a:solidFill>
                  <a:schemeClr val="tx1"/>
                </a:solidFill>
                <a:latin typeface="Arial"/>
                <a:ea typeface="Arial"/>
                <a:cs typeface="Arial"/>
              </a:rPr>
              <a:t>with</a:t>
            </a:r>
            <a:r>
              <a:rPr sz="1200">
                <a:solidFill>
                  <a:schemeClr val="tx1"/>
                </a:solidFill>
                <a:latin typeface="Arial"/>
                <a:ea typeface="Arial"/>
                <a:cs typeface="Arial"/>
              </a:rPr>
              <a:t> </a:t>
            </a:r>
            <a:r>
              <a:rPr sz="1200">
                <a:solidFill>
                  <a:schemeClr val="tx1"/>
                </a:solidFill>
                <a:latin typeface="Arial"/>
                <a:ea typeface="Arial"/>
                <a:cs typeface="Arial"/>
              </a:rPr>
              <a:t>strong</a:t>
            </a:r>
            <a:r>
              <a:rPr sz="1200">
                <a:solidFill>
                  <a:schemeClr val="tx1"/>
                </a:solidFill>
                <a:latin typeface="Arial"/>
                <a:ea typeface="Arial"/>
                <a:cs typeface="Arial"/>
              </a:rPr>
              <a:t> engineering tricks.</a:t>
            </a:r>
          </a:p>
          <a:p xmlns:a="http://schemas.openxmlformats.org/drawingml/2006/main"/>
          <a:p xmlns:a="http://schemas.openxmlformats.org/drawingml/2006/main">
            <a:r>
              <a:rPr sz="1200">
                <a:solidFill>
                  <a:schemeClr val="tx1"/>
                </a:solidFill>
                <a:latin typeface="Arial"/>
                <a:ea typeface="Arial"/>
                <a:cs typeface="Arial"/>
              </a:rPr>
              <a:t>For </a:t>
            </a:r>
            <a:r>
              <a:rPr sz="1200">
                <a:solidFill>
                  <a:schemeClr val="tx1"/>
                </a:solidFill>
                <a:latin typeface="Arial"/>
                <a:ea typeface="Arial"/>
                <a:cs typeface="Arial"/>
              </a:rPr>
              <a:t>example</a:t>
            </a:r>
            <a:r>
              <a:rPr sz="1200">
                <a:solidFill>
                  <a:schemeClr val="tx1"/>
                </a:solidFill>
                <a:latin typeface="Arial"/>
                <a:ea typeface="Arial"/>
                <a:cs typeface="Arial"/>
              </a:rPr>
              <a:t>, </a:t>
            </a:r>
            <a:r>
              <a:rPr sz="1200">
                <a:solidFill>
                  <a:schemeClr val="tx1"/>
                </a:solidFill>
                <a:latin typeface="Arial"/>
                <a:ea typeface="Arial"/>
                <a:cs typeface="Arial"/>
              </a:rPr>
              <a:t>they</a:t>
            </a:r>
            <a:r>
              <a:rPr sz="1200">
                <a:solidFill>
                  <a:schemeClr val="tx1"/>
                </a:solidFill>
                <a:latin typeface="Arial"/>
                <a:ea typeface="Arial"/>
                <a:cs typeface="Arial"/>
              </a:rPr>
              <a:t> use graph neural networks </a:t>
            </a:r>
            <a:r>
              <a:rPr sz="1200">
                <a:solidFill>
                  <a:schemeClr val="tx1"/>
                </a:solidFill>
                <a:latin typeface="Arial"/>
                <a:ea typeface="Arial"/>
                <a:cs typeface="Arial"/>
              </a:rPr>
              <a:t>combined</a:t>
            </a:r>
            <a:r>
              <a:rPr sz="1200">
                <a:solidFill>
                  <a:schemeClr val="tx1"/>
                </a:solidFill>
                <a:latin typeface="Arial"/>
                <a:ea typeface="Arial"/>
                <a:cs typeface="Arial"/>
              </a:rPr>
              <a:t> </a:t>
            </a:r>
            <a:r>
              <a:rPr sz="1200">
                <a:solidFill>
                  <a:schemeClr val="tx1"/>
                </a:solidFill>
                <a:latin typeface="Arial"/>
                <a:ea typeface="Arial"/>
                <a:cs typeface="Arial"/>
              </a:rPr>
              <a:t>with</a:t>
            </a:r>
            <a:r>
              <a:rPr sz="1200">
                <a:solidFill>
                  <a:schemeClr val="tx1"/>
                </a:solidFill>
                <a:latin typeface="Arial"/>
                <a:ea typeface="Arial"/>
                <a:cs typeface="Arial"/>
              </a:rPr>
              <a:t> value-</a:t>
            </a:r>
            <a:r>
              <a:rPr sz="1200">
                <a:solidFill>
                  <a:schemeClr val="tx1"/>
                </a:solidFill>
                <a:latin typeface="Arial"/>
                <a:ea typeface="Arial"/>
                <a:cs typeface="Arial"/>
              </a:rPr>
              <a:t>based</a:t>
            </a:r>
            <a:r>
              <a:rPr sz="1200">
                <a:solidFill>
                  <a:schemeClr val="tx1"/>
                </a:solidFill>
                <a:latin typeface="Arial"/>
                <a:ea typeface="Arial"/>
                <a:cs typeface="Arial"/>
              </a:rPr>
              <a:t> RL, and </a:t>
            </a:r>
            <a:r>
              <a:rPr sz="1200">
                <a:solidFill>
                  <a:schemeClr val="tx1"/>
                </a:solidFill>
                <a:latin typeface="Arial"/>
                <a:ea typeface="Arial"/>
                <a:cs typeface="Arial"/>
              </a:rPr>
              <a:t>validate</a:t>
            </a:r>
            <a:r>
              <a:rPr sz="1200">
                <a:solidFill>
                  <a:schemeClr val="tx1"/>
                </a:solidFill>
                <a:latin typeface="Arial"/>
                <a:ea typeface="Arial"/>
                <a:cs typeface="Arial"/>
              </a:rPr>
              <a:t> actions </a:t>
            </a:r>
            <a:r>
              <a:rPr sz="1200">
                <a:solidFill>
                  <a:schemeClr val="tx1"/>
                </a:solidFill>
                <a:latin typeface="Arial"/>
                <a:ea typeface="Arial"/>
                <a:cs typeface="Arial"/>
              </a:rPr>
              <a:t>using</a:t>
            </a:r>
            <a:r>
              <a:rPr sz="1200">
                <a:solidFill>
                  <a:schemeClr val="tx1"/>
                </a:solidFill>
                <a:latin typeface="Arial"/>
                <a:ea typeface="Arial"/>
                <a:cs typeface="Arial"/>
              </a:rPr>
              <a:t> power-flow simulations.</a:t>
            </a:r>
          </a:p>
          <a:p xmlns:a="http://schemas.openxmlformats.org/drawingml/2006/main"/>
          <a:p xmlns:a="http://schemas.openxmlformats.org/drawingml/2006/main">
            <a:r>
              <a:rPr sz="1200">
                <a:solidFill>
                  <a:schemeClr val="tx1"/>
                </a:solidFill>
                <a:latin typeface="Arial"/>
                <a:ea typeface="Arial"/>
                <a:cs typeface="Arial"/>
              </a:rPr>
              <a:t>Others</a:t>
            </a:r>
            <a:r>
              <a:rPr sz="1200">
                <a:solidFill>
                  <a:schemeClr val="tx1"/>
                </a:solidFill>
                <a:latin typeface="Arial"/>
                <a:ea typeface="Arial"/>
                <a:cs typeface="Arial"/>
              </a:rPr>
              <a:t> </a:t>
            </a:r>
            <a:r>
              <a:rPr sz="1200">
                <a:solidFill>
                  <a:schemeClr val="tx1"/>
                </a:solidFill>
                <a:latin typeface="Arial"/>
                <a:ea typeface="Arial"/>
                <a:cs typeface="Arial"/>
              </a:rPr>
              <a:t>reduce</a:t>
            </a:r>
            <a:r>
              <a:rPr sz="1200">
                <a:solidFill>
                  <a:schemeClr val="tx1"/>
                </a:solidFill>
                <a:latin typeface="Arial"/>
                <a:ea typeface="Arial"/>
                <a:cs typeface="Arial"/>
              </a:rPr>
              <a:t> the action </a:t>
            </a:r>
            <a:r>
              <a:rPr sz="1200">
                <a:solidFill>
                  <a:schemeClr val="tx1"/>
                </a:solidFill>
                <a:latin typeface="Arial"/>
                <a:ea typeface="Arial"/>
                <a:cs typeface="Arial"/>
              </a:rPr>
              <a:t>space</a:t>
            </a:r>
            <a:r>
              <a:rPr sz="1200">
                <a:solidFill>
                  <a:schemeClr val="tx1"/>
                </a:solidFill>
                <a:latin typeface="Arial"/>
                <a:ea typeface="Arial"/>
                <a:cs typeface="Arial"/>
              </a:rPr>
              <a:t> </a:t>
            </a:r>
            <a:r>
              <a:rPr sz="1200">
                <a:solidFill>
                  <a:schemeClr val="tx1"/>
                </a:solidFill>
                <a:latin typeface="Arial"/>
                <a:ea typeface="Arial"/>
                <a:cs typeface="Arial"/>
              </a:rPr>
              <a:t>using</a:t>
            </a:r>
            <a:r>
              <a:rPr sz="1200">
                <a:solidFill>
                  <a:schemeClr val="tx1"/>
                </a:solidFill>
                <a:latin typeface="Arial"/>
                <a:ea typeface="Arial"/>
                <a:cs typeface="Arial"/>
              </a:rPr>
              <a:t> </a:t>
            </a:r>
            <a:r>
              <a:rPr sz="1200">
                <a:solidFill>
                  <a:schemeClr val="tx1"/>
                </a:solidFill>
                <a:latin typeface="Arial"/>
                <a:ea typeface="Arial"/>
                <a:cs typeface="Arial"/>
              </a:rPr>
              <a:t>masking</a:t>
            </a:r>
            <a:r>
              <a:rPr sz="1200">
                <a:solidFill>
                  <a:schemeClr val="tx1"/>
                </a:solidFill>
                <a:latin typeface="Arial"/>
                <a:ea typeface="Arial"/>
                <a:cs typeface="Arial"/>
              </a:rPr>
              <a:t> or </a:t>
            </a:r>
            <a:r>
              <a:rPr sz="1200">
                <a:solidFill>
                  <a:schemeClr val="tx1"/>
                </a:solidFill>
                <a:latin typeface="Arial"/>
                <a:ea typeface="Arial"/>
                <a:cs typeface="Arial"/>
              </a:rPr>
              <a:t>pruning</a:t>
            </a:r>
            <a:r>
              <a:rPr sz="1200">
                <a:solidFill>
                  <a:schemeClr val="tx1"/>
                </a:solidFill>
                <a:latin typeface="Arial"/>
                <a:ea typeface="Arial"/>
                <a:cs typeface="Arial"/>
              </a:rPr>
              <a:t>.</a:t>
            </a:r>
          </a:p>
          <a:p xmlns:a="http://schemas.openxmlformats.org/drawingml/2006/main"/>
          <a:p xmlns:a="http://schemas.openxmlformats.org/drawingml/2006/main">
            <a:r>
              <a:rPr sz="1200">
                <a:solidFill>
                  <a:schemeClr val="tx1"/>
                </a:solidFill>
                <a:latin typeface="Arial"/>
                <a:ea typeface="Arial"/>
                <a:cs typeface="Arial"/>
              </a:rPr>
              <a:t>These</a:t>
            </a:r>
            <a:r>
              <a:rPr sz="1200">
                <a:solidFill>
                  <a:schemeClr val="tx1"/>
                </a:solidFill>
                <a:latin typeface="Arial"/>
                <a:ea typeface="Arial"/>
                <a:cs typeface="Arial"/>
              </a:rPr>
              <a:t> </a:t>
            </a:r>
            <a:r>
              <a:rPr sz="1200">
                <a:solidFill>
                  <a:schemeClr val="tx1"/>
                </a:solidFill>
                <a:latin typeface="Arial"/>
                <a:ea typeface="Arial"/>
                <a:cs typeface="Arial"/>
              </a:rPr>
              <a:t>methods</a:t>
            </a:r>
            <a:r>
              <a:rPr sz="1200">
                <a:solidFill>
                  <a:schemeClr val="tx1"/>
                </a:solidFill>
                <a:latin typeface="Arial"/>
                <a:ea typeface="Arial"/>
                <a:cs typeface="Arial"/>
              </a:rPr>
              <a:t> can </a:t>
            </a:r>
            <a:r>
              <a:rPr sz="1200">
                <a:solidFill>
                  <a:schemeClr val="tx1"/>
                </a:solidFill>
                <a:latin typeface="Arial"/>
                <a:ea typeface="Arial"/>
                <a:cs typeface="Arial"/>
              </a:rPr>
              <a:t>work</a:t>
            </a:r>
            <a:r>
              <a:rPr sz="1200">
                <a:solidFill>
                  <a:schemeClr val="tx1"/>
                </a:solidFill>
                <a:latin typeface="Arial"/>
                <a:ea typeface="Arial"/>
                <a:cs typeface="Arial"/>
              </a:rPr>
              <a:t>, </a:t>
            </a:r>
            <a:r>
              <a:rPr sz="1200">
                <a:solidFill>
                  <a:schemeClr val="tx1"/>
                </a:solidFill>
                <a:latin typeface="Arial"/>
                <a:ea typeface="Arial"/>
                <a:cs typeface="Arial"/>
              </a:rPr>
              <a:t>so</a:t>
            </a:r>
            <a:r>
              <a:rPr sz="1200">
                <a:solidFill>
                  <a:schemeClr val="tx1"/>
                </a:solidFill>
                <a:latin typeface="Arial"/>
                <a:ea typeface="Arial"/>
                <a:cs typeface="Arial"/>
              </a:rPr>
              <a:t> </a:t>
            </a:r>
            <a:r>
              <a:rPr sz="1200">
                <a:solidFill>
                  <a:schemeClr val="tx1"/>
                </a:solidFill>
                <a:latin typeface="Arial"/>
                <a:ea typeface="Arial"/>
                <a:cs typeface="Arial"/>
              </a:rPr>
              <a:t>mixing</a:t>
            </a:r>
            <a:r>
              <a:rPr sz="1200">
                <a:solidFill>
                  <a:schemeClr val="tx1"/>
                </a:solidFill>
                <a:latin typeface="Arial"/>
                <a:ea typeface="Arial"/>
                <a:cs typeface="Arial"/>
              </a:rPr>
              <a:t> a single agent </a:t>
            </a:r>
            <a:r>
              <a:rPr sz="1200">
                <a:solidFill>
                  <a:schemeClr val="tx1"/>
                </a:solidFill>
                <a:latin typeface="Arial"/>
                <a:ea typeface="Arial"/>
                <a:cs typeface="Arial"/>
              </a:rPr>
              <a:t>with</a:t>
            </a:r>
            <a:r>
              <a:rPr sz="1200">
                <a:solidFill>
                  <a:schemeClr val="tx1"/>
                </a:solidFill>
                <a:latin typeface="Arial"/>
                <a:ea typeface="Arial"/>
                <a:cs typeface="Arial"/>
              </a:rPr>
              <a:t> </a:t>
            </a:r>
            <a:r>
              <a:rPr sz="1200">
                <a:solidFill>
                  <a:schemeClr val="tx1"/>
                </a:solidFill>
                <a:latin typeface="Arial"/>
                <a:ea typeface="Arial"/>
                <a:cs typeface="Arial"/>
              </a:rPr>
              <a:t>rules</a:t>
            </a:r>
            <a:r>
              <a:rPr sz="1200">
                <a:solidFill>
                  <a:schemeClr val="tx1"/>
                </a:solidFill>
                <a:latin typeface="Arial"/>
                <a:ea typeface="Arial"/>
                <a:cs typeface="Arial"/>
              </a:rPr>
              <a:t>, but </a:t>
            </a:r>
            <a:r>
              <a:rPr sz="1200">
                <a:solidFill>
                  <a:schemeClr val="tx1"/>
                </a:solidFill>
                <a:latin typeface="Arial"/>
                <a:ea typeface="Arial"/>
                <a:cs typeface="Arial"/>
              </a:rPr>
              <a:t>they</a:t>
            </a:r>
            <a:r>
              <a:rPr sz="1200">
                <a:solidFill>
                  <a:schemeClr val="tx1"/>
                </a:solidFill>
                <a:latin typeface="Arial"/>
                <a:ea typeface="Arial"/>
                <a:cs typeface="Arial"/>
              </a:rPr>
              <a:t> </a:t>
            </a:r>
            <a:r>
              <a:rPr sz="1200">
                <a:solidFill>
                  <a:schemeClr val="tx1"/>
                </a:solidFill>
                <a:latin typeface="Arial"/>
                <a:ea typeface="Arial"/>
                <a:cs typeface="Arial"/>
              </a:rPr>
              <a:t>suffer</a:t>
            </a:r>
            <a:r>
              <a:rPr sz="1200">
                <a:solidFill>
                  <a:schemeClr val="tx1"/>
                </a:solidFill>
                <a:latin typeface="Arial"/>
                <a:ea typeface="Arial"/>
                <a:cs typeface="Arial"/>
              </a:rPr>
              <a:t> </a:t>
            </a:r>
            <a:r>
              <a:rPr sz="1200">
                <a:solidFill>
                  <a:schemeClr val="tx1"/>
                </a:solidFill>
                <a:latin typeface="Arial"/>
                <a:ea typeface="Arial"/>
                <a:cs typeface="Arial"/>
              </a:rPr>
              <a:t>because</a:t>
            </a:r>
            <a:r>
              <a:rPr sz="1200">
                <a:solidFill>
                  <a:schemeClr val="tx1"/>
                </a:solidFill>
                <a:latin typeface="Arial"/>
                <a:ea typeface="Arial"/>
                <a:cs typeface="Arial"/>
              </a:rPr>
              <a:t> the action </a:t>
            </a:r>
            <a:r>
              <a:rPr sz="1200">
                <a:solidFill>
                  <a:schemeClr val="tx1"/>
                </a:solidFill>
                <a:latin typeface="Arial"/>
                <a:ea typeface="Arial"/>
                <a:cs typeface="Arial"/>
              </a:rPr>
              <a:t>space</a:t>
            </a:r>
            <a:r>
              <a:rPr sz="1200">
                <a:solidFill>
                  <a:schemeClr val="tx1"/>
                </a:solidFill>
                <a:latin typeface="Arial"/>
                <a:ea typeface="Arial"/>
                <a:cs typeface="Arial"/>
              </a:rPr>
              <a:t> </a:t>
            </a:r>
            <a:r>
              <a:rPr sz="1200">
                <a:solidFill>
                  <a:schemeClr val="tx1"/>
                </a:solidFill>
                <a:latin typeface="Arial"/>
                <a:ea typeface="Arial"/>
                <a:cs typeface="Arial"/>
              </a:rPr>
              <a:t>remains</a:t>
            </a:r>
            <a:r>
              <a:rPr sz="1200">
                <a:solidFill>
                  <a:schemeClr val="tx1"/>
                </a:solidFill>
                <a:latin typeface="Arial"/>
                <a:ea typeface="Arial"/>
                <a:cs typeface="Arial"/>
              </a:rPr>
              <a:t> </a:t>
            </a:r>
            <a:r>
              <a:rPr sz="1200">
                <a:solidFill>
                  <a:schemeClr val="tx1"/>
                </a:solidFill>
                <a:latin typeface="Arial"/>
                <a:ea typeface="Arial"/>
                <a:cs typeface="Arial"/>
              </a:rPr>
              <a:t>very</a:t>
            </a:r>
            <a:r>
              <a:rPr sz="1200">
                <a:solidFill>
                  <a:schemeClr val="tx1"/>
                </a:solidFill>
                <a:latin typeface="Arial"/>
                <a:ea typeface="Arial"/>
                <a:cs typeface="Arial"/>
              </a:rPr>
              <a:t> large.”</a:t>
            </a:r>
          </a:p>
          <a:p xmlns:a="http://schemas.openxmlformats.org/drawingml/2006/main"/>
          <a:p xmlns:a="http://schemas.openxmlformats.org/drawingml/2006/main">
            <a:r>
              <a:rPr sz="1200">
                <a:solidFill>
                  <a:schemeClr val="tx1"/>
                </a:solidFill>
                <a:latin typeface="Arial"/>
                <a:ea typeface="Arial"/>
                <a:cs typeface="Arial"/>
              </a:rPr>
              <a:t>Another</a:t>
            </a:r>
            <a:r>
              <a:rPr sz="1200">
                <a:solidFill>
                  <a:schemeClr val="tx1"/>
                </a:solidFill>
                <a:latin typeface="Arial"/>
                <a:ea typeface="Arial"/>
                <a:cs typeface="Arial"/>
              </a:rPr>
              <a:t> important </a:t>
            </a:r>
            <a:r>
              <a:rPr sz="1200">
                <a:solidFill>
                  <a:schemeClr val="tx1"/>
                </a:solidFill>
                <a:latin typeface="Arial"/>
                <a:ea typeface="Arial"/>
                <a:cs typeface="Arial"/>
              </a:rPr>
              <a:t>idea</a:t>
            </a:r>
            <a:r>
              <a:rPr sz="1200">
                <a:solidFill>
                  <a:schemeClr val="tx1"/>
                </a:solidFill>
                <a:latin typeface="Arial"/>
                <a:ea typeface="Arial"/>
                <a:cs typeface="Arial"/>
              </a:rPr>
              <a:t> </a:t>
            </a:r>
            <a:r>
              <a:rPr sz="1200">
                <a:solidFill>
                  <a:schemeClr val="tx1"/>
                </a:solidFill>
                <a:latin typeface="Arial"/>
                <a:ea typeface="Arial"/>
                <a:cs typeface="Arial"/>
              </a:rPr>
              <a:t>is</a:t>
            </a:r>
            <a:r>
              <a:rPr sz="1200">
                <a:solidFill>
                  <a:schemeClr val="tx1"/>
                </a:solidFill>
                <a:latin typeface="Arial"/>
                <a:ea typeface="Arial"/>
                <a:cs typeface="Arial"/>
              </a:rPr>
              <a:t> to </a:t>
            </a:r>
            <a:r>
              <a:rPr sz="1200">
                <a:solidFill>
                  <a:schemeClr val="tx1"/>
                </a:solidFill>
                <a:latin typeface="Arial"/>
                <a:ea typeface="Arial"/>
                <a:cs typeface="Arial"/>
              </a:rPr>
              <a:t>predict</a:t>
            </a:r>
            <a:r>
              <a:rPr sz="1200">
                <a:solidFill>
                  <a:schemeClr val="tx1"/>
                </a:solidFill>
                <a:latin typeface="Arial"/>
                <a:ea typeface="Arial"/>
                <a:cs typeface="Arial"/>
              </a:rPr>
              <a:t> a </a:t>
            </a:r>
            <a:r>
              <a:rPr sz="1200" b="1">
                <a:solidFill>
                  <a:schemeClr val="tx1"/>
                </a:solidFill>
                <a:latin typeface="Arial"/>
                <a:ea typeface="Arial"/>
                <a:cs typeface="Arial"/>
              </a:rPr>
              <a:t>target</a:t>
            </a:r>
            <a:r>
              <a:rPr sz="1200" b="1">
                <a:solidFill>
                  <a:schemeClr val="tx1"/>
                </a:solidFill>
                <a:latin typeface="Arial"/>
                <a:ea typeface="Arial"/>
                <a:cs typeface="Arial"/>
              </a:rPr>
              <a:t> </a:t>
            </a:r>
            <a:r>
              <a:rPr sz="1200" b="1">
                <a:solidFill>
                  <a:schemeClr val="tx1"/>
                </a:solidFill>
                <a:latin typeface="Arial"/>
                <a:ea typeface="Arial"/>
                <a:cs typeface="Arial"/>
              </a:rPr>
              <a:t>topology</a:t>
            </a:r>
            <a:r>
              <a:rPr sz="1200" b="1">
                <a:solidFill>
                  <a:schemeClr val="tx1"/>
                </a:solidFill>
                <a:latin typeface="Arial"/>
                <a:ea typeface="Arial"/>
                <a:cs typeface="Arial"/>
              </a:rPr>
              <a:t> </a:t>
            </a:r>
            <a:r>
              <a:rPr sz="1200" b="1">
                <a:solidFill>
                  <a:schemeClr val="tx1"/>
                </a:solidFill>
                <a:latin typeface="Arial"/>
                <a:ea typeface="Arial"/>
                <a:cs typeface="Arial"/>
              </a:rPr>
              <a:t>instead</a:t>
            </a:r>
            <a:r>
              <a:rPr sz="1200" b="1">
                <a:solidFill>
                  <a:schemeClr val="tx1"/>
                </a:solidFill>
                <a:latin typeface="Arial"/>
                <a:ea typeface="Arial"/>
                <a:cs typeface="Arial"/>
              </a:rPr>
              <a:t> of </a:t>
            </a:r>
            <a:r>
              <a:rPr sz="1200" b="1">
                <a:solidFill>
                  <a:schemeClr val="tx1"/>
                </a:solidFill>
                <a:latin typeface="Arial"/>
                <a:ea typeface="Arial"/>
                <a:cs typeface="Arial"/>
              </a:rPr>
              <a:t>raw</a:t>
            </a:r>
            <a:r>
              <a:rPr sz="1200" b="1">
                <a:solidFill>
                  <a:schemeClr val="tx1"/>
                </a:solidFill>
                <a:latin typeface="Arial"/>
                <a:ea typeface="Arial"/>
                <a:cs typeface="Arial"/>
              </a:rPr>
              <a:t> actions</a:t>
            </a:r>
            <a:r>
              <a:rPr sz="1200">
                <a:solidFill>
                  <a:schemeClr val="tx1"/>
                </a:solidFill>
                <a:latin typeface="Arial"/>
                <a:ea typeface="Arial"/>
                <a:cs typeface="Arial"/>
              </a:rPr>
              <a:t>.</a:t>
            </a:r>
          </a:p>
          <a:p xmlns:a="http://schemas.openxmlformats.org/drawingml/2006/main"/>
          <a:p xmlns:a="http://schemas.openxmlformats.org/drawingml/2006/main">
            <a:r>
              <a:rPr sz="1200">
                <a:solidFill>
                  <a:schemeClr val="tx1"/>
                </a:solidFill>
                <a:latin typeface="Arial"/>
                <a:ea typeface="Arial"/>
                <a:cs typeface="Arial"/>
              </a:rPr>
              <a:t>This </a:t>
            </a:r>
            <a:r>
              <a:rPr sz="1200">
                <a:solidFill>
                  <a:schemeClr val="tx1"/>
                </a:solidFill>
                <a:latin typeface="Arial"/>
                <a:ea typeface="Arial"/>
                <a:cs typeface="Arial"/>
              </a:rPr>
              <a:t>is</a:t>
            </a:r>
            <a:r>
              <a:rPr sz="1200">
                <a:solidFill>
                  <a:schemeClr val="tx1"/>
                </a:solidFill>
                <a:latin typeface="Arial"/>
                <a:ea typeface="Arial"/>
                <a:cs typeface="Arial"/>
              </a:rPr>
              <a:t> </a:t>
            </a:r>
            <a:r>
              <a:rPr sz="1200">
                <a:solidFill>
                  <a:schemeClr val="tx1"/>
                </a:solidFill>
                <a:latin typeface="Arial"/>
                <a:ea typeface="Arial"/>
                <a:cs typeface="Arial"/>
              </a:rPr>
              <a:t>used</a:t>
            </a:r>
            <a:r>
              <a:rPr sz="1200">
                <a:solidFill>
                  <a:schemeClr val="tx1"/>
                </a:solidFill>
                <a:latin typeface="Arial"/>
                <a:ea typeface="Arial"/>
                <a:cs typeface="Arial"/>
              </a:rPr>
              <a:t> in SMAAC, </a:t>
            </a:r>
            <a:r>
              <a:rPr sz="1200">
                <a:solidFill>
                  <a:schemeClr val="tx1"/>
                </a:solidFill>
                <a:latin typeface="Arial"/>
                <a:ea typeface="Arial"/>
                <a:cs typeface="Arial"/>
              </a:rPr>
              <a:t>where</a:t>
            </a:r>
            <a:r>
              <a:rPr sz="1200">
                <a:solidFill>
                  <a:schemeClr val="tx1"/>
                </a:solidFill>
                <a:latin typeface="Arial"/>
                <a:ea typeface="Arial"/>
                <a:cs typeface="Arial"/>
              </a:rPr>
              <a:t> </a:t>
            </a:r>
            <a:r>
              <a:rPr sz="1200">
                <a:solidFill>
                  <a:schemeClr val="tx1"/>
                </a:solidFill>
                <a:latin typeface="Arial"/>
                <a:ea typeface="Arial"/>
                <a:cs typeface="Arial"/>
              </a:rPr>
              <a:t>the</a:t>
            </a:r>
            <a:r>
              <a:rPr sz="1200">
                <a:solidFill>
                  <a:schemeClr val="tx1"/>
                </a:solidFill>
                <a:latin typeface="Arial"/>
                <a:ea typeface="Arial"/>
                <a:cs typeface="Arial"/>
              </a:rPr>
              <a:t> </a:t>
            </a:r>
            <a:r>
              <a:rPr sz="1200">
                <a:solidFill>
                  <a:schemeClr val="tx1"/>
                </a:solidFill>
                <a:latin typeface="Arial"/>
                <a:ea typeface="Arial"/>
                <a:cs typeface="Arial"/>
              </a:rPr>
              <a:t>agent</a:t>
            </a:r>
            <a:r>
              <a:rPr sz="1200">
                <a:solidFill>
                  <a:schemeClr val="tx1"/>
                </a:solidFill>
                <a:latin typeface="Arial"/>
                <a:ea typeface="Arial"/>
                <a:cs typeface="Arial"/>
              </a:rPr>
              <a:t> </a:t>
            </a:r>
            <a:r>
              <a:rPr sz="1200">
                <a:solidFill>
                  <a:schemeClr val="tx1"/>
                </a:solidFill>
                <a:latin typeface="Arial"/>
                <a:ea typeface="Arial"/>
                <a:cs typeface="Arial"/>
              </a:rPr>
              <a:t>learns</a:t>
            </a:r>
            <a:r>
              <a:rPr sz="1200">
                <a:solidFill>
                  <a:schemeClr val="tx1"/>
                </a:solidFill>
                <a:latin typeface="Arial"/>
                <a:ea typeface="Arial"/>
                <a:cs typeface="Arial"/>
              </a:rPr>
              <a:t> an </a:t>
            </a:r>
            <a:r>
              <a:rPr sz="1200">
                <a:solidFill>
                  <a:schemeClr val="tx1"/>
                </a:solidFill>
                <a:latin typeface="Arial"/>
                <a:ea typeface="Arial"/>
                <a:cs typeface="Arial"/>
              </a:rPr>
              <a:t>afterstate</a:t>
            </a:r>
            <a:r>
              <a:rPr sz="1200">
                <a:solidFill>
                  <a:schemeClr val="tx1"/>
                </a:solidFill>
                <a:latin typeface="Arial"/>
                <a:ea typeface="Arial"/>
                <a:cs typeface="Arial"/>
              </a:rPr>
              <a:t> </a:t>
            </a:r>
            <a:r>
              <a:rPr sz="1200">
                <a:solidFill>
                  <a:schemeClr val="tx1"/>
                </a:solidFill>
                <a:latin typeface="Arial"/>
                <a:ea typeface="Arial"/>
                <a:cs typeface="Arial"/>
              </a:rPr>
              <a:t>representation</a:t>
            </a:r>
            <a:r>
              <a:rPr sz="1200">
                <a:solidFill>
                  <a:schemeClr val="tx1"/>
                </a:solidFill>
                <a:latin typeface="Arial"/>
                <a:ea typeface="Arial"/>
                <a:cs typeface="Arial"/>
              </a:rPr>
              <a:t>—</a:t>
            </a:r>
            <a:r>
              <a:rPr sz="1200">
                <a:solidFill>
                  <a:schemeClr val="tx1"/>
                </a:solidFill>
                <a:latin typeface="Arial"/>
                <a:ea typeface="Arial"/>
                <a:cs typeface="Arial"/>
              </a:rPr>
              <a:t>basically</a:t>
            </a:r>
            <a:r>
              <a:rPr sz="1200">
                <a:solidFill>
                  <a:schemeClr val="tx1"/>
                </a:solidFill>
                <a:latin typeface="Arial"/>
                <a:ea typeface="Arial"/>
                <a:cs typeface="Arial"/>
              </a:rPr>
              <a:t> </a:t>
            </a:r>
            <a:r>
              <a:rPr sz="1200">
                <a:solidFill>
                  <a:schemeClr val="tx1"/>
                </a:solidFill>
                <a:latin typeface="Arial"/>
                <a:ea typeface="Arial"/>
                <a:cs typeface="Arial"/>
              </a:rPr>
              <a:t>the</a:t>
            </a:r>
            <a:r>
              <a:rPr sz="1200">
                <a:solidFill>
                  <a:schemeClr val="tx1"/>
                </a:solidFill>
                <a:latin typeface="Arial"/>
                <a:ea typeface="Arial"/>
                <a:cs typeface="Arial"/>
              </a:rPr>
              <a:t> </a:t>
            </a:r>
            <a:r>
              <a:rPr sz="1200">
                <a:solidFill>
                  <a:schemeClr val="tx1"/>
                </a:solidFill>
                <a:latin typeface="Arial"/>
                <a:ea typeface="Arial"/>
                <a:cs typeface="Arial"/>
              </a:rPr>
              <a:t>resulting</a:t>
            </a:r>
            <a:r>
              <a:rPr sz="1200">
                <a:solidFill>
                  <a:schemeClr val="tx1"/>
                </a:solidFill>
                <a:latin typeface="Arial"/>
                <a:ea typeface="Arial"/>
                <a:cs typeface="Arial"/>
              </a:rPr>
              <a:t> </a:t>
            </a:r>
            <a:r>
              <a:rPr sz="1200">
                <a:solidFill>
                  <a:schemeClr val="tx1"/>
                </a:solidFill>
                <a:latin typeface="Arial"/>
                <a:ea typeface="Arial"/>
                <a:cs typeface="Arial"/>
              </a:rPr>
              <a:t>topology</a:t>
            </a:r>
            <a:r>
              <a:rPr sz="1200">
                <a:solidFill>
                  <a:schemeClr val="tx1"/>
                </a:solidFill>
                <a:latin typeface="Arial"/>
                <a:ea typeface="Arial"/>
                <a:cs typeface="Arial"/>
              </a:rPr>
              <a:t> after an </a:t>
            </a:r>
            <a:r>
              <a:rPr sz="1200">
                <a:solidFill>
                  <a:schemeClr val="tx1"/>
                </a:solidFill>
                <a:latin typeface="Arial"/>
                <a:ea typeface="Arial"/>
                <a:cs typeface="Arial"/>
              </a:rPr>
              <a:t>action</a:t>
            </a:r>
            <a:r>
              <a:rPr sz="1200">
                <a:solidFill>
                  <a:schemeClr val="tx1"/>
                </a:solidFill>
                <a:latin typeface="Arial"/>
                <a:ea typeface="Arial"/>
                <a:cs typeface="Arial"/>
              </a:rPr>
              <a:t>.</a:t>
            </a:r>
          </a:p>
          <a:p xmlns:a="http://schemas.openxmlformats.org/drawingml/2006/main"/>
          <a:p xmlns:a="http://schemas.openxmlformats.org/drawingml/2006/main">
            <a:r>
              <a:rPr sz="1200">
                <a:solidFill>
                  <a:schemeClr val="tx1"/>
                </a:solidFill>
                <a:latin typeface="Arial"/>
                <a:ea typeface="Arial"/>
                <a:cs typeface="Arial"/>
              </a:rPr>
              <a:t>This </a:t>
            </a:r>
            <a:r>
              <a:rPr sz="1200">
                <a:solidFill>
                  <a:schemeClr val="tx1"/>
                </a:solidFill>
                <a:latin typeface="Arial"/>
                <a:ea typeface="Arial"/>
                <a:cs typeface="Arial"/>
              </a:rPr>
              <a:t>helps</a:t>
            </a:r>
            <a:r>
              <a:rPr sz="1200">
                <a:solidFill>
                  <a:schemeClr val="tx1"/>
                </a:solidFill>
                <a:latin typeface="Arial"/>
                <a:ea typeface="Arial"/>
                <a:cs typeface="Arial"/>
              </a:rPr>
              <a:t> </a:t>
            </a:r>
            <a:r>
              <a:rPr sz="1200">
                <a:solidFill>
                  <a:schemeClr val="tx1"/>
                </a:solidFill>
                <a:latin typeface="Arial"/>
                <a:ea typeface="Arial"/>
                <a:cs typeface="Arial"/>
              </a:rPr>
              <a:t>because</a:t>
            </a:r>
            <a:r>
              <a:rPr sz="1200">
                <a:solidFill>
                  <a:schemeClr val="tx1"/>
                </a:solidFill>
                <a:latin typeface="Arial"/>
                <a:ea typeface="Arial"/>
                <a:cs typeface="Arial"/>
              </a:rPr>
              <a:t> multiple </a:t>
            </a:r>
            <a:r>
              <a:rPr sz="1200">
                <a:solidFill>
                  <a:schemeClr val="tx1"/>
                </a:solidFill>
                <a:latin typeface="Arial"/>
                <a:ea typeface="Arial"/>
                <a:cs typeface="Arial"/>
              </a:rPr>
              <a:t>sequences</a:t>
            </a:r>
            <a:r>
              <a:rPr sz="1200">
                <a:solidFill>
                  <a:schemeClr val="tx1"/>
                </a:solidFill>
                <a:latin typeface="Arial"/>
                <a:ea typeface="Arial"/>
                <a:cs typeface="Arial"/>
              </a:rPr>
              <a:t> of actions can lead to the </a:t>
            </a:r>
            <a:r>
              <a:rPr sz="1200">
                <a:solidFill>
                  <a:schemeClr val="tx1"/>
                </a:solidFill>
                <a:latin typeface="Arial"/>
                <a:ea typeface="Arial"/>
                <a:cs typeface="Arial"/>
              </a:rPr>
              <a:t>same</a:t>
            </a:r>
            <a:r>
              <a:rPr sz="1200">
                <a:solidFill>
                  <a:schemeClr val="tx1"/>
                </a:solidFill>
                <a:latin typeface="Arial"/>
                <a:ea typeface="Arial"/>
                <a:cs typeface="Arial"/>
              </a:rPr>
              <a:t> configuration. So </a:t>
            </a:r>
            <a:r>
              <a:rPr sz="1200">
                <a:solidFill>
                  <a:schemeClr val="tx1"/>
                </a:solidFill>
                <a:latin typeface="Arial"/>
                <a:ea typeface="Arial"/>
                <a:cs typeface="Arial"/>
              </a:rPr>
              <a:t>it</a:t>
            </a:r>
            <a:r>
              <a:rPr sz="1200">
                <a:solidFill>
                  <a:schemeClr val="tx1"/>
                </a:solidFill>
                <a:latin typeface="Arial"/>
                <a:ea typeface="Arial"/>
                <a:cs typeface="Arial"/>
              </a:rPr>
              <a:t> </a:t>
            </a:r>
            <a:r>
              <a:rPr sz="1200">
                <a:solidFill>
                  <a:schemeClr val="tx1"/>
                </a:solidFill>
                <a:latin typeface="Arial"/>
                <a:ea typeface="Arial"/>
                <a:cs typeface="Arial"/>
              </a:rPr>
              <a:t>reduces</a:t>
            </a:r>
            <a:r>
              <a:rPr sz="1200">
                <a:solidFill>
                  <a:schemeClr val="tx1"/>
                </a:solidFill>
                <a:latin typeface="Arial"/>
                <a:ea typeface="Arial"/>
                <a:cs typeface="Arial"/>
              </a:rPr>
              <a:t> the action </a:t>
            </a:r>
            <a:r>
              <a:rPr sz="1200">
                <a:solidFill>
                  <a:schemeClr val="tx1"/>
                </a:solidFill>
                <a:latin typeface="Arial"/>
                <a:ea typeface="Arial"/>
                <a:cs typeface="Arial"/>
              </a:rPr>
              <a:t>space</a:t>
            </a:r>
          </a:p>
          <a:p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a:solidFill>
                  <a:schemeClr val="tx1"/>
                </a:solidFill>
                <a:latin typeface="Arial"/>
                <a:ea typeface="Arial"/>
                <a:cs typeface="Arial"/>
              </a:rPr>
              <a:t>To dive a </a:t>
            </a:r>
            <a:r>
              <a:rPr sz="1200">
                <a:solidFill>
                  <a:schemeClr val="tx1"/>
                </a:solidFill>
                <a:latin typeface="Arial"/>
                <a:ea typeface="Arial"/>
                <a:cs typeface="Arial"/>
              </a:rPr>
              <a:t>little</a:t>
            </a:r>
            <a:r>
              <a:rPr sz="1200">
                <a:solidFill>
                  <a:schemeClr val="tx1"/>
                </a:solidFill>
                <a:latin typeface="Arial"/>
                <a:ea typeface="Arial"/>
                <a:cs typeface="Arial"/>
              </a:rPr>
              <a:t> </a:t>
            </a:r>
            <a:r>
              <a:rPr sz="1200">
                <a:solidFill>
                  <a:schemeClr val="tx1"/>
                </a:solidFill>
                <a:latin typeface="Arial"/>
                <a:ea typeface="Arial"/>
                <a:cs typeface="Arial"/>
              </a:rPr>
              <a:t>deeper</a:t>
            </a:r>
            <a:r>
              <a:rPr sz="1200">
                <a:solidFill>
                  <a:schemeClr val="tx1"/>
                </a:solidFill>
                <a:latin typeface="Arial"/>
                <a:ea typeface="Arial"/>
                <a:cs typeface="Arial"/>
              </a:rPr>
              <a:t> i have been </a:t>
            </a:r>
            <a:r>
              <a:rPr sz="1200">
                <a:solidFill>
                  <a:schemeClr val="tx1"/>
                </a:solidFill>
                <a:latin typeface="Arial"/>
                <a:ea typeface="Arial"/>
                <a:cs typeface="Arial"/>
              </a:rPr>
              <a:t>looking</a:t>
            </a:r>
            <a:r>
              <a:rPr sz="1200">
                <a:solidFill>
                  <a:schemeClr val="tx1"/>
                </a:solidFill>
                <a:latin typeface="Arial"/>
                <a:ea typeface="Arial"/>
                <a:cs typeface="Arial"/>
              </a:rPr>
              <a:t> at a </a:t>
            </a:r>
            <a:r>
              <a:rPr sz="1200">
                <a:solidFill>
                  <a:schemeClr val="tx1"/>
                </a:solidFill>
                <a:latin typeface="Arial"/>
                <a:ea typeface="Arial"/>
                <a:cs typeface="Arial"/>
              </a:rPr>
              <a:t>survey</a:t>
            </a:r>
            <a:r>
              <a:rPr sz="1200">
                <a:solidFill>
                  <a:schemeClr val="tx1"/>
                </a:solidFill>
                <a:latin typeface="Arial"/>
                <a:ea typeface="Arial"/>
                <a:cs typeface="Arial"/>
              </a:rPr>
              <a:t> </a:t>
            </a:r>
            <a:r>
              <a:rPr sz="1200">
                <a:solidFill>
                  <a:schemeClr val="tx1"/>
                </a:solidFill>
                <a:latin typeface="Arial"/>
                <a:ea typeface="Arial"/>
                <a:cs typeface="Arial"/>
              </a:rPr>
              <a:t>that</a:t>
            </a:r>
            <a:r>
              <a:rPr sz="1200">
                <a:solidFill>
                  <a:schemeClr val="tx1"/>
                </a:solidFill>
                <a:latin typeface="Arial"/>
                <a:ea typeface="Arial"/>
                <a:cs typeface="Arial"/>
              </a:rPr>
              <a:t> </a:t>
            </a:r>
            <a:r>
              <a:rPr sz="1200">
                <a:solidFill>
                  <a:schemeClr val="tx1"/>
                </a:solidFill>
                <a:latin typeface="Arial"/>
                <a:ea typeface="Arial"/>
                <a:cs typeface="Arial"/>
              </a:rPr>
              <a:t>summarize</a:t>
            </a:r>
            <a:r>
              <a:rPr sz="1200">
                <a:solidFill>
                  <a:schemeClr val="tx1"/>
                </a:solidFill>
                <a:latin typeface="Arial"/>
                <a:ea typeface="Arial"/>
                <a:cs typeface="Arial"/>
              </a:rPr>
              <a:t> all the </a:t>
            </a:r>
            <a:r>
              <a:rPr sz="1200">
                <a:solidFill>
                  <a:schemeClr val="tx1"/>
                </a:solidFill>
                <a:latin typeface="Arial"/>
                <a:ea typeface="Arial"/>
                <a:cs typeface="Arial"/>
              </a:rPr>
              <a:t>algorithms</a:t>
            </a:r>
            <a:r>
              <a:rPr sz="1200">
                <a:solidFill>
                  <a:schemeClr val="tx1"/>
                </a:solidFill>
                <a:latin typeface="Arial"/>
                <a:ea typeface="Arial"/>
                <a:cs typeface="Arial"/>
              </a:rPr>
              <a:t> </a:t>
            </a:r>
            <a:r>
              <a:rPr sz="1200">
                <a:solidFill>
                  <a:schemeClr val="tx1"/>
                </a:solidFill>
                <a:latin typeface="Arial"/>
                <a:ea typeface="Arial"/>
                <a:cs typeface="Arial"/>
              </a:rPr>
              <a:t>that</a:t>
            </a:r>
            <a:r>
              <a:rPr sz="1200">
                <a:solidFill>
                  <a:schemeClr val="tx1"/>
                </a:solidFill>
                <a:latin typeface="Arial"/>
                <a:ea typeface="Arial"/>
                <a:cs typeface="Arial"/>
              </a:rPr>
              <a:t> won the l2rpn challenge and </a:t>
            </a:r>
            <a:r>
              <a:rPr sz="1200">
                <a:solidFill>
                  <a:schemeClr val="tx1"/>
                </a:solidFill>
                <a:latin typeface="Arial"/>
                <a:ea typeface="Arial"/>
                <a:cs typeface="Arial"/>
              </a:rPr>
              <a:t>this</a:t>
            </a:r>
            <a:r>
              <a:rPr sz="1200">
                <a:solidFill>
                  <a:schemeClr val="tx1"/>
                </a:solidFill>
                <a:latin typeface="Arial"/>
                <a:ea typeface="Arial"/>
                <a:cs typeface="Arial"/>
              </a:rPr>
              <a:t> </a:t>
            </a:r>
            <a:r>
              <a:rPr sz="1200">
                <a:solidFill>
                  <a:schemeClr val="tx1"/>
                </a:solidFill>
                <a:latin typeface="Arial"/>
                <a:ea typeface="Arial"/>
                <a:cs typeface="Arial"/>
              </a:rPr>
              <a:t>is</a:t>
            </a:r>
            <a:r>
              <a:rPr sz="1200">
                <a:solidFill>
                  <a:schemeClr val="tx1"/>
                </a:solidFill>
                <a:latin typeface="Arial"/>
                <a:ea typeface="Arial"/>
                <a:cs typeface="Arial"/>
              </a:rPr>
              <a:t> the main </a:t>
            </a:r>
            <a:r>
              <a:rPr sz="1200">
                <a:solidFill>
                  <a:schemeClr val="tx1"/>
                </a:solidFill>
                <a:latin typeface="Arial"/>
                <a:ea typeface="Arial"/>
                <a:cs typeface="Arial"/>
              </a:rPr>
              <a:t>categories</a:t>
            </a:r>
            <a:r>
              <a:rPr sz="1200">
                <a:solidFill>
                  <a:schemeClr val="tx1"/>
                </a:solidFill>
                <a:latin typeface="Arial"/>
                <a:ea typeface="Arial"/>
                <a:cs typeface="Arial"/>
              </a:rPr>
              <a:t> of </a:t>
            </a:r>
            <a:r>
              <a:rPr sz="1200">
                <a:solidFill>
                  <a:schemeClr val="tx1"/>
                </a:solidFill>
                <a:latin typeface="Arial"/>
                <a:ea typeface="Arial"/>
                <a:cs typeface="Arial"/>
              </a:rPr>
              <a:t>succesfull</a:t>
            </a:r>
            <a:r>
              <a:rPr sz="1200">
                <a:solidFill>
                  <a:schemeClr val="tx1"/>
                </a:solidFill>
                <a:latin typeface="Arial"/>
                <a:ea typeface="Arial"/>
                <a:cs typeface="Arial"/>
              </a:rPr>
              <a:t> </a:t>
            </a:r>
            <a:r>
              <a:rPr sz="1200">
                <a:solidFill>
                  <a:schemeClr val="tx1"/>
                </a:solidFill>
                <a:latin typeface="Arial"/>
                <a:ea typeface="Arial"/>
                <a:cs typeface="Arial"/>
              </a:rPr>
              <a:t>agentthat</a:t>
            </a:r>
            <a:r>
              <a:rPr sz="1200">
                <a:solidFill>
                  <a:schemeClr val="tx1"/>
                </a:solidFill>
                <a:latin typeface="Arial"/>
                <a:ea typeface="Arial"/>
                <a:cs typeface="Arial"/>
              </a:rPr>
              <a:t> won the challenge.</a:t>
            </a:r>
          </a:p>
          <a:p xmlns:a="http://schemas.openxmlformats.org/drawingml/2006/main"/>
          <a:p xmlns:a="http://schemas.openxmlformats.org/drawingml/2006/main">
            <a:r>
              <a:rPr sz="1200">
                <a:solidFill>
                  <a:schemeClr val="tx1"/>
                </a:solidFill>
                <a:latin typeface="Arial"/>
                <a:ea typeface="Arial"/>
                <a:cs typeface="Arial"/>
              </a:rPr>
              <a:t>Some</a:t>
            </a:r>
            <a:r>
              <a:rPr sz="1200">
                <a:solidFill>
                  <a:schemeClr val="tx1"/>
                </a:solidFill>
                <a:latin typeface="Arial"/>
                <a:ea typeface="Arial"/>
                <a:cs typeface="Arial"/>
              </a:rPr>
              <a:t> </a:t>
            </a:r>
            <a:r>
              <a:rPr sz="1200">
                <a:solidFill>
                  <a:schemeClr val="tx1"/>
                </a:solidFill>
                <a:latin typeface="Arial"/>
                <a:ea typeface="Arial"/>
                <a:cs typeface="Arial"/>
              </a:rPr>
              <a:t>approaches</a:t>
            </a:r>
            <a:r>
              <a:rPr sz="1200">
                <a:solidFill>
                  <a:schemeClr val="tx1"/>
                </a:solidFill>
                <a:latin typeface="Arial"/>
                <a:ea typeface="Arial"/>
                <a:cs typeface="Arial"/>
              </a:rPr>
              <a:t> </a:t>
            </a:r>
            <a:r>
              <a:rPr sz="1200">
                <a:solidFill>
                  <a:schemeClr val="tx1"/>
                </a:solidFill>
                <a:latin typeface="Arial"/>
                <a:ea typeface="Arial"/>
                <a:cs typeface="Arial"/>
              </a:rPr>
              <a:t>rely</a:t>
            </a:r>
            <a:r>
              <a:rPr sz="1200">
                <a:solidFill>
                  <a:schemeClr val="tx1"/>
                </a:solidFill>
                <a:latin typeface="Arial"/>
                <a:ea typeface="Arial"/>
                <a:cs typeface="Arial"/>
              </a:rPr>
              <a:t> on a single global agent </a:t>
            </a:r>
            <a:r>
              <a:rPr sz="1200">
                <a:solidFill>
                  <a:schemeClr val="tx1"/>
                </a:solidFill>
                <a:latin typeface="Arial"/>
                <a:ea typeface="Arial"/>
                <a:cs typeface="Arial"/>
              </a:rPr>
              <a:t>with</a:t>
            </a:r>
            <a:r>
              <a:rPr sz="1200">
                <a:solidFill>
                  <a:schemeClr val="tx1"/>
                </a:solidFill>
                <a:latin typeface="Arial"/>
                <a:ea typeface="Arial"/>
                <a:cs typeface="Arial"/>
              </a:rPr>
              <a:t> </a:t>
            </a:r>
            <a:r>
              <a:rPr sz="1200">
                <a:solidFill>
                  <a:schemeClr val="tx1"/>
                </a:solidFill>
                <a:latin typeface="Arial"/>
                <a:ea typeface="Arial"/>
                <a:cs typeface="Arial"/>
              </a:rPr>
              <a:t>strong</a:t>
            </a:r>
            <a:r>
              <a:rPr sz="1200">
                <a:solidFill>
                  <a:schemeClr val="tx1"/>
                </a:solidFill>
                <a:latin typeface="Arial"/>
                <a:ea typeface="Arial"/>
                <a:cs typeface="Arial"/>
              </a:rPr>
              <a:t> engineering tricks.</a:t>
            </a:r>
          </a:p>
          <a:p xmlns:a="http://schemas.openxmlformats.org/drawingml/2006/main"/>
          <a:p xmlns:a="http://schemas.openxmlformats.org/drawingml/2006/main">
            <a:r>
              <a:rPr sz="1200">
                <a:solidFill>
                  <a:schemeClr val="tx1"/>
                </a:solidFill>
                <a:latin typeface="Arial"/>
                <a:ea typeface="Arial"/>
                <a:cs typeface="Arial"/>
              </a:rPr>
              <a:t>For </a:t>
            </a:r>
            <a:r>
              <a:rPr sz="1200">
                <a:solidFill>
                  <a:schemeClr val="tx1"/>
                </a:solidFill>
                <a:latin typeface="Arial"/>
                <a:ea typeface="Arial"/>
                <a:cs typeface="Arial"/>
              </a:rPr>
              <a:t>example</a:t>
            </a:r>
            <a:r>
              <a:rPr sz="1200">
                <a:solidFill>
                  <a:schemeClr val="tx1"/>
                </a:solidFill>
                <a:latin typeface="Arial"/>
                <a:ea typeface="Arial"/>
                <a:cs typeface="Arial"/>
              </a:rPr>
              <a:t>, </a:t>
            </a:r>
            <a:r>
              <a:rPr sz="1200">
                <a:solidFill>
                  <a:schemeClr val="tx1"/>
                </a:solidFill>
                <a:latin typeface="Arial"/>
                <a:ea typeface="Arial"/>
                <a:cs typeface="Arial"/>
              </a:rPr>
              <a:t>they</a:t>
            </a:r>
            <a:r>
              <a:rPr sz="1200">
                <a:solidFill>
                  <a:schemeClr val="tx1"/>
                </a:solidFill>
                <a:latin typeface="Arial"/>
                <a:ea typeface="Arial"/>
                <a:cs typeface="Arial"/>
              </a:rPr>
              <a:t> use graph neural networks </a:t>
            </a:r>
            <a:r>
              <a:rPr sz="1200">
                <a:solidFill>
                  <a:schemeClr val="tx1"/>
                </a:solidFill>
                <a:latin typeface="Arial"/>
                <a:ea typeface="Arial"/>
                <a:cs typeface="Arial"/>
              </a:rPr>
              <a:t>combined</a:t>
            </a:r>
            <a:r>
              <a:rPr sz="1200">
                <a:solidFill>
                  <a:schemeClr val="tx1"/>
                </a:solidFill>
                <a:latin typeface="Arial"/>
                <a:ea typeface="Arial"/>
                <a:cs typeface="Arial"/>
              </a:rPr>
              <a:t> </a:t>
            </a:r>
            <a:r>
              <a:rPr sz="1200">
                <a:solidFill>
                  <a:schemeClr val="tx1"/>
                </a:solidFill>
                <a:latin typeface="Arial"/>
                <a:ea typeface="Arial"/>
                <a:cs typeface="Arial"/>
              </a:rPr>
              <a:t>with</a:t>
            </a:r>
            <a:r>
              <a:rPr sz="1200">
                <a:solidFill>
                  <a:schemeClr val="tx1"/>
                </a:solidFill>
                <a:latin typeface="Arial"/>
                <a:ea typeface="Arial"/>
                <a:cs typeface="Arial"/>
              </a:rPr>
              <a:t> value-</a:t>
            </a:r>
            <a:r>
              <a:rPr sz="1200">
                <a:solidFill>
                  <a:schemeClr val="tx1"/>
                </a:solidFill>
                <a:latin typeface="Arial"/>
                <a:ea typeface="Arial"/>
                <a:cs typeface="Arial"/>
              </a:rPr>
              <a:t>based</a:t>
            </a:r>
            <a:r>
              <a:rPr sz="1200">
                <a:solidFill>
                  <a:schemeClr val="tx1"/>
                </a:solidFill>
                <a:latin typeface="Arial"/>
                <a:ea typeface="Arial"/>
                <a:cs typeface="Arial"/>
              </a:rPr>
              <a:t> RL, and </a:t>
            </a:r>
            <a:r>
              <a:rPr sz="1200">
                <a:solidFill>
                  <a:schemeClr val="tx1"/>
                </a:solidFill>
                <a:latin typeface="Arial"/>
                <a:ea typeface="Arial"/>
                <a:cs typeface="Arial"/>
              </a:rPr>
              <a:t>validate</a:t>
            </a:r>
            <a:r>
              <a:rPr sz="1200">
                <a:solidFill>
                  <a:schemeClr val="tx1"/>
                </a:solidFill>
                <a:latin typeface="Arial"/>
                <a:ea typeface="Arial"/>
                <a:cs typeface="Arial"/>
              </a:rPr>
              <a:t> actions </a:t>
            </a:r>
            <a:r>
              <a:rPr sz="1200">
                <a:solidFill>
                  <a:schemeClr val="tx1"/>
                </a:solidFill>
                <a:latin typeface="Arial"/>
                <a:ea typeface="Arial"/>
                <a:cs typeface="Arial"/>
              </a:rPr>
              <a:t>using</a:t>
            </a:r>
            <a:r>
              <a:rPr sz="1200">
                <a:solidFill>
                  <a:schemeClr val="tx1"/>
                </a:solidFill>
                <a:latin typeface="Arial"/>
                <a:ea typeface="Arial"/>
                <a:cs typeface="Arial"/>
              </a:rPr>
              <a:t> power-flow simulations.</a:t>
            </a:r>
          </a:p>
          <a:p xmlns:a="http://schemas.openxmlformats.org/drawingml/2006/main"/>
          <a:p xmlns:a="http://schemas.openxmlformats.org/drawingml/2006/main">
            <a:r>
              <a:rPr sz="1200">
                <a:solidFill>
                  <a:schemeClr val="tx1"/>
                </a:solidFill>
                <a:latin typeface="Arial"/>
                <a:ea typeface="Arial"/>
                <a:cs typeface="Arial"/>
              </a:rPr>
              <a:t>Others</a:t>
            </a:r>
            <a:r>
              <a:rPr sz="1200">
                <a:solidFill>
                  <a:schemeClr val="tx1"/>
                </a:solidFill>
                <a:latin typeface="Arial"/>
                <a:ea typeface="Arial"/>
                <a:cs typeface="Arial"/>
              </a:rPr>
              <a:t> </a:t>
            </a:r>
            <a:r>
              <a:rPr sz="1200">
                <a:solidFill>
                  <a:schemeClr val="tx1"/>
                </a:solidFill>
                <a:latin typeface="Arial"/>
                <a:ea typeface="Arial"/>
                <a:cs typeface="Arial"/>
              </a:rPr>
              <a:t>reduce</a:t>
            </a:r>
            <a:r>
              <a:rPr sz="1200">
                <a:solidFill>
                  <a:schemeClr val="tx1"/>
                </a:solidFill>
                <a:latin typeface="Arial"/>
                <a:ea typeface="Arial"/>
                <a:cs typeface="Arial"/>
              </a:rPr>
              <a:t> the action </a:t>
            </a:r>
            <a:r>
              <a:rPr sz="1200">
                <a:solidFill>
                  <a:schemeClr val="tx1"/>
                </a:solidFill>
                <a:latin typeface="Arial"/>
                <a:ea typeface="Arial"/>
                <a:cs typeface="Arial"/>
              </a:rPr>
              <a:t>space</a:t>
            </a:r>
            <a:r>
              <a:rPr sz="1200">
                <a:solidFill>
                  <a:schemeClr val="tx1"/>
                </a:solidFill>
                <a:latin typeface="Arial"/>
                <a:ea typeface="Arial"/>
                <a:cs typeface="Arial"/>
              </a:rPr>
              <a:t> </a:t>
            </a:r>
            <a:r>
              <a:rPr sz="1200">
                <a:solidFill>
                  <a:schemeClr val="tx1"/>
                </a:solidFill>
                <a:latin typeface="Arial"/>
                <a:ea typeface="Arial"/>
                <a:cs typeface="Arial"/>
              </a:rPr>
              <a:t>using</a:t>
            </a:r>
            <a:r>
              <a:rPr sz="1200">
                <a:solidFill>
                  <a:schemeClr val="tx1"/>
                </a:solidFill>
                <a:latin typeface="Arial"/>
                <a:ea typeface="Arial"/>
                <a:cs typeface="Arial"/>
              </a:rPr>
              <a:t> </a:t>
            </a:r>
            <a:r>
              <a:rPr sz="1200">
                <a:solidFill>
                  <a:schemeClr val="tx1"/>
                </a:solidFill>
                <a:latin typeface="Arial"/>
                <a:ea typeface="Arial"/>
                <a:cs typeface="Arial"/>
              </a:rPr>
              <a:t>masking</a:t>
            </a:r>
            <a:r>
              <a:rPr sz="1200">
                <a:solidFill>
                  <a:schemeClr val="tx1"/>
                </a:solidFill>
                <a:latin typeface="Arial"/>
                <a:ea typeface="Arial"/>
                <a:cs typeface="Arial"/>
              </a:rPr>
              <a:t> or </a:t>
            </a:r>
            <a:r>
              <a:rPr sz="1200">
                <a:solidFill>
                  <a:schemeClr val="tx1"/>
                </a:solidFill>
                <a:latin typeface="Arial"/>
                <a:ea typeface="Arial"/>
                <a:cs typeface="Arial"/>
              </a:rPr>
              <a:t>pruning</a:t>
            </a:r>
            <a:r>
              <a:rPr sz="1200">
                <a:solidFill>
                  <a:schemeClr val="tx1"/>
                </a:solidFill>
                <a:latin typeface="Arial"/>
                <a:ea typeface="Arial"/>
                <a:cs typeface="Arial"/>
              </a:rPr>
              <a:t>.</a:t>
            </a:r>
          </a:p>
          <a:p xmlns:a="http://schemas.openxmlformats.org/drawingml/2006/main"/>
          <a:p xmlns:a="http://schemas.openxmlformats.org/drawingml/2006/main">
            <a:r>
              <a:rPr sz="1200">
                <a:solidFill>
                  <a:schemeClr val="tx1"/>
                </a:solidFill>
                <a:latin typeface="Arial"/>
                <a:ea typeface="Arial"/>
                <a:cs typeface="Arial"/>
              </a:rPr>
              <a:t>These</a:t>
            </a:r>
            <a:r>
              <a:rPr sz="1200">
                <a:solidFill>
                  <a:schemeClr val="tx1"/>
                </a:solidFill>
                <a:latin typeface="Arial"/>
                <a:ea typeface="Arial"/>
                <a:cs typeface="Arial"/>
              </a:rPr>
              <a:t> </a:t>
            </a:r>
            <a:r>
              <a:rPr sz="1200">
                <a:solidFill>
                  <a:schemeClr val="tx1"/>
                </a:solidFill>
                <a:latin typeface="Arial"/>
                <a:ea typeface="Arial"/>
                <a:cs typeface="Arial"/>
              </a:rPr>
              <a:t>methods</a:t>
            </a:r>
            <a:r>
              <a:rPr sz="1200">
                <a:solidFill>
                  <a:schemeClr val="tx1"/>
                </a:solidFill>
                <a:latin typeface="Arial"/>
                <a:ea typeface="Arial"/>
                <a:cs typeface="Arial"/>
              </a:rPr>
              <a:t> can </a:t>
            </a:r>
            <a:r>
              <a:rPr sz="1200">
                <a:solidFill>
                  <a:schemeClr val="tx1"/>
                </a:solidFill>
                <a:latin typeface="Arial"/>
                <a:ea typeface="Arial"/>
                <a:cs typeface="Arial"/>
              </a:rPr>
              <a:t>work</a:t>
            </a:r>
            <a:r>
              <a:rPr sz="1200">
                <a:solidFill>
                  <a:schemeClr val="tx1"/>
                </a:solidFill>
                <a:latin typeface="Arial"/>
                <a:ea typeface="Arial"/>
                <a:cs typeface="Arial"/>
              </a:rPr>
              <a:t>, </a:t>
            </a:r>
            <a:r>
              <a:rPr sz="1200">
                <a:solidFill>
                  <a:schemeClr val="tx1"/>
                </a:solidFill>
                <a:latin typeface="Arial"/>
                <a:ea typeface="Arial"/>
                <a:cs typeface="Arial"/>
              </a:rPr>
              <a:t>so</a:t>
            </a:r>
            <a:r>
              <a:rPr sz="1200">
                <a:solidFill>
                  <a:schemeClr val="tx1"/>
                </a:solidFill>
                <a:latin typeface="Arial"/>
                <a:ea typeface="Arial"/>
                <a:cs typeface="Arial"/>
              </a:rPr>
              <a:t> </a:t>
            </a:r>
            <a:r>
              <a:rPr sz="1200">
                <a:solidFill>
                  <a:schemeClr val="tx1"/>
                </a:solidFill>
                <a:latin typeface="Arial"/>
                <a:ea typeface="Arial"/>
                <a:cs typeface="Arial"/>
              </a:rPr>
              <a:t>mixing</a:t>
            </a:r>
            <a:r>
              <a:rPr sz="1200">
                <a:solidFill>
                  <a:schemeClr val="tx1"/>
                </a:solidFill>
                <a:latin typeface="Arial"/>
                <a:ea typeface="Arial"/>
                <a:cs typeface="Arial"/>
              </a:rPr>
              <a:t> a single agent </a:t>
            </a:r>
            <a:r>
              <a:rPr sz="1200">
                <a:solidFill>
                  <a:schemeClr val="tx1"/>
                </a:solidFill>
                <a:latin typeface="Arial"/>
                <a:ea typeface="Arial"/>
                <a:cs typeface="Arial"/>
              </a:rPr>
              <a:t>with</a:t>
            </a:r>
            <a:r>
              <a:rPr sz="1200">
                <a:solidFill>
                  <a:schemeClr val="tx1"/>
                </a:solidFill>
                <a:latin typeface="Arial"/>
                <a:ea typeface="Arial"/>
                <a:cs typeface="Arial"/>
              </a:rPr>
              <a:t> </a:t>
            </a:r>
            <a:r>
              <a:rPr sz="1200">
                <a:solidFill>
                  <a:schemeClr val="tx1"/>
                </a:solidFill>
                <a:latin typeface="Arial"/>
                <a:ea typeface="Arial"/>
                <a:cs typeface="Arial"/>
              </a:rPr>
              <a:t>rules</a:t>
            </a:r>
            <a:r>
              <a:rPr sz="1200">
                <a:solidFill>
                  <a:schemeClr val="tx1"/>
                </a:solidFill>
                <a:latin typeface="Arial"/>
                <a:ea typeface="Arial"/>
                <a:cs typeface="Arial"/>
              </a:rPr>
              <a:t>, but </a:t>
            </a:r>
            <a:r>
              <a:rPr sz="1200">
                <a:solidFill>
                  <a:schemeClr val="tx1"/>
                </a:solidFill>
                <a:latin typeface="Arial"/>
                <a:ea typeface="Arial"/>
                <a:cs typeface="Arial"/>
              </a:rPr>
              <a:t>they</a:t>
            </a:r>
            <a:r>
              <a:rPr sz="1200">
                <a:solidFill>
                  <a:schemeClr val="tx1"/>
                </a:solidFill>
                <a:latin typeface="Arial"/>
                <a:ea typeface="Arial"/>
                <a:cs typeface="Arial"/>
              </a:rPr>
              <a:t> </a:t>
            </a:r>
            <a:r>
              <a:rPr sz="1200">
                <a:solidFill>
                  <a:schemeClr val="tx1"/>
                </a:solidFill>
                <a:latin typeface="Arial"/>
                <a:ea typeface="Arial"/>
                <a:cs typeface="Arial"/>
              </a:rPr>
              <a:t>suffer</a:t>
            </a:r>
            <a:r>
              <a:rPr sz="1200">
                <a:solidFill>
                  <a:schemeClr val="tx1"/>
                </a:solidFill>
                <a:latin typeface="Arial"/>
                <a:ea typeface="Arial"/>
                <a:cs typeface="Arial"/>
              </a:rPr>
              <a:t> </a:t>
            </a:r>
            <a:r>
              <a:rPr sz="1200">
                <a:solidFill>
                  <a:schemeClr val="tx1"/>
                </a:solidFill>
                <a:latin typeface="Arial"/>
                <a:ea typeface="Arial"/>
                <a:cs typeface="Arial"/>
              </a:rPr>
              <a:t>because</a:t>
            </a:r>
            <a:r>
              <a:rPr sz="1200">
                <a:solidFill>
                  <a:schemeClr val="tx1"/>
                </a:solidFill>
                <a:latin typeface="Arial"/>
                <a:ea typeface="Arial"/>
                <a:cs typeface="Arial"/>
              </a:rPr>
              <a:t> the action </a:t>
            </a:r>
            <a:r>
              <a:rPr sz="1200">
                <a:solidFill>
                  <a:schemeClr val="tx1"/>
                </a:solidFill>
                <a:latin typeface="Arial"/>
                <a:ea typeface="Arial"/>
                <a:cs typeface="Arial"/>
              </a:rPr>
              <a:t>space</a:t>
            </a:r>
            <a:r>
              <a:rPr sz="1200">
                <a:solidFill>
                  <a:schemeClr val="tx1"/>
                </a:solidFill>
                <a:latin typeface="Arial"/>
                <a:ea typeface="Arial"/>
                <a:cs typeface="Arial"/>
              </a:rPr>
              <a:t> </a:t>
            </a:r>
            <a:r>
              <a:rPr sz="1200">
                <a:solidFill>
                  <a:schemeClr val="tx1"/>
                </a:solidFill>
                <a:latin typeface="Arial"/>
                <a:ea typeface="Arial"/>
                <a:cs typeface="Arial"/>
              </a:rPr>
              <a:t>remains</a:t>
            </a:r>
            <a:r>
              <a:rPr sz="1200">
                <a:solidFill>
                  <a:schemeClr val="tx1"/>
                </a:solidFill>
                <a:latin typeface="Arial"/>
                <a:ea typeface="Arial"/>
                <a:cs typeface="Arial"/>
              </a:rPr>
              <a:t> </a:t>
            </a:r>
            <a:r>
              <a:rPr sz="1200">
                <a:solidFill>
                  <a:schemeClr val="tx1"/>
                </a:solidFill>
                <a:latin typeface="Arial"/>
                <a:ea typeface="Arial"/>
                <a:cs typeface="Arial"/>
              </a:rPr>
              <a:t>very</a:t>
            </a:r>
            <a:r>
              <a:rPr sz="1200">
                <a:solidFill>
                  <a:schemeClr val="tx1"/>
                </a:solidFill>
                <a:latin typeface="Arial"/>
                <a:ea typeface="Arial"/>
                <a:cs typeface="Arial"/>
              </a:rPr>
              <a:t> large.”</a:t>
            </a:r>
          </a:p>
          <a:p xmlns:a="http://schemas.openxmlformats.org/drawingml/2006/main"/>
          <a:p xmlns:a="http://schemas.openxmlformats.org/drawingml/2006/main">
            <a:r>
              <a:rPr sz="1200">
                <a:solidFill>
                  <a:schemeClr val="tx1"/>
                </a:solidFill>
                <a:latin typeface="Arial"/>
                <a:ea typeface="Arial"/>
                <a:cs typeface="Arial"/>
              </a:rPr>
              <a:t>Another</a:t>
            </a:r>
            <a:r>
              <a:rPr sz="1200">
                <a:solidFill>
                  <a:schemeClr val="tx1"/>
                </a:solidFill>
                <a:latin typeface="Arial"/>
                <a:ea typeface="Arial"/>
                <a:cs typeface="Arial"/>
              </a:rPr>
              <a:t> important </a:t>
            </a:r>
            <a:r>
              <a:rPr sz="1200">
                <a:solidFill>
                  <a:schemeClr val="tx1"/>
                </a:solidFill>
                <a:latin typeface="Arial"/>
                <a:ea typeface="Arial"/>
                <a:cs typeface="Arial"/>
              </a:rPr>
              <a:t>idea</a:t>
            </a:r>
            <a:r>
              <a:rPr sz="1200">
                <a:solidFill>
                  <a:schemeClr val="tx1"/>
                </a:solidFill>
                <a:latin typeface="Arial"/>
                <a:ea typeface="Arial"/>
                <a:cs typeface="Arial"/>
              </a:rPr>
              <a:t> </a:t>
            </a:r>
            <a:r>
              <a:rPr sz="1200">
                <a:solidFill>
                  <a:schemeClr val="tx1"/>
                </a:solidFill>
                <a:latin typeface="Arial"/>
                <a:ea typeface="Arial"/>
                <a:cs typeface="Arial"/>
              </a:rPr>
              <a:t>is</a:t>
            </a:r>
            <a:r>
              <a:rPr sz="1200">
                <a:solidFill>
                  <a:schemeClr val="tx1"/>
                </a:solidFill>
                <a:latin typeface="Arial"/>
                <a:ea typeface="Arial"/>
                <a:cs typeface="Arial"/>
              </a:rPr>
              <a:t> to </a:t>
            </a:r>
            <a:r>
              <a:rPr sz="1200">
                <a:solidFill>
                  <a:schemeClr val="tx1"/>
                </a:solidFill>
                <a:latin typeface="Arial"/>
                <a:ea typeface="Arial"/>
                <a:cs typeface="Arial"/>
              </a:rPr>
              <a:t>predict</a:t>
            </a:r>
            <a:r>
              <a:rPr sz="1200">
                <a:solidFill>
                  <a:schemeClr val="tx1"/>
                </a:solidFill>
                <a:latin typeface="Arial"/>
                <a:ea typeface="Arial"/>
                <a:cs typeface="Arial"/>
              </a:rPr>
              <a:t> a </a:t>
            </a:r>
            <a:r>
              <a:rPr sz="1200" b="1">
                <a:solidFill>
                  <a:schemeClr val="tx1"/>
                </a:solidFill>
                <a:latin typeface="Arial"/>
                <a:ea typeface="Arial"/>
                <a:cs typeface="Arial"/>
              </a:rPr>
              <a:t>target</a:t>
            </a:r>
            <a:r>
              <a:rPr sz="1200" b="1">
                <a:solidFill>
                  <a:schemeClr val="tx1"/>
                </a:solidFill>
                <a:latin typeface="Arial"/>
                <a:ea typeface="Arial"/>
                <a:cs typeface="Arial"/>
              </a:rPr>
              <a:t> </a:t>
            </a:r>
            <a:r>
              <a:rPr sz="1200" b="1">
                <a:solidFill>
                  <a:schemeClr val="tx1"/>
                </a:solidFill>
                <a:latin typeface="Arial"/>
                <a:ea typeface="Arial"/>
                <a:cs typeface="Arial"/>
              </a:rPr>
              <a:t>topology</a:t>
            </a:r>
            <a:r>
              <a:rPr sz="1200" b="1">
                <a:solidFill>
                  <a:schemeClr val="tx1"/>
                </a:solidFill>
                <a:latin typeface="Arial"/>
                <a:ea typeface="Arial"/>
                <a:cs typeface="Arial"/>
              </a:rPr>
              <a:t> </a:t>
            </a:r>
            <a:r>
              <a:rPr sz="1200" b="1">
                <a:solidFill>
                  <a:schemeClr val="tx1"/>
                </a:solidFill>
                <a:latin typeface="Arial"/>
                <a:ea typeface="Arial"/>
                <a:cs typeface="Arial"/>
              </a:rPr>
              <a:t>instead</a:t>
            </a:r>
            <a:r>
              <a:rPr sz="1200" b="1">
                <a:solidFill>
                  <a:schemeClr val="tx1"/>
                </a:solidFill>
                <a:latin typeface="Arial"/>
                <a:ea typeface="Arial"/>
                <a:cs typeface="Arial"/>
              </a:rPr>
              <a:t> of </a:t>
            </a:r>
            <a:r>
              <a:rPr sz="1200" b="1">
                <a:solidFill>
                  <a:schemeClr val="tx1"/>
                </a:solidFill>
                <a:latin typeface="Arial"/>
                <a:ea typeface="Arial"/>
                <a:cs typeface="Arial"/>
              </a:rPr>
              <a:t>raw</a:t>
            </a:r>
            <a:r>
              <a:rPr sz="1200" b="1">
                <a:solidFill>
                  <a:schemeClr val="tx1"/>
                </a:solidFill>
                <a:latin typeface="Arial"/>
                <a:ea typeface="Arial"/>
                <a:cs typeface="Arial"/>
              </a:rPr>
              <a:t> actions</a:t>
            </a:r>
            <a:r>
              <a:rPr sz="1200">
                <a:solidFill>
                  <a:schemeClr val="tx1"/>
                </a:solidFill>
                <a:latin typeface="Arial"/>
                <a:ea typeface="Arial"/>
                <a:cs typeface="Arial"/>
              </a:rPr>
              <a:t>.</a:t>
            </a:r>
          </a:p>
          <a:p xmlns:a="http://schemas.openxmlformats.org/drawingml/2006/main"/>
          <a:p xmlns:a="http://schemas.openxmlformats.org/drawingml/2006/main">
            <a:r>
              <a:rPr sz="1200">
                <a:solidFill>
                  <a:schemeClr val="tx1"/>
                </a:solidFill>
                <a:latin typeface="Arial"/>
                <a:ea typeface="Arial"/>
                <a:cs typeface="Arial"/>
              </a:rPr>
              <a:t>This </a:t>
            </a:r>
            <a:r>
              <a:rPr sz="1200">
                <a:solidFill>
                  <a:schemeClr val="tx1"/>
                </a:solidFill>
                <a:latin typeface="Arial"/>
                <a:ea typeface="Arial"/>
                <a:cs typeface="Arial"/>
              </a:rPr>
              <a:t>is</a:t>
            </a:r>
            <a:r>
              <a:rPr sz="1200">
                <a:solidFill>
                  <a:schemeClr val="tx1"/>
                </a:solidFill>
                <a:latin typeface="Arial"/>
                <a:ea typeface="Arial"/>
                <a:cs typeface="Arial"/>
              </a:rPr>
              <a:t> </a:t>
            </a:r>
            <a:r>
              <a:rPr sz="1200">
                <a:solidFill>
                  <a:schemeClr val="tx1"/>
                </a:solidFill>
                <a:latin typeface="Arial"/>
                <a:ea typeface="Arial"/>
                <a:cs typeface="Arial"/>
              </a:rPr>
              <a:t>used</a:t>
            </a:r>
            <a:r>
              <a:rPr sz="1200">
                <a:solidFill>
                  <a:schemeClr val="tx1"/>
                </a:solidFill>
                <a:latin typeface="Arial"/>
                <a:ea typeface="Arial"/>
                <a:cs typeface="Arial"/>
              </a:rPr>
              <a:t> in SMAAC, </a:t>
            </a:r>
            <a:r>
              <a:rPr sz="1200">
                <a:solidFill>
                  <a:schemeClr val="tx1"/>
                </a:solidFill>
                <a:latin typeface="Arial"/>
                <a:ea typeface="Arial"/>
                <a:cs typeface="Arial"/>
              </a:rPr>
              <a:t>where</a:t>
            </a:r>
            <a:r>
              <a:rPr sz="1200">
                <a:solidFill>
                  <a:schemeClr val="tx1"/>
                </a:solidFill>
                <a:latin typeface="Arial"/>
                <a:ea typeface="Arial"/>
                <a:cs typeface="Arial"/>
              </a:rPr>
              <a:t> </a:t>
            </a:r>
            <a:r>
              <a:rPr sz="1200">
                <a:solidFill>
                  <a:schemeClr val="tx1"/>
                </a:solidFill>
                <a:latin typeface="Arial"/>
                <a:ea typeface="Arial"/>
                <a:cs typeface="Arial"/>
              </a:rPr>
              <a:t>the</a:t>
            </a:r>
            <a:r>
              <a:rPr sz="1200">
                <a:solidFill>
                  <a:schemeClr val="tx1"/>
                </a:solidFill>
                <a:latin typeface="Arial"/>
                <a:ea typeface="Arial"/>
                <a:cs typeface="Arial"/>
              </a:rPr>
              <a:t> </a:t>
            </a:r>
            <a:r>
              <a:rPr sz="1200">
                <a:solidFill>
                  <a:schemeClr val="tx1"/>
                </a:solidFill>
                <a:latin typeface="Arial"/>
                <a:ea typeface="Arial"/>
                <a:cs typeface="Arial"/>
              </a:rPr>
              <a:t>agent</a:t>
            </a:r>
            <a:r>
              <a:rPr sz="1200">
                <a:solidFill>
                  <a:schemeClr val="tx1"/>
                </a:solidFill>
                <a:latin typeface="Arial"/>
                <a:ea typeface="Arial"/>
                <a:cs typeface="Arial"/>
              </a:rPr>
              <a:t> </a:t>
            </a:r>
            <a:r>
              <a:rPr sz="1200">
                <a:solidFill>
                  <a:schemeClr val="tx1"/>
                </a:solidFill>
                <a:latin typeface="Arial"/>
                <a:ea typeface="Arial"/>
                <a:cs typeface="Arial"/>
              </a:rPr>
              <a:t>learns</a:t>
            </a:r>
            <a:r>
              <a:rPr sz="1200">
                <a:solidFill>
                  <a:schemeClr val="tx1"/>
                </a:solidFill>
                <a:latin typeface="Arial"/>
                <a:ea typeface="Arial"/>
                <a:cs typeface="Arial"/>
              </a:rPr>
              <a:t> an </a:t>
            </a:r>
            <a:r>
              <a:rPr sz="1200">
                <a:solidFill>
                  <a:schemeClr val="tx1"/>
                </a:solidFill>
                <a:latin typeface="Arial"/>
                <a:ea typeface="Arial"/>
                <a:cs typeface="Arial"/>
              </a:rPr>
              <a:t>afterstate</a:t>
            </a:r>
            <a:r>
              <a:rPr sz="1200">
                <a:solidFill>
                  <a:schemeClr val="tx1"/>
                </a:solidFill>
                <a:latin typeface="Arial"/>
                <a:ea typeface="Arial"/>
                <a:cs typeface="Arial"/>
              </a:rPr>
              <a:t> </a:t>
            </a:r>
            <a:r>
              <a:rPr sz="1200">
                <a:solidFill>
                  <a:schemeClr val="tx1"/>
                </a:solidFill>
                <a:latin typeface="Arial"/>
                <a:ea typeface="Arial"/>
                <a:cs typeface="Arial"/>
              </a:rPr>
              <a:t>representation</a:t>
            </a:r>
            <a:r>
              <a:rPr sz="1200">
                <a:solidFill>
                  <a:schemeClr val="tx1"/>
                </a:solidFill>
                <a:latin typeface="Arial"/>
                <a:ea typeface="Arial"/>
                <a:cs typeface="Arial"/>
              </a:rPr>
              <a:t>—</a:t>
            </a:r>
            <a:r>
              <a:rPr sz="1200">
                <a:solidFill>
                  <a:schemeClr val="tx1"/>
                </a:solidFill>
                <a:latin typeface="Arial"/>
                <a:ea typeface="Arial"/>
                <a:cs typeface="Arial"/>
              </a:rPr>
              <a:t>basically</a:t>
            </a:r>
            <a:r>
              <a:rPr sz="1200">
                <a:solidFill>
                  <a:schemeClr val="tx1"/>
                </a:solidFill>
                <a:latin typeface="Arial"/>
                <a:ea typeface="Arial"/>
                <a:cs typeface="Arial"/>
              </a:rPr>
              <a:t> </a:t>
            </a:r>
            <a:r>
              <a:rPr sz="1200">
                <a:solidFill>
                  <a:schemeClr val="tx1"/>
                </a:solidFill>
                <a:latin typeface="Arial"/>
                <a:ea typeface="Arial"/>
                <a:cs typeface="Arial"/>
              </a:rPr>
              <a:t>the</a:t>
            </a:r>
            <a:r>
              <a:rPr sz="1200">
                <a:solidFill>
                  <a:schemeClr val="tx1"/>
                </a:solidFill>
                <a:latin typeface="Arial"/>
                <a:ea typeface="Arial"/>
                <a:cs typeface="Arial"/>
              </a:rPr>
              <a:t> </a:t>
            </a:r>
            <a:r>
              <a:rPr sz="1200">
                <a:solidFill>
                  <a:schemeClr val="tx1"/>
                </a:solidFill>
                <a:latin typeface="Arial"/>
                <a:ea typeface="Arial"/>
                <a:cs typeface="Arial"/>
              </a:rPr>
              <a:t>resulting</a:t>
            </a:r>
            <a:r>
              <a:rPr sz="1200">
                <a:solidFill>
                  <a:schemeClr val="tx1"/>
                </a:solidFill>
                <a:latin typeface="Arial"/>
                <a:ea typeface="Arial"/>
                <a:cs typeface="Arial"/>
              </a:rPr>
              <a:t> </a:t>
            </a:r>
            <a:r>
              <a:rPr sz="1200">
                <a:solidFill>
                  <a:schemeClr val="tx1"/>
                </a:solidFill>
                <a:latin typeface="Arial"/>
                <a:ea typeface="Arial"/>
                <a:cs typeface="Arial"/>
              </a:rPr>
              <a:t>topology</a:t>
            </a:r>
            <a:r>
              <a:rPr sz="1200">
                <a:solidFill>
                  <a:schemeClr val="tx1"/>
                </a:solidFill>
                <a:latin typeface="Arial"/>
                <a:ea typeface="Arial"/>
                <a:cs typeface="Arial"/>
              </a:rPr>
              <a:t> after an </a:t>
            </a:r>
            <a:r>
              <a:rPr sz="1200">
                <a:solidFill>
                  <a:schemeClr val="tx1"/>
                </a:solidFill>
                <a:latin typeface="Arial"/>
                <a:ea typeface="Arial"/>
                <a:cs typeface="Arial"/>
              </a:rPr>
              <a:t>action</a:t>
            </a:r>
            <a:r>
              <a:rPr sz="1200">
                <a:solidFill>
                  <a:schemeClr val="tx1"/>
                </a:solidFill>
                <a:latin typeface="Arial"/>
                <a:ea typeface="Arial"/>
                <a:cs typeface="Arial"/>
              </a:rPr>
              <a:t>.</a:t>
            </a:r>
          </a:p>
          <a:p xmlns:a="http://schemas.openxmlformats.org/drawingml/2006/main"/>
          <a:p xmlns:a="http://schemas.openxmlformats.org/drawingml/2006/main">
            <a:r>
              <a:rPr sz="1200">
                <a:solidFill>
                  <a:schemeClr val="tx1"/>
                </a:solidFill>
                <a:latin typeface="Arial"/>
                <a:ea typeface="Arial"/>
                <a:cs typeface="Arial"/>
              </a:rPr>
              <a:t>This </a:t>
            </a:r>
            <a:r>
              <a:rPr sz="1200">
                <a:solidFill>
                  <a:schemeClr val="tx1"/>
                </a:solidFill>
                <a:latin typeface="Arial"/>
                <a:ea typeface="Arial"/>
                <a:cs typeface="Arial"/>
              </a:rPr>
              <a:t>helps</a:t>
            </a:r>
            <a:r>
              <a:rPr sz="1200">
                <a:solidFill>
                  <a:schemeClr val="tx1"/>
                </a:solidFill>
                <a:latin typeface="Arial"/>
                <a:ea typeface="Arial"/>
                <a:cs typeface="Arial"/>
              </a:rPr>
              <a:t> </a:t>
            </a:r>
            <a:r>
              <a:rPr sz="1200">
                <a:solidFill>
                  <a:schemeClr val="tx1"/>
                </a:solidFill>
                <a:latin typeface="Arial"/>
                <a:ea typeface="Arial"/>
                <a:cs typeface="Arial"/>
              </a:rPr>
              <a:t>because</a:t>
            </a:r>
            <a:r>
              <a:rPr sz="1200">
                <a:solidFill>
                  <a:schemeClr val="tx1"/>
                </a:solidFill>
                <a:latin typeface="Arial"/>
                <a:ea typeface="Arial"/>
                <a:cs typeface="Arial"/>
              </a:rPr>
              <a:t> multiple </a:t>
            </a:r>
            <a:r>
              <a:rPr sz="1200">
                <a:solidFill>
                  <a:schemeClr val="tx1"/>
                </a:solidFill>
                <a:latin typeface="Arial"/>
                <a:ea typeface="Arial"/>
                <a:cs typeface="Arial"/>
              </a:rPr>
              <a:t>sequences</a:t>
            </a:r>
            <a:r>
              <a:rPr sz="1200">
                <a:solidFill>
                  <a:schemeClr val="tx1"/>
                </a:solidFill>
                <a:latin typeface="Arial"/>
                <a:ea typeface="Arial"/>
                <a:cs typeface="Arial"/>
              </a:rPr>
              <a:t> of actions can lead to the </a:t>
            </a:r>
            <a:r>
              <a:rPr sz="1200">
                <a:solidFill>
                  <a:schemeClr val="tx1"/>
                </a:solidFill>
                <a:latin typeface="Arial"/>
                <a:ea typeface="Arial"/>
                <a:cs typeface="Arial"/>
              </a:rPr>
              <a:t>same</a:t>
            </a:r>
            <a:r>
              <a:rPr sz="1200">
                <a:solidFill>
                  <a:schemeClr val="tx1"/>
                </a:solidFill>
                <a:latin typeface="Arial"/>
                <a:ea typeface="Arial"/>
                <a:cs typeface="Arial"/>
              </a:rPr>
              <a:t> configuration. So </a:t>
            </a:r>
            <a:r>
              <a:rPr sz="1200">
                <a:solidFill>
                  <a:schemeClr val="tx1"/>
                </a:solidFill>
                <a:latin typeface="Arial"/>
                <a:ea typeface="Arial"/>
                <a:cs typeface="Arial"/>
              </a:rPr>
              <a:t>it</a:t>
            </a:r>
            <a:r>
              <a:rPr sz="1200">
                <a:solidFill>
                  <a:schemeClr val="tx1"/>
                </a:solidFill>
                <a:latin typeface="Arial"/>
                <a:ea typeface="Arial"/>
                <a:cs typeface="Arial"/>
              </a:rPr>
              <a:t> </a:t>
            </a:r>
            <a:r>
              <a:rPr sz="1200">
                <a:solidFill>
                  <a:schemeClr val="tx1"/>
                </a:solidFill>
                <a:latin typeface="Arial"/>
                <a:ea typeface="Arial"/>
                <a:cs typeface="Arial"/>
              </a:rPr>
              <a:t>reduces</a:t>
            </a:r>
            <a:r>
              <a:rPr sz="1200">
                <a:solidFill>
                  <a:schemeClr val="tx1"/>
                </a:solidFill>
                <a:latin typeface="Arial"/>
                <a:ea typeface="Arial"/>
                <a:cs typeface="Arial"/>
              </a:rPr>
              <a:t> the action </a:t>
            </a:r>
            <a:r>
              <a:rPr sz="1200">
                <a:solidFill>
                  <a:schemeClr val="tx1"/>
                </a:solidFill>
                <a:latin typeface="Arial"/>
                <a:ea typeface="Arial"/>
                <a:cs typeface="Arial"/>
              </a:rPr>
              <a:t>space</a:t>
            </a:r>
          </a:p>
          <a:p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a:solidFill>
                  <a:schemeClr val="tx1"/>
                </a:solidFill>
                <a:latin typeface="Arial"/>
                <a:ea typeface="Arial"/>
                <a:cs typeface="Arial"/>
              </a:rPr>
              <a:t>To dive a </a:t>
            </a:r>
            <a:r>
              <a:rPr sz="1200">
                <a:solidFill>
                  <a:schemeClr val="tx1"/>
                </a:solidFill>
                <a:latin typeface="Arial"/>
                <a:ea typeface="Arial"/>
                <a:cs typeface="Arial"/>
              </a:rPr>
              <a:t>little</a:t>
            </a:r>
            <a:r>
              <a:rPr sz="1200">
                <a:solidFill>
                  <a:schemeClr val="tx1"/>
                </a:solidFill>
                <a:latin typeface="Arial"/>
                <a:ea typeface="Arial"/>
                <a:cs typeface="Arial"/>
              </a:rPr>
              <a:t> </a:t>
            </a:r>
            <a:r>
              <a:rPr sz="1200">
                <a:solidFill>
                  <a:schemeClr val="tx1"/>
                </a:solidFill>
                <a:latin typeface="Arial"/>
                <a:ea typeface="Arial"/>
                <a:cs typeface="Arial"/>
              </a:rPr>
              <a:t>deeper</a:t>
            </a:r>
            <a:r>
              <a:rPr sz="1200">
                <a:solidFill>
                  <a:schemeClr val="tx1"/>
                </a:solidFill>
                <a:latin typeface="Arial"/>
                <a:ea typeface="Arial"/>
                <a:cs typeface="Arial"/>
              </a:rPr>
              <a:t> i have been </a:t>
            </a:r>
            <a:r>
              <a:rPr sz="1200">
                <a:solidFill>
                  <a:schemeClr val="tx1"/>
                </a:solidFill>
                <a:latin typeface="Arial"/>
                <a:ea typeface="Arial"/>
                <a:cs typeface="Arial"/>
              </a:rPr>
              <a:t>looking</a:t>
            </a:r>
            <a:r>
              <a:rPr sz="1200">
                <a:solidFill>
                  <a:schemeClr val="tx1"/>
                </a:solidFill>
                <a:latin typeface="Arial"/>
                <a:ea typeface="Arial"/>
                <a:cs typeface="Arial"/>
              </a:rPr>
              <a:t> at a </a:t>
            </a:r>
            <a:r>
              <a:rPr sz="1200">
                <a:solidFill>
                  <a:schemeClr val="tx1"/>
                </a:solidFill>
                <a:latin typeface="Arial"/>
                <a:ea typeface="Arial"/>
                <a:cs typeface="Arial"/>
              </a:rPr>
              <a:t>survey</a:t>
            </a:r>
            <a:r>
              <a:rPr sz="1200">
                <a:solidFill>
                  <a:schemeClr val="tx1"/>
                </a:solidFill>
                <a:latin typeface="Arial"/>
                <a:ea typeface="Arial"/>
                <a:cs typeface="Arial"/>
              </a:rPr>
              <a:t> </a:t>
            </a:r>
            <a:r>
              <a:rPr sz="1200">
                <a:solidFill>
                  <a:schemeClr val="tx1"/>
                </a:solidFill>
                <a:latin typeface="Arial"/>
                <a:ea typeface="Arial"/>
                <a:cs typeface="Arial"/>
              </a:rPr>
              <a:t>that</a:t>
            </a:r>
            <a:r>
              <a:rPr sz="1200">
                <a:solidFill>
                  <a:schemeClr val="tx1"/>
                </a:solidFill>
                <a:latin typeface="Arial"/>
                <a:ea typeface="Arial"/>
                <a:cs typeface="Arial"/>
              </a:rPr>
              <a:t> </a:t>
            </a:r>
            <a:r>
              <a:rPr sz="1200">
                <a:solidFill>
                  <a:schemeClr val="tx1"/>
                </a:solidFill>
                <a:latin typeface="Arial"/>
                <a:ea typeface="Arial"/>
                <a:cs typeface="Arial"/>
              </a:rPr>
              <a:t>summarize</a:t>
            </a:r>
            <a:r>
              <a:rPr sz="1200">
                <a:solidFill>
                  <a:schemeClr val="tx1"/>
                </a:solidFill>
                <a:latin typeface="Arial"/>
                <a:ea typeface="Arial"/>
                <a:cs typeface="Arial"/>
              </a:rPr>
              <a:t> all the </a:t>
            </a:r>
            <a:r>
              <a:rPr sz="1200">
                <a:solidFill>
                  <a:schemeClr val="tx1"/>
                </a:solidFill>
                <a:latin typeface="Arial"/>
                <a:ea typeface="Arial"/>
                <a:cs typeface="Arial"/>
              </a:rPr>
              <a:t>algorithms</a:t>
            </a:r>
            <a:r>
              <a:rPr sz="1200">
                <a:solidFill>
                  <a:schemeClr val="tx1"/>
                </a:solidFill>
                <a:latin typeface="Arial"/>
                <a:ea typeface="Arial"/>
                <a:cs typeface="Arial"/>
              </a:rPr>
              <a:t> </a:t>
            </a:r>
            <a:r>
              <a:rPr sz="1200">
                <a:solidFill>
                  <a:schemeClr val="tx1"/>
                </a:solidFill>
                <a:latin typeface="Arial"/>
                <a:ea typeface="Arial"/>
                <a:cs typeface="Arial"/>
              </a:rPr>
              <a:t>that</a:t>
            </a:r>
            <a:r>
              <a:rPr sz="1200">
                <a:solidFill>
                  <a:schemeClr val="tx1"/>
                </a:solidFill>
                <a:latin typeface="Arial"/>
                <a:ea typeface="Arial"/>
                <a:cs typeface="Arial"/>
              </a:rPr>
              <a:t> won the l2rpn challenge and </a:t>
            </a:r>
            <a:r>
              <a:rPr sz="1200">
                <a:solidFill>
                  <a:schemeClr val="tx1"/>
                </a:solidFill>
                <a:latin typeface="Arial"/>
                <a:ea typeface="Arial"/>
                <a:cs typeface="Arial"/>
              </a:rPr>
              <a:t>this</a:t>
            </a:r>
            <a:r>
              <a:rPr sz="1200">
                <a:solidFill>
                  <a:schemeClr val="tx1"/>
                </a:solidFill>
                <a:latin typeface="Arial"/>
                <a:ea typeface="Arial"/>
                <a:cs typeface="Arial"/>
              </a:rPr>
              <a:t> </a:t>
            </a:r>
            <a:r>
              <a:rPr sz="1200">
                <a:solidFill>
                  <a:schemeClr val="tx1"/>
                </a:solidFill>
                <a:latin typeface="Arial"/>
                <a:ea typeface="Arial"/>
                <a:cs typeface="Arial"/>
              </a:rPr>
              <a:t>is</a:t>
            </a:r>
            <a:r>
              <a:rPr sz="1200">
                <a:solidFill>
                  <a:schemeClr val="tx1"/>
                </a:solidFill>
                <a:latin typeface="Arial"/>
                <a:ea typeface="Arial"/>
                <a:cs typeface="Arial"/>
              </a:rPr>
              <a:t> the main </a:t>
            </a:r>
            <a:r>
              <a:rPr sz="1200">
                <a:solidFill>
                  <a:schemeClr val="tx1"/>
                </a:solidFill>
                <a:latin typeface="Arial"/>
                <a:ea typeface="Arial"/>
                <a:cs typeface="Arial"/>
              </a:rPr>
              <a:t>categories</a:t>
            </a:r>
            <a:r>
              <a:rPr sz="1200">
                <a:solidFill>
                  <a:schemeClr val="tx1"/>
                </a:solidFill>
                <a:latin typeface="Arial"/>
                <a:ea typeface="Arial"/>
                <a:cs typeface="Arial"/>
              </a:rPr>
              <a:t> of </a:t>
            </a:r>
            <a:r>
              <a:rPr sz="1200">
                <a:solidFill>
                  <a:schemeClr val="tx1"/>
                </a:solidFill>
                <a:latin typeface="Arial"/>
                <a:ea typeface="Arial"/>
                <a:cs typeface="Arial"/>
              </a:rPr>
              <a:t>succesfull</a:t>
            </a:r>
            <a:r>
              <a:rPr sz="1200">
                <a:solidFill>
                  <a:schemeClr val="tx1"/>
                </a:solidFill>
                <a:latin typeface="Arial"/>
                <a:ea typeface="Arial"/>
                <a:cs typeface="Arial"/>
              </a:rPr>
              <a:t> </a:t>
            </a:r>
            <a:r>
              <a:rPr sz="1200">
                <a:solidFill>
                  <a:schemeClr val="tx1"/>
                </a:solidFill>
                <a:latin typeface="Arial"/>
                <a:ea typeface="Arial"/>
                <a:cs typeface="Arial"/>
              </a:rPr>
              <a:t>agentthat</a:t>
            </a:r>
            <a:r>
              <a:rPr sz="1200">
                <a:solidFill>
                  <a:schemeClr val="tx1"/>
                </a:solidFill>
                <a:latin typeface="Arial"/>
                <a:ea typeface="Arial"/>
                <a:cs typeface="Arial"/>
              </a:rPr>
              <a:t> won the challenge.</a:t>
            </a:r>
          </a:p>
          <a:p xmlns:a="http://schemas.openxmlformats.org/drawingml/2006/main"/>
          <a:p xmlns:a="http://schemas.openxmlformats.org/drawingml/2006/main">
            <a:r>
              <a:rPr sz="1200">
                <a:solidFill>
                  <a:schemeClr val="tx1"/>
                </a:solidFill>
                <a:latin typeface="Arial"/>
                <a:ea typeface="Arial"/>
                <a:cs typeface="Arial"/>
              </a:rPr>
              <a:t>Some</a:t>
            </a:r>
            <a:r>
              <a:rPr sz="1200">
                <a:solidFill>
                  <a:schemeClr val="tx1"/>
                </a:solidFill>
                <a:latin typeface="Arial"/>
                <a:ea typeface="Arial"/>
                <a:cs typeface="Arial"/>
              </a:rPr>
              <a:t> </a:t>
            </a:r>
            <a:r>
              <a:rPr sz="1200">
                <a:solidFill>
                  <a:schemeClr val="tx1"/>
                </a:solidFill>
                <a:latin typeface="Arial"/>
                <a:ea typeface="Arial"/>
                <a:cs typeface="Arial"/>
              </a:rPr>
              <a:t>approaches</a:t>
            </a:r>
            <a:r>
              <a:rPr sz="1200">
                <a:solidFill>
                  <a:schemeClr val="tx1"/>
                </a:solidFill>
                <a:latin typeface="Arial"/>
                <a:ea typeface="Arial"/>
                <a:cs typeface="Arial"/>
              </a:rPr>
              <a:t> </a:t>
            </a:r>
            <a:r>
              <a:rPr sz="1200">
                <a:solidFill>
                  <a:schemeClr val="tx1"/>
                </a:solidFill>
                <a:latin typeface="Arial"/>
                <a:ea typeface="Arial"/>
                <a:cs typeface="Arial"/>
              </a:rPr>
              <a:t>rely</a:t>
            </a:r>
            <a:r>
              <a:rPr sz="1200">
                <a:solidFill>
                  <a:schemeClr val="tx1"/>
                </a:solidFill>
                <a:latin typeface="Arial"/>
                <a:ea typeface="Arial"/>
                <a:cs typeface="Arial"/>
              </a:rPr>
              <a:t> on a single global agent </a:t>
            </a:r>
            <a:r>
              <a:rPr sz="1200">
                <a:solidFill>
                  <a:schemeClr val="tx1"/>
                </a:solidFill>
                <a:latin typeface="Arial"/>
                <a:ea typeface="Arial"/>
                <a:cs typeface="Arial"/>
              </a:rPr>
              <a:t>with</a:t>
            </a:r>
            <a:r>
              <a:rPr sz="1200">
                <a:solidFill>
                  <a:schemeClr val="tx1"/>
                </a:solidFill>
                <a:latin typeface="Arial"/>
                <a:ea typeface="Arial"/>
                <a:cs typeface="Arial"/>
              </a:rPr>
              <a:t> </a:t>
            </a:r>
            <a:r>
              <a:rPr sz="1200">
                <a:solidFill>
                  <a:schemeClr val="tx1"/>
                </a:solidFill>
                <a:latin typeface="Arial"/>
                <a:ea typeface="Arial"/>
                <a:cs typeface="Arial"/>
              </a:rPr>
              <a:t>strong</a:t>
            </a:r>
            <a:r>
              <a:rPr sz="1200">
                <a:solidFill>
                  <a:schemeClr val="tx1"/>
                </a:solidFill>
                <a:latin typeface="Arial"/>
                <a:ea typeface="Arial"/>
                <a:cs typeface="Arial"/>
              </a:rPr>
              <a:t> engineering tricks.</a:t>
            </a:r>
          </a:p>
          <a:p xmlns:a="http://schemas.openxmlformats.org/drawingml/2006/main"/>
          <a:p xmlns:a="http://schemas.openxmlformats.org/drawingml/2006/main">
            <a:r>
              <a:rPr sz="1200">
                <a:solidFill>
                  <a:schemeClr val="tx1"/>
                </a:solidFill>
                <a:latin typeface="Arial"/>
                <a:ea typeface="Arial"/>
                <a:cs typeface="Arial"/>
              </a:rPr>
              <a:t>For </a:t>
            </a:r>
            <a:r>
              <a:rPr sz="1200">
                <a:solidFill>
                  <a:schemeClr val="tx1"/>
                </a:solidFill>
                <a:latin typeface="Arial"/>
                <a:ea typeface="Arial"/>
                <a:cs typeface="Arial"/>
              </a:rPr>
              <a:t>example</a:t>
            </a:r>
            <a:r>
              <a:rPr sz="1200">
                <a:solidFill>
                  <a:schemeClr val="tx1"/>
                </a:solidFill>
                <a:latin typeface="Arial"/>
                <a:ea typeface="Arial"/>
                <a:cs typeface="Arial"/>
              </a:rPr>
              <a:t>, </a:t>
            </a:r>
            <a:r>
              <a:rPr sz="1200">
                <a:solidFill>
                  <a:schemeClr val="tx1"/>
                </a:solidFill>
                <a:latin typeface="Arial"/>
                <a:ea typeface="Arial"/>
                <a:cs typeface="Arial"/>
              </a:rPr>
              <a:t>they</a:t>
            </a:r>
            <a:r>
              <a:rPr sz="1200">
                <a:solidFill>
                  <a:schemeClr val="tx1"/>
                </a:solidFill>
                <a:latin typeface="Arial"/>
                <a:ea typeface="Arial"/>
                <a:cs typeface="Arial"/>
              </a:rPr>
              <a:t> use graph neural networks </a:t>
            </a:r>
            <a:r>
              <a:rPr sz="1200">
                <a:solidFill>
                  <a:schemeClr val="tx1"/>
                </a:solidFill>
                <a:latin typeface="Arial"/>
                <a:ea typeface="Arial"/>
                <a:cs typeface="Arial"/>
              </a:rPr>
              <a:t>combined</a:t>
            </a:r>
            <a:r>
              <a:rPr sz="1200">
                <a:solidFill>
                  <a:schemeClr val="tx1"/>
                </a:solidFill>
                <a:latin typeface="Arial"/>
                <a:ea typeface="Arial"/>
                <a:cs typeface="Arial"/>
              </a:rPr>
              <a:t> </a:t>
            </a:r>
            <a:r>
              <a:rPr sz="1200">
                <a:solidFill>
                  <a:schemeClr val="tx1"/>
                </a:solidFill>
                <a:latin typeface="Arial"/>
                <a:ea typeface="Arial"/>
                <a:cs typeface="Arial"/>
              </a:rPr>
              <a:t>with</a:t>
            </a:r>
            <a:r>
              <a:rPr sz="1200">
                <a:solidFill>
                  <a:schemeClr val="tx1"/>
                </a:solidFill>
                <a:latin typeface="Arial"/>
                <a:ea typeface="Arial"/>
                <a:cs typeface="Arial"/>
              </a:rPr>
              <a:t> value-</a:t>
            </a:r>
            <a:r>
              <a:rPr sz="1200">
                <a:solidFill>
                  <a:schemeClr val="tx1"/>
                </a:solidFill>
                <a:latin typeface="Arial"/>
                <a:ea typeface="Arial"/>
                <a:cs typeface="Arial"/>
              </a:rPr>
              <a:t>based</a:t>
            </a:r>
            <a:r>
              <a:rPr sz="1200">
                <a:solidFill>
                  <a:schemeClr val="tx1"/>
                </a:solidFill>
                <a:latin typeface="Arial"/>
                <a:ea typeface="Arial"/>
                <a:cs typeface="Arial"/>
              </a:rPr>
              <a:t> RL, and </a:t>
            </a:r>
            <a:r>
              <a:rPr sz="1200">
                <a:solidFill>
                  <a:schemeClr val="tx1"/>
                </a:solidFill>
                <a:latin typeface="Arial"/>
                <a:ea typeface="Arial"/>
                <a:cs typeface="Arial"/>
              </a:rPr>
              <a:t>validate</a:t>
            </a:r>
            <a:r>
              <a:rPr sz="1200">
                <a:solidFill>
                  <a:schemeClr val="tx1"/>
                </a:solidFill>
                <a:latin typeface="Arial"/>
                <a:ea typeface="Arial"/>
                <a:cs typeface="Arial"/>
              </a:rPr>
              <a:t> actions </a:t>
            </a:r>
            <a:r>
              <a:rPr sz="1200">
                <a:solidFill>
                  <a:schemeClr val="tx1"/>
                </a:solidFill>
                <a:latin typeface="Arial"/>
                <a:ea typeface="Arial"/>
                <a:cs typeface="Arial"/>
              </a:rPr>
              <a:t>using</a:t>
            </a:r>
            <a:r>
              <a:rPr sz="1200">
                <a:solidFill>
                  <a:schemeClr val="tx1"/>
                </a:solidFill>
                <a:latin typeface="Arial"/>
                <a:ea typeface="Arial"/>
                <a:cs typeface="Arial"/>
              </a:rPr>
              <a:t> power-flow simulations.</a:t>
            </a:r>
          </a:p>
          <a:p xmlns:a="http://schemas.openxmlformats.org/drawingml/2006/main"/>
          <a:p xmlns:a="http://schemas.openxmlformats.org/drawingml/2006/main">
            <a:r>
              <a:rPr sz="1200">
                <a:solidFill>
                  <a:schemeClr val="tx1"/>
                </a:solidFill>
                <a:latin typeface="Arial"/>
                <a:ea typeface="Arial"/>
                <a:cs typeface="Arial"/>
              </a:rPr>
              <a:t>Others</a:t>
            </a:r>
            <a:r>
              <a:rPr sz="1200">
                <a:solidFill>
                  <a:schemeClr val="tx1"/>
                </a:solidFill>
                <a:latin typeface="Arial"/>
                <a:ea typeface="Arial"/>
                <a:cs typeface="Arial"/>
              </a:rPr>
              <a:t> </a:t>
            </a:r>
            <a:r>
              <a:rPr sz="1200">
                <a:solidFill>
                  <a:schemeClr val="tx1"/>
                </a:solidFill>
                <a:latin typeface="Arial"/>
                <a:ea typeface="Arial"/>
                <a:cs typeface="Arial"/>
              </a:rPr>
              <a:t>reduce</a:t>
            </a:r>
            <a:r>
              <a:rPr sz="1200">
                <a:solidFill>
                  <a:schemeClr val="tx1"/>
                </a:solidFill>
                <a:latin typeface="Arial"/>
                <a:ea typeface="Arial"/>
                <a:cs typeface="Arial"/>
              </a:rPr>
              <a:t> the action </a:t>
            </a:r>
            <a:r>
              <a:rPr sz="1200">
                <a:solidFill>
                  <a:schemeClr val="tx1"/>
                </a:solidFill>
                <a:latin typeface="Arial"/>
                <a:ea typeface="Arial"/>
                <a:cs typeface="Arial"/>
              </a:rPr>
              <a:t>space</a:t>
            </a:r>
            <a:r>
              <a:rPr sz="1200">
                <a:solidFill>
                  <a:schemeClr val="tx1"/>
                </a:solidFill>
                <a:latin typeface="Arial"/>
                <a:ea typeface="Arial"/>
                <a:cs typeface="Arial"/>
              </a:rPr>
              <a:t> </a:t>
            </a:r>
            <a:r>
              <a:rPr sz="1200">
                <a:solidFill>
                  <a:schemeClr val="tx1"/>
                </a:solidFill>
                <a:latin typeface="Arial"/>
                <a:ea typeface="Arial"/>
                <a:cs typeface="Arial"/>
              </a:rPr>
              <a:t>using</a:t>
            </a:r>
            <a:r>
              <a:rPr sz="1200">
                <a:solidFill>
                  <a:schemeClr val="tx1"/>
                </a:solidFill>
                <a:latin typeface="Arial"/>
                <a:ea typeface="Arial"/>
                <a:cs typeface="Arial"/>
              </a:rPr>
              <a:t> </a:t>
            </a:r>
            <a:r>
              <a:rPr sz="1200">
                <a:solidFill>
                  <a:schemeClr val="tx1"/>
                </a:solidFill>
                <a:latin typeface="Arial"/>
                <a:ea typeface="Arial"/>
                <a:cs typeface="Arial"/>
              </a:rPr>
              <a:t>masking</a:t>
            </a:r>
            <a:r>
              <a:rPr sz="1200">
                <a:solidFill>
                  <a:schemeClr val="tx1"/>
                </a:solidFill>
                <a:latin typeface="Arial"/>
                <a:ea typeface="Arial"/>
                <a:cs typeface="Arial"/>
              </a:rPr>
              <a:t> or </a:t>
            </a:r>
            <a:r>
              <a:rPr sz="1200">
                <a:solidFill>
                  <a:schemeClr val="tx1"/>
                </a:solidFill>
                <a:latin typeface="Arial"/>
                <a:ea typeface="Arial"/>
                <a:cs typeface="Arial"/>
              </a:rPr>
              <a:t>pruning</a:t>
            </a:r>
            <a:r>
              <a:rPr sz="1200">
                <a:solidFill>
                  <a:schemeClr val="tx1"/>
                </a:solidFill>
                <a:latin typeface="Arial"/>
                <a:ea typeface="Arial"/>
                <a:cs typeface="Arial"/>
              </a:rPr>
              <a:t>.</a:t>
            </a:r>
          </a:p>
          <a:p xmlns:a="http://schemas.openxmlformats.org/drawingml/2006/main"/>
          <a:p xmlns:a="http://schemas.openxmlformats.org/drawingml/2006/main">
            <a:r>
              <a:rPr sz="1200">
                <a:solidFill>
                  <a:schemeClr val="tx1"/>
                </a:solidFill>
                <a:latin typeface="Arial"/>
                <a:ea typeface="Arial"/>
                <a:cs typeface="Arial"/>
              </a:rPr>
              <a:t>These</a:t>
            </a:r>
            <a:r>
              <a:rPr sz="1200">
                <a:solidFill>
                  <a:schemeClr val="tx1"/>
                </a:solidFill>
                <a:latin typeface="Arial"/>
                <a:ea typeface="Arial"/>
                <a:cs typeface="Arial"/>
              </a:rPr>
              <a:t> </a:t>
            </a:r>
            <a:r>
              <a:rPr sz="1200">
                <a:solidFill>
                  <a:schemeClr val="tx1"/>
                </a:solidFill>
                <a:latin typeface="Arial"/>
                <a:ea typeface="Arial"/>
                <a:cs typeface="Arial"/>
              </a:rPr>
              <a:t>methods</a:t>
            </a:r>
            <a:r>
              <a:rPr sz="1200">
                <a:solidFill>
                  <a:schemeClr val="tx1"/>
                </a:solidFill>
                <a:latin typeface="Arial"/>
                <a:ea typeface="Arial"/>
                <a:cs typeface="Arial"/>
              </a:rPr>
              <a:t> can </a:t>
            </a:r>
            <a:r>
              <a:rPr sz="1200">
                <a:solidFill>
                  <a:schemeClr val="tx1"/>
                </a:solidFill>
                <a:latin typeface="Arial"/>
                <a:ea typeface="Arial"/>
                <a:cs typeface="Arial"/>
              </a:rPr>
              <a:t>work</a:t>
            </a:r>
            <a:r>
              <a:rPr sz="1200">
                <a:solidFill>
                  <a:schemeClr val="tx1"/>
                </a:solidFill>
                <a:latin typeface="Arial"/>
                <a:ea typeface="Arial"/>
                <a:cs typeface="Arial"/>
              </a:rPr>
              <a:t>, </a:t>
            </a:r>
            <a:r>
              <a:rPr sz="1200">
                <a:solidFill>
                  <a:schemeClr val="tx1"/>
                </a:solidFill>
                <a:latin typeface="Arial"/>
                <a:ea typeface="Arial"/>
                <a:cs typeface="Arial"/>
              </a:rPr>
              <a:t>so</a:t>
            </a:r>
            <a:r>
              <a:rPr sz="1200">
                <a:solidFill>
                  <a:schemeClr val="tx1"/>
                </a:solidFill>
                <a:latin typeface="Arial"/>
                <a:ea typeface="Arial"/>
                <a:cs typeface="Arial"/>
              </a:rPr>
              <a:t> </a:t>
            </a:r>
            <a:r>
              <a:rPr sz="1200">
                <a:solidFill>
                  <a:schemeClr val="tx1"/>
                </a:solidFill>
                <a:latin typeface="Arial"/>
                <a:ea typeface="Arial"/>
                <a:cs typeface="Arial"/>
              </a:rPr>
              <a:t>mixing</a:t>
            </a:r>
            <a:r>
              <a:rPr sz="1200">
                <a:solidFill>
                  <a:schemeClr val="tx1"/>
                </a:solidFill>
                <a:latin typeface="Arial"/>
                <a:ea typeface="Arial"/>
                <a:cs typeface="Arial"/>
              </a:rPr>
              <a:t> a single agent </a:t>
            </a:r>
            <a:r>
              <a:rPr sz="1200">
                <a:solidFill>
                  <a:schemeClr val="tx1"/>
                </a:solidFill>
                <a:latin typeface="Arial"/>
                <a:ea typeface="Arial"/>
                <a:cs typeface="Arial"/>
              </a:rPr>
              <a:t>with</a:t>
            </a:r>
            <a:r>
              <a:rPr sz="1200">
                <a:solidFill>
                  <a:schemeClr val="tx1"/>
                </a:solidFill>
                <a:latin typeface="Arial"/>
                <a:ea typeface="Arial"/>
                <a:cs typeface="Arial"/>
              </a:rPr>
              <a:t> </a:t>
            </a:r>
            <a:r>
              <a:rPr sz="1200">
                <a:solidFill>
                  <a:schemeClr val="tx1"/>
                </a:solidFill>
                <a:latin typeface="Arial"/>
                <a:ea typeface="Arial"/>
                <a:cs typeface="Arial"/>
              </a:rPr>
              <a:t>rules</a:t>
            </a:r>
            <a:r>
              <a:rPr sz="1200">
                <a:solidFill>
                  <a:schemeClr val="tx1"/>
                </a:solidFill>
                <a:latin typeface="Arial"/>
                <a:ea typeface="Arial"/>
                <a:cs typeface="Arial"/>
              </a:rPr>
              <a:t>, but </a:t>
            </a:r>
            <a:r>
              <a:rPr sz="1200">
                <a:solidFill>
                  <a:schemeClr val="tx1"/>
                </a:solidFill>
                <a:latin typeface="Arial"/>
                <a:ea typeface="Arial"/>
                <a:cs typeface="Arial"/>
              </a:rPr>
              <a:t>they</a:t>
            </a:r>
            <a:r>
              <a:rPr sz="1200">
                <a:solidFill>
                  <a:schemeClr val="tx1"/>
                </a:solidFill>
                <a:latin typeface="Arial"/>
                <a:ea typeface="Arial"/>
                <a:cs typeface="Arial"/>
              </a:rPr>
              <a:t> </a:t>
            </a:r>
            <a:r>
              <a:rPr sz="1200">
                <a:solidFill>
                  <a:schemeClr val="tx1"/>
                </a:solidFill>
                <a:latin typeface="Arial"/>
                <a:ea typeface="Arial"/>
                <a:cs typeface="Arial"/>
              </a:rPr>
              <a:t>suffer</a:t>
            </a:r>
            <a:r>
              <a:rPr sz="1200">
                <a:solidFill>
                  <a:schemeClr val="tx1"/>
                </a:solidFill>
                <a:latin typeface="Arial"/>
                <a:ea typeface="Arial"/>
                <a:cs typeface="Arial"/>
              </a:rPr>
              <a:t> </a:t>
            </a:r>
            <a:r>
              <a:rPr sz="1200">
                <a:solidFill>
                  <a:schemeClr val="tx1"/>
                </a:solidFill>
                <a:latin typeface="Arial"/>
                <a:ea typeface="Arial"/>
                <a:cs typeface="Arial"/>
              </a:rPr>
              <a:t>because</a:t>
            </a:r>
            <a:r>
              <a:rPr sz="1200">
                <a:solidFill>
                  <a:schemeClr val="tx1"/>
                </a:solidFill>
                <a:latin typeface="Arial"/>
                <a:ea typeface="Arial"/>
                <a:cs typeface="Arial"/>
              </a:rPr>
              <a:t> the action </a:t>
            </a:r>
            <a:r>
              <a:rPr sz="1200">
                <a:solidFill>
                  <a:schemeClr val="tx1"/>
                </a:solidFill>
                <a:latin typeface="Arial"/>
                <a:ea typeface="Arial"/>
                <a:cs typeface="Arial"/>
              </a:rPr>
              <a:t>space</a:t>
            </a:r>
            <a:r>
              <a:rPr sz="1200">
                <a:solidFill>
                  <a:schemeClr val="tx1"/>
                </a:solidFill>
                <a:latin typeface="Arial"/>
                <a:ea typeface="Arial"/>
                <a:cs typeface="Arial"/>
              </a:rPr>
              <a:t> </a:t>
            </a:r>
            <a:r>
              <a:rPr sz="1200">
                <a:solidFill>
                  <a:schemeClr val="tx1"/>
                </a:solidFill>
                <a:latin typeface="Arial"/>
                <a:ea typeface="Arial"/>
                <a:cs typeface="Arial"/>
              </a:rPr>
              <a:t>remains</a:t>
            </a:r>
            <a:r>
              <a:rPr sz="1200">
                <a:solidFill>
                  <a:schemeClr val="tx1"/>
                </a:solidFill>
                <a:latin typeface="Arial"/>
                <a:ea typeface="Arial"/>
                <a:cs typeface="Arial"/>
              </a:rPr>
              <a:t> </a:t>
            </a:r>
            <a:r>
              <a:rPr sz="1200">
                <a:solidFill>
                  <a:schemeClr val="tx1"/>
                </a:solidFill>
                <a:latin typeface="Arial"/>
                <a:ea typeface="Arial"/>
                <a:cs typeface="Arial"/>
              </a:rPr>
              <a:t>very</a:t>
            </a:r>
            <a:r>
              <a:rPr sz="1200">
                <a:solidFill>
                  <a:schemeClr val="tx1"/>
                </a:solidFill>
                <a:latin typeface="Arial"/>
                <a:ea typeface="Arial"/>
                <a:cs typeface="Arial"/>
              </a:rPr>
              <a:t> large.”</a:t>
            </a:r>
          </a:p>
          <a:p xmlns:a="http://schemas.openxmlformats.org/drawingml/2006/main"/>
          <a:p xmlns:a="http://schemas.openxmlformats.org/drawingml/2006/main">
            <a:r>
              <a:rPr sz="1200">
                <a:solidFill>
                  <a:schemeClr val="tx1"/>
                </a:solidFill>
                <a:latin typeface="Arial"/>
                <a:ea typeface="Arial"/>
                <a:cs typeface="Arial"/>
              </a:rPr>
              <a:t>Another</a:t>
            </a:r>
            <a:r>
              <a:rPr sz="1200">
                <a:solidFill>
                  <a:schemeClr val="tx1"/>
                </a:solidFill>
                <a:latin typeface="Arial"/>
                <a:ea typeface="Arial"/>
                <a:cs typeface="Arial"/>
              </a:rPr>
              <a:t> important </a:t>
            </a:r>
            <a:r>
              <a:rPr sz="1200">
                <a:solidFill>
                  <a:schemeClr val="tx1"/>
                </a:solidFill>
                <a:latin typeface="Arial"/>
                <a:ea typeface="Arial"/>
                <a:cs typeface="Arial"/>
              </a:rPr>
              <a:t>idea</a:t>
            </a:r>
            <a:r>
              <a:rPr sz="1200">
                <a:solidFill>
                  <a:schemeClr val="tx1"/>
                </a:solidFill>
                <a:latin typeface="Arial"/>
                <a:ea typeface="Arial"/>
                <a:cs typeface="Arial"/>
              </a:rPr>
              <a:t> </a:t>
            </a:r>
            <a:r>
              <a:rPr sz="1200">
                <a:solidFill>
                  <a:schemeClr val="tx1"/>
                </a:solidFill>
                <a:latin typeface="Arial"/>
                <a:ea typeface="Arial"/>
                <a:cs typeface="Arial"/>
              </a:rPr>
              <a:t>is</a:t>
            </a:r>
            <a:r>
              <a:rPr sz="1200">
                <a:solidFill>
                  <a:schemeClr val="tx1"/>
                </a:solidFill>
                <a:latin typeface="Arial"/>
                <a:ea typeface="Arial"/>
                <a:cs typeface="Arial"/>
              </a:rPr>
              <a:t> to </a:t>
            </a:r>
            <a:r>
              <a:rPr sz="1200">
                <a:solidFill>
                  <a:schemeClr val="tx1"/>
                </a:solidFill>
                <a:latin typeface="Arial"/>
                <a:ea typeface="Arial"/>
                <a:cs typeface="Arial"/>
              </a:rPr>
              <a:t>predict</a:t>
            </a:r>
            <a:r>
              <a:rPr sz="1200">
                <a:solidFill>
                  <a:schemeClr val="tx1"/>
                </a:solidFill>
                <a:latin typeface="Arial"/>
                <a:ea typeface="Arial"/>
                <a:cs typeface="Arial"/>
              </a:rPr>
              <a:t> a </a:t>
            </a:r>
            <a:r>
              <a:rPr sz="1200" b="1">
                <a:solidFill>
                  <a:schemeClr val="tx1"/>
                </a:solidFill>
                <a:latin typeface="Arial"/>
                <a:ea typeface="Arial"/>
                <a:cs typeface="Arial"/>
              </a:rPr>
              <a:t>target</a:t>
            </a:r>
            <a:r>
              <a:rPr sz="1200" b="1">
                <a:solidFill>
                  <a:schemeClr val="tx1"/>
                </a:solidFill>
                <a:latin typeface="Arial"/>
                <a:ea typeface="Arial"/>
                <a:cs typeface="Arial"/>
              </a:rPr>
              <a:t> </a:t>
            </a:r>
            <a:r>
              <a:rPr sz="1200" b="1">
                <a:solidFill>
                  <a:schemeClr val="tx1"/>
                </a:solidFill>
                <a:latin typeface="Arial"/>
                <a:ea typeface="Arial"/>
                <a:cs typeface="Arial"/>
              </a:rPr>
              <a:t>topology</a:t>
            </a:r>
            <a:r>
              <a:rPr sz="1200" b="1">
                <a:solidFill>
                  <a:schemeClr val="tx1"/>
                </a:solidFill>
                <a:latin typeface="Arial"/>
                <a:ea typeface="Arial"/>
                <a:cs typeface="Arial"/>
              </a:rPr>
              <a:t> </a:t>
            </a:r>
            <a:r>
              <a:rPr sz="1200" b="1">
                <a:solidFill>
                  <a:schemeClr val="tx1"/>
                </a:solidFill>
                <a:latin typeface="Arial"/>
                <a:ea typeface="Arial"/>
                <a:cs typeface="Arial"/>
              </a:rPr>
              <a:t>instead</a:t>
            </a:r>
            <a:r>
              <a:rPr sz="1200" b="1">
                <a:solidFill>
                  <a:schemeClr val="tx1"/>
                </a:solidFill>
                <a:latin typeface="Arial"/>
                <a:ea typeface="Arial"/>
                <a:cs typeface="Arial"/>
              </a:rPr>
              <a:t> of </a:t>
            </a:r>
            <a:r>
              <a:rPr sz="1200" b="1">
                <a:solidFill>
                  <a:schemeClr val="tx1"/>
                </a:solidFill>
                <a:latin typeface="Arial"/>
                <a:ea typeface="Arial"/>
                <a:cs typeface="Arial"/>
              </a:rPr>
              <a:t>raw</a:t>
            </a:r>
            <a:r>
              <a:rPr sz="1200" b="1">
                <a:solidFill>
                  <a:schemeClr val="tx1"/>
                </a:solidFill>
                <a:latin typeface="Arial"/>
                <a:ea typeface="Arial"/>
                <a:cs typeface="Arial"/>
              </a:rPr>
              <a:t> actions</a:t>
            </a:r>
            <a:r>
              <a:rPr sz="1200">
                <a:solidFill>
                  <a:schemeClr val="tx1"/>
                </a:solidFill>
                <a:latin typeface="Arial"/>
                <a:ea typeface="Arial"/>
                <a:cs typeface="Arial"/>
              </a:rPr>
              <a:t>.</a:t>
            </a:r>
          </a:p>
          <a:p xmlns:a="http://schemas.openxmlformats.org/drawingml/2006/main"/>
          <a:p xmlns:a="http://schemas.openxmlformats.org/drawingml/2006/main">
            <a:r>
              <a:rPr sz="1200">
                <a:solidFill>
                  <a:schemeClr val="tx1"/>
                </a:solidFill>
                <a:latin typeface="Arial"/>
                <a:ea typeface="Arial"/>
                <a:cs typeface="Arial"/>
              </a:rPr>
              <a:t>This </a:t>
            </a:r>
            <a:r>
              <a:rPr sz="1200">
                <a:solidFill>
                  <a:schemeClr val="tx1"/>
                </a:solidFill>
                <a:latin typeface="Arial"/>
                <a:ea typeface="Arial"/>
                <a:cs typeface="Arial"/>
              </a:rPr>
              <a:t>is</a:t>
            </a:r>
            <a:r>
              <a:rPr sz="1200">
                <a:solidFill>
                  <a:schemeClr val="tx1"/>
                </a:solidFill>
                <a:latin typeface="Arial"/>
                <a:ea typeface="Arial"/>
                <a:cs typeface="Arial"/>
              </a:rPr>
              <a:t> </a:t>
            </a:r>
            <a:r>
              <a:rPr sz="1200">
                <a:solidFill>
                  <a:schemeClr val="tx1"/>
                </a:solidFill>
                <a:latin typeface="Arial"/>
                <a:ea typeface="Arial"/>
                <a:cs typeface="Arial"/>
              </a:rPr>
              <a:t>used</a:t>
            </a:r>
            <a:r>
              <a:rPr sz="1200">
                <a:solidFill>
                  <a:schemeClr val="tx1"/>
                </a:solidFill>
                <a:latin typeface="Arial"/>
                <a:ea typeface="Arial"/>
                <a:cs typeface="Arial"/>
              </a:rPr>
              <a:t> in SMAAC, </a:t>
            </a:r>
            <a:r>
              <a:rPr sz="1200">
                <a:solidFill>
                  <a:schemeClr val="tx1"/>
                </a:solidFill>
                <a:latin typeface="Arial"/>
                <a:ea typeface="Arial"/>
                <a:cs typeface="Arial"/>
              </a:rPr>
              <a:t>where</a:t>
            </a:r>
            <a:r>
              <a:rPr sz="1200">
                <a:solidFill>
                  <a:schemeClr val="tx1"/>
                </a:solidFill>
                <a:latin typeface="Arial"/>
                <a:ea typeface="Arial"/>
                <a:cs typeface="Arial"/>
              </a:rPr>
              <a:t> </a:t>
            </a:r>
            <a:r>
              <a:rPr sz="1200">
                <a:solidFill>
                  <a:schemeClr val="tx1"/>
                </a:solidFill>
                <a:latin typeface="Arial"/>
                <a:ea typeface="Arial"/>
                <a:cs typeface="Arial"/>
              </a:rPr>
              <a:t>the</a:t>
            </a:r>
            <a:r>
              <a:rPr sz="1200">
                <a:solidFill>
                  <a:schemeClr val="tx1"/>
                </a:solidFill>
                <a:latin typeface="Arial"/>
                <a:ea typeface="Arial"/>
                <a:cs typeface="Arial"/>
              </a:rPr>
              <a:t> </a:t>
            </a:r>
            <a:r>
              <a:rPr sz="1200">
                <a:solidFill>
                  <a:schemeClr val="tx1"/>
                </a:solidFill>
                <a:latin typeface="Arial"/>
                <a:ea typeface="Arial"/>
                <a:cs typeface="Arial"/>
              </a:rPr>
              <a:t>agent</a:t>
            </a:r>
            <a:r>
              <a:rPr sz="1200">
                <a:solidFill>
                  <a:schemeClr val="tx1"/>
                </a:solidFill>
                <a:latin typeface="Arial"/>
                <a:ea typeface="Arial"/>
                <a:cs typeface="Arial"/>
              </a:rPr>
              <a:t> </a:t>
            </a:r>
            <a:r>
              <a:rPr sz="1200">
                <a:solidFill>
                  <a:schemeClr val="tx1"/>
                </a:solidFill>
                <a:latin typeface="Arial"/>
                <a:ea typeface="Arial"/>
                <a:cs typeface="Arial"/>
              </a:rPr>
              <a:t>learns</a:t>
            </a:r>
            <a:r>
              <a:rPr sz="1200">
                <a:solidFill>
                  <a:schemeClr val="tx1"/>
                </a:solidFill>
                <a:latin typeface="Arial"/>
                <a:ea typeface="Arial"/>
                <a:cs typeface="Arial"/>
              </a:rPr>
              <a:t> an </a:t>
            </a:r>
            <a:r>
              <a:rPr sz="1200">
                <a:solidFill>
                  <a:schemeClr val="tx1"/>
                </a:solidFill>
                <a:latin typeface="Arial"/>
                <a:ea typeface="Arial"/>
                <a:cs typeface="Arial"/>
              </a:rPr>
              <a:t>afterstate</a:t>
            </a:r>
            <a:r>
              <a:rPr sz="1200">
                <a:solidFill>
                  <a:schemeClr val="tx1"/>
                </a:solidFill>
                <a:latin typeface="Arial"/>
                <a:ea typeface="Arial"/>
                <a:cs typeface="Arial"/>
              </a:rPr>
              <a:t> </a:t>
            </a:r>
            <a:r>
              <a:rPr sz="1200">
                <a:solidFill>
                  <a:schemeClr val="tx1"/>
                </a:solidFill>
                <a:latin typeface="Arial"/>
                <a:ea typeface="Arial"/>
                <a:cs typeface="Arial"/>
              </a:rPr>
              <a:t>representation</a:t>
            </a:r>
            <a:r>
              <a:rPr sz="1200">
                <a:solidFill>
                  <a:schemeClr val="tx1"/>
                </a:solidFill>
                <a:latin typeface="Arial"/>
                <a:ea typeface="Arial"/>
                <a:cs typeface="Arial"/>
              </a:rPr>
              <a:t>—</a:t>
            </a:r>
            <a:r>
              <a:rPr sz="1200">
                <a:solidFill>
                  <a:schemeClr val="tx1"/>
                </a:solidFill>
                <a:latin typeface="Arial"/>
                <a:ea typeface="Arial"/>
                <a:cs typeface="Arial"/>
              </a:rPr>
              <a:t>basically</a:t>
            </a:r>
            <a:r>
              <a:rPr sz="1200">
                <a:solidFill>
                  <a:schemeClr val="tx1"/>
                </a:solidFill>
                <a:latin typeface="Arial"/>
                <a:ea typeface="Arial"/>
                <a:cs typeface="Arial"/>
              </a:rPr>
              <a:t> </a:t>
            </a:r>
            <a:r>
              <a:rPr sz="1200">
                <a:solidFill>
                  <a:schemeClr val="tx1"/>
                </a:solidFill>
                <a:latin typeface="Arial"/>
                <a:ea typeface="Arial"/>
                <a:cs typeface="Arial"/>
              </a:rPr>
              <a:t>the</a:t>
            </a:r>
            <a:r>
              <a:rPr sz="1200">
                <a:solidFill>
                  <a:schemeClr val="tx1"/>
                </a:solidFill>
                <a:latin typeface="Arial"/>
                <a:ea typeface="Arial"/>
                <a:cs typeface="Arial"/>
              </a:rPr>
              <a:t> </a:t>
            </a:r>
            <a:r>
              <a:rPr sz="1200">
                <a:solidFill>
                  <a:schemeClr val="tx1"/>
                </a:solidFill>
                <a:latin typeface="Arial"/>
                <a:ea typeface="Arial"/>
                <a:cs typeface="Arial"/>
              </a:rPr>
              <a:t>resulting</a:t>
            </a:r>
            <a:r>
              <a:rPr sz="1200">
                <a:solidFill>
                  <a:schemeClr val="tx1"/>
                </a:solidFill>
                <a:latin typeface="Arial"/>
                <a:ea typeface="Arial"/>
                <a:cs typeface="Arial"/>
              </a:rPr>
              <a:t> </a:t>
            </a:r>
            <a:r>
              <a:rPr sz="1200">
                <a:solidFill>
                  <a:schemeClr val="tx1"/>
                </a:solidFill>
                <a:latin typeface="Arial"/>
                <a:ea typeface="Arial"/>
                <a:cs typeface="Arial"/>
              </a:rPr>
              <a:t>topology</a:t>
            </a:r>
            <a:r>
              <a:rPr sz="1200">
                <a:solidFill>
                  <a:schemeClr val="tx1"/>
                </a:solidFill>
                <a:latin typeface="Arial"/>
                <a:ea typeface="Arial"/>
                <a:cs typeface="Arial"/>
              </a:rPr>
              <a:t> after an </a:t>
            </a:r>
            <a:r>
              <a:rPr sz="1200">
                <a:solidFill>
                  <a:schemeClr val="tx1"/>
                </a:solidFill>
                <a:latin typeface="Arial"/>
                <a:ea typeface="Arial"/>
                <a:cs typeface="Arial"/>
              </a:rPr>
              <a:t>action</a:t>
            </a:r>
            <a:r>
              <a:rPr sz="1200">
                <a:solidFill>
                  <a:schemeClr val="tx1"/>
                </a:solidFill>
                <a:latin typeface="Arial"/>
                <a:ea typeface="Arial"/>
                <a:cs typeface="Arial"/>
              </a:rPr>
              <a:t>.</a:t>
            </a:r>
          </a:p>
          <a:p xmlns:a="http://schemas.openxmlformats.org/drawingml/2006/main"/>
          <a:p xmlns:a="http://schemas.openxmlformats.org/drawingml/2006/main">
            <a:r>
              <a:rPr sz="1200">
                <a:solidFill>
                  <a:schemeClr val="tx1"/>
                </a:solidFill>
                <a:latin typeface="Arial"/>
                <a:ea typeface="Arial"/>
                <a:cs typeface="Arial"/>
              </a:rPr>
              <a:t>This </a:t>
            </a:r>
            <a:r>
              <a:rPr sz="1200">
                <a:solidFill>
                  <a:schemeClr val="tx1"/>
                </a:solidFill>
                <a:latin typeface="Arial"/>
                <a:ea typeface="Arial"/>
                <a:cs typeface="Arial"/>
              </a:rPr>
              <a:t>helps</a:t>
            </a:r>
            <a:r>
              <a:rPr sz="1200">
                <a:solidFill>
                  <a:schemeClr val="tx1"/>
                </a:solidFill>
                <a:latin typeface="Arial"/>
                <a:ea typeface="Arial"/>
                <a:cs typeface="Arial"/>
              </a:rPr>
              <a:t> </a:t>
            </a:r>
            <a:r>
              <a:rPr sz="1200">
                <a:solidFill>
                  <a:schemeClr val="tx1"/>
                </a:solidFill>
                <a:latin typeface="Arial"/>
                <a:ea typeface="Arial"/>
                <a:cs typeface="Arial"/>
              </a:rPr>
              <a:t>because</a:t>
            </a:r>
            <a:r>
              <a:rPr sz="1200">
                <a:solidFill>
                  <a:schemeClr val="tx1"/>
                </a:solidFill>
                <a:latin typeface="Arial"/>
                <a:ea typeface="Arial"/>
                <a:cs typeface="Arial"/>
              </a:rPr>
              <a:t> multiple </a:t>
            </a:r>
            <a:r>
              <a:rPr sz="1200">
                <a:solidFill>
                  <a:schemeClr val="tx1"/>
                </a:solidFill>
                <a:latin typeface="Arial"/>
                <a:ea typeface="Arial"/>
                <a:cs typeface="Arial"/>
              </a:rPr>
              <a:t>sequences</a:t>
            </a:r>
            <a:r>
              <a:rPr sz="1200">
                <a:solidFill>
                  <a:schemeClr val="tx1"/>
                </a:solidFill>
                <a:latin typeface="Arial"/>
                <a:ea typeface="Arial"/>
                <a:cs typeface="Arial"/>
              </a:rPr>
              <a:t> of actions can lead to the </a:t>
            </a:r>
            <a:r>
              <a:rPr sz="1200">
                <a:solidFill>
                  <a:schemeClr val="tx1"/>
                </a:solidFill>
                <a:latin typeface="Arial"/>
                <a:ea typeface="Arial"/>
                <a:cs typeface="Arial"/>
              </a:rPr>
              <a:t>same</a:t>
            </a:r>
            <a:r>
              <a:rPr sz="1200">
                <a:solidFill>
                  <a:schemeClr val="tx1"/>
                </a:solidFill>
                <a:latin typeface="Arial"/>
                <a:ea typeface="Arial"/>
                <a:cs typeface="Arial"/>
              </a:rPr>
              <a:t> configuration. So </a:t>
            </a:r>
            <a:r>
              <a:rPr sz="1200">
                <a:solidFill>
                  <a:schemeClr val="tx1"/>
                </a:solidFill>
                <a:latin typeface="Arial"/>
                <a:ea typeface="Arial"/>
                <a:cs typeface="Arial"/>
              </a:rPr>
              <a:t>it</a:t>
            </a:r>
            <a:r>
              <a:rPr sz="1200">
                <a:solidFill>
                  <a:schemeClr val="tx1"/>
                </a:solidFill>
                <a:latin typeface="Arial"/>
                <a:ea typeface="Arial"/>
                <a:cs typeface="Arial"/>
              </a:rPr>
              <a:t> </a:t>
            </a:r>
            <a:r>
              <a:rPr sz="1200">
                <a:solidFill>
                  <a:schemeClr val="tx1"/>
                </a:solidFill>
                <a:latin typeface="Arial"/>
                <a:ea typeface="Arial"/>
                <a:cs typeface="Arial"/>
              </a:rPr>
              <a:t>reduces</a:t>
            </a:r>
            <a:r>
              <a:rPr sz="1200">
                <a:solidFill>
                  <a:schemeClr val="tx1"/>
                </a:solidFill>
                <a:latin typeface="Arial"/>
                <a:ea typeface="Arial"/>
                <a:cs typeface="Arial"/>
              </a:rPr>
              <a:t> the action </a:t>
            </a:r>
            <a:r>
              <a:rPr sz="1200">
                <a:solidFill>
                  <a:schemeClr val="tx1"/>
                </a:solidFill>
                <a:latin typeface="Arial"/>
                <a:ea typeface="Arial"/>
                <a:cs typeface="Arial"/>
              </a:rPr>
              <a:t>space</a:t>
            </a:r>
          </a:p>
          <a:p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a:solidFill>
                  <a:schemeClr val="tx1"/>
                </a:solidFill>
                <a:latin typeface="Arial"/>
                <a:ea typeface="Arial"/>
                <a:cs typeface="Arial"/>
              </a:rPr>
              <a:t>To dive a </a:t>
            </a:r>
            <a:r>
              <a:rPr sz="1200">
                <a:solidFill>
                  <a:schemeClr val="tx1"/>
                </a:solidFill>
                <a:latin typeface="Arial"/>
                <a:ea typeface="Arial"/>
                <a:cs typeface="Arial"/>
              </a:rPr>
              <a:t>little</a:t>
            </a:r>
            <a:r>
              <a:rPr sz="1200">
                <a:solidFill>
                  <a:schemeClr val="tx1"/>
                </a:solidFill>
                <a:latin typeface="Arial"/>
                <a:ea typeface="Arial"/>
                <a:cs typeface="Arial"/>
              </a:rPr>
              <a:t> </a:t>
            </a:r>
            <a:r>
              <a:rPr sz="1200">
                <a:solidFill>
                  <a:schemeClr val="tx1"/>
                </a:solidFill>
                <a:latin typeface="Arial"/>
                <a:ea typeface="Arial"/>
                <a:cs typeface="Arial"/>
              </a:rPr>
              <a:t>deeper</a:t>
            </a:r>
            <a:r>
              <a:rPr sz="1200">
                <a:solidFill>
                  <a:schemeClr val="tx1"/>
                </a:solidFill>
                <a:latin typeface="Arial"/>
                <a:ea typeface="Arial"/>
                <a:cs typeface="Arial"/>
              </a:rPr>
              <a:t> i have been </a:t>
            </a:r>
            <a:r>
              <a:rPr sz="1200">
                <a:solidFill>
                  <a:schemeClr val="tx1"/>
                </a:solidFill>
                <a:latin typeface="Arial"/>
                <a:ea typeface="Arial"/>
                <a:cs typeface="Arial"/>
              </a:rPr>
              <a:t>looking</a:t>
            </a:r>
            <a:r>
              <a:rPr sz="1200">
                <a:solidFill>
                  <a:schemeClr val="tx1"/>
                </a:solidFill>
                <a:latin typeface="Arial"/>
                <a:ea typeface="Arial"/>
                <a:cs typeface="Arial"/>
              </a:rPr>
              <a:t> at a </a:t>
            </a:r>
            <a:r>
              <a:rPr sz="1200">
                <a:solidFill>
                  <a:schemeClr val="tx1"/>
                </a:solidFill>
                <a:latin typeface="Arial"/>
                <a:ea typeface="Arial"/>
                <a:cs typeface="Arial"/>
              </a:rPr>
              <a:t>survey</a:t>
            </a:r>
            <a:r>
              <a:rPr sz="1200">
                <a:solidFill>
                  <a:schemeClr val="tx1"/>
                </a:solidFill>
                <a:latin typeface="Arial"/>
                <a:ea typeface="Arial"/>
                <a:cs typeface="Arial"/>
              </a:rPr>
              <a:t> </a:t>
            </a:r>
            <a:r>
              <a:rPr sz="1200">
                <a:solidFill>
                  <a:schemeClr val="tx1"/>
                </a:solidFill>
                <a:latin typeface="Arial"/>
                <a:ea typeface="Arial"/>
                <a:cs typeface="Arial"/>
              </a:rPr>
              <a:t>that</a:t>
            </a:r>
            <a:r>
              <a:rPr sz="1200">
                <a:solidFill>
                  <a:schemeClr val="tx1"/>
                </a:solidFill>
                <a:latin typeface="Arial"/>
                <a:ea typeface="Arial"/>
                <a:cs typeface="Arial"/>
              </a:rPr>
              <a:t> </a:t>
            </a:r>
            <a:r>
              <a:rPr sz="1200">
                <a:solidFill>
                  <a:schemeClr val="tx1"/>
                </a:solidFill>
                <a:latin typeface="Arial"/>
                <a:ea typeface="Arial"/>
                <a:cs typeface="Arial"/>
              </a:rPr>
              <a:t>summarize</a:t>
            </a:r>
            <a:r>
              <a:rPr sz="1200">
                <a:solidFill>
                  <a:schemeClr val="tx1"/>
                </a:solidFill>
                <a:latin typeface="Arial"/>
                <a:ea typeface="Arial"/>
                <a:cs typeface="Arial"/>
              </a:rPr>
              <a:t> all the </a:t>
            </a:r>
            <a:r>
              <a:rPr sz="1200">
                <a:solidFill>
                  <a:schemeClr val="tx1"/>
                </a:solidFill>
                <a:latin typeface="Arial"/>
                <a:ea typeface="Arial"/>
                <a:cs typeface="Arial"/>
              </a:rPr>
              <a:t>algorithms</a:t>
            </a:r>
            <a:r>
              <a:rPr sz="1200">
                <a:solidFill>
                  <a:schemeClr val="tx1"/>
                </a:solidFill>
                <a:latin typeface="Arial"/>
                <a:ea typeface="Arial"/>
                <a:cs typeface="Arial"/>
              </a:rPr>
              <a:t> </a:t>
            </a:r>
            <a:r>
              <a:rPr sz="1200">
                <a:solidFill>
                  <a:schemeClr val="tx1"/>
                </a:solidFill>
                <a:latin typeface="Arial"/>
                <a:ea typeface="Arial"/>
                <a:cs typeface="Arial"/>
              </a:rPr>
              <a:t>that</a:t>
            </a:r>
            <a:r>
              <a:rPr sz="1200">
                <a:solidFill>
                  <a:schemeClr val="tx1"/>
                </a:solidFill>
                <a:latin typeface="Arial"/>
                <a:ea typeface="Arial"/>
                <a:cs typeface="Arial"/>
              </a:rPr>
              <a:t> won the l2rpn challenge and </a:t>
            </a:r>
            <a:r>
              <a:rPr sz="1200">
                <a:solidFill>
                  <a:schemeClr val="tx1"/>
                </a:solidFill>
                <a:latin typeface="Arial"/>
                <a:ea typeface="Arial"/>
                <a:cs typeface="Arial"/>
              </a:rPr>
              <a:t>this</a:t>
            </a:r>
            <a:r>
              <a:rPr sz="1200">
                <a:solidFill>
                  <a:schemeClr val="tx1"/>
                </a:solidFill>
                <a:latin typeface="Arial"/>
                <a:ea typeface="Arial"/>
                <a:cs typeface="Arial"/>
              </a:rPr>
              <a:t> </a:t>
            </a:r>
            <a:r>
              <a:rPr sz="1200">
                <a:solidFill>
                  <a:schemeClr val="tx1"/>
                </a:solidFill>
                <a:latin typeface="Arial"/>
                <a:ea typeface="Arial"/>
                <a:cs typeface="Arial"/>
              </a:rPr>
              <a:t>is</a:t>
            </a:r>
            <a:r>
              <a:rPr sz="1200">
                <a:solidFill>
                  <a:schemeClr val="tx1"/>
                </a:solidFill>
                <a:latin typeface="Arial"/>
                <a:ea typeface="Arial"/>
                <a:cs typeface="Arial"/>
              </a:rPr>
              <a:t> the main </a:t>
            </a:r>
            <a:r>
              <a:rPr sz="1200">
                <a:solidFill>
                  <a:schemeClr val="tx1"/>
                </a:solidFill>
                <a:latin typeface="Arial"/>
                <a:ea typeface="Arial"/>
                <a:cs typeface="Arial"/>
              </a:rPr>
              <a:t>categories</a:t>
            </a:r>
            <a:r>
              <a:rPr sz="1200">
                <a:solidFill>
                  <a:schemeClr val="tx1"/>
                </a:solidFill>
                <a:latin typeface="Arial"/>
                <a:ea typeface="Arial"/>
                <a:cs typeface="Arial"/>
              </a:rPr>
              <a:t> of </a:t>
            </a:r>
            <a:r>
              <a:rPr sz="1200">
                <a:solidFill>
                  <a:schemeClr val="tx1"/>
                </a:solidFill>
                <a:latin typeface="Arial"/>
                <a:ea typeface="Arial"/>
                <a:cs typeface="Arial"/>
              </a:rPr>
              <a:t>succesfull</a:t>
            </a:r>
            <a:r>
              <a:rPr sz="1200">
                <a:solidFill>
                  <a:schemeClr val="tx1"/>
                </a:solidFill>
                <a:latin typeface="Arial"/>
                <a:ea typeface="Arial"/>
                <a:cs typeface="Arial"/>
              </a:rPr>
              <a:t> </a:t>
            </a:r>
            <a:r>
              <a:rPr sz="1200">
                <a:solidFill>
                  <a:schemeClr val="tx1"/>
                </a:solidFill>
                <a:latin typeface="Arial"/>
                <a:ea typeface="Arial"/>
                <a:cs typeface="Arial"/>
              </a:rPr>
              <a:t>agentthat</a:t>
            </a:r>
            <a:r>
              <a:rPr sz="1200">
                <a:solidFill>
                  <a:schemeClr val="tx1"/>
                </a:solidFill>
                <a:latin typeface="Arial"/>
                <a:ea typeface="Arial"/>
                <a:cs typeface="Arial"/>
              </a:rPr>
              <a:t> won the challenge.</a:t>
            </a:r>
          </a:p>
          <a:p xmlns:a="http://schemas.openxmlformats.org/drawingml/2006/main"/>
          <a:p xmlns:a="http://schemas.openxmlformats.org/drawingml/2006/main">
            <a:r>
              <a:rPr sz="1200">
                <a:solidFill>
                  <a:schemeClr val="tx1"/>
                </a:solidFill>
                <a:latin typeface="Arial"/>
                <a:ea typeface="Arial"/>
                <a:cs typeface="Arial"/>
              </a:rPr>
              <a:t>Some</a:t>
            </a:r>
            <a:r>
              <a:rPr sz="1200">
                <a:solidFill>
                  <a:schemeClr val="tx1"/>
                </a:solidFill>
                <a:latin typeface="Arial"/>
                <a:ea typeface="Arial"/>
                <a:cs typeface="Arial"/>
              </a:rPr>
              <a:t> </a:t>
            </a:r>
            <a:r>
              <a:rPr sz="1200">
                <a:solidFill>
                  <a:schemeClr val="tx1"/>
                </a:solidFill>
                <a:latin typeface="Arial"/>
                <a:ea typeface="Arial"/>
                <a:cs typeface="Arial"/>
              </a:rPr>
              <a:t>approaches</a:t>
            </a:r>
            <a:r>
              <a:rPr sz="1200">
                <a:solidFill>
                  <a:schemeClr val="tx1"/>
                </a:solidFill>
                <a:latin typeface="Arial"/>
                <a:ea typeface="Arial"/>
                <a:cs typeface="Arial"/>
              </a:rPr>
              <a:t> </a:t>
            </a:r>
            <a:r>
              <a:rPr sz="1200">
                <a:solidFill>
                  <a:schemeClr val="tx1"/>
                </a:solidFill>
                <a:latin typeface="Arial"/>
                <a:ea typeface="Arial"/>
                <a:cs typeface="Arial"/>
              </a:rPr>
              <a:t>rely</a:t>
            </a:r>
            <a:r>
              <a:rPr sz="1200">
                <a:solidFill>
                  <a:schemeClr val="tx1"/>
                </a:solidFill>
                <a:latin typeface="Arial"/>
                <a:ea typeface="Arial"/>
                <a:cs typeface="Arial"/>
              </a:rPr>
              <a:t> on a single global agent </a:t>
            </a:r>
            <a:r>
              <a:rPr sz="1200">
                <a:solidFill>
                  <a:schemeClr val="tx1"/>
                </a:solidFill>
                <a:latin typeface="Arial"/>
                <a:ea typeface="Arial"/>
                <a:cs typeface="Arial"/>
              </a:rPr>
              <a:t>with</a:t>
            </a:r>
            <a:r>
              <a:rPr sz="1200">
                <a:solidFill>
                  <a:schemeClr val="tx1"/>
                </a:solidFill>
                <a:latin typeface="Arial"/>
                <a:ea typeface="Arial"/>
                <a:cs typeface="Arial"/>
              </a:rPr>
              <a:t> </a:t>
            </a:r>
            <a:r>
              <a:rPr sz="1200">
                <a:solidFill>
                  <a:schemeClr val="tx1"/>
                </a:solidFill>
                <a:latin typeface="Arial"/>
                <a:ea typeface="Arial"/>
                <a:cs typeface="Arial"/>
              </a:rPr>
              <a:t>strong</a:t>
            </a:r>
            <a:r>
              <a:rPr sz="1200">
                <a:solidFill>
                  <a:schemeClr val="tx1"/>
                </a:solidFill>
                <a:latin typeface="Arial"/>
                <a:ea typeface="Arial"/>
                <a:cs typeface="Arial"/>
              </a:rPr>
              <a:t> engineering tricks.</a:t>
            </a:r>
          </a:p>
          <a:p xmlns:a="http://schemas.openxmlformats.org/drawingml/2006/main"/>
          <a:p xmlns:a="http://schemas.openxmlformats.org/drawingml/2006/main">
            <a:r>
              <a:rPr sz="1200">
                <a:solidFill>
                  <a:schemeClr val="tx1"/>
                </a:solidFill>
                <a:latin typeface="Arial"/>
                <a:ea typeface="Arial"/>
                <a:cs typeface="Arial"/>
              </a:rPr>
              <a:t>For </a:t>
            </a:r>
            <a:r>
              <a:rPr sz="1200">
                <a:solidFill>
                  <a:schemeClr val="tx1"/>
                </a:solidFill>
                <a:latin typeface="Arial"/>
                <a:ea typeface="Arial"/>
                <a:cs typeface="Arial"/>
              </a:rPr>
              <a:t>example</a:t>
            </a:r>
            <a:r>
              <a:rPr sz="1200">
                <a:solidFill>
                  <a:schemeClr val="tx1"/>
                </a:solidFill>
                <a:latin typeface="Arial"/>
                <a:ea typeface="Arial"/>
                <a:cs typeface="Arial"/>
              </a:rPr>
              <a:t>, </a:t>
            </a:r>
            <a:r>
              <a:rPr sz="1200">
                <a:solidFill>
                  <a:schemeClr val="tx1"/>
                </a:solidFill>
                <a:latin typeface="Arial"/>
                <a:ea typeface="Arial"/>
                <a:cs typeface="Arial"/>
              </a:rPr>
              <a:t>they</a:t>
            </a:r>
            <a:r>
              <a:rPr sz="1200">
                <a:solidFill>
                  <a:schemeClr val="tx1"/>
                </a:solidFill>
                <a:latin typeface="Arial"/>
                <a:ea typeface="Arial"/>
                <a:cs typeface="Arial"/>
              </a:rPr>
              <a:t> use graph neural networks </a:t>
            </a:r>
            <a:r>
              <a:rPr sz="1200">
                <a:solidFill>
                  <a:schemeClr val="tx1"/>
                </a:solidFill>
                <a:latin typeface="Arial"/>
                <a:ea typeface="Arial"/>
                <a:cs typeface="Arial"/>
              </a:rPr>
              <a:t>combined</a:t>
            </a:r>
            <a:r>
              <a:rPr sz="1200">
                <a:solidFill>
                  <a:schemeClr val="tx1"/>
                </a:solidFill>
                <a:latin typeface="Arial"/>
                <a:ea typeface="Arial"/>
                <a:cs typeface="Arial"/>
              </a:rPr>
              <a:t> </a:t>
            </a:r>
            <a:r>
              <a:rPr sz="1200">
                <a:solidFill>
                  <a:schemeClr val="tx1"/>
                </a:solidFill>
                <a:latin typeface="Arial"/>
                <a:ea typeface="Arial"/>
                <a:cs typeface="Arial"/>
              </a:rPr>
              <a:t>with</a:t>
            </a:r>
            <a:r>
              <a:rPr sz="1200">
                <a:solidFill>
                  <a:schemeClr val="tx1"/>
                </a:solidFill>
                <a:latin typeface="Arial"/>
                <a:ea typeface="Arial"/>
                <a:cs typeface="Arial"/>
              </a:rPr>
              <a:t> value-</a:t>
            </a:r>
            <a:r>
              <a:rPr sz="1200">
                <a:solidFill>
                  <a:schemeClr val="tx1"/>
                </a:solidFill>
                <a:latin typeface="Arial"/>
                <a:ea typeface="Arial"/>
                <a:cs typeface="Arial"/>
              </a:rPr>
              <a:t>based</a:t>
            </a:r>
            <a:r>
              <a:rPr sz="1200">
                <a:solidFill>
                  <a:schemeClr val="tx1"/>
                </a:solidFill>
                <a:latin typeface="Arial"/>
                <a:ea typeface="Arial"/>
                <a:cs typeface="Arial"/>
              </a:rPr>
              <a:t> RL, and </a:t>
            </a:r>
            <a:r>
              <a:rPr sz="1200">
                <a:solidFill>
                  <a:schemeClr val="tx1"/>
                </a:solidFill>
                <a:latin typeface="Arial"/>
                <a:ea typeface="Arial"/>
                <a:cs typeface="Arial"/>
              </a:rPr>
              <a:t>validate</a:t>
            </a:r>
            <a:r>
              <a:rPr sz="1200">
                <a:solidFill>
                  <a:schemeClr val="tx1"/>
                </a:solidFill>
                <a:latin typeface="Arial"/>
                <a:ea typeface="Arial"/>
                <a:cs typeface="Arial"/>
              </a:rPr>
              <a:t> actions </a:t>
            </a:r>
            <a:r>
              <a:rPr sz="1200">
                <a:solidFill>
                  <a:schemeClr val="tx1"/>
                </a:solidFill>
                <a:latin typeface="Arial"/>
                <a:ea typeface="Arial"/>
                <a:cs typeface="Arial"/>
              </a:rPr>
              <a:t>using</a:t>
            </a:r>
            <a:r>
              <a:rPr sz="1200">
                <a:solidFill>
                  <a:schemeClr val="tx1"/>
                </a:solidFill>
                <a:latin typeface="Arial"/>
                <a:ea typeface="Arial"/>
                <a:cs typeface="Arial"/>
              </a:rPr>
              <a:t> power-flow simulations.</a:t>
            </a:r>
          </a:p>
          <a:p xmlns:a="http://schemas.openxmlformats.org/drawingml/2006/main"/>
          <a:p xmlns:a="http://schemas.openxmlformats.org/drawingml/2006/main">
            <a:r>
              <a:rPr sz="1200">
                <a:solidFill>
                  <a:schemeClr val="tx1"/>
                </a:solidFill>
                <a:latin typeface="Arial"/>
                <a:ea typeface="Arial"/>
                <a:cs typeface="Arial"/>
              </a:rPr>
              <a:t>Others</a:t>
            </a:r>
            <a:r>
              <a:rPr sz="1200">
                <a:solidFill>
                  <a:schemeClr val="tx1"/>
                </a:solidFill>
                <a:latin typeface="Arial"/>
                <a:ea typeface="Arial"/>
                <a:cs typeface="Arial"/>
              </a:rPr>
              <a:t> </a:t>
            </a:r>
            <a:r>
              <a:rPr sz="1200">
                <a:solidFill>
                  <a:schemeClr val="tx1"/>
                </a:solidFill>
                <a:latin typeface="Arial"/>
                <a:ea typeface="Arial"/>
                <a:cs typeface="Arial"/>
              </a:rPr>
              <a:t>reduce</a:t>
            </a:r>
            <a:r>
              <a:rPr sz="1200">
                <a:solidFill>
                  <a:schemeClr val="tx1"/>
                </a:solidFill>
                <a:latin typeface="Arial"/>
                <a:ea typeface="Arial"/>
                <a:cs typeface="Arial"/>
              </a:rPr>
              <a:t> the action </a:t>
            </a:r>
            <a:r>
              <a:rPr sz="1200">
                <a:solidFill>
                  <a:schemeClr val="tx1"/>
                </a:solidFill>
                <a:latin typeface="Arial"/>
                <a:ea typeface="Arial"/>
                <a:cs typeface="Arial"/>
              </a:rPr>
              <a:t>space</a:t>
            </a:r>
            <a:r>
              <a:rPr sz="1200">
                <a:solidFill>
                  <a:schemeClr val="tx1"/>
                </a:solidFill>
                <a:latin typeface="Arial"/>
                <a:ea typeface="Arial"/>
                <a:cs typeface="Arial"/>
              </a:rPr>
              <a:t> </a:t>
            </a:r>
            <a:r>
              <a:rPr sz="1200">
                <a:solidFill>
                  <a:schemeClr val="tx1"/>
                </a:solidFill>
                <a:latin typeface="Arial"/>
                <a:ea typeface="Arial"/>
                <a:cs typeface="Arial"/>
              </a:rPr>
              <a:t>using</a:t>
            </a:r>
            <a:r>
              <a:rPr sz="1200">
                <a:solidFill>
                  <a:schemeClr val="tx1"/>
                </a:solidFill>
                <a:latin typeface="Arial"/>
                <a:ea typeface="Arial"/>
                <a:cs typeface="Arial"/>
              </a:rPr>
              <a:t> </a:t>
            </a:r>
            <a:r>
              <a:rPr sz="1200">
                <a:solidFill>
                  <a:schemeClr val="tx1"/>
                </a:solidFill>
                <a:latin typeface="Arial"/>
                <a:ea typeface="Arial"/>
                <a:cs typeface="Arial"/>
              </a:rPr>
              <a:t>masking</a:t>
            </a:r>
            <a:r>
              <a:rPr sz="1200">
                <a:solidFill>
                  <a:schemeClr val="tx1"/>
                </a:solidFill>
                <a:latin typeface="Arial"/>
                <a:ea typeface="Arial"/>
                <a:cs typeface="Arial"/>
              </a:rPr>
              <a:t> or </a:t>
            </a:r>
            <a:r>
              <a:rPr sz="1200">
                <a:solidFill>
                  <a:schemeClr val="tx1"/>
                </a:solidFill>
                <a:latin typeface="Arial"/>
                <a:ea typeface="Arial"/>
                <a:cs typeface="Arial"/>
              </a:rPr>
              <a:t>pruning</a:t>
            </a:r>
            <a:r>
              <a:rPr sz="1200">
                <a:solidFill>
                  <a:schemeClr val="tx1"/>
                </a:solidFill>
                <a:latin typeface="Arial"/>
                <a:ea typeface="Arial"/>
                <a:cs typeface="Arial"/>
              </a:rPr>
              <a:t>.</a:t>
            </a:r>
          </a:p>
          <a:p xmlns:a="http://schemas.openxmlformats.org/drawingml/2006/main"/>
          <a:p xmlns:a="http://schemas.openxmlformats.org/drawingml/2006/main">
            <a:r>
              <a:rPr sz="1200">
                <a:solidFill>
                  <a:schemeClr val="tx1"/>
                </a:solidFill>
                <a:latin typeface="Arial"/>
                <a:ea typeface="Arial"/>
                <a:cs typeface="Arial"/>
              </a:rPr>
              <a:t>These</a:t>
            </a:r>
            <a:r>
              <a:rPr sz="1200">
                <a:solidFill>
                  <a:schemeClr val="tx1"/>
                </a:solidFill>
                <a:latin typeface="Arial"/>
                <a:ea typeface="Arial"/>
                <a:cs typeface="Arial"/>
              </a:rPr>
              <a:t> </a:t>
            </a:r>
            <a:r>
              <a:rPr sz="1200">
                <a:solidFill>
                  <a:schemeClr val="tx1"/>
                </a:solidFill>
                <a:latin typeface="Arial"/>
                <a:ea typeface="Arial"/>
                <a:cs typeface="Arial"/>
              </a:rPr>
              <a:t>methods</a:t>
            </a:r>
            <a:r>
              <a:rPr sz="1200">
                <a:solidFill>
                  <a:schemeClr val="tx1"/>
                </a:solidFill>
                <a:latin typeface="Arial"/>
                <a:ea typeface="Arial"/>
                <a:cs typeface="Arial"/>
              </a:rPr>
              <a:t> can </a:t>
            </a:r>
            <a:r>
              <a:rPr sz="1200">
                <a:solidFill>
                  <a:schemeClr val="tx1"/>
                </a:solidFill>
                <a:latin typeface="Arial"/>
                <a:ea typeface="Arial"/>
                <a:cs typeface="Arial"/>
              </a:rPr>
              <a:t>work</a:t>
            </a:r>
            <a:r>
              <a:rPr sz="1200">
                <a:solidFill>
                  <a:schemeClr val="tx1"/>
                </a:solidFill>
                <a:latin typeface="Arial"/>
                <a:ea typeface="Arial"/>
                <a:cs typeface="Arial"/>
              </a:rPr>
              <a:t>, </a:t>
            </a:r>
            <a:r>
              <a:rPr sz="1200">
                <a:solidFill>
                  <a:schemeClr val="tx1"/>
                </a:solidFill>
                <a:latin typeface="Arial"/>
                <a:ea typeface="Arial"/>
                <a:cs typeface="Arial"/>
              </a:rPr>
              <a:t>so</a:t>
            </a:r>
            <a:r>
              <a:rPr sz="1200">
                <a:solidFill>
                  <a:schemeClr val="tx1"/>
                </a:solidFill>
                <a:latin typeface="Arial"/>
                <a:ea typeface="Arial"/>
                <a:cs typeface="Arial"/>
              </a:rPr>
              <a:t> </a:t>
            </a:r>
            <a:r>
              <a:rPr sz="1200">
                <a:solidFill>
                  <a:schemeClr val="tx1"/>
                </a:solidFill>
                <a:latin typeface="Arial"/>
                <a:ea typeface="Arial"/>
                <a:cs typeface="Arial"/>
              </a:rPr>
              <a:t>mixing</a:t>
            </a:r>
            <a:r>
              <a:rPr sz="1200">
                <a:solidFill>
                  <a:schemeClr val="tx1"/>
                </a:solidFill>
                <a:latin typeface="Arial"/>
                <a:ea typeface="Arial"/>
                <a:cs typeface="Arial"/>
              </a:rPr>
              <a:t> a single agent </a:t>
            </a:r>
            <a:r>
              <a:rPr sz="1200">
                <a:solidFill>
                  <a:schemeClr val="tx1"/>
                </a:solidFill>
                <a:latin typeface="Arial"/>
                <a:ea typeface="Arial"/>
                <a:cs typeface="Arial"/>
              </a:rPr>
              <a:t>with</a:t>
            </a:r>
            <a:r>
              <a:rPr sz="1200">
                <a:solidFill>
                  <a:schemeClr val="tx1"/>
                </a:solidFill>
                <a:latin typeface="Arial"/>
                <a:ea typeface="Arial"/>
                <a:cs typeface="Arial"/>
              </a:rPr>
              <a:t> </a:t>
            </a:r>
            <a:r>
              <a:rPr sz="1200">
                <a:solidFill>
                  <a:schemeClr val="tx1"/>
                </a:solidFill>
                <a:latin typeface="Arial"/>
                <a:ea typeface="Arial"/>
                <a:cs typeface="Arial"/>
              </a:rPr>
              <a:t>rules</a:t>
            </a:r>
            <a:r>
              <a:rPr sz="1200">
                <a:solidFill>
                  <a:schemeClr val="tx1"/>
                </a:solidFill>
                <a:latin typeface="Arial"/>
                <a:ea typeface="Arial"/>
                <a:cs typeface="Arial"/>
              </a:rPr>
              <a:t>, but </a:t>
            </a:r>
            <a:r>
              <a:rPr sz="1200">
                <a:solidFill>
                  <a:schemeClr val="tx1"/>
                </a:solidFill>
                <a:latin typeface="Arial"/>
                <a:ea typeface="Arial"/>
                <a:cs typeface="Arial"/>
              </a:rPr>
              <a:t>they</a:t>
            </a:r>
            <a:r>
              <a:rPr sz="1200">
                <a:solidFill>
                  <a:schemeClr val="tx1"/>
                </a:solidFill>
                <a:latin typeface="Arial"/>
                <a:ea typeface="Arial"/>
                <a:cs typeface="Arial"/>
              </a:rPr>
              <a:t> </a:t>
            </a:r>
            <a:r>
              <a:rPr sz="1200">
                <a:solidFill>
                  <a:schemeClr val="tx1"/>
                </a:solidFill>
                <a:latin typeface="Arial"/>
                <a:ea typeface="Arial"/>
                <a:cs typeface="Arial"/>
              </a:rPr>
              <a:t>suffer</a:t>
            </a:r>
            <a:r>
              <a:rPr sz="1200">
                <a:solidFill>
                  <a:schemeClr val="tx1"/>
                </a:solidFill>
                <a:latin typeface="Arial"/>
                <a:ea typeface="Arial"/>
                <a:cs typeface="Arial"/>
              </a:rPr>
              <a:t> </a:t>
            </a:r>
            <a:r>
              <a:rPr sz="1200">
                <a:solidFill>
                  <a:schemeClr val="tx1"/>
                </a:solidFill>
                <a:latin typeface="Arial"/>
                <a:ea typeface="Arial"/>
                <a:cs typeface="Arial"/>
              </a:rPr>
              <a:t>because</a:t>
            </a:r>
            <a:r>
              <a:rPr sz="1200">
                <a:solidFill>
                  <a:schemeClr val="tx1"/>
                </a:solidFill>
                <a:latin typeface="Arial"/>
                <a:ea typeface="Arial"/>
                <a:cs typeface="Arial"/>
              </a:rPr>
              <a:t> the action </a:t>
            </a:r>
            <a:r>
              <a:rPr sz="1200">
                <a:solidFill>
                  <a:schemeClr val="tx1"/>
                </a:solidFill>
                <a:latin typeface="Arial"/>
                <a:ea typeface="Arial"/>
                <a:cs typeface="Arial"/>
              </a:rPr>
              <a:t>space</a:t>
            </a:r>
            <a:r>
              <a:rPr sz="1200">
                <a:solidFill>
                  <a:schemeClr val="tx1"/>
                </a:solidFill>
                <a:latin typeface="Arial"/>
                <a:ea typeface="Arial"/>
                <a:cs typeface="Arial"/>
              </a:rPr>
              <a:t> </a:t>
            </a:r>
            <a:r>
              <a:rPr sz="1200">
                <a:solidFill>
                  <a:schemeClr val="tx1"/>
                </a:solidFill>
                <a:latin typeface="Arial"/>
                <a:ea typeface="Arial"/>
                <a:cs typeface="Arial"/>
              </a:rPr>
              <a:t>remains</a:t>
            </a:r>
            <a:r>
              <a:rPr sz="1200">
                <a:solidFill>
                  <a:schemeClr val="tx1"/>
                </a:solidFill>
                <a:latin typeface="Arial"/>
                <a:ea typeface="Arial"/>
                <a:cs typeface="Arial"/>
              </a:rPr>
              <a:t> </a:t>
            </a:r>
            <a:r>
              <a:rPr sz="1200">
                <a:solidFill>
                  <a:schemeClr val="tx1"/>
                </a:solidFill>
                <a:latin typeface="Arial"/>
                <a:ea typeface="Arial"/>
                <a:cs typeface="Arial"/>
              </a:rPr>
              <a:t>very</a:t>
            </a:r>
            <a:r>
              <a:rPr sz="1200">
                <a:solidFill>
                  <a:schemeClr val="tx1"/>
                </a:solidFill>
                <a:latin typeface="Arial"/>
                <a:ea typeface="Arial"/>
                <a:cs typeface="Arial"/>
              </a:rPr>
              <a:t> large.”</a:t>
            </a:r>
          </a:p>
          <a:p xmlns:a="http://schemas.openxmlformats.org/drawingml/2006/main"/>
          <a:p xmlns:a="http://schemas.openxmlformats.org/drawingml/2006/main">
            <a:r>
              <a:rPr sz="1200">
                <a:solidFill>
                  <a:schemeClr val="tx1"/>
                </a:solidFill>
                <a:latin typeface="Arial"/>
                <a:ea typeface="Arial"/>
                <a:cs typeface="Arial"/>
              </a:rPr>
              <a:t>Another</a:t>
            </a:r>
            <a:r>
              <a:rPr sz="1200">
                <a:solidFill>
                  <a:schemeClr val="tx1"/>
                </a:solidFill>
                <a:latin typeface="Arial"/>
                <a:ea typeface="Arial"/>
                <a:cs typeface="Arial"/>
              </a:rPr>
              <a:t> important </a:t>
            </a:r>
            <a:r>
              <a:rPr sz="1200">
                <a:solidFill>
                  <a:schemeClr val="tx1"/>
                </a:solidFill>
                <a:latin typeface="Arial"/>
                <a:ea typeface="Arial"/>
                <a:cs typeface="Arial"/>
              </a:rPr>
              <a:t>idea</a:t>
            </a:r>
            <a:r>
              <a:rPr sz="1200">
                <a:solidFill>
                  <a:schemeClr val="tx1"/>
                </a:solidFill>
                <a:latin typeface="Arial"/>
                <a:ea typeface="Arial"/>
                <a:cs typeface="Arial"/>
              </a:rPr>
              <a:t> </a:t>
            </a:r>
            <a:r>
              <a:rPr sz="1200">
                <a:solidFill>
                  <a:schemeClr val="tx1"/>
                </a:solidFill>
                <a:latin typeface="Arial"/>
                <a:ea typeface="Arial"/>
                <a:cs typeface="Arial"/>
              </a:rPr>
              <a:t>is</a:t>
            </a:r>
            <a:r>
              <a:rPr sz="1200">
                <a:solidFill>
                  <a:schemeClr val="tx1"/>
                </a:solidFill>
                <a:latin typeface="Arial"/>
                <a:ea typeface="Arial"/>
                <a:cs typeface="Arial"/>
              </a:rPr>
              <a:t> to </a:t>
            </a:r>
            <a:r>
              <a:rPr sz="1200">
                <a:solidFill>
                  <a:schemeClr val="tx1"/>
                </a:solidFill>
                <a:latin typeface="Arial"/>
                <a:ea typeface="Arial"/>
                <a:cs typeface="Arial"/>
              </a:rPr>
              <a:t>predict</a:t>
            </a:r>
            <a:r>
              <a:rPr sz="1200">
                <a:solidFill>
                  <a:schemeClr val="tx1"/>
                </a:solidFill>
                <a:latin typeface="Arial"/>
                <a:ea typeface="Arial"/>
                <a:cs typeface="Arial"/>
              </a:rPr>
              <a:t> a </a:t>
            </a:r>
            <a:r>
              <a:rPr sz="1200" b="1">
                <a:solidFill>
                  <a:schemeClr val="tx1"/>
                </a:solidFill>
                <a:latin typeface="Arial"/>
                <a:ea typeface="Arial"/>
                <a:cs typeface="Arial"/>
              </a:rPr>
              <a:t>target</a:t>
            </a:r>
            <a:r>
              <a:rPr sz="1200" b="1">
                <a:solidFill>
                  <a:schemeClr val="tx1"/>
                </a:solidFill>
                <a:latin typeface="Arial"/>
                <a:ea typeface="Arial"/>
                <a:cs typeface="Arial"/>
              </a:rPr>
              <a:t> </a:t>
            </a:r>
            <a:r>
              <a:rPr sz="1200" b="1">
                <a:solidFill>
                  <a:schemeClr val="tx1"/>
                </a:solidFill>
                <a:latin typeface="Arial"/>
                <a:ea typeface="Arial"/>
                <a:cs typeface="Arial"/>
              </a:rPr>
              <a:t>topology</a:t>
            </a:r>
            <a:r>
              <a:rPr sz="1200" b="1">
                <a:solidFill>
                  <a:schemeClr val="tx1"/>
                </a:solidFill>
                <a:latin typeface="Arial"/>
                <a:ea typeface="Arial"/>
                <a:cs typeface="Arial"/>
              </a:rPr>
              <a:t> </a:t>
            </a:r>
            <a:r>
              <a:rPr sz="1200" b="1">
                <a:solidFill>
                  <a:schemeClr val="tx1"/>
                </a:solidFill>
                <a:latin typeface="Arial"/>
                <a:ea typeface="Arial"/>
                <a:cs typeface="Arial"/>
              </a:rPr>
              <a:t>instead</a:t>
            </a:r>
            <a:r>
              <a:rPr sz="1200" b="1">
                <a:solidFill>
                  <a:schemeClr val="tx1"/>
                </a:solidFill>
                <a:latin typeface="Arial"/>
                <a:ea typeface="Arial"/>
                <a:cs typeface="Arial"/>
              </a:rPr>
              <a:t> of </a:t>
            </a:r>
            <a:r>
              <a:rPr sz="1200" b="1">
                <a:solidFill>
                  <a:schemeClr val="tx1"/>
                </a:solidFill>
                <a:latin typeface="Arial"/>
                <a:ea typeface="Arial"/>
                <a:cs typeface="Arial"/>
              </a:rPr>
              <a:t>raw</a:t>
            </a:r>
            <a:r>
              <a:rPr sz="1200" b="1">
                <a:solidFill>
                  <a:schemeClr val="tx1"/>
                </a:solidFill>
                <a:latin typeface="Arial"/>
                <a:ea typeface="Arial"/>
                <a:cs typeface="Arial"/>
              </a:rPr>
              <a:t> actions</a:t>
            </a:r>
            <a:r>
              <a:rPr sz="1200">
                <a:solidFill>
                  <a:schemeClr val="tx1"/>
                </a:solidFill>
                <a:latin typeface="Arial"/>
                <a:ea typeface="Arial"/>
                <a:cs typeface="Arial"/>
              </a:rPr>
              <a:t>.</a:t>
            </a:r>
          </a:p>
          <a:p xmlns:a="http://schemas.openxmlformats.org/drawingml/2006/main"/>
          <a:p xmlns:a="http://schemas.openxmlformats.org/drawingml/2006/main">
            <a:r>
              <a:rPr sz="1200">
                <a:solidFill>
                  <a:schemeClr val="tx1"/>
                </a:solidFill>
                <a:latin typeface="Arial"/>
                <a:ea typeface="Arial"/>
                <a:cs typeface="Arial"/>
              </a:rPr>
              <a:t>This </a:t>
            </a:r>
            <a:r>
              <a:rPr sz="1200">
                <a:solidFill>
                  <a:schemeClr val="tx1"/>
                </a:solidFill>
                <a:latin typeface="Arial"/>
                <a:ea typeface="Arial"/>
                <a:cs typeface="Arial"/>
              </a:rPr>
              <a:t>is</a:t>
            </a:r>
            <a:r>
              <a:rPr sz="1200">
                <a:solidFill>
                  <a:schemeClr val="tx1"/>
                </a:solidFill>
                <a:latin typeface="Arial"/>
                <a:ea typeface="Arial"/>
                <a:cs typeface="Arial"/>
              </a:rPr>
              <a:t> </a:t>
            </a:r>
            <a:r>
              <a:rPr sz="1200">
                <a:solidFill>
                  <a:schemeClr val="tx1"/>
                </a:solidFill>
                <a:latin typeface="Arial"/>
                <a:ea typeface="Arial"/>
                <a:cs typeface="Arial"/>
              </a:rPr>
              <a:t>used</a:t>
            </a:r>
            <a:r>
              <a:rPr sz="1200">
                <a:solidFill>
                  <a:schemeClr val="tx1"/>
                </a:solidFill>
                <a:latin typeface="Arial"/>
                <a:ea typeface="Arial"/>
                <a:cs typeface="Arial"/>
              </a:rPr>
              <a:t> in SMAAC, </a:t>
            </a:r>
            <a:r>
              <a:rPr sz="1200">
                <a:solidFill>
                  <a:schemeClr val="tx1"/>
                </a:solidFill>
                <a:latin typeface="Arial"/>
                <a:ea typeface="Arial"/>
                <a:cs typeface="Arial"/>
              </a:rPr>
              <a:t>where</a:t>
            </a:r>
            <a:r>
              <a:rPr sz="1200">
                <a:solidFill>
                  <a:schemeClr val="tx1"/>
                </a:solidFill>
                <a:latin typeface="Arial"/>
                <a:ea typeface="Arial"/>
                <a:cs typeface="Arial"/>
              </a:rPr>
              <a:t> </a:t>
            </a:r>
            <a:r>
              <a:rPr sz="1200">
                <a:solidFill>
                  <a:schemeClr val="tx1"/>
                </a:solidFill>
                <a:latin typeface="Arial"/>
                <a:ea typeface="Arial"/>
                <a:cs typeface="Arial"/>
              </a:rPr>
              <a:t>the</a:t>
            </a:r>
            <a:r>
              <a:rPr sz="1200">
                <a:solidFill>
                  <a:schemeClr val="tx1"/>
                </a:solidFill>
                <a:latin typeface="Arial"/>
                <a:ea typeface="Arial"/>
                <a:cs typeface="Arial"/>
              </a:rPr>
              <a:t> </a:t>
            </a:r>
            <a:r>
              <a:rPr sz="1200">
                <a:solidFill>
                  <a:schemeClr val="tx1"/>
                </a:solidFill>
                <a:latin typeface="Arial"/>
                <a:ea typeface="Arial"/>
                <a:cs typeface="Arial"/>
              </a:rPr>
              <a:t>agent</a:t>
            </a:r>
            <a:r>
              <a:rPr sz="1200">
                <a:solidFill>
                  <a:schemeClr val="tx1"/>
                </a:solidFill>
                <a:latin typeface="Arial"/>
                <a:ea typeface="Arial"/>
                <a:cs typeface="Arial"/>
              </a:rPr>
              <a:t> </a:t>
            </a:r>
            <a:r>
              <a:rPr sz="1200">
                <a:solidFill>
                  <a:schemeClr val="tx1"/>
                </a:solidFill>
                <a:latin typeface="Arial"/>
                <a:ea typeface="Arial"/>
                <a:cs typeface="Arial"/>
              </a:rPr>
              <a:t>learns</a:t>
            </a:r>
            <a:r>
              <a:rPr sz="1200">
                <a:solidFill>
                  <a:schemeClr val="tx1"/>
                </a:solidFill>
                <a:latin typeface="Arial"/>
                <a:ea typeface="Arial"/>
                <a:cs typeface="Arial"/>
              </a:rPr>
              <a:t> an </a:t>
            </a:r>
            <a:r>
              <a:rPr sz="1200">
                <a:solidFill>
                  <a:schemeClr val="tx1"/>
                </a:solidFill>
                <a:latin typeface="Arial"/>
                <a:ea typeface="Arial"/>
                <a:cs typeface="Arial"/>
              </a:rPr>
              <a:t>afterstate</a:t>
            </a:r>
            <a:r>
              <a:rPr sz="1200">
                <a:solidFill>
                  <a:schemeClr val="tx1"/>
                </a:solidFill>
                <a:latin typeface="Arial"/>
                <a:ea typeface="Arial"/>
                <a:cs typeface="Arial"/>
              </a:rPr>
              <a:t> </a:t>
            </a:r>
            <a:r>
              <a:rPr sz="1200">
                <a:solidFill>
                  <a:schemeClr val="tx1"/>
                </a:solidFill>
                <a:latin typeface="Arial"/>
                <a:ea typeface="Arial"/>
                <a:cs typeface="Arial"/>
              </a:rPr>
              <a:t>representation</a:t>
            </a:r>
            <a:r>
              <a:rPr sz="1200">
                <a:solidFill>
                  <a:schemeClr val="tx1"/>
                </a:solidFill>
                <a:latin typeface="Arial"/>
                <a:ea typeface="Arial"/>
                <a:cs typeface="Arial"/>
              </a:rPr>
              <a:t>—</a:t>
            </a:r>
            <a:r>
              <a:rPr sz="1200">
                <a:solidFill>
                  <a:schemeClr val="tx1"/>
                </a:solidFill>
                <a:latin typeface="Arial"/>
                <a:ea typeface="Arial"/>
                <a:cs typeface="Arial"/>
              </a:rPr>
              <a:t>basically</a:t>
            </a:r>
            <a:r>
              <a:rPr sz="1200">
                <a:solidFill>
                  <a:schemeClr val="tx1"/>
                </a:solidFill>
                <a:latin typeface="Arial"/>
                <a:ea typeface="Arial"/>
                <a:cs typeface="Arial"/>
              </a:rPr>
              <a:t> </a:t>
            </a:r>
            <a:r>
              <a:rPr sz="1200">
                <a:solidFill>
                  <a:schemeClr val="tx1"/>
                </a:solidFill>
                <a:latin typeface="Arial"/>
                <a:ea typeface="Arial"/>
                <a:cs typeface="Arial"/>
              </a:rPr>
              <a:t>the</a:t>
            </a:r>
            <a:r>
              <a:rPr sz="1200">
                <a:solidFill>
                  <a:schemeClr val="tx1"/>
                </a:solidFill>
                <a:latin typeface="Arial"/>
                <a:ea typeface="Arial"/>
                <a:cs typeface="Arial"/>
              </a:rPr>
              <a:t> </a:t>
            </a:r>
            <a:r>
              <a:rPr sz="1200">
                <a:solidFill>
                  <a:schemeClr val="tx1"/>
                </a:solidFill>
                <a:latin typeface="Arial"/>
                <a:ea typeface="Arial"/>
                <a:cs typeface="Arial"/>
              </a:rPr>
              <a:t>resulting</a:t>
            </a:r>
            <a:r>
              <a:rPr sz="1200">
                <a:solidFill>
                  <a:schemeClr val="tx1"/>
                </a:solidFill>
                <a:latin typeface="Arial"/>
                <a:ea typeface="Arial"/>
                <a:cs typeface="Arial"/>
              </a:rPr>
              <a:t> </a:t>
            </a:r>
            <a:r>
              <a:rPr sz="1200">
                <a:solidFill>
                  <a:schemeClr val="tx1"/>
                </a:solidFill>
                <a:latin typeface="Arial"/>
                <a:ea typeface="Arial"/>
                <a:cs typeface="Arial"/>
              </a:rPr>
              <a:t>topology</a:t>
            </a:r>
            <a:r>
              <a:rPr sz="1200">
                <a:solidFill>
                  <a:schemeClr val="tx1"/>
                </a:solidFill>
                <a:latin typeface="Arial"/>
                <a:ea typeface="Arial"/>
                <a:cs typeface="Arial"/>
              </a:rPr>
              <a:t> after an </a:t>
            </a:r>
            <a:r>
              <a:rPr sz="1200">
                <a:solidFill>
                  <a:schemeClr val="tx1"/>
                </a:solidFill>
                <a:latin typeface="Arial"/>
                <a:ea typeface="Arial"/>
                <a:cs typeface="Arial"/>
              </a:rPr>
              <a:t>action</a:t>
            </a:r>
            <a:r>
              <a:rPr sz="1200">
                <a:solidFill>
                  <a:schemeClr val="tx1"/>
                </a:solidFill>
                <a:latin typeface="Arial"/>
                <a:ea typeface="Arial"/>
                <a:cs typeface="Arial"/>
              </a:rPr>
              <a:t>.</a:t>
            </a:r>
          </a:p>
          <a:p xmlns:a="http://schemas.openxmlformats.org/drawingml/2006/main"/>
          <a:p xmlns:a="http://schemas.openxmlformats.org/drawingml/2006/main">
            <a:r>
              <a:rPr sz="1200">
                <a:solidFill>
                  <a:schemeClr val="tx1"/>
                </a:solidFill>
                <a:latin typeface="Arial"/>
                <a:ea typeface="Arial"/>
                <a:cs typeface="Arial"/>
              </a:rPr>
              <a:t>This </a:t>
            </a:r>
            <a:r>
              <a:rPr sz="1200">
                <a:solidFill>
                  <a:schemeClr val="tx1"/>
                </a:solidFill>
                <a:latin typeface="Arial"/>
                <a:ea typeface="Arial"/>
                <a:cs typeface="Arial"/>
              </a:rPr>
              <a:t>helps</a:t>
            </a:r>
            <a:r>
              <a:rPr sz="1200">
                <a:solidFill>
                  <a:schemeClr val="tx1"/>
                </a:solidFill>
                <a:latin typeface="Arial"/>
                <a:ea typeface="Arial"/>
                <a:cs typeface="Arial"/>
              </a:rPr>
              <a:t> </a:t>
            </a:r>
            <a:r>
              <a:rPr sz="1200">
                <a:solidFill>
                  <a:schemeClr val="tx1"/>
                </a:solidFill>
                <a:latin typeface="Arial"/>
                <a:ea typeface="Arial"/>
                <a:cs typeface="Arial"/>
              </a:rPr>
              <a:t>because</a:t>
            </a:r>
            <a:r>
              <a:rPr sz="1200">
                <a:solidFill>
                  <a:schemeClr val="tx1"/>
                </a:solidFill>
                <a:latin typeface="Arial"/>
                <a:ea typeface="Arial"/>
                <a:cs typeface="Arial"/>
              </a:rPr>
              <a:t> multiple </a:t>
            </a:r>
            <a:r>
              <a:rPr sz="1200">
                <a:solidFill>
                  <a:schemeClr val="tx1"/>
                </a:solidFill>
                <a:latin typeface="Arial"/>
                <a:ea typeface="Arial"/>
                <a:cs typeface="Arial"/>
              </a:rPr>
              <a:t>sequences</a:t>
            </a:r>
            <a:r>
              <a:rPr sz="1200">
                <a:solidFill>
                  <a:schemeClr val="tx1"/>
                </a:solidFill>
                <a:latin typeface="Arial"/>
                <a:ea typeface="Arial"/>
                <a:cs typeface="Arial"/>
              </a:rPr>
              <a:t> of actions can lead to the </a:t>
            </a:r>
            <a:r>
              <a:rPr sz="1200">
                <a:solidFill>
                  <a:schemeClr val="tx1"/>
                </a:solidFill>
                <a:latin typeface="Arial"/>
                <a:ea typeface="Arial"/>
                <a:cs typeface="Arial"/>
              </a:rPr>
              <a:t>same</a:t>
            </a:r>
            <a:r>
              <a:rPr sz="1200">
                <a:solidFill>
                  <a:schemeClr val="tx1"/>
                </a:solidFill>
                <a:latin typeface="Arial"/>
                <a:ea typeface="Arial"/>
                <a:cs typeface="Arial"/>
              </a:rPr>
              <a:t> configuration. So </a:t>
            </a:r>
            <a:r>
              <a:rPr sz="1200">
                <a:solidFill>
                  <a:schemeClr val="tx1"/>
                </a:solidFill>
                <a:latin typeface="Arial"/>
                <a:ea typeface="Arial"/>
                <a:cs typeface="Arial"/>
              </a:rPr>
              <a:t>it</a:t>
            </a:r>
            <a:r>
              <a:rPr sz="1200">
                <a:solidFill>
                  <a:schemeClr val="tx1"/>
                </a:solidFill>
                <a:latin typeface="Arial"/>
                <a:ea typeface="Arial"/>
                <a:cs typeface="Arial"/>
              </a:rPr>
              <a:t> </a:t>
            </a:r>
            <a:r>
              <a:rPr sz="1200">
                <a:solidFill>
                  <a:schemeClr val="tx1"/>
                </a:solidFill>
                <a:latin typeface="Arial"/>
                <a:ea typeface="Arial"/>
                <a:cs typeface="Arial"/>
              </a:rPr>
              <a:t>reduces</a:t>
            </a:r>
            <a:r>
              <a:rPr sz="1200">
                <a:solidFill>
                  <a:schemeClr val="tx1"/>
                </a:solidFill>
                <a:latin typeface="Arial"/>
                <a:ea typeface="Arial"/>
                <a:cs typeface="Arial"/>
              </a:rPr>
              <a:t> the action </a:t>
            </a:r>
            <a:r>
              <a:rPr sz="1200">
                <a:solidFill>
                  <a:schemeClr val="tx1"/>
                </a:solidFill>
                <a:latin typeface="Arial"/>
                <a:ea typeface="Arial"/>
                <a:cs typeface="Arial"/>
              </a:rPr>
              <a:t>space</a:t>
            </a:r>
          </a:p>
          <a:p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a:solidFill>
                  <a:schemeClr val="tx1"/>
                </a:solidFill>
                <a:latin typeface="Arial"/>
                <a:ea typeface="Arial"/>
                <a:cs typeface="Arial"/>
              </a:rPr>
              <a:t>To dive a </a:t>
            </a:r>
            <a:r>
              <a:rPr sz="1200">
                <a:solidFill>
                  <a:schemeClr val="tx1"/>
                </a:solidFill>
                <a:latin typeface="Arial"/>
                <a:ea typeface="Arial"/>
                <a:cs typeface="Arial"/>
              </a:rPr>
              <a:t>little</a:t>
            </a:r>
            <a:r>
              <a:rPr sz="1200">
                <a:solidFill>
                  <a:schemeClr val="tx1"/>
                </a:solidFill>
                <a:latin typeface="Arial"/>
                <a:ea typeface="Arial"/>
                <a:cs typeface="Arial"/>
              </a:rPr>
              <a:t> </a:t>
            </a:r>
            <a:r>
              <a:rPr sz="1200">
                <a:solidFill>
                  <a:schemeClr val="tx1"/>
                </a:solidFill>
                <a:latin typeface="Arial"/>
                <a:ea typeface="Arial"/>
                <a:cs typeface="Arial"/>
              </a:rPr>
              <a:t>deeper</a:t>
            </a:r>
            <a:r>
              <a:rPr sz="1200">
                <a:solidFill>
                  <a:schemeClr val="tx1"/>
                </a:solidFill>
                <a:latin typeface="Arial"/>
                <a:ea typeface="Arial"/>
                <a:cs typeface="Arial"/>
              </a:rPr>
              <a:t> i have been </a:t>
            </a:r>
            <a:r>
              <a:rPr sz="1200">
                <a:solidFill>
                  <a:schemeClr val="tx1"/>
                </a:solidFill>
                <a:latin typeface="Arial"/>
                <a:ea typeface="Arial"/>
                <a:cs typeface="Arial"/>
              </a:rPr>
              <a:t>looking</a:t>
            </a:r>
            <a:r>
              <a:rPr sz="1200">
                <a:solidFill>
                  <a:schemeClr val="tx1"/>
                </a:solidFill>
                <a:latin typeface="Arial"/>
                <a:ea typeface="Arial"/>
                <a:cs typeface="Arial"/>
              </a:rPr>
              <a:t> at a </a:t>
            </a:r>
            <a:r>
              <a:rPr sz="1200">
                <a:solidFill>
                  <a:schemeClr val="tx1"/>
                </a:solidFill>
                <a:latin typeface="Arial"/>
                <a:ea typeface="Arial"/>
                <a:cs typeface="Arial"/>
              </a:rPr>
              <a:t>survey</a:t>
            </a:r>
            <a:r>
              <a:rPr sz="1200">
                <a:solidFill>
                  <a:schemeClr val="tx1"/>
                </a:solidFill>
                <a:latin typeface="Arial"/>
                <a:ea typeface="Arial"/>
                <a:cs typeface="Arial"/>
              </a:rPr>
              <a:t> </a:t>
            </a:r>
            <a:r>
              <a:rPr sz="1200">
                <a:solidFill>
                  <a:schemeClr val="tx1"/>
                </a:solidFill>
                <a:latin typeface="Arial"/>
                <a:ea typeface="Arial"/>
                <a:cs typeface="Arial"/>
              </a:rPr>
              <a:t>that</a:t>
            </a:r>
            <a:r>
              <a:rPr sz="1200">
                <a:solidFill>
                  <a:schemeClr val="tx1"/>
                </a:solidFill>
                <a:latin typeface="Arial"/>
                <a:ea typeface="Arial"/>
                <a:cs typeface="Arial"/>
              </a:rPr>
              <a:t> </a:t>
            </a:r>
            <a:r>
              <a:rPr sz="1200">
                <a:solidFill>
                  <a:schemeClr val="tx1"/>
                </a:solidFill>
                <a:latin typeface="Arial"/>
                <a:ea typeface="Arial"/>
                <a:cs typeface="Arial"/>
              </a:rPr>
              <a:t>summarize</a:t>
            </a:r>
            <a:r>
              <a:rPr sz="1200">
                <a:solidFill>
                  <a:schemeClr val="tx1"/>
                </a:solidFill>
                <a:latin typeface="Arial"/>
                <a:ea typeface="Arial"/>
                <a:cs typeface="Arial"/>
              </a:rPr>
              <a:t> all the </a:t>
            </a:r>
            <a:r>
              <a:rPr sz="1200">
                <a:solidFill>
                  <a:schemeClr val="tx1"/>
                </a:solidFill>
                <a:latin typeface="Arial"/>
                <a:ea typeface="Arial"/>
                <a:cs typeface="Arial"/>
              </a:rPr>
              <a:t>algorithms</a:t>
            </a:r>
            <a:r>
              <a:rPr sz="1200">
                <a:solidFill>
                  <a:schemeClr val="tx1"/>
                </a:solidFill>
                <a:latin typeface="Arial"/>
                <a:ea typeface="Arial"/>
                <a:cs typeface="Arial"/>
              </a:rPr>
              <a:t> </a:t>
            </a:r>
            <a:r>
              <a:rPr sz="1200">
                <a:solidFill>
                  <a:schemeClr val="tx1"/>
                </a:solidFill>
                <a:latin typeface="Arial"/>
                <a:ea typeface="Arial"/>
                <a:cs typeface="Arial"/>
              </a:rPr>
              <a:t>that</a:t>
            </a:r>
            <a:r>
              <a:rPr sz="1200">
                <a:solidFill>
                  <a:schemeClr val="tx1"/>
                </a:solidFill>
                <a:latin typeface="Arial"/>
                <a:ea typeface="Arial"/>
                <a:cs typeface="Arial"/>
              </a:rPr>
              <a:t> won the l2rpn challenge and </a:t>
            </a:r>
            <a:r>
              <a:rPr sz="1200">
                <a:solidFill>
                  <a:schemeClr val="tx1"/>
                </a:solidFill>
                <a:latin typeface="Arial"/>
                <a:ea typeface="Arial"/>
                <a:cs typeface="Arial"/>
              </a:rPr>
              <a:t>this</a:t>
            </a:r>
            <a:r>
              <a:rPr sz="1200">
                <a:solidFill>
                  <a:schemeClr val="tx1"/>
                </a:solidFill>
                <a:latin typeface="Arial"/>
                <a:ea typeface="Arial"/>
                <a:cs typeface="Arial"/>
              </a:rPr>
              <a:t> </a:t>
            </a:r>
            <a:r>
              <a:rPr sz="1200">
                <a:solidFill>
                  <a:schemeClr val="tx1"/>
                </a:solidFill>
                <a:latin typeface="Arial"/>
                <a:ea typeface="Arial"/>
                <a:cs typeface="Arial"/>
              </a:rPr>
              <a:t>is</a:t>
            </a:r>
            <a:r>
              <a:rPr sz="1200">
                <a:solidFill>
                  <a:schemeClr val="tx1"/>
                </a:solidFill>
                <a:latin typeface="Arial"/>
                <a:ea typeface="Arial"/>
                <a:cs typeface="Arial"/>
              </a:rPr>
              <a:t> the main </a:t>
            </a:r>
            <a:r>
              <a:rPr sz="1200">
                <a:solidFill>
                  <a:schemeClr val="tx1"/>
                </a:solidFill>
                <a:latin typeface="Arial"/>
                <a:ea typeface="Arial"/>
                <a:cs typeface="Arial"/>
              </a:rPr>
              <a:t>categories</a:t>
            </a:r>
            <a:r>
              <a:rPr sz="1200">
                <a:solidFill>
                  <a:schemeClr val="tx1"/>
                </a:solidFill>
                <a:latin typeface="Arial"/>
                <a:ea typeface="Arial"/>
                <a:cs typeface="Arial"/>
              </a:rPr>
              <a:t> of </a:t>
            </a:r>
            <a:r>
              <a:rPr sz="1200">
                <a:solidFill>
                  <a:schemeClr val="tx1"/>
                </a:solidFill>
                <a:latin typeface="Arial"/>
                <a:ea typeface="Arial"/>
                <a:cs typeface="Arial"/>
              </a:rPr>
              <a:t>succesfull</a:t>
            </a:r>
            <a:r>
              <a:rPr sz="1200">
                <a:solidFill>
                  <a:schemeClr val="tx1"/>
                </a:solidFill>
                <a:latin typeface="Arial"/>
                <a:ea typeface="Arial"/>
                <a:cs typeface="Arial"/>
              </a:rPr>
              <a:t> </a:t>
            </a:r>
            <a:r>
              <a:rPr sz="1200">
                <a:solidFill>
                  <a:schemeClr val="tx1"/>
                </a:solidFill>
                <a:latin typeface="Arial"/>
                <a:ea typeface="Arial"/>
                <a:cs typeface="Arial"/>
              </a:rPr>
              <a:t>agentthat</a:t>
            </a:r>
            <a:r>
              <a:rPr sz="1200">
                <a:solidFill>
                  <a:schemeClr val="tx1"/>
                </a:solidFill>
                <a:latin typeface="Arial"/>
                <a:ea typeface="Arial"/>
                <a:cs typeface="Arial"/>
              </a:rPr>
              <a:t> won the challenge.</a:t>
            </a:r>
          </a:p>
          <a:p xmlns:a="http://schemas.openxmlformats.org/drawingml/2006/main"/>
          <a:p xmlns:a="http://schemas.openxmlformats.org/drawingml/2006/main">
            <a:r>
              <a:rPr sz="1200">
                <a:solidFill>
                  <a:schemeClr val="tx1"/>
                </a:solidFill>
                <a:latin typeface="Arial"/>
                <a:ea typeface="Arial"/>
                <a:cs typeface="Arial"/>
              </a:rPr>
              <a:t>Some</a:t>
            </a:r>
            <a:r>
              <a:rPr sz="1200">
                <a:solidFill>
                  <a:schemeClr val="tx1"/>
                </a:solidFill>
                <a:latin typeface="Arial"/>
                <a:ea typeface="Arial"/>
                <a:cs typeface="Arial"/>
              </a:rPr>
              <a:t> </a:t>
            </a:r>
            <a:r>
              <a:rPr sz="1200">
                <a:solidFill>
                  <a:schemeClr val="tx1"/>
                </a:solidFill>
                <a:latin typeface="Arial"/>
                <a:ea typeface="Arial"/>
                <a:cs typeface="Arial"/>
              </a:rPr>
              <a:t>approaches</a:t>
            </a:r>
            <a:r>
              <a:rPr sz="1200">
                <a:solidFill>
                  <a:schemeClr val="tx1"/>
                </a:solidFill>
                <a:latin typeface="Arial"/>
                <a:ea typeface="Arial"/>
                <a:cs typeface="Arial"/>
              </a:rPr>
              <a:t> </a:t>
            </a:r>
            <a:r>
              <a:rPr sz="1200">
                <a:solidFill>
                  <a:schemeClr val="tx1"/>
                </a:solidFill>
                <a:latin typeface="Arial"/>
                <a:ea typeface="Arial"/>
                <a:cs typeface="Arial"/>
              </a:rPr>
              <a:t>rely</a:t>
            </a:r>
            <a:r>
              <a:rPr sz="1200">
                <a:solidFill>
                  <a:schemeClr val="tx1"/>
                </a:solidFill>
                <a:latin typeface="Arial"/>
                <a:ea typeface="Arial"/>
                <a:cs typeface="Arial"/>
              </a:rPr>
              <a:t> on a single global agent </a:t>
            </a:r>
            <a:r>
              <a:rPr sz="1200">
                <a:solidFill>
                  <a:schemeClr val="tx1"/>
                </a:solidFill>
                <a:latin typeface="Arial"/>
                <a:ea typeface="Arial"/>
                <a:cs typeface="Arial"/>
              </a:rPr>
              <a:t>with</a:t>
            </a:r>
            <a:r>
              <a:rPr sz="1200">
                <a:solidFill>
                  <a:schemeClr val="tx1"/>
                </a:solidFill>
                <a:latin typeface="Arial"/>
                <a:ea typeface="Arial"/>
                <a:cs typeface="Arial"/>
              </a:rPr>
              <a:t> </a:t>
            </a:r>
            <a:r>
              <a:rPr sz="1200">
                <a:solidFill>
                  <a:schemeClr val="tx1"/>
                </a:solidFill>
                <a:latin typeface="Arial"/>
                <a:ea typeface="Arial"/>
                <a:cs typeface="Arial"/>
              </a:rPr>
              <a:t>strong</a:t>
            </a:r>
            <a:r>
              <a:rPr sz="1200">
                <a:solidFill>
                  <a:schemeClr val="tx1"/>
                </a:solidFill>
                <a:latin typeface="Arial"/>
                <a:ea typeface="Arial"/>
                <a:cs typeface="Arial"/>
              </a:rPr>
              <a:t> engineering tricks.</a:t>
            </a:r>
          </a:p>
          <a:p xmlns:a="http://schemas.openxmlformats.org/drawingml/2006/main"/>
          <a:p xmlns:a="http://schemas.openxmlformats.org/drawingml/2006/main">
            <a:r>
              <a:rPr sz="1200">
                <a:solidFill>
                  <a:schemeClr val="tx1"/>
                </a:solidFill>
                <a:latin typeface="Arial"/>
                <a:ea typeface="Arial"/>
                <a:cs typeface="Arial"/>
              </a:rPr>
              <a:t>For </a:t>
            </a:r>
            <a:r>
              <a:rPr sz="1200">
                <a:solidFill>
                  <a:schemeClr val="tx1"/>
                </a:solidFill>
                <a:latin typeface="Arial"/>
                <a:ea typeface="Arial"/>
                <a:cs typeface="Arial"/>
              </a:rPr>
              <a:t>example</a:t>
            </a:r>
            <a:r>
              <a:rPr sz="1200">
                <a:solidFill>
                  <a:schemeClr val="tx1"/>
                </a:solidFill>
                <a:latin typeface="Arial"/>
                <a:ea typeface="Arial"/>
                <a:cs typeface="Arial"/>
              </a:rPr>
              <a:t>, </a:t>
            </a:r>
            <a:r>
              <a:rPr sz="1200">
                <a:solidFill>
                  <a:schemeClr val="tx1"/>
                </a:solidFill>
                <a:latin typeface="Arial"/>
                <a:ea typeface="Arial"/>
                <a:cs typeface="Arial"/>
              </a:rPr>
              <a:t>they</a:t>
            </a:r>
            <a:r>
              <a:rPr sz="1200">
                <a:solidFill>
                  <a:schemeClr val="tx1"/>
                </a:solidFill>
                <a:latin typeface="Arial"/>
                <a:ea typeface="Arial"/>
                <a:cs typeface="Arial"/>
              </a:rPr>
              <a:t> use graph neural networks </a:t>
            </a:r>
            <a:r>
              <a:rPr sz="1200">
                <a:solidFill>
                  <a:schemeClr val="tx1"/>
                </a:solidFill>
                <a:latin typeface="Arial"/>
                <a:ea typeface="Arial"/>
                <a:cs typeface="Arial"/>
              </a:rPr>
              <a:t>combined</a:t>
            </a:r>
            <a:r>
              <a:rPr sz="1200">
                <a:solidFill>
                  <a:schemeClr val="tx1"/>
                </a:solidFill>
                <a:latin typeface="Arial"/>
                <a:ea typeface="Arial"/>
                <a:cs typeface="Arial"/>
              </a:rPr>
              <a:t> </a:t>
            </a:r>
            <a:r>
              <a:rPr sz="1200">
                <a:solidFill>
                  <a:schemeClr val="tx1"/>
                </a:solidFill>
                <a:latin typeface="Arial"/>
                <a:ea typeface="Arial"/>
                <a:cs typeface="Arial"/>
              </a:rPr>
              <a:t>with</a:t>
            </a:r>
            <a:r>
              <a:rPr sz="1200">
                <a:solidFill>
                  <a:schemeClr val="tx1"/>
                </a:solidFill>
                <a:latin typeface="Arial"/>
                <a:ea typeface="Arial"/>
                <a:cs typeface="Arial"/>
              </a:rPr>
              <a:t> value-</a:t>
            </a:r>
            <a:r>
              <a:rPr sz="1200">
                <a:solidFill>
                  <a:schemeClr val="tx1"/>
                </a:solidFill>
                <a:latin typeface="Arial"/>
                <a:ea typeface="Arial"/>
                <a:cs typeface="Arial"/>
              </a:rPr>
              <a:t>based</a:t>
            </a:r>
            <a:r>
              <a:rPr sz="1200">
                <a:solidFill>
                  <a:schemeClr val="tx1"/>
                </a:solidFill>
                <a:latin typeface="Arial"/>
                <a:ea typeface="Arial"/>
                <a:cs typeface="Arial"/>
              </a:rPr>
              <a:t> RL, and </a:t>
            </a:r>
            <a:r>
              <a:rPr sz="1200">
                <a:solidFill>
                  <a:schemeClr val="tx1"/>
                </a:solidFill>
                <a:latin typeface="Arial"/>
                <a:ea typeface="Arial"/>
                <a:cs typeface="Arial"/>
              </a:rPr>
              <a:t>validate</a:t>
            </a:r>
            <a:r>
              <a:rPr sz="1200">
                <a:solidFill>
                  <a:schemeClr val="tx1"/>
                </a:solidFill>
                <a:latin typeface="Arial"/>
                <a:ea typeface="Arial"/>
                <a:cs typeface="Arial"/>
              </a:rPr>
              <a:t> actions </a:t>
            </a:r>
            <a:r>
              <a:rPr sz="1200">
                <a:solidFill>
                  <a:schemeClr val="tx1"/>
                </a:solidFill>
                <a:latin typeface="Arial"/>
                <a:ea typeface="Arial"/>
                <a:cs typeface="Arial"/>
              </a:rPr>
              <a:t>using</a:t>
            </a:r>
            <a:r>
              <a:rPr sz="1200">
                <a:solidFill>
                  <a:schemeClr val="tx1"/>
                </a:solidFill>
                <a:latin typeface="Arial"/>
                <a:ea typeface="Arial"/>
                <a:cs typeface="Arial"/>
              </a:rPr>
              <a:t> power-flow simulations.</a:t>
            </a:r>
          </a:p>
          <a:p xmlns:a="http://schemas.openxmlformats.org/drawingml/2006/main"/>
          <a:p xmlns:a="http://schemas.openxmlformats.org/drawingml/2006/main">
            <a:r>
              <a:rPr sz="1200">
                <a:solidFill>
                  <a:schemeClr val="tx1"/>
                </a:solidFill>
                <a:latin typeface="Arial"/>
                <a:ea typeface="Arial"/>
                <a:cs typeface="Arial"/>
              </a:rPr>
              <a:t>Others</a:t>
            </a:r>
            <a:r>
              <a:rPr sz="1200">
                <a:solidFill>
                  <a:schemeClr val="tx1"/>
                </a:solidFill>
                <a:latin typeface="Arial"/>
                <a:ea typeface="Arial"/>
                <a:cs typeface="Arial"/>
              </a:rPr>
              <a:t> </a:t>
            </a:r>
            <a:r>
              <a:rPr sz="1200">
                <a:solidFill>
                  <a:schemeClr val="tx1"/>
                </a:solidFill>
                <a:latin typeface="Arial"/>
                <a:ea typeface="Arial"/>
                <a:cs typeface="Arial"/>
              </a:rPr>
              <a:t>reduce</a:t>
            </a:r>
            <a:r>
              <a:rPr sz="1200">
                <a:solidFill>
                  <a:schemeClr val="tx1"/>
                </a:solidFill>
                <a:latin typeface="Arial"/>
                <a:ea typeface="Arial"/>
                <a:cs typeface="Arial"/>
              </a:rPr>
              <a:t> the action </a:t>
            </a:r>
            <a:r>
              <a:rPr sz="1200">
                <a:solidFill>
                  <a:schemeClr val="tx1"/>
                </a:solidFill>
                <a:latin typeface="Arial"/>
                <a:ea typeface="Arial"/>
                <a:cs typeface="Arial"/>
              </a:rPr>
              <a:t>space</a:t>
            </a:r>
            <a:r>
              <a:rPr sz="1200">
                <a:solidFill>
                  <a:schemeClr val="tx1"/>
                </a:solidFill>
                <a:latin typeface="Arial"/>
                <a:ea typeface="Arial"/>
                <a:cs typeface="Arial"/>
              </a:rPr>
              <a:t> </a:t>
            </a:r>
            <a:r>
              <a:rPr sz="1200">
                <a:solidFill>
                  <a:schemeClr val="tx1"/>
                </a:solidFill>
                <a:latin typeface="Arial"/>
                <a:ea typeface="Arial"/>
                <a:cs typeface="Arial"/>
              </a:rPr>
              <a:t>using</a:t>
            </a:r>
            <a:r>
              <a:rPr sz="1200">
                <a:solidFill>
                  <a:schemeClr val="tx1"/>
                </a:solidFill>
                <a:latin typeface="Arial"/>
                <a:ea typeface="Arial"/>
                <a:cs typeface="Arial"/>
              </a:rPr>
              <a:t> </a:t>
            </a:r>
            <a:r>
              <a:rPr sz="1200">
                <a:solidFill>
                  <a:schemeClr val="tx1"/>
                </a:solidFill>
                <a:latin typeface="Arial"/>
                <a:ea typeface="Arial"/>
                <a:cs typeface="Arial"/>
              </a:rPr>
              <a:t>masking</a:t>
            </a:r>
            <a:r>
              <a:rPr sz="1200">
                <a:solidFill>
                  <a:schemeClr val="tx1"/>
                </a:solidFill>
                <a:latin typeface="Arial"/>
                <a:ea typeface="Arial"/>
                <a:cs typeface="Arial"/>
              </a:rPr>
              <a:t> or </a:t>
            </a:r>
            <a:r>
              <a:rPr sz="1200">
                <a:solidFill>
                  <a:schemeClr val="tx1"/>
                </a:solidFill>
                <a:latin typeface="Arial"/>
                <a:ea typeface="Arial"/>
                <a:cs typeface="Arial"/>
              </a:rPr>
              <a:t>pruning</a:t>
            </a:r>
            <a:r>
              <a:rPr sz="1200">
                <a:solidFill>
                  <a:schemeClr val="tx1"/>
                </a:solidFill>
                <a:latin typeface="Arial"/>
                <a:ea typeface="Arial"/>
                <a:cs typeface="Arial"/>
              </a:rPr>
              <a:t>.</a:t>
            </a:r>
          </a:p>
          <a:p xmlns:a="http://schemas.openxmlformats.org/drawingml/2006/main"/>
          <a:p xmlns:a="http://schemas.openxmlformats.org/drawingml/2006/main">
            <a:r>
              <a:rPr sz="1200">
                <a:solidFill>
                  <a:schemeClr val="tx1"/>
                </a:solidFill>
                <a:latin typeface="Arial"/>
                <a:ea typeface="Arial"/>
                <a:cs typeface="Arial"/>
              </a:rPr>
              <a:t>These</a:t>
            </a:r>
            <a:r>
              <a:rPr sz="1200">
                <a:solidFill>
                  <a:schemeClr val="tx1"/>
                </a:solidFill>
                <a:latin typeface="Arial"/>
                <a:ea typeface="Arial"/>
                <a:cs typeface="Arial"/>
              </a:rPr>
              <a:t> </a:t>
            </a:r>
            <a:r>
              <a:rPr sz="1200">
                <a:solidFill>
                  <a:schemeClr val="tx1"/>
                </a:solidFill>
                <a:latin typeface="Arial"/>
                <a:ea typeface="Arial"/>
                <a:cs typeface="Arial"/>
              </a:rPr>
              <a:t>methods</a:t>
            </a:r>
            <a:r>
              <a:rPr sz="1200">
                <a:solidFill>
                  <a:schemeClr val="tx1"/>
                </a:solidFill>
                <a:latin typeface="Arial"/>
                <a:ea typeface="Arial"/>
                <a:cs typeface="Arial"/>
              </a:rPr>
              <a:t> can </a:t>
            </a:r>
            <a:r>
              <a:rPr sz="1200">
                <a:solidFill>
                  <a:schemeClr val="tx1"/>
                </a:solidFill>
                <a:latin typeface="Arial"/>
                <a:ea typeface="Arial"/>
                <a:cs typeface="Arial"/>
              </a:rPr>
              <a:t>work</a:t>
            </a:r>
            <a:r>
              <a:rPr sz="1200">
                <a:solidFill>
                  <a:schemeClr val="tx1"/>
                </a:solidFill>
                <a:latin typeface="Arial"/>
                <a:ea typeface="Arial"/>
                <a:cs typeface="Arial"/>
              </a:rPr>
              <a:t>, </a:t>
            </a:r>
            <a:r>
              <a:rPr sz="1200">
                <a:solidFill>
                  <a:schemeClr val="tx1"/>
                </a:solidFill>
                <a:latin typeface="Arial"/>
                <a:ea typeface="Arial"/>
                <a:cs typeface="Arial"/>
              </a:rPr>
              <a:t>so</a:t>
            </a:r>
            <a:r>
              <a:rPr sz="1200">
                <a:solidFill>
                  <a:schemeClr val="tx1"/>
                </a:solidFill>
                <a:latin typeface="Arial"/>
                <a:ea typeface="Arial"/>
                <a:cs typeface="Arial"/>
              </a:rPr>
              <a:t> </a:t>
            </a:r>
            <a:r>
              <a:rPr sz="1200">
                <a:solidFill>
                  <a:schemeClr val="tx1"/>
                </a:solidFill>
                <a:latin typeface="Arial"/>
                <a:ea typeface="Arial"/>
                <a:cs typeface="Arial"/>
              </a:rPr>
              <a:t>mixing</a:t>
            </a:r>
            <a:r>
              <a:rPr sz="1200">
                <a:solidFill>
                  <a:schemeClr val="tx1"/>
                </a:solidFill>
                <a:latin typeface="Arial"/>
                <a:ea typeface="Arial"/>
                <a:cs typeface="Arial"/>
              </a:rPr>
              <a:t> a single agent </a:t>
            </a:r>
            <a:r>
              <a:rPr sz="1200">
                <a:solidFill>
                  <a:schemeClr val="tx1"/>
                </a:solidFill>
                <a:latin typeface="Arial"/>
                <a:ea typeface="Arial"/>
                <a:cs typeface="Arial"/>
              </a:rPr>
              <a:t>with</a:t>
            </a:r>
            <a:r>
              <a:rPr sz="1200">
                <a:solidFill>
                  <a:schemeClr val="tx1"/>
                </a:solidFill>
                <a:latin typeface="Arial"/>
                <a:ea typeface="Arial"/>
                <a:cs typeface="Arial"/>
              </a:rPr>
              <a:t> </a:t>
            </a:r>
            <a:r>
              <a:rPr sz="1200">
                <a:solidFill>
                  <a:schemeClr val="tx1"/>
                </a:solidFill>
                <a:latin typeface="Arial"/>
                <a:ea typeface="Arial"/>
                <a:cs typeface="Arial"/>
              </a:rPr>
              <a:t>rules</a:t>
            </a:r>
            <a:r>
              <a:rPr sz="1200">
                <a:solidFill>
                  <a:schemeClr val="tx1"/>
                </a:solidFill>
                <a:latin typeface="Arial"/>
                <a:ea typeface="Arial"/>
                <a:cs typeface="Arial"/>
              </a:rPr>
              <a:t>, but </a:t>
            </a:r>
            <a:r>
              <a:rPr sz="1200">
                <a:solidFill>
                  <a:schemeClr val="tx1"/>
                </a:solidFill>
                <a:latin typeface="Arial"/>
                <a:ea typeface="Arial"/>
                <a:cs typeface="Arial"/>
              </a:rPr>
              <a:t>they</a:t>
            </a:r>
            <a:r>
              <a:rPr sz="1200">
                <a:solidFill>
                  <a:schemeClr val="tx1"/>
                </a:solidFill>
                <a:latin typeface="Arial"/>
                <a:ea typeface="Arial"/>
                <a:cs typeface="Arial"/>
              </a:rPr>
              <a:t> </a:t>
            </a:r>
            <a:r>
              <a:rPr sz="1200">
                <a:solidFill>
                  <a:schemeClr val="tx1"/>
                </a:solidFill>
                <a:latin typeface="Arial"/>
                <a:ea typeface="Arial"/>
                <a:cs typeface="Arial"/>
              </a:rPr>
              <a:t>suffer</a:t>
            </a:r>
            <a:r>
              <a:rPr sz="1200">
                <a:solidFill>
                  <a:schemeClr val="tx1"/>
                </a:solidFill>
                <a:latin typeface="Arial"/>
                <a:ea typeface="Arial"/>
                <a:cs typeface="Arial"/>
              </a:rPr>
              <a:t> </a:t>
            </a:r>
            <a:r>
              <a:rPr sz="1200">
                <a:solidFill>
                  <a:schemeClr val="tx1"/>
                </a:solidFill>
                <a:latin typeface="Arial"/>
                <a:ea typeface="Arial"/>
                <a:cs typeface="Arial"/>
              </a:rPr>
              <a:t>because</a:t>
            </a:r>
            <a:r>
              <a:rPr sz="1200">
                <a:solidFill>
                  <a:schemeClr val="tx1"/>
                </a:solidFill>
                <a:latin typeface="Arial"/>
                <a:ea typeface="Arial"/>
                <a:cs typeface="Arial"/>
              </a:rPr>
              <a:t> the action </a:t>
            </a:r>
            <a:r>
              <a:rPr sz="1200">
                <a:solidFill>
                  <a:schemeClr val="tx1"/>
                </a:solidFill>
                <a:latin typeface="Arial"/>
                <a:ea typeface="Arial"/>
                <a:cs typeface="Arial"/>
              </a:rPr>
              <a:t>space</a:t>
            </a:r>
            <a:r>
              <a:rPr sz="1200">
                <a:solidFill>
                  <a:schemeClr val="tx1"/>
                </a:solidFill>
                <a:latin typeface="Arial"/>
                <a:ea typeface="Arial"/>
                <a:cs typeface="Arial"/>
              </a:rPr>
              <a:t> </a:t>
            </a:r>
            <a:r>
              <a:rPr sz="1200">
                <a:solidFill>
                  <a:schemeClr val="tx1"/>
                </a:solidFill>
                <a:latin typeface="Arial"/>
                <a:ea typeface="Arial"/>
                <a:cs typeface="Arial"/>
              </a:rPr>
              <a:t>remains</a:t>
            </a:r>
            <a:r>
              <a:rPr sz="1200">
                <a:solidFill>
                  <a:schemeClr val="tx1"/>
                </a:solidFill>
                <a:latin typeface="Arial"/>
                <a:ea typeface="Arial"/>
                <a:cs typeface="Arial"/>
              </a:rPr>
              <a:t> </a:t>
            </a:r>
            <a:r>
              <a:rPr sz="1200">
                <a:solidFill>
                  <a:schemeClr val="tx1"/>
                </a:solidFill>
                <a:latin typeface="Arial"/>
                <a:ea typeface="Arial"/>
                <a:cs typeface="Arial"/>
              </a:rPr>
              <a:t>very</a:t>
            </a:r>
            <a:r>
              <a:rPr sz="1200">
                <a:solidFill>
                  <a:schemeClr val="tx1"/>
                </a:solidFill>
                <a:latin typeface="Arial"/>
                <a:ea typeface="Arial"/>
                <a:cs typeface="Arial"/>
              </a:rPr>
              <a:t> large.”</a:t>
            </a:r>
          </a:p>
          <a:p xmlns:a="http://schemas.openxmlformats.org/drawingml/2006/main"/>
          <a:p xmlns:a="http://schemas.openxmlformats.org/drawingml/2006/main">
            <a:r>
              <a:rPr sz="1200">
                <a:solidFill>
                  <a:schemeClr val="tx1"/>
                </a:solidFill>
                <a:latin typeface="Arial"/>
                <a:ea typeface="Arial"/>
                <a:cs typeface="Arial"/>
              </a:rPr>
              <a:t>Another</a:t>
            </a:r>
            <a:r>
              <a:rPr sz="1200">
                <a:solidFill>
                  <a:schemeClr val="tx1"/>
                </a:solidFill>
                <a:latin typeface="Arial"/>
                <a:ea typeface="Arial"/>
                <a:cs typeface="Arial"/>
              </a:rPr>
              <a:t> important </a:t>
            </a:r>
            <a:r>
              <a:rPr sz="1200">
                <a:solidFill>
                  <a:schemeClr val="tx1"/>
                </a:solidFill>
                <a:latin typeface="Arial"/>
                <a:ea typeface="Arial"/>
                <a:cs typeface="Arial"/>
              </a:rPr>
              <a:t>idea</a:t>
            </a:r>
            <a:r>
              <a:rPr sz="1200">
                <a:solidFill>
                  <a:schemeClr val="tx1"/>
                </a:solidFill>
                <a:latin typeface="Arial"/>
                <a:ea typeface="Arial"/>
                <a:cs typeface="Arial"/>
              </a:rPr>
              <a:t> </a:t>
            </a:r>
            <a:r>
              <a:rPr sz="1200">
                <a:solidFill>
                  <a:schemeClr val="tx1"/>
                </a:solidFill>
                <a:latin typeface="Arial"/>
                <a:ea typeface="Arial"/>
                <a:cs typeface="Arial"/>
              </a:rPr>
              <a:t>is</a:t>
            </a:r>
            <a:r>
              <a:rPr sz="1200">
                <a:solidFill>
                  <a:schemeClr val="tx1"/>
                </a:solidFill>
                <a:latin typeface="Arial"/>
                <a:ea typeface="Arial"/>
                <a:cs typeface="Arial"/>
              </a:rPr>
              <a:t> to </a:t>
            </a:r>
            <a:r>
              <a:rPr sz="1200">
                <a:solidFill>
                  <a:schemeClr val="tx1"/>
                </a:solidFill>
                <a:latin typeface="Arial"/>
                <a:ea typeface="Arial"/>
                <a:cs typeface="Arial"/>
              </a:rPr>
              <a:t>predict</a:t>
            </a:r>
            <a:r>
              <a:rPr sz="1200">
                <a:solidFill>
                  <a:schemeClr val="tx1"/>
                </a:solidFill>
                <a:latin typeface="Arial"/>
                <a:ea typeface="Arial"/>
                <a:cs typeface="Arial"/>
              </a:rPr>
              <a:t> a </a:t>
            </a:r>
            <a:r>
              <a:rPr sz="1200" b="1">
                <a:solidFill>
                  <a:schemeClr val="tx1"/>
                </a:solidFill>
                <a:latin typeface="Arial"/>
                <a:ea typeface="Arial"/>
                <a:cs typeface="Arial"/>
              </a:rPr>
              <a:t>target</a:t>
            </a:r>
            <a:r>
              <a:rPr sz="1200" b="1">
                <a:solidFill>
                  <a:schemeClr val="tx1"/>
                </a:solidFill>
                <a:latin typeface="Arial"/>
                <a:ea typeface="Arial"/>
                <a:cs typeface="Arial"/>
              </a:rPr>
              <a:t> </a:t>
            </a:r>
            <a:r>
              <a:rPr sz="1200" b="1">
                <a:solidFill>
                  <a:schemeClr val="tx1"/>
                </a:solidFill>
                <a:latin typeface="Arial"/>
                <a:ea typeface="Arial"/>
                <a:cs typeface="Arial"/>
              </a:rPr>
              <a:t>topology</a:t>
            </a:r>
            <a:r>
              <a:rPr sz="1200" b="1">
                <a:solidFill>
                  <a:schemeClr val="tx1"/>
                </a:solidFill>
                <a:latin typeface="Arial"/>
                <a:ea typeface="Arial"/>
                <a:cs typeface="Arial"/>
              </a:rPr>
              <a:t> </a:t>
            </a:r>
            <a:r>
              <a:rPr sz="1200" b="1">
                <a:solidFill>
                  <a:schemeClr val="tx1"/>
                </a:solidFill>
                <a:latin typeface="Arial"/>
                <a:ea typeface="Arial"/>
                <a:cs typeface="Arial"/>
              </a:rPr>
              <a:t>instead</a:t>
            </a:r>
            <a:r>
              <a:rPr sz="1200" b="1">
                <a:solidFill>
                  <a:schemeClr val="tx1"/>
                </a:solidFill>
                <a:latin typeface="Arial"/>
                <a:ea typeface="Arial"/>
                <a:cs typeface="Arial"/>
              </a:rPr>
              <a:t> of </a:t>
            </a:r>
            <a:r>
              <a:rPr sz="1200" b="1">
                <a:solidFill>
                  <a:schemeClr val="tx1"/>
                </a:solidFill>
                <a:latin typeface="Arial"/>
                <a:ea typeface="Arial"/>
                <a:cs typeface="Arial"/>
              </a:rPr>
              <a:t>raw</a:t>
            </a:r>
            <a:r>
              <a:rPr sz="1200" b="1">
                <a:solidFill>
                  <a:schemeClr val="tx1"/>
                </a:solidFill>
                <a:latin typeface="Arial"/>
                <a:ea typeface="Arial"/>
                <a:cs typeface="Arial"/>
              </a:rPr>
              <a:t> actions</a:t>
            </a:r>
            <a:r>
              <a:rPr sz="1200">
                <a:solidFill>
                  <a:schemeClr val="tx1"/>
                </a:solidFill>
                <a:latin typeface="Arial"/>
                <a:ea typeface="Arial"/>
                <a:cs typeface="Arial"/>
              </a:rPr>
              <a:t>.</a:t>
            </a:r>
          </a:p>
          <a:p xmlns:a="http://schemas.openxmlformats.org/drawingml/2006/main"/>
          <a:p xmlns:a="http://schemas.openxmlformats.org/drawingml/2006/main">
            <a:r>
              <a:rPr sz="1200">
                <a:solidFill>
                  <a:schemeClr val="tx1"/>
                </a:solidFill>
                <a:latin typeface="Arial"/>
                <a:ea typeface="Arial"/>
                <a:cs typeface="Arial"/>
              </a:rPr>
              <a:t>This </a:t>
            </a:r>
            <a:r>
              <a:rPr sz="1200">
                <a:solidFill>
                  <a:schemeClr val="tx1"/>
                </a:solidFill>
                <a:latin typeface="Arial"/>
                <a:ea typeface="Arial"/>
                <a:cs typeface="Arial"/>
              </a:rPr>
              <a:t>is</a:t>
            </a:r>
            <a:r>
              <a:rPr sz="1200">
                <a:solidFill>
                  <a:schemeClr val="tx1"/>
                </a:solidFill>
                <a:latin typeface="Arial"/>
                <a:ea typeface="Arial"/>
                <a:cs typeface="Arial"/>
              </a:rPr>
              <a:t> </a:t>
            </a:r>
            <a:r>
              <a:rPr sz="1200">
                <a:solidFill>
                  <a:schemeClr val="tx1"/>
                </a:solidFill>
                <a:latin typeface="Arial"/>
                <a:ea typeface="Arial"/>
                <a:cs typeface="Arial"/>
              </a:rPr>
              <a:t>used</a:t>
            </a:r>
            <a:r>
              <a:rPr sz="1200">
                <a:solidFill>
                  <a:schemeClr val="tx1"/>
                </a:solidFill>
                <a:latin typeface="Arial"/>
                <a:ea typeface="Arial"/>
                <a:cs typeface="Arial"/>
              </a:rPr>
              <a:t> in SMAAC, </a:t>
            </a:r>
            <a:r>
              <a:rPr sz="1200">
                <a:solidFill>
                  <a:schemeClr val="tx1"/>
                </a:solidFill>
                <a:latin typeface="Arial"/>
                <a:ea typeface="Arial"/>
                <a:cs typeface="Arial"/>
              </a:rPr>
              <a:t>where</a:t>
            </a:r>
            <a:r>
              <a:rPr sz="1200">
                <a:solidFill>
                  <a:schemeClr val="tx1"/>
                </a:solidFill>
                <a:latin typeface="Arial"/>
                <a:ea typeface="Arial"/>
                <a:cs typeface="Arial"/>
              </a:rPr>
              <a:t> </a:t>
            </a:r>
            <a:r>
              <a:rPr sz="1200">
                <a:solidFill>
                  <a:schemeClr val="tx1"/>
                </a:solidFill>
                <a:latin typeface="Arial"/>
                <a:ea typeface="Arial"/>
                <a:cs typeface="Arial"/>
              </a:rPr>
              <a:t>the</a:t>
            </a:r>
            <a:r>
              <a:rPr sz="1200">
                <a:solidFill>
                  <a:schemeClr val="tx1"/>
                </a:solidFill>
                <a:latin typeface="Arial"/>
                <a:ea typeface="Arial"/>
                <a:cs typeface="Arial"/>
              </a:rPr>
              <a:t> </a:t>
            </a:r>
            <a:r>
              <a:rPr sz="1200">
                <a:solidFill>
                  <a:schemeClr val="tx1"/>
                </a:solidFill>
                <a:latin typeface="Arial"/>
                <a:ea typeface="Arial"/>
                <a:cs typeface="Arial"/>
              </a:rPr>
              <a:t>agent</a:t>
            </a:r>
            <a:r>
              <a:rPr sz="1200">
                <a:solidFill>
                  <a:schemeClr val="tx1"/>
                </a:solidFill>
                <a:latin typeface="Arial"/>
                <a:ea typeface="Arial"/>
                <a:cs typeface="Arial"/>
              </a:rPr>
              <a:t> </a:t>
            </a:r>
            <a:r>
              <a:rPr sz="1200">
                <a:solidFill>
                  <a:schemeClr val="tx1"/>
                </a:solidFill>
                <a:latin typeface="Arial"/>
                <a:ea typeface="Arial"/>
                <a:cs typeface="Arial"/>
              </a:rPr>
              <a:t>learns</a:t>
            </a:r>
            <a:r>
              <a:rPr sz="1200">
                <a:solidFill>
                  <a:schemeClr val="tx1"/>
                </a:solidFill>
                <a:latin typeface="Arial"/>
                <a:ea typeface="Arial"/>
                <a:cs typeface="Arial"/>
              </a:rPr>
              <a:t> an </a:t>
            </a:r>
            <a:r>
              <a:rPr sz="1200">
                <a:solidFill>
                  <a:schemeClr val="tx1"/>
                </a:solidFill>
                <a:latin typeface="Arial"/>
                <a:ea typeface="Arial"/>
                <a:cs typeface="Arial"/>
              </a:rPr>
              <a:t>afterstate</a:t>
            </a:r>
            <a:r>
              <a:rPr sz="1200">
                <a:solidFill>
                  <a:schemeClr val="tx1"/>
                </a:solidFill>
                <a:latin typeface="Arial"/>
                <a:ea typeface="Arial"/>
                <a:cs typeface="Arial"/>
              </a:rPr>
              <a:t> </a:t>
            </a:r>
            <a:r>
              <a:rPr sz="1200">
                <a:solidFill>
                  <a:schemeClr val="tx1"/>
                </a:solidFill>
                <a:latin typeface="Arial"/>
                <a:ea typeface="Arial"/>
                <a:cs typeface="Arial"/>
              </a:rPr>
              <a:t>representation</a:t>
            </a:r>
            <a:r>
              <a:rPr sz="1200">
                <a:solidFill>
                  <a:schemeClr val="tx1"/>
                </a:solidFill>
                <a:latin typeface="Arial"/>
                <a:ea typeface="Arial"/>
                <a:cs typeface="Arial"/>
              </a:rPr>
              <a:t>—</a:t>
            </a:r>
            <a:r>
              <a:rPr sz="1200">
                <a:solidFill>
                  <a:schemeClr val="tx1"/>
                </a:solidFill>
                <a:latin typeface="Arial"/>
                <a:ea typeface="Arial"/>
                <a:cs typeface="Arial"/>
              </a:rPr>
              <a:t>basically</a:t>
            </a:r>
            <a:r>
              <a:rPr sz="1200">
                <a:solidFill>
                  <a:schemeClr val="tx1"/>
                </a:solidFill>
                <a:latin typeface="Arial"/>
                <a:ea typeface="Arial"/>
                <a:cs typeface="Arial"/>
              </a:rPr>
              <a:t> </a:t>
            </a:r>
            <a:r>
              <a:rPr sz="1200">
                <a:solidFill>
                  <a:schemeClr val="tx1"/>
                </a:solidFill>
                <a:latin typeface="Arial"/>
                <a:ea typeface="Arial"/>
                <a:cs typeface="Arial"/>
              </a:rPr>
              <a:t>the</a:t>
            </a:r>
            <a:r>
              <a:rPr sz="1200">
                <a:solidFill>
                  <a:schemeClr val="tx1"/>
                </a:solidFill>
                <a:latin typeface="Arial"/>
                <a:ea typeface="Arial"/>
                <a:cs typeface="Arial"/>
              </a:rPr>
              <a:t> </a:t>
            </a:r>
            <a:r>
              <a:rPr sz="1200">
                <a:solidFill>
                  <a:schemeClr val="tx1"/>
                </a:solidFill>
                <a:latin typeface="Arial"/>
                <a:ea typeface="Arial"/>
                <a:cs typeface="Arial"/>
              </a:rPr>
              <a:t>resulting</a:t>
            </a:r>
            <a:r>
              <a:rPr sz="1200">
                <a:solidFill>
                  <a:schemeClr val="tx1"/>
                </a:solidFill>
                <a:latin typeface="Arial"/>
                <a:ea typeface="Arial"/>
                <a:cs typeface="Arial"/>
              </a:rPr>
              <a:t> </a:t>
            </a:r>
            <a:r>
              <a:rPr sz="1200">
                <a:solidFill>
                  <a:schemeClr val="tx1"/>
                </a:solidFill>
                <a:latin typeface="Arial"/>
                <a:ea typeface="Arial"/>
                <a:cs typeface="Arial"/>
              </a:rPr>
              <a:t>topology</a:t>
            </a:r>
            <a:r>
              <a:rPr sz="1200">
                <a:solidFill>
                  <a:schemeClr val="tx1"/>
                </a:solidFill>
                <a:latin typeface="Arial"/>
                <a:ea typeface="Arial"/>
                <a:cs typeface="Arial"/>
              </a:rPr>
              <a:t> after an </a:t>
            </a:r>
            <a:r>
              <a:rPr sz="1200">
                <a:solidFill>
                  <a:schemeClr val="tx1"/>
                </a:solidFill>
                <a:latin typeface="Arial"/>
                <a:ea typeface="Arial"/>
                <a:cs typeface="Arial"/>
              </a:rPr>
              <a:t>action</a:t>
            </a:r>
            <a:r>
              <a:rPr sz="1200">
                <a:solidFill>
                  <a:schemeClr val="tx1"/>
                </a:solidFill>
                <a:latin typeface="Arial"/>
                <a:ea typeface="Arial"/>
                <a:cs typeface="Arial"/>
              </a:rPr>
              <a:t>.</a:t>
            </a:r>
          </a:p>
          <a:p xmlns:a="http://schemas.openxmlformats.org/drawingml/2006/main"/>
          <a:p xmlns:a="http://schemas.openxmlformats.org/drawingml/2006/main">
            <a:r>
              <a:rPr sz="1200">
                <a:solidFill>
                  <a:schemeClr val="tx1"/>
                </a:solidFill>
                <a:latin typeface="Arial"/>
                <a:ea typeface="Arial"/>
                <a:cs typeface="Arial"/>
              </a:rPr>
              <a:t>This </a:t>
            </a:r>
            <a:r>
              <a:rPr sz="1200">
                <a:solidFill>
                  <a:schemeClr val="tx1"/>
                </a:solidFill>
                <a:latin typeface="Arial"/>
                <a:ea typeface="Arial"/>
                <a:cs typeface="Arial"/>
              </a:rPr>
              <a:t>helps</a:t>
            </a:r>
            <a:r>
              <a:rPr sz="1200">
                <a:solidFill>
                  <a:schemeClr val="tx1"/>
                </a:solidFill>
                <a:latin typeface="Arial"/>
                <a:ea typeface="Arial"/>
                <a:cs typeface="Arial"/>
              </a:rPr>
              <a:t> </a:t>
            </a:r>
            <a:r>
              <a:rPr sz="1200">
                <a:solidFill>
                  <a:schemeClr val="tx1"/>
                </a:solidFill>
                <a:latin typeface="Arial"/>
                <a:ea typeface="Arial"/>
                <a:cs typeface="Arial"/>
              </a:rPr>
              <a:t>because</a:t>
            </a:r>
            <a:r>
              <a:rPr sz="1200">
                <a:solidFill>
                  <a:schemeClr val="tx1"/>
                </a:solidFill>
                <a:latin typeface="Arial"/>
                <a:ea typeface="Arial"/>
                <a:cs typeface="Arial"/>
              </a:rPr>
              <a:t> multiple </a:t>
            </a:r>
            <a:r>
              <a:rPr sz="1200">
                <a:solidFill>
                  <a:schemeClr val="tx1"/>
                </a:solidFill>
                <a:latin typeface="Arial"/>
                <a:ea typeface="Arial"/>
                <a:cs typeface="Arial"/>
              </a:rPr>
              <a:t>sequences</a:t>
            </a:r>
            <a:r>
              <a:rPr sz="1200">
                <a:solidFill>
                  <a:schemeClr val="tx1"/>
                </a:solidFill>
                <a:latin typeface="Arial"/>
                <a:ea typeface="Arial"/>
                <a:cs typeface="Arial"/>
              </a:rPr>
              <a:t> of actions can lead to the </a:t>
            </a:r>
            <a:r>
              <a:rPr sz="1200">
                <a:solidFill>
                  <a:schemeClr val="tx1"/>
                </a:solidFill>
                <a:latin typeface="Arial"/>
                <a:ea typeface="Arial"/>
                <a:cs typeface="Arial"/>
              </a:rPr>
              <a:t>same</a:t>
            </a:r>
            <a:r>
              <a:rPr sz="1200">
                <a:solidFill>
                  <a:schemeClr val="tx1"/>
                </a:solidFill>
                <a:latin typeface="Arial"/>
                <a:ea typeface="Arial"/>
                <a:cs typeface="Arial"/>
              </a:rPr>
              <a:t> configuration. So </a:t>
            </a:r>
            <a:r>
              <a:rPr sz="1200">
                <a:solidFill>
                  <a:schemeClr val="tx1"/>
                </a:solidFill>
                <a:latin typeface="Arial"/>
                <a:ea typeface="Arial"/>
                <a:cs typeface="Arial"/>
              </a:rPr>
              <a:t>it</a:t>
            </a:r>
            <a:r>
              <a:rPr sz="1200">
                <a:solidFill>
                  <a:schemeClr val="tx1"/>
                </a:solidFill>
                <a:latin typeface="Arial"/>
                <a:ea typeface="Arial"/>
                <a:cs typeface="Arial"/>
              </a:rPr>
              <a:t> </a:t>
            </a:r>
            <a:r>
              <a:rPr sz="1200">
                <a:solidFill>
                  <a:schemeClr val="tx1"/>
                </a:solidFill>
                <a:latin typeface="Arial"/>
                <a:ea typeface="Arial"/>
                <a:cs typeface="Arial"/>
              </a:rPr>
              <a:t>reduces</a:t>
            </a:r>
            <a:r>
              <a:rPr sz="1200">
                <a:solidFill>
                  <a:schemeClr val="tx1"/>
                </a:solidFill>
                <a:latin typeface="Arial"/>
                <a:ea typeface="Arial"/>
                <a:cs typeface="Arial"/>
              </a:rPr>
              <a:t> the action </a:t>
            </a:r>
            <a:r>
              <a:rPr sz="1200">
                <a:solidFill>
                  <a:schemeClr val="tx1"/>
                </a:solidFill>
                <a:latin typeface="Arial"/>
                <a:ea typeface="Arial"/>
                <a:cs typeface="Arial"/>
              </a:rPr>
              <a:t>space</a:t>
            </a:r>
          </a:p>
          <a:p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a:solidFill>
                  <a:schemeClr val="tx1"/>
                </a:solidFill>
                <a:latin typeface="Arial"/>
                <a:ea typeface="Arial"/>
                <a:cs typeface="Arial"/>
              </a:rPr>
              <a:t>To dive a </a:t>
            </a:r>
            <a:r>
              <a:rPr sz="1200">
                <a:solidFill>
                  <a:schemeClr val="tx1"/>
                </a:solidFill>
                <a:latin typeface="Arial"/>
                <a:ea typeface="Arial"/>
                <a:cs typeface="Arial"/>
              </a:rPr>
              <a:t>little</a:t>
            </a:r>
            <a:r>
              <a:rPr sz="1200">
                <a:solidFill>
                  <a:schemeClr val="tx1"/>
                </a:solidFill>
                <a:latin typeface="Arial"/>
                <a:ea typeface="Arial"/>
                <a:cs typeface="Arial"/>
              </a:rPr>
              <a:t> </a:t>
            </a:r>
            <a:r>
              <a:rPr sz="1200">
                <a:solidFill>
                  <a:schemeClr val="tx1"/>
                </a:solidFill>
                <a:latin typeface="Arial"/>
                <a:ea typeface="Arial"/>
                <a:cs typeface="Arial"/>
              </a:rPr>
              <a:t>deeper</a:t>
            </a:r>
            <a:r>
              <a:rPr sz="1200">
                <a:solidFill>
                  <a:schemeClr val="tx1"/>
                </a:solidFill>
                <a:latin typeface="Arial"/>
                <a:ea typeface="Arial"/>
                <a:cs typeface="Arial"/>
              </a:rPr>
              <a:t> i have been </a:t>
            </a:r>
            <a:r>
              <a:rPr sz="1200">
                <a:solidFill>
                  <a:schemeClr val="tx1"/>
                </a:solidFill>
                <a:latin typeface="Arial"/>
                <a:ea typeface="Arial"/>
                <a:cs typeface="Arial"/>
              </a:rPr>
              <a:t>looking</a:t>
            </a:r>
            <a:r>
              <a:rPr sz="1200">
                <a:solidFill>
                  <a:schemeClr val="tx1"/>
                </a:solidFill>
                <a:latin typeface="Arial"/>
                <a:ea typeface="Arial"/>
                <a:cs typeface="Arial"/>
              </a:rPr>
              <a:t> at a </a:t>
            </a:r>
            <a:r>
              <a:rPr sz="1200">
                <a:solidFill>
                  <a:schemeClr val="tx1"/>
                </a:solidFill>
                <a:latin typeface="Arial"/>
                <a:ea typeface="Arial"/>
                <a:cs typeface="Arial"/>
              </a:rPr>
              <a:t>survey</a:t>
            </a:r>
            <a:r>
              <a:rPr sz="1200">
                <a:solidFill>
                  <a:schemeClr val="tx1"/>
                </a:solidFill>
                <a:latin typeface="Arial"/>
                <a:ea typeface="Arial"/>
                <a:cs typeface="Arial"/>
              </a:rPr>
              <a:t> </a:t>
            </a:r>
            <a:r>
              <a:rPr sz="1200">
                <a:solidFill>
                  <a:schemeClr val="tx1"/>
                </a:solidFill>
                <a:latin typeface="Arial"/>
                <a:ea typeface="Arial"/>
                <a:cs typeface="Arial"/>
              </a:rPr>
              <a:t>that</a:t>
            </a:r>
            <a:r>
              <a:rPr sz="1200">
                <a:solidFill>
                  <a:schemeClr val="tx1"/>
                </a:solidFill>
                <a:latin typeface="Arial"/>
                <a:ea typeface="Arial"/>
                <a:cs typeface="Arial"/>
              </a:rPr>
              <a:t> </a:t>
            </a:r>
            <a:r>
              <a:rPr sz="1200">
                <a:solidFill>
                  <a:schemeClr val="tx1"/>
                </a:solidFill>
                <a:latin typeface="Arial"/>
                <a:ea typeface="Arial"/>
                <a:cs typeface="Arial"/>
              </a:rPr>
              <a:t>summarize</a:t>
            </a:r>
            <a:r>
              <a:rPr sz="1200">
                <a:solidFill>
                  <a:schemeClr val="tx1"/>
                </a:solidFill>
                <a:latin typeface="Arial"/>
                <a:ea typeface="Arial"/>
                <a:cs typeface="Arial"/>
              </a:rPr>
              <a:t> all the </a:t>
            </a:r>
            <a:r>
              <a:rPr sz="1200">
                <a:solidFill>
                  <a:schemeClr val="tx1"/>
                </a:solidFill>
                <a:latin typeface="Arial"/>
                <a:ea typeface="Arial"/>
                <a:cs typeface="Arial"/>
              </a:rPr>
              <a:t>algorithms</a:t>
            </a:r>
            <a:r>
              <a:rPr sz="1200">
                <a:solidFill>
                  <a:schemeClr val="tx1"/>
                </a:solidFill>
                <a:latin typeface="Arial"/>
                <a:ea typeface="Arial"/>
                <a:cs typeface="Arial"/>
              </a:rPr>
              <a:t> </a:t>
            </a:r>
            <a:r>
              <a:rPr sz="1200">
                <a:solidFill>
                  <a:schemeClr val="tx1"/>
                </a:solidFill>
                <a:latin typeface="Arial"/>
                <a:ea typeface="Arial"/>
                <a:cs typeface="Arial"/>
              </a:rPr>
              <a:t>that</a:t>
            </a:r>
            <a:r>
              <a:rPr sz="1200">
                <a:solidFill>
                  <a:schemeClr val="tx1"/>
                </a:solidFill>
                <a:latin typeface="Arial"/>
                <a:ea typeface="Arial"/>
                <a:cs typeface="Arial"/>
              </a:rPr>
              <a:t> won the l2rpn challenge and </a:t>
            </a:r>
            <a:r>
              <a:rPr sz="1200">
                <a:solidFill>
                  <a:schemeClr val="tx1"/>
                </a:solidFill>
                <a:latin typeface="Arial"/>
                <a:ea typeface="Arial"/>
                <a:cs typeface="Arial"/>
              </a:rPr>
              <a:t>this</a:t>
            </a:r>
            <a:r>
              <a:rPr sz="1200">
                <a:solidFill>
                  <a:schemeClr val="tx1"/>
                </a:solidFill>
                <a:latin typeface="Arial"/>
                <a:ea typeface="Arial"/>
                <a:cs typeface="Arial"/>
              </a:rPr>
              <a:t> </a:t>
            </a:r>
            <a:r>
              <a:rPr sz="1200">
                <a:solidFill>
                  <a:schemeClr val="tx1"/>
                </a:solidFill>
                <a:latin typeface="Arial"/>
                <a:ea typeface="Arial"/>
                <a:cs typeface="Arial"/>
              </a:rPr>
              <a:t>is</a:t>
            </a:r>
            <a:r>
              <a:rPr sz="1200">
                <a:solidFill>
                  <a:schemeClr val="tx1"/>
                </a:solidFill>
                <a:latin typeface="Arial"/>
                <a:ea typeface="Arial"/>
                <a:cs typeface="Arial"/>
              </a:rPr>
              <a:t> the main </a:t>
            </a:r>
            <a:r>
              <a:rPr sz="1200">
                <a:solidFill>
                  <a:schemeClr val="tx1"/>
                </a:solidFill>
                <a:latin typeface="Arial"/>
                <a:ea typeface="Arial"/>
                <a:cs typeface="Arial"/>
              </a:rPr>
              <a:t>categories</a:t>
            </a:r>
            <a:r>
              <a:rPr sz="1200">
                <a:solidFill>
                  <a:schemeClr val="tx1"/>
                </a:solidFill>
                <a:latin typeface="Arial"/>
                <a:ea typeface="Arial"/>
                <a:cs typeface="Arial"/>
              </a:rPr>
              <a:t> of </a:t>
            </a:r>
            <a:r>
              <a:rPr sz="1200">
                <a:solidFill>
                  <a:schemeClr val="tx1"/>
                </a:solidFill>
                <a:latin typeface="Arial"/>
                <a:ea typeface="Arial"/>
                <a:cs typeface="Arial"/>
              </a:rPr>
              <a:t>succesfull</a:t>
            </a:r>
            <a:r>
              <a:rPr sz="1200">
                <a:solidFill>
                  <a:schemeClr val="tx1"/>
                </a:solidFill>
                <a:latin typeface="Arial"/>
                <a:ea typeface="Arial"/>
                <a:cs typeface="Arial"/>
              </a:rPr>
              <a:t> </a:t>
            </a:r>
            <a:r>
              <a:rPr sz="1200">
                <a:solidFill>
                  <a:schemeClr val="tx1"/>
                </a:solidFill>
                <a:latin typeface="Arial"/>
                <a:ea typeface="Arial"/>
                <a:cs typeface="Arial"/>
              </a:rPr>
              <a:t>agentthat</a:t>
            </a:r>
            <a:r>
              <a:rPr sz="1200">
                <a:solidFill>
                  <a:schemeClr val="tx1"/>
                </a:solidFill>
                <a:latin typeface="Arial"/>
                <a:ea typeface="Arial"/>
                <a:cs typeface="Arial"/>
              </a:rPr>
              <a:t> won the challenge.</a:t>
            </a:r>
          </a:p>
          <a:p xmlns:a="http://schemas.openxmlformats.org/drawingml/2006/main"/>
          <a:p xmlns:a="http://schemas.openxmlformats.org/drawingml/2006/main">
            <a:r>
              <a:rPr sz="1200">
                <a:solidFill>
                  <a:schemeClr val="tx1"/>
                </a:solidFill>
                <a:latin typeface="Arial"/>
                <a:ea typeface="Arial"/>
                <a:cs typeface="Arial"/>
              </a:rPr>
              <a:t>Some</a:t>
            </a:r>
            <a:r>
              <a:rPr sz="1200">
                <a:solidFill>
                  <a:schemeClr val="tx1"/>
                </a:solidFill>
                <a:latin typeface="Arial"/>
                <a:ea typeface="Arial"/>
                <a:cs typeface="Arial"/>
              </a:rPr>
              <a:t> </a:t>
            </a:r>
            <a:r>
              <a:rPr sz="1200">
                <a:solidFill>
                  <a:schemeClr val="tx1"/>
                </a:solidFill>
                <a:latin typeface="Arial"/>
                <a:ea typeface="Arial"/>
                <a:cs typeface="Arial"/>
              </a:rPr>
              <a:t>approaches</a:t>
            </a:r>
            <a:r>
              <a:rPr sz="1200">
                <a:solidFill>
                  <a:schemeClr val="tx1"/>
                </a:solidFill>
                <a:latin typeface="Arial"/>
                <a:ea typeface="Arial"/>
                <a:cs typeface="Arial"/>
              </a:rPr>
              <a:t> </a:t>
            </a:r>
            <a:r>
              <a:rPr sz="1200">
                <a:solidFill>
                  <a:schemeClr val="tx1"/>
                </a:solidFill>
                <a:latin typeface="Arial"/>
                <a:ea typeface="Arial"/>
                <a:cs typeface="Arial"/>
              </a:rPr>
              <a:t>rely</a:t>
            </a:r>
            <a:r>
              <a:rPr sz="1200">
                <a:solidFill>
                  <a:schemeClr val="tx1"/>
                </a:solidFill>
                <a:latin typeface="Arial"/>
                <a:ea typeface="Arial"/>
                <a:cs typeface="Arial"/>
              </a:rPr>
              <a:t> on a single global agent </a:t>
            </a:r>
            <a:r>
              <a:rPr sz="1200">
                <a:solidFill>
                  <a:schemeClr val="tx1"/>
                </a:solidFill>
                <a:latin typeface="Arial"/>
                <a:ea typeface="Arial"/>
                <a:cs typeface="Arial"/>
              </a:rPr>
              <a:t>with</a:t>
            </a:r>
            <a:r>
              <a:rPr sz="1200">
                <a:solidFill>
                  <a:schemeClr val="tx1"/>
                </a:solidFill>
                <a:latin typeface="Arial"/>
                <a:ea typeface="Arial"/>
                <a:cs typeface="Arial"/>
              </a:rPr>
              <a:t> </a:t>
            </a:r>
            <a:r>
              <a:rPr sz="1200">
                <a:solidFill>
                  <a:schemeClr val="tx1"/>
                </a:solidFill>
                <a:latin typeface="Arial"/>
                <a:ea typeface="Arial"/>
                <a:cs typeface="Arial"/>
              </a:rPr>
              <a:t>strong</a:t>
            </a:r>
            <a:r>
              <a:rPr sz="1200">
                <a:solidFill>
                  <a:schemeClr val="tx1"/>
                </a:solidFill>
                <a:latin typeface="Arial"/>
                <a:ea typeface="Arial"/>
                <a:cs typeface="Arial"/>
              </a:rPr>
              <a:t> engineering tricks.</a:t>
            </a:r>
          </a:p>
          <a:p xmlns:a="http://schemas.openxmlformats.org/drawingml/2006/main"/>
          <a:p xmlns:a="http://schemas.openxmlformats.org/drawingml/2006/main">
            <a:r>
              <a:rPr sz="1200">
                <a:solidFill>
                  <a:schemeClr val="tx1"/>
                </a:solidFill>
                <a:latin typeface="Arial"/>
                <a:ea typeface="Arial"/>
                <a:cs typeface="Arial"/>
              </a:rPr>
              <a:t>For </a:t>
            </a:r>
            <a:r>
              <a:rPr sz="1200">
                <a:solidFill>
                  <a:schemeClr val="tx1"/>
                </a:solidFill>
                <a:latin typeface="Arial"/>
                <a:ea typeface="Arial"/>
                <a:cs typeface="Arial"/>
              </a:rPr>
              <a:t>example</a:t>
            </a:r>
            <a:r>
              <a:rPr sz="1200">
                <a:solidFill>
                  <a:schemeClr val="tx1"/>
                </a:solidFill>
                <a:latin typeface="Arial"/>
                <a:ea typeface="Arial"/>
                <a:cs typeface="Arial"/>
              </a:rPr>
              <a:t>, </a:t>
            </a:r>
            <a:r>
              <a:rPr sz="1200">
                <a:solidFill>
                  <a:schemeClr val="tx1"/>
                </a:solidFill>
                <a:latin typeface="Arial"/>
                <a:ea typeface="Arial"/>
                <a:cs typeface="Arial"/>
              </a:rPr>
              <a:t>they</a:t>
            </a:r>
            <a:r>
              <a:rPr sz="1200">
                <a:solidFill>
                  <a:schemeClr val="tx1"/>
                </a:solidFill>
                <a:latin typeface="Arial"/>
                <a:ea typeface="Arial"/>
                <a:cs typeface="Arial"/>
              </a:rPr>
              <a:t> use graph neural networks </a:t>
            </a:r>
            <a:r>
              <a:rPr sz="1200">
                <a:solidFill>
                  <a:schemeClr val="tx1"/>
                </a:solidFill>
                <a:latin typeface="Arial"/>
                <a:ea typeface="Arial"/>
                <a:cs typeface="Arial"/>
              </a:rPr>
              <a:t>combined</a:t>
            </a:r>
            <a:r>
              <a:rPr sz="1200">
                <a:solidFill>
                  <a:schemeClr val="tx1"/>
                </a:solidFill>
                <a:latin typeface="Arial"/>
                <a:ea typeface="Arial"/>
                <a:cs typeface="Arial"/>
              </a:rPr>
              <a:t> </a:t>
            </a:r>
            <a:r>
              <a:rPr sz="1200">
                <a:solidFill>
                  <a:schemeClr val="tx1"/>
                </a:solidFill>
                <a:latin typeface="Arial"/>
                <a:ea typeface="Arial"/>
                <a:cs typeface="Arial"/>
              </a:rPr>
              <a:t>with</a:t>
            </a:r>
            <a:r>
              <a:rPr sz="1200">
                <a:solidFill>
                  <a:schemeClr val="tx1"/>
                </a:solidFill>
                <a:latin typeface="Arial"/>
                <a:ea typeface="Arial"/>
                <a:cs typeface="Arial"/>
              </a:rPr>
              <a:t> value-</a:t>
            </a:r>
            <a:r>
              <a:rPr sz="1200">
                <a:solidFill>
                  <a:schemeClr val="tx1"/>
                </a:solidFill>
                <a:latin typeface="Arial"/>
                <a:ea typeface="Arial"/>
                <a:cs typeface="Arial"/>
              </a:rPr>
              <a:t>based</a:t>
            </a:r>
            <a:r>
              <a:rPr sz="1200">
                <a:solidFill>
                  <a:schemeClr val="tx1"/>
                </a:solidFill>
                <a:latin typeface="Arial"/>
                <a:ea typeface="Arial"/>
                <a:cs typeface="Arial"/>
              </a:rPr>
              <a:t> RL, and </a:t>
            </a:r>
            <a:r>
              <a:rPr sz="1200">
                <a:solidFill>
                  <a:schemeClr val="tx1"/>
                </a:solidFill>
                <a:latin typeface="Arial"/>
                <a:ea typeface="Arial"/>
                <a:cs typeface="Arial"/>
              </a:rPr>
              <a:t>validate</a:t>
            </a:r>
            <a:r>
              <a:rPr sz="1200">
                <a:solidFill>
                  <a:schemeClr val="tx1"/>
                </a:solidFill>
                <a:latin typeface="Arial"/>
                <a:ea typeface="Arial"/>
                <a:cs typeface="Arial"/>
              </a:rPr>
              <a:t> actions </a:t>
            </a:r>
            <a:r>
              <a:rPr sz="1200">
                <a:solidFill>
                  <a:schemeClr val="tx1"/>
                </a:solidFill>
                <a:latin typeface="Arial"/>
                <a:ea typeface="Arial"/>
                <a:cs typeface="Arial"/>
              </a:rPr>
              <a:t>using</a:t>
            </a:r>
            <a:r>
              <a:rPr sz="1200">
                <a:solidFill>
                  <a:schemeClr val="tx1"/>
                </a:solidFill>
                <a:latin typeface="Arial"/>
                <a:ea typeface="Arial"/>
                <a:cs typeface="Arial"/>
              </a:rPr>
              <a:t> power-flow simulations.</a:t>
            </a:r>
          </a:p>
          <a:p xmlns:a="http://schemas.openxmlformats.org/drawingml/2006/main"/>
          <a:p xmlns:a="http://schemas.openxmlformats.org/drawingml/2006/main">
            <a:r>
              <a:rPr sz="1200">
                <a:solidFill>
                  <a:schemeClr val="tx1"/>
                </a:solidFill>
                <a:latin typeface="Arial"/>
                <a:ea typeface="Arial"/>
                <a:cs typeface="Arial"/>
              </a:rPr>
              <a:t>Others</a:t>
            </a:r>
            <a:r>
              <a:rPr sz="1200">
                <a:solidFill>
                  <a:schemeClr val="tx1"/>
                </a:solidFill>
                <a:latin typeface="Arial"/>
                <a:ea typeface="Arial"/>
                <a:cs typeface="Arial"/>
              </a:rPr>
              <a:t> </a:t>
            </a:r>
            <a:r>
              <a:rPr sz="1200">
                <a:solidFill>
                  <a:schemeClr val="tx1"/>
                </a:solidFill>
                <a:latin typeface="Arial"/>
                <a:ea typeface="Arial"/>
                <a:cs typeface="Arial"/>
              </a:rPr>
              <a:t>reduce</a:t>
            </a:r>
            <a:r>
              <a:rPr sz="1200">
                <a:solidFill>
                  <a:schemeClr val="tx1"/>
                </a:solidFill>
                <a:latin typeface="Arial"/>
                <a:ea typeface="Arial"/>
                <a:cs typeface="Arial"/>
              </a:rPr>
              <a:t> the action </a:t>
            </a:r>
            <a:r>
              <a:rPr sz="1200">
                <a:solidFill>
                  <a:schemeClr val="tx1"/>
                </a:solidFill>
                <a:latin typeface="Arial"/>
                <a:ea typeface="Arial"/>
                <a:cs typeface="Arial"/>
              </a:rPr>
              <a:t>space</a:t>
            </a:r>
            <a:r>
              <a:rPr sz="1200">
                <a:solidFill>
                  <a:schemeClr val="tx1"/>
                </a:solidFill>
                <a:latin typeface="Arial"/>
                <a:ea typeface="Arial"/>
                <a:cs typeface="Arial"/>
              </a:rPr>
              <a:t> </a:t>
            </a:r>
            <a:r>
              <a:rPr sz="1200">
                <a:solidFill>
                  <a:schemeClr val="tx1"/>
                </a:solidFill>
                <a:latin typeface="Arial"/>
                <a:ea typeface="Arial"/>
                <a:cs typeface="Arial"/>
              </a:rPr>
              <a:t>using</a:t>
            </a:r>
            <a:r>
              <a:rPr sz="1200">
                <a:solidFill>
                  <a:schemeClr val="tx1"/>
                </a:solidFill>
                <a:latin typeface="Arial"/>
                <a:ea typeface="Arial"/>
                <a:cs typeface="Arial"/>
              </a:rPr>
              <a:t> </a:t>
            </a:r>
            <a:r>
              <a:rPr sz="1200">
                <a:solidFill>
                  <a:schemeClr val="tx1"/>
                </a:solidFill>
                <a:latin typeface="Arial"/>
                <a:ea typeface="Arial"/>
                <a:cs typeface="Arial"/>
              </a:rPr>
              <a:t>masking</a:t>
            </a:r>
            <a:r>
              <a:rPr sz="1200">
                <a:solidFill>
                  <a:schemeClr val="tx1"/>
                </a:solidFill>
                <a:latin typeface="Arial"/>
                <a:ea typeface="Arial"/>
                <a:cs typeface="Arial"/>
              </a:rPr>
              <a:t> or </a:t>
            </a:r>
            <a:r>
              <a:rPr sz="1200">
                <a:solidFill>
                  <a:schemeClr val="tx1"/>
                </a:solidFill>
                <a:latin typeface="Arial"/>
                <a:ea typeface="Arial"/>
                <a:cs typeface="Arial"/>
              </a:rPr>
              <a:t>pruning</a:t>
            </a:r>
            <a:r>
              <a:rPr sz="1200">
                <a:solidFill>
                  <a:schemeClr val="tx1"/>
                </a:solidFill>
                <a:latin typeface="Arial"/>
                <a:ea typeface="Arial"/>
                <a:cs typeface="Arial"/>
              </a:rPr>
              <a:t>.</a:t>
            </a:r>
          </a:p>
          <a:p xmlns:a="http://schemas.openxmlformats.org/drawingml/2006/main"/>
          <a:p xmlns:a="http://schemas.openxmlformats.org/drawingml/2006/main">
            <a:r>
              <a:rPr sz="1200">
                <a:solidFill>
                  <a:schemeClr val="tx1"/>
                </a:solidFill>
                <a:latin typeface="Arial"/>
                <a:ea typeface="Arial"/>
                <a:cs typeface="Arial"/>
              </a:rPr>
              <a:t>These</a:t>
            </a:r>
            <a:r>
              <a:rPr sz="1200">
                <a:solidFill>
                  <a:schemeClr val="tx1"/>
                </a:solidFill>
                <a:latin typeface="Arial"/>
                <a:ea typeface="Arial"/>
                <a:cs typeface="Arial"/>
              </a:rPr>
              <a:t> </a:t>
            </a:r>
            <a:r>
              <a:rPr sz="1200">
                <a:solidFill>
                  <a:schemeClr val="tx1"/>
                </a:solidFill>
                <a:latin typeface="Arial"/>
                <a:ea typeface="Arial"/>
                <a:cs typeface="Arial"/>
              </a:rPr>
              <a:t>methods</a:t>
            </a:r>
            <a:r>
              <a:rPr sz="1200">
                <a:solidFill>
                  <a:schemeClr val="tx1"/>
                </a:solidFill>
                <a:latin typeface="Arial"/>
                <a:ea typeface="Arial"/>
                <a:cs typeface="Arial"/>
              </a:rPr>
              <a:t> can </a:t>
            </a:r>
            <a:r>
              <a:rPr sz="1200">
                <a:solidFill>
                  <a:schemeClr val="tx1"/>
                </a:solidFill>
                <a:latin typeface="Arial"/>
                <a:ea typeface="Arial"/>
                <a:cs typeface="Arial"/>
              </a:rPr>
              <a:t>work</a:t>
            </a:r>
            <a:r>
              <a:rPr sz="1200">
                <a:solidFill>
                  <a:schemeClr val="tx1"/>
                </a:solidFill>
                <a:latin typeface="Arial"/>
                <a:ea typeface="Arial"/>
                <a:cs typeface="Arial"/>
              </a:rPr>
              <a:t>, </a:t>
            </a:r>
            <a:r>
              <a:rPr sz="1200">
                <a:solidFill>
                  <a:schemeClr val="tx1"/>
                </a:solidFill>
                <a:latin typeface="Arial"/>
                <a:ea typeface="Arial"/>
                <a:cs typeface="Arial"/>
              </a:rPr>
              <a:t>so</a:t>
            </a:r>
            <a:r>
              <a:rPr sz="1200">
                <a:solidFill>
                  <a:schemeClr val="tx1"/>
                </a:solidFill>
                <a:latin typeface="Arial"/>
                <a:ea typeface="Arial"/>
                <a:cs typeface="Arial"/>
              </a:rPr>
              <a:t> </a:t>
            </a:r>
            <a:r>
              <a:rPr sz="1200">
                <a:solidFill>
                  <a:schemeClr val="tx1"/>
                </a:solidFill>
                <a:latin typeface="Arial"/>
                <a:ea typeface="Arial"/>
                <a:cs typeface="Arial"/>
              </a:rPr>
              <a:t>mixing</a:t>
            </a:r>
            <a:r>
              <a:rPr sz="1200">
                <a:solidFill>
                  <a:schemeClr val="tx1"/>
                </a:solidFill>
                <a:latin typeface="Arial"/>
                <a:ea typeface="Arial"/>
                <a:cs typeface="Arial"/>
              </a:rPr>
              <a:t> a single agent </a:t>
            </a:r>
            <a:r>
              <a:rPr sz="1200">
                <a:solidFill>
                  <a:schemeClr val="tx1"/>
                </a:solidFill>
                <a:latin typeface="Arial"/>
                <a:ea typeface="Arial"/>
                <a:cs typeface="Arial"/>
              </a:rPr>
              <a:t>with</a:t>
            </a:r>
            <a:r>
              <a:rPr sz="1200">
                <a:solidFill>
                  <a:schemeClr val="tx1"/>
                </a:solidFill>
                <a:latin typeface="Arial"/>
                <a:ea typeface="Arial"/>
                <a:cs typeface="Arial"/>
              </a:rPr>
              <a:t> </a:t>
            </a:r>
            <a:r>
              <a:rPr sz="1200">
                <a:solidFill>
                  <a:schemeClr val="tx1"/>
                </a:solidFill>
                <a:latin typeface="Arial"/>
                <a:ea typeface="Arial"/>
                <a:cs typeface="Arial"/>
              </a:rPr>
              <a:t>rules</a:t>
            </a:r>
            <a:r>
              <a:rPr sz="1200">
                <a:solidFill>
                  <a:schemeClr val="tx1"/>
                </a:solidFill>
                <a:latin typeface="Arial"/>
                <a:ea typeface="Arial"/>
                <a:cs typeface="Arial"/>
              </a:rPr>
              <a:t>, but </a:t>
            </a:r>
            <a:r>
              <a:rPr sz="1200">
                <a:solidFill>
                  <a:schemeClr val="tx1"/>
                </a:solidFill>
                <a:latin typeface="Arial"/>
                <a:ea typeface="Arial"/>
                <a:cs typeface="Arial"/>
              </a:rPr>
              <a:t>they</a:t>
            </a:r>
            <a:r>
              <a:rPr sz="1200">
                <a:solidFill>
                  <a:schemeClr val="tx1"/>
                </a:solidFill>
                <a:latin typeface="Arial"/>
                <a:ea typeface="Arial"/>
                <a:cs typeface="Arial"/>
              </a:rPr>
              <a:t> </a:t>
            </a:r>
            <a:r>
              <a:rPr sz="1200">
                <a:solidFill>
                  <a:schemeClr val="tx1"/>
                </a:solidFill>
                <a:latin typeface="Arial"/>
                <a:ea typeface="Arial"/>
                <a:cs typeface="Arial"/>
              </a:rPr>
              <a:t>suffer</a:t>
            </a:r>
            <a:r>
              <a:rPr sz="1200">
                <a:solidFill>
                  <a:schemeClr val="tx1"/>
                </a:solidFill>
                <a:latin typeface="Arial"/>
                <a:ea typeface="Arial"/>
                <a:cs typeface="Arial"/>
              </a:rPr>
              <a:t> </a:t>
            </a:r>
            <a:r>
              <a:rPr sz="1200">
                <a:solidFill>
                  <a:schemeClr val="tx1"/>
                </a:solidFill>
                <a:latin typeface="Arial"/>
                <a:ea typeface="Arial"/>
                <a:cs typeface="Arial"/>
              </a:rPr>
              <a:t>because</a:t>
            </a:r>
            <a:r>
              <a:rPr sz="1200">
                <a:solidFill>
                  <a:schemeClr val="tx1"/>
                </a:solidFill>
                <a:latin typeface="Arial"/>
                <a:ea typeface="Arial"/>
                <a:cs typeface="Arial"/>
              </a:rPr>
              <a:t> the action </a:t>
            </a:r>
            <a:r>
              <a:rPr sz="1200">
                <a:solidFill>
                  <a:schemeClr val="tx1"/>
                </a:solidFill>
                <a:latin typeface="Arial"/>
                <a:ea typeface="Arial"/>
                <a:cs typeface="Arial"/>
              </a:rPr>
              <a:t>space</a:t>
            </a:r>
            <a:r>
              <a:rPr sz="1200">
                <a:solidFill>
                  <a:schemeClr val="tx1"/>
                </a:solidFill>
                <a:latin typeface="Arial"/>
                <a:ea typeface="Arial"/>
                <a:cs typeface="Arial"/>
              </a:rPr>
              <a:t> </a:t>
            </a:r>
            <a:r>
              <a:rPr sz="1200">
                <a:solidFill>
                  <a:schemeClr val="tx1"/>
                </a:solidFill>
                <a:latin typeface="Arial"/>
                <a:ea typeface="Arial"/>
                <a:cs typeface="Arial"/>
              </a:rPr>
              <a:t>remains</a:t>
            </a:r>
            <a:r>
              <a:rPr sz="1200">
                <a:solidFill>
                  <a:schemeClr val="tx1"/>
                </a:solidFill>
                <a:latin typeface="Arial"/>
                <a:ea typeface="Arial"/>
                <a:cs typeface="Arial"/>
              </a:rPr>
              <a:t> </a:t>
            </a:r>
            <a:r>
              <a:rPr sz="1200">
                <a:solidFill>
                  <a:schemeClr val="tx1"/>
                </a:solidFill>
                <a:latin typeface="Arial"/>
                <a:ea typeface="Arial"/>
                <a:cs typeface="Arial"/>
              </a:rPr>
              <a:t>very</a:t>
            </a:r>
            <a:r>
              <a:rPr sz="1200">
                <a:solidFill>
                  <a:schemeClr val="tx1"/>
                </a:solidFill>
                <a:latin typeface="Arial"/>
                <a:ea typeface="Arial"/>
                <a:cs typeface="Arial"/>
              </a:rPr>
              <a:t> large.”</a:t>
            </a:r>
          </a:p>
          <a:p xmlns:a="http://schemas.openxmlformats.org/drawingml/2006/main"/>
          <a:p xmlns:a="http://schemas.openxmlformats.org/drawingml/2006/main">
            <a:r>
              <a:rPr sz="1200">
                <a:solidFill>
                  <a:schemeClr val="tx1"/>
                </a:solidFill>
                <a:latin typeface="Arial"/>
                <a:ea typeface="Arial"/>
                <a:cs typeface="Arial"/>
              </a:rPr>
              <a:t>Another</a:t>
            </a:r>
            <a:r>
              <a:rPr sz="1200">
                <a:solidFill>
                  <a:schemeClr val="tx1"/>
                </a:solidFill>
                <a:latin typeface="Arial"/>
                <a:ea typeface="Arial"/>
                <a:cs typeface="Arial"/>
              </a:rPr>
              <a:t> important </a:t>
            </a:r>
            <a:r>
              <a:rPr sz="1200">
                <a:solidFill>
                  <a:schemeClr val="tx1"/>
                </a:solidFill>
                <a:latin typeface="Arial"/>
                <a:ea typeface="Arial"/>
                <a:cs typeface="Arial"/>
              </a:rPr>
              <a:t>idea</a:t>
            </a:r>
            <a:r>
              <a:rPr sz="1200">
                <a:solidFill>
                  <a:schemeClr val="tx1"/>
                </a:solidFill>
                <a:latin typeface="Arial"/>
                <a:ea typeface="Arial"/>
                <a:cs typeface="Arial"/>
              </a:rPr>
              <a:t> </a:t>
            </a:r>
            <a:r>
              <a:rPr sz="1200">
                <a:solidFill>
                  <a:schemeClr val="tx1"/>
                </a:solidFill>
                <a:latin typeface="Arial"/>
                <a:ea typeface="Arial"/>
                <a:cs typeface="Arial"/>
              </a:rPr>
              <a:t>is</a:t>
            </a:r>
            <a:r>
              <a:rPr sz="1200">
                <a:solidFill>
                  <a:schemeClr val="tx1"/>
                </a:solidFill>
                <a:latin typeface="Arial"/>
                <a:ea typeface="Arial"/>
                <a:cs typeface="Arial"/>
              </a:rPr>
              <a:t> to </a:t>
            </a:r>
            <a:r>
              <a:rPr sz="1200">
                <a:solidFill>
                  <a:schemeClr val="tx1"/>
                </a:solidFill>
                <a:latin typeface="Arial"/>
                <a:ea typeface="Arial"/>
                <a:cs typeface="Arial"/>
              </a:rPr>
              <a:t>predict</a:t>
            </a:r>
            <a:r>
              <a:rPr sz="1200">
                <a:solidFill>
                  <a:schemeClr val="tx1"/>
                </a:solidFill>
                <a:latin typeface="Arial"/>
                <a:ea typeface="Arial"/>
                <a:cs typeface="Arial"/>
              </a:rPr>
              <a:t> a </a:t>
            </a:r>
            <a:r>
              <a:rPr sz="1200" b="1">
                <a:solidFill>
                  <a:schemeClr val="tx1"/>
                </a:solidFill>
                <a:latin typeface="Arial"/>
                <a:ea typeface="Arial"/>
                <a:cs typeface="Arial"/>
              </a:rPr>
              <a:t>target</a:t>
            </a:r>
            <a:r>
              <a:rPr sz="1200" b="1">
                <a:solidFill>
                  <a:schemeClr val="tx1"/>
                </a:solidFill>
                <a:latin typeface="Arial"/>
                <a:ea typeface="Arial"/>
                <a:cs typeface="Arial"/>
              </a:rPr>
              <a:t> </a:t>
            </a:r>
            <a:r>
              <a:rPr sz="1200" b="1">
                <a:solidFill>
                  <a:schemeClr val="tx1"/>
                </a:solidFill>
                <a:latin typeface="Arial"/>
                <a:ea typeface="Arial"/>
                <a:cs typeface="Arial"/>
              </a:rPr>
              <a:t>topology</a:t>
            </a:r>
            <a:r>
              <a:rPr sz="1200" b="1">
                <a:solidFill>
                  <a:schemeClr val="tx1"/>
                </a:solidFill>
                <a:latin typeface="Arial"/>
                <a:ea typeface="Arial"/>
                <a:cs typeface="Arial"/>
              </a:rPr>
              <a:t> </a:t>
            </a:r>
            <a:r>
              <a:rPr sz="1200" b="1">
                <a:solidFill>
                  <a:schemeClr val="tx1"/>
                </a:solidFill>
                <a:latin typeface="Arial"/>
                <a:ea typeface="Arial"/>
                <a:cs typeface="Arial"/>
              </a:rPr>
              <a:t>instead</a:t>
            </a:r>
            <a:r>
              <a:rPr sz="1200" b="1">
                <a:solidFill>
                  <a:schemeClr val="tx1"/>
                </a:solidFill>
                <a:latin typeface="Arial"/>
                <a:ea typeface="Arial"/>
                <a:cs typeface="Arial"/>
              </a:rPr>
              <a:t> of </a:t>
            </a:r>
            <a:r>
              <a:rPr sz="1200" b="1">
                <a:solidFill>
                  <a:schemeClr val="tx1"/>
                </a:solidFill>
                <a:latin typeface="Arial"/>
                <a:ea typeface="Arial"/>
                <a:cs typeface="Arial"/>
              </a:rPr>
              <a:t>raw</a:t>
            </a:r>
            <a:r>
              <a:rPr sz="1200" b="1">
                <a:solidFill>
                  <a:schemeClr val="tx1"/>
                </a:solidFill>
                <a:latin typeface="Arial"/>
                <a:ea typeface="Arial"/>
                <a:cs typeface="Arial"/>
              </a:rPr>
              <a:t> actions</a:t>
            </a:r>
            <a:r>
              <a:rPr sz="1200">
                <a:solidFill>
                  <a:schemeClr val="tx1"/>
                </a:solidFill>
                <a:latin typeface="Arial"/>
                <a:ea typeface="Arial"/>
                <a:cs typeface="Arial"/>
              </a:rPr>
              <a:t>.</a:t>
            </a:r>
          </a:p>
          <a:p xmlns:a="http://schemas.openxmlformats.org/drawingml/2006/main"/>
          <a:p xmlns:a="http://schemas.openxmlformats.org/drawingml/2006/main">
            <a:r>
              <a:rPr sz="1200">
                <a:solidFill>
                  <a:schemeClr val="tx1"/>
                </a:solidFill>
                <a:latin typeface="Arial"/>
                <a:ea typeface="Arial"/>
                <a:cs typeface="Arial"/>
              </a:rPr>
              <a:t>This </a:t>
            </a:r>
            <a:r>
              <a:rPr sz="1200">
                <a:solidFill>
                  <a:schemeClr val="tx1"/>
                </a:solidFill>
                <a:latin typeface="Arial"/>
                <a:ea typeface="Arial"/>
                <a:cs typeface="Arial"/>
              </a:rPr>
              <a:t>is</a:t>
            </a:r>
            <a:r>
              <a:rPr sz="1200">
                <a:solidFill>
                  <a:schemeClr val="tx1"/>
                </a:solidFill>
                <a:latin typeface="Arial"/>
                <a:ea typeface="Arial"/>
                <a:cs typeface="Arial"/>
              </a:rPr>
              <a:t> </a:t>
            </a:r>
            <a:r>
              <a:rPr sz="1200">
                <a:solidFill>
                  <a:schemeClr val="tx1"/>
                </a:solidFill>
                <a:latin typeface="Arial"/>
                <a:ea typeface="Arial"/>
                <a:cs typeface="Arial"/>
              </a:rPr>
              <a:t>used</a:t>
            </a:r>
            <a:r>
              <a:rPr sz="1200">
                <a:solidFill>
                  <a:schemeClr val="tx1"/>
                </a:solidFill>
                <a:latin typeface="Arial"/>
                <a:ea typeface="Arial"/>
                <a:cs typeface="Arial"/>
              </a:rPr>
              <a:t> in SMAAC, </a:t>
            </a:r>
            <a:r>
              <a:rPr sz="1200">
                <a:solidFill>
                  <a:schemeClr val="tx1"/>
                </a:solidFill>
                <a:latin typeface="Arial"/>
                <a:ea typeface="Arial"/>
                <a:cs typeface="Arial"/>
              </a:rPr>
              <a:t>where</a:t>
            </a:r>
            <a:r>
              <a:rPr sz="1200">
                <a:solidFill>
                  <a:schemeClr val="tx1"/>
                </a:solidFill>
                <a:latin typeface="Arial"/>
                <a:ea typeface="Arial"/>
                <a:cs typeface="Arial"/>
              </a:rPr>
              <a:t> </a:t>
            </a:r>
            <a:r>
              <a:rPr sz="1200">
                <a:solidFill>
                  <a:schemeClr val="tx1"/>
                </a:solidFill>
                <a:latin typeface="Arial"/>
                <a:ea typeface="Arial"/>
                <a:cs typeface="Arial"/>
              </a:rPr>
              <a:t>the</a:t>
            </a:r>
            <a:r>
              <a:rPr sz="1200">
                <a:solidFill>
                  <a:schemeClr val="tx1"/>
                </a:solidFill>
                <a:latin typeface="Arial"/>
                <a:ea typeface="Arial"/>
                <a:cs typeface="Arial"/>
              </a:rPr>
              <a:t> </a:t>
            </a:r>
            <a:r>
              <a:rPr sz="1200">
                <a:solidFill>
                  <a:schemeClr val="tx1"/>
                </a:solidFill>
                <a:latin typeface="Arial"/>
                <a:ea typeface="Arial"/>
                <a:cs typeface="Arial"/>
              </a:rPr>
              <a:t>agent</a:t>
            </a:r>
            <a:r>
              <a:rPr sz="1200">
                <a:solidFill>
                  <a:schemeClr val="tx1"/>
                </a:solidFill>
                <a:latin typeface="Arial"/>
                <a:ea typeface="Arial"/>
                <a:cs typeface="Arial"/>
              </a:rPr>
              <a:t> </a:t>
            </a:r>
            <a:r>
              <a:rPr sz="1200">
                <a:solidFill>
                  <a:schemeClr val="tx1"/>
                </a:solidFill>
                <a:latin typeface="Arial"/>
                <a:ea typeface="Arial"/>
                <a:cs typeface="Arial"/>
              </a:rPr>
              <a:t>learns</a:t>
            </a:r>
            <a:r>
              <a:rPr sz="1200">
                <a:solidFill>
                  <a:schemeClr val="tx1"/>
                </a:solidFill>
                <a:latin typeface="Arial"/>
                <a:ea typeface="Arial"/>
                <a:cs typeface="Arial"/>
              </a:rPr>
              <a:t> an </a:t>
            </a:r>
            <a:r>
              <a:rPr sz="1200">
                <a:solidFill>
                  <a:schemeClr val="tx1"/>
                </a:solidFill>
                <a:latin typeface="Arial"/>
                <a:ea typeface="Arial"/>
                <a:cs typeface="Arial"/>
              </a:rPr>
              <a:t>afterstate</a:t>
            </a:r>
            <a:r>
              <a:rPr sz="1200">
                <a:solidFill>
                  <a:schemeClr val="tx1"/>
                </a:solidFill>
                <a:latin typeface="Arial"/>
                <a:ea typeface="Arial"/>
                <a:cs typeface="Arial"/>
              </a:rPr>
              <a:t> </a:t>
            </a:r>
            <a:r>
              <a:rPr sz="1200">
                <a:solidFill>
                  <a:schemeClr val="tx1"/>
                </a:solidFill>
                <a:latin typeface="Arial"/>
                <a:ea typeface="Arial"/>
                <a:cs typeface="Arial"/>
              </a:rPr>
              <a:t>representation</a:t>
            </a:r>
            <a:r>
              <a:rPr sz="1200">
                <a:solidFill>
                  <a:schemeClr val="tx1"/>
                </a:solidFill>
                <a:latin typeface="Arial"/>
                <a:ea typeface="Arial"/>
                <a:cs typeface="Arial"/>
              </a:rPr>
              <a:t>—</a:t>
            </a:r>
            <a:r>
              <a:rPr sz="1200">
                <a:solidFill>
                  <a:schemeClr val="tx1"/>
                </a:solidFill>
                <a:latin typeface="Arial"/>
                <a:ea typeface="Arial"/>
                <a:cs typeface="Arial"/>
              </a:rPr>
              <a:t>basically</a:t>
            </a:r>
            <a:r>
              <a:rPr sz="1200">
                <a:solidFill>
                  <a:schemeClr val="tx1"/>
                </a:solidFill>
                <a:latin typeface="Arial"/>
                <a:ea typeface="Arial"/>
                <a:cs typeface="Arial"/>
              </a:rPr>
              <a:t> </a:t>
            </a:r>
            <a:r>
              <a:rPr sz="1200">
                <a:solidFill>
                  <a:schemeClr val="tx1"/>
                </a:solidFill>
                <a:latin typeface="Arial"/>
                <a:ea typeface="Arial"/>
                <a:cs typeface="Arial"/>
              </a:rPr>
              <a:t>the</a:t>
            </a:r>
            <a:r>
              <a:rPr sz="1200">
                <a:solidFill>
                  <a:schemeClr val="tx1"/>
                </a:solidFill>
                <a:latin typeface="Arial"/>
                <a:ea typeface="Arial"/>
                <a:cs typeface="Arial"/>
              </a:rPr>
              <a:t> </a:t>
            </a:r>
            <a:r>
              <a:rPr sz="1200">
                <a:solidFill>
                  <a:schemeClr val="tx1"/>
                </a:solidFill>
                <a:latin typeface="Arial"/>
                <a:ea typeface="Arial"/>
                <a:cs typeface="Arial"/>
              </a:rPr>
              <a:t>resulting</a:t>
            </a:r>
            <a:r>
              <a:rPr sz="1200">
                <a:solidFill>
                  <a:schemeClr val="tx1"/>
                </a:solidFill>
                <a:latin typeface="Arial"/>
                <a:ea typeface="Arial"/>
                <a:cs typeface="Arial"/>
              </a:rPr>
              <a:t> </a:t>
            </a:r>
            <a:r>
              <a:rPr sz="1200">
                <a:solidFill>
                  <a:schemeClr val="tx1"/>
                </a:solidFill>
                <a:latin typeface="Arial"/>
                <a:ea typeface="Arial"/>
                <a:cs typeface="Arial"/>
              </a:rPr>
              <a:t>topology</a:t>
            </a:r>
            <a:r>
              <a:rPr sz="1200">
                <a:solidFill>
                  <a:schemeClr val="tx1"/>
                </a:solidFill>
                <a:latin typeface="Arial"/>
                <a:ea typeface="Arial"/>
                <a:cs typeface="Arial"/>
              </a:rPr>
              <a:t> after an </a:t>
            </a:r>
            <a:r>
              <a:rPr sz="1200">
                <a:solidFill>
                  <a:schemeClr val="tx1"/>
                </a:solidFill>
                <a:latin typeface="Arial"/>
                <a:ea typeface="Arial"/>
                <a:cs typeface="Arial"/>
              </a:rPr>
              <a:t>action</a:t>
            </a:r>
            <a:r>
              <a:rPr sz="1200">
                <a:solidFill>
                  <a:schemeClr val="tx1"/>
                </a:solidFill>
                <a:latin typeface="Arial"/>
                <a:ea typeface="Arial"/>
                <a:cs typeface="Arial"/>
              </a:rPr>
              <a:t>.</a:t>
            </a:r>
          </a:p>
          <a:p xmlns:a="http://schemas.openxmlformats.org/drawingml/2006/main"/>
          <a:p xmlns:a="http://schemas.openxmlformats.org/drawingml/2006/main">
            <a:r>
              <a:rPr sz="1200">
                <a:solidFill>
                  <a:schemeClr val="tx1"/>
                </a:solidFill>
                <a:latin typeface="Arial"/>
                <a:ea typeface="Arial"/>
                <a:cs typeface="Arial"/>
              </a:rPr>
              <a:t>This </a:t>
            </a:r>
            <a:r>
              <a:rPr sz="1200">
                <a:solidFill>
                  <a:schemeClr val="tx1"/>
                </a:solidFill>
                <a:latin typeface="Arial"/>
                <a:ea typeface="Arial"/>
                <a:cs typeface="Arial"/>
              </a:rPr>
              <a:t>helps</a:t>
            </a:r>
            <a:r>
              <a:rPr sz="1200">
                <a:solidFill>
                  <a:schemeClr val="tx1"/>
                </a:solidFill>
                <a:latin typeface="Arial"/>
                <a:ea typeface="Arial"/>
                <a:cs typeface="Arial"/>
              </a:rPr>
              <a:t> </a:t>
            </a:r>
            <a:r>
              <a:rPr sz="1200">
                <a:solidFill>
                  <a:schemeClr val="tx1"/>
                </a:solidFill>
                <a:latin typeface="Arial"/>
                <a:ea typeface="Arial"/>
                <a:cs typeface="Arial"/>
              </a:rPr>
              <a:t>because</a:t>
            </a:r>
            <a:r>
              <a:rPr sz="1200">
                <a:solidFill>
                  <a:schemeClr val="tx1"/>
                </a:solidFill>
                <a:latin typeface="Arial"/>
                <a:ea typeface="Arial"/>
                <a:cs typeface="Arial"/>
              </a:rPr>
              <a:t> multiple </a:t>
            </a:r>
            <a:r>
              <a:rPr sz="1200">
                <a:solidFill>
                  <a:schemeClr val="tx1"/>
                </a:solidFill>
                <a:latin typeface="Arial"/>
                <a:ea typeface="Arial"/>
                <a:cs typeface="Arial"/>
              </a:rPr>
              <a:t>sequences</a:t>
            </a:r>
            <a:r>
              <a:rPr sz="1200">
                <a:solidFill>
                  <a:schemeClr val="tx1"/>
                </a:solidFill>
                <a:latin typeface="Arial"/>
                <a:ea typeface="Arial"/>
                <a:cs typeface="Arial"/>
              </a:rPr>
              <a:t> of actions can lead to the </a:t>
            </a:r>
            <a:r>
              <a:rPr sz="1200">
                <a:solidFill>
                  <a:schemeClr val="tx1"/>
                </a:solidFill>
                <a:latin typeface="Arial"/>
                <a:ea typeface="Arial"/>
                <a:cs typeface="Arial"/>
              </a:rPr>
              <a:t>same</a:t>
            </a:r>
            <a:r>
              <a:rPr sz="1200">
                <a:solidFill>
                  <a:schemeClr val="tx1"/>
                </a:solidFill>
                <a:latin typeface="Arial"/>
                <a:ea typeface="Arial"/>
                <a:cs typeface="Arial"/>
              </a:rPr>
              <a:t> configuration. So </a:t>
            </a:r>
            <a:r>
              <a:rPr sz="1200">
                <a:solidFill>
                  <a:schemeClr val="tx1"/>
                </a:solidFill>
                <a:latin typeface="Arial"/>
                <a:ea typeface="Arial"/>
                <a:cs typeface="Arial"/>
              </a:rPr>
              <a:t>it</a:t>
            </a:r>
            <a:r>
              <a:rPr sz="1200">
                <a:solidFill>
                  <a:schemeClr val="tx1"/>
                </a:solidFill>
                <a:latin typeface="Arial"/>
                <a:ea typeface="Arial"/>
                <a:cs typeface="Arial"/>
              </a:rPr>
              <a:t> </a:t>
            </a:r>
            <a:r>
              <a:rPr sz="1200">
                <a:solidFill>
                  <a:schemeClr val="tx1"/>
                </a:solidFill>
                <a:latin typeface="Arial"/>
                <a:ea typeface="Arial"/>
                <a:cs typeface="Arial"/>
              </a:rPr>
              <a:t>reduces</a:t>
            </a:r>
            <a:r>
              <a:rPr sz="1200">
                <a:solidFill>
                  <a:schemeClr val="tx1"/>
                </a:solidFill>
                <a:latin typeface="Arial"/>
                <a:ea typeface="Arial"/>
                <a:cs typeface="Arial"/>
              </a:rPr>
              <a:t> the action </a:t>
            </a:r>
            <a:r>
              <a:rPr sz="1200">
                <a:solidFill>
                  <a:schemeClr val="tx1"/>
                </a:solidFill>
                <a:latin typeface="Arial"/>
                <a:ea typeface="Arial"/>
                <a:cs typeface="Arial"/>
              </a:rPr>
              <a:t>space</a:t>
            </a:r>
          </a:p>
          <a:p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a:solidFill>
                  <a:schemeClr val="tx1"/>
                </a:solidFill>
                <a:latin typeface="Arial"/>
                <a:ea typeface="Arial"/>
                <a:cs typeface="Arial"/>
              </a:rPr>
              <a:t>To dive a </a:t>
            </a:r>
            <a:r>
              <a:rPr sz="1200">
                <a:solidFill>
                  <a:schemeClr val="tx1"/>
                </a:solidFill>
                <a:latin typeface="Arial"/>
                <a:ea typeface="Arial"/>
                <a:cs typeface="Arial"/>
              </a:rPr>
              <a:t>little</a:t>
            </a:r>
            <a:r>
              <a:rPr sz="1200">
                <a:solidFill>
                  <a:schemeClr val="tx1"/>
                </a:solidFill>
                <a:latin typeface="Arial"/>
                <a:ea typeface="Arial"/>
                <a:cs typeface="Arial"/>
              </a:rPr>
              <a:t> </a:t>
            </a:r>
            <a:r>
              <a:rPr sz="1200">
                <a:solidFill>
                  <a:schemeClr val="tx1"/>
                </a:solidFill>
                <a:latin typeface="Arial"/>
                <a:ea typeface="Arial"/>
                <a:cs typeface="Arial"/>
              </a:rPr>
              <a:t>deeper</a:t>
            </a:r>
            <a:r>
              <a:rPr sz="1200">
                <a:solidFill>
                  <a:schemeClr val="tx1"/>
                </a:solidFill>
                <a:latin typeface="Arial"/>
                <a:ea typeface="Arial"/>
                <a:cs typeface="Arial"/>
              </a:rPr>
              <a:t> i have been </a:t>
            </a:r>
            <a:r>
              <a:rPr sz="1200">
                <a:solidFill>
                  <a:schemeClr val="tx1"/>
                </a:solidFill>
                <a:latin typeface="Arial"/>
                <a:ea typeface="Arial"/>
                <a:cs typeface="Arial"/>
              </a:rPr>
              <a:t>looking</a:t>
            </a:r>
            <a:r>
              <a:rPr sz="1200">
                <a:solidFill>
                  <a:schemeClr val="tx1"/>
                </a:solidFill>
                <a:latin typeface="Arial"/>
                <a:ea typeface="Arial"/>
                <a:cs typeface="Arial"/>
              </a:rPr>
              <a:t> at a </a:t>
            </a:r>
            <a:r>
              <a:rPr sz="1200">
                <a:solidFill>
                  <a:schemeClr val="tx1"/>
                </a:solidFill>
                <a:latin typeface="Arial"/>
                <a:ea typeface="Arial"/>
                <a:cs typeface="Arial"/>
              </a:rPr>
              <a:t>survey</a:t>
            </a:r>
            <a:r>
              <a:rPr sz="1200">
                <a:solidFill>
                  <a:schemeClr val="tx1"/>
                </a:solidFill>
                <a:latin typeface="Arial"/>
                <a:ea typeface="Arial"/>
                <a:cs typeface="Arial"/>
              </a:rPr>
              <a:t> </a:t>
            </a:r>
            <a:r>
              <a:rPr sz="1200">
                <a:solidFill>
                  <a:schemeClr val="tx1"/>
                </a:solidFill>
                <a:latin typeface="Arial"/>
                <a:ea typeface="Arial"/>
                <a:cs typeface="Arial"/>
              </a:rPr>
              <a:t>that</a:t>
            </a:r>
            <a:r>
              <a:rPr sz="1200">
                <a:solidFill>
                  <a:schemeClr val="tx1"/>
                </a:solidFill>
                <a:latin typeface="Arial"/>
                <a:ea typeface="Arial"/>
                <a:cs typeface="Arial"/>
              </a:rPr>
              <a:t> </a:t>
            </a:r>
            <a:r>
              <a:rPr sz="1200">
                <a:solidFill>
                  <a:schemeClr val="tx1"/>
                </a:solidFill>
                <a:latin typeface="Arial"/>
                <a:ea typeface="Arial"/>
                <a:cs typeface="Arial"/>
              </a:rPr>
              <a:t>summarize</a:t>
            </a:r>
            <a:r>
              <a:rPr sz="1200">
                <a:solidFill>
                  <a:schemeClr val="tx1"/>
                </a:solidFill>
                <a:latin typeface="Arial"/>
                <a:ea typeface="Arial"/>
                <a:cs typeface="Arial"/>
              </a:rPr>
              <a:t> all the </a:t>
            </a:r>
            <a:r>
              <a:rPr sz="1200">
                <a:solidFill>
                  <a:schemeClr val="tx1"/>
                </a:solidFill>
                <a:latin typeface="Arial"/>
                <a:ea typeface="Arial"/>
                <a:cs typeface="Arial"/>
              </a:rPr>
              <a:t>algorithms</a:t>
            </a:r>
            <a:r>
              <a:rPr sz="1200">
                <a:solidFill>
                  <a:schemeClr val="tx1"/>
                </a:solidFill>
                <a:latin typeface="Arial"/>
                <a:ea typeface="Arial"/>
                <a:cs typeface="Arial"/>
              </a:rPr>
              <a:t> </a:t>
            </a:r>
            <a:r>
              <a:rPr sz="1200">
                <a:solidFill>
                  <a:schemeClr val="tx1"/>
                </a:solidFill>
                <a:latin typeface="Arial"/>
                <a:ea typeface="Arial"/>
                <a:cs typeface="Arial"/>
              </a:rPr>
              <a:t>that</a:t>
            </a:r>
            <a:r>
              <a:rPr sz="1200">
                <a:solidFill>
                  <a:schemeClr val="tx1"/>
                </a:solidFill>
                <a:latin typeface="Arial"/>
                <a:ea typeface="Arial"/>
                <a:cs typeface="Arial"/>
              </a:rPr>
              <a:t> won the l2rpn challenge and </a:t>
            </a:r>
            <a:r>
              <a:rPr sz="1200">
                <a:solidFill>
                  <a:schemeClr val="tx1"/>
                </a:solidFill>
                <a:latin typeface="Arial"/>
                <a:ea typeface="Arial"/>
                <a:cs typeface="Arial"/>
              </a:rPr>
              <a:t>this</a:t>
            </a:r>
            <a:r>
              <a:rPr sz="1200">
                <a:solidFill>
                  <a:schemeClr val="tx1"/>
                </a:solidFill>
                <a:latin typeface="Arial"/>
                <a:ea typeface="Arial"/>
                <a:cs typeface="Arial"/>
              </a:rPr>
              <a:t> </a:t>
            </a:r>
            <a:r>
              <a:rPr sz="1200">
                <a:solidFill>
                  <a:schemeClr val="tx1"/>
                </a:solidFill>
                <a:latin typeface="Arial"/>
                <a:ea typeface="Arial"/>
                <a:cs typeface="Arial"/>
              </a:rPr>
              <a:t>is</a:t>
            </a:r>
            <a:r>
              <a:rPr sz="1200">
                <a:solidFill>
                  <a:schemeClr val="tx1"/>
                </a:solidFill>
                <a:latin typeface="Arial"/>
                <a:ea typeface="Arial"/>
                <a:cs typeface="Arial"/>
              </a:rPr>
              <a:t> the main </a:t>
            </a:r>
            <a:r>
              <a:rPr sz="1200">
                <a:solidFill>
                  <a:schemeClr val="tx1"/>
                </a:solidFill>
                <a:latin typeface="Arial"/>
                <a:ea typeface="Arial"/>
                <a:cs typeface="Arial"/>
              </a:rPr>
              <a:t>categories</a:t>
            </a:r>
            <a:r>
              <a:rPr sz="1200">
                <a:solidFill>
                  <a:schemeClr val="tx1"/>
                </a:solidFill>
                <a:latin typeface="Arial"/>
                <a:ea typeface="Arial"/>
                <a:cs typeface="Arial"/>
              </a:rPr>
              <a:t> of </a:t>
            </a:r>
            <a:r>
              <a:rPr sz="1200">
                <a:solidFill>
                  <a:schemeClr val="tx1"/>
                </a:solidFill>
                <a:latin typeface="Arial"/>
                <a:ea typeface="Arial"/>
                <a:cs typeface="Arial"/>
              </a:rPr>
              <a:t>succesfull</a:t>
            </a:r>
            <a:r>
              <a:rPr sz="1200">
                <a:solidFill>
                  <a:schemeClr val="tx1"/>
                </a:solidFill>
                <a:latin typeface="Arial"/>
                <a:ea typeface="Arial"/>
                <a:cs typeface="Arial"/>
              </a:rPr>
              <a:t> </a:t>
            </a:r>
            <a:r>
              <a:rPr sz="1200">
                <a:solidFill>
                  <a:schemeClr val="tx1"/>
                </a:solidFill>
                <a:latin typeface="Arial"/>
                <a:ea typeface="Arial"/>
                <a:cs typeface="Arial"/>
              </a:rPr>
              <a:t>agentthat</a:t>
            </a:r>
            <a:r>
              <a:rPr sz="1200">
                <a:solidFill>
                  <a:schemeClr val="tx1"/>
                </a:solidFill>
                <a:latin typeface="Arial"/>
                <a:ea typeface="Arial"/>
                <a:cs typeface="Arial"/>
              </a:rPr>
              <a:t> won the challenge.</a:t>
            </a:r>
          </a:p>
          <a:p xmlns:a="http://schemas.openxmlformats.org/drawingml/2006/main"/>
          <a:p xmlns:a="http://schemas.openxmlformats.org/drawingml/2006/main">
            <a:r>
              <a:rPr sz="1200">
                <a:solidFill>
                  <a:schemeClr val="tx1"/>
                </a:solidFill>
                <a:latin typeface="Arial"/>
                <a:ea typeface="Arial"/>
                <a:cs typeface="Arial"/>
              </a:rPr>
              <a:t>Some</a:t>
            </a:r>
            <a:r>
              <a:rPr sz="1200">
                <a:solidFill>
                  <a:schemeClr val="tx1"/>
                </a:solidFill>
                <a:latin typeface="Arial"/>
                <a:ea typeface="Arial"/>
                <a:cs typeface="Arial"/>
              </a:rPr>
              <a:t> </a:t>
            </a:r>
            <a:r>
              <a:rPr sz="1200">
                <a:solidFill>
                  <a:schemeClr val="tx1"/>
                </a:solidFill>
                <a:latin typeface="Arial"/>
                <a:ea typeface="Arial"/>
                <a:cs typeface="Arial"/>
              </a:rPr>
              <a:t>approaches</a:t>
            </a:r>
            <a:r>
              <a:rPr sz="1200">
                <a:solidFill>
                  <a:schemeClr val="tx1"/>
                </a:solidFill>
                <a:latin typeface="Arial"/>
                <a:ea typeface="Arial"/>
                <a:cs typeface="Arial"/>
              </a:rPr>
              <a:t> </a:t>
            </a:r>
            <a:r>
              <a:rPr sz="1200">
                <a:solidFill>
                  <a:schemeClr val="tx1"/>
                </a:solidFill>
                <a:latin typeface="Arial"/>
                <a:ea typeface="Arial"/>
                <a:cs typeface="Arial"/>
              </a:rPr>
              <a:t>rely</a:t>
            </a:r>
            <a:r>
              <a:rPr sz="1200">
                <a:solidFill>
                  <a:schemeClr val="tx1"/>
                </a:solidFill>
                <a:latin typeface="Arial"/>
                <a:ea typeface="Arial"/>
                <a:cs typeface="Arial"/>
              </a:rPr>
              <a:t> on a single global agent </a:t>
            </a:r>
            <a:r>
              <a:rPr sz="1200">
                <a:solidFill>
                  <a:schemeClr val="tx1"/>
                </a:solidFill>
                <a:latin typeface="Arial"/>
                <a:ea typeface="Arial"/>
                <a:cs typeface="Arial"/>
              </a:rPr>
              <a:t>with</a:t>
            </a:r>
            <a:r>
              <a:rPr sz="1200">
                <a:solidFill>
                  <a:schemeClr val="tx1"/>
                </a:solidFill>
                <a:latin typeface="Arial"/>
                <a:ea typeface="Arial"/>
                <a:cs typeface="Arial"/>
              </a:rPr>
              <a:t> </a:t>
            </a:r>
            <a:r>
              <a:rPr sz="1200">
                <a:solidFill>
                  <a:schemeClr val="tx1"/>
                </a:solidFill>
                <a:latin typeface="Arial"/>
                <a:ea typeface="Arial"/>
                <a:cs typeface="Arial"/>
              </a:rPr>
              <a:t>strong</a:t>
            </a:r>
            <a:r>
              <a:rPr sz="1200">
                <a:solidFill>
                  <a:schemeClr val="tx1"/>
                </a:solidFill>
                <a:latin typeface="Arial"/>
                <a:ea typeface="Arial"/>
                <a:cs typeface="Arial"/>
              </a:rPr>
              <a:t> engineering tricks.</a:t>
            </a:r>
          </a:p>
          <a:p xmlns:a="http://schemas.openxmlformats.org/drawingml/2006/main"/>
          <a:p xmlns:a="http://schemas.openxmlformats.org/drawingml/2006/main">
            <a:r>
              <a:rPr sz="1200">
                <a:solidFill>
                  <a:schemeClr val="tx1"/>
                </a:solidFill>
                <a:latin typeface="Arial"/>
                <a:ea typeface="Arial"/>
                <a:cs typeface="Arial"/>
              </a:rPr>
              <a:t>For </a:t>
            </a:r>
            <a:r>
              <a:rPr sz="1200">
                <a:solidFill>
                  <a:schemeClr val="tx1"/>
                </a:solidFill>
                <a:latin typeface="Arial"/>
                <a:ea typeface="Arial"/>
                <a:cs typeface="Arial"/>
              </a:rPr>
              <a:t>example</a:t>
            </a:r>
            <a:r>
              <a:rPr sz="1200">
                <a:solidFill>
                  <a:schemeClr val="tx1"/>
                </a:solidFill>
                <a:latin typeface="Arial"/>
                <a:ea typeface="Arial"/>
                <a:cs typeface="Arial"/>
              </a:rPr>
              <a:t>, </a:t>
            </a:r>
            <a:r>
              <a:rPr sz="1200">
                <a:solidFill>
                  <a:schemeClr val="tx1"/>
                </a:solidFill>
                <a:latin typeface="Arial"/>
                <a:ea typeface="Arial"/>
                <a:cs typeface="Arial"/>
              </a:rPr>
              <a:t>they</a:t>
            </a:r>
            <a:r>
              <a:rPr sz="1200">
                <a:solidFill>
                  <a:schemeClr val="tx1"/>
                </a:solidFill>
                <a:latin typeface="Arial"/>
                <a:ea typeface="Arial"/>
                <a:cs typeface="Arial"/>
              </a:rPr>
              <a:t> use graph neural networks </a:t>
            </a:r>
            <a:r>
              <a:rPr sz="1200">
                <a:solidFill>
                  <a:schemeClr val="tx1"/>
                </a:solidFill>
                <a:latin typeface="Arial"/>
                <a:ea typeface="Arial"/>
                <a:cs typeface="Arial"/>
              </a:rPr>
              <a:t>combined</a:t>
            </a:r>
            <a:r>
              <a:rPr sz="1200">
                <a:solidFill>
                  <a:schemeClr val="tx1"/>
                </a:solidFill>
                <a:latin typeface="Arial"/>
                <a:ea typeface="Arial"/>
                <a:cs typeface="Arial"/>
              </a:rPr>
              <a:t> </a:t>
            </a:r>
            <a:r>
              <a:rPr sz="1200">
                <a:solidFill>
                  <a:schemeClr val="tx1"/>
                </a:solidFill>
                <a:latin typeface="Arial"/>
                <a:ea typeface="Arial"/>
                <a:cs typeface="Arial"/>
              </a:rPr>
              <a:t>with</a:t>
            </a:r>
            <a:r>
              <a:rPr sz="1200">
                <a:solidFill>
                  <a:schemeClr val="tx1"/>
                </a:solidFill>
                <a:latin typeface="Arial"/>
                <a:ea typeface="Arial"/>
                <a:cs typeface="Arial"/>
              </a:rPr>
              <a:t> value-</a:t>
            </a:r>
            <a:r>
              <a:rPr sz="1200">
                <a:solidFill>
                  <a:schemeClr val="tx1"/>
                </a:solidFill>
                <a:latin typeface="Arial"/>
                <a:ea typeface="Arial"/>
                <a:cs typeface="Arial"/>
              </a:rPr>
              <a:t>based</a:t>
            </a:r>
            <a:r>
              <a:rPr sz="1200">
                <a:solidFill>
                  <a:schemeClr val="tx1"/>
                </a:solidFill>
                <a:latin typeface="Arial"/>
                <a:ea typeface="Arial"/>
                <a:cs typeface="Arial"/>
              </a:rPr>
              <a:t> RL, and </a:t>
            </a:r>
            <a:r>
              <a:rPr sz="1200">
                <a:solidFill>
                  <a:schemeClr val="tx1"/>
                </a:solidFill>
                <a:latin typeface="Arial"/>
                <a:ea typeface="Arial"/>
                <a:cs typeface="Arial"/>
              </a:rPr>
              <a:t>validate</a:t>
            </a:r>
            <a:r>
              <a:rPr sz="1200">
                <a:solidFill>
                  <a:schemeClr val="tx1"/>
                </a:solidFill>
                <a:latin typeface="Arial"/>
                <a:ea typeface="Arial"/>
                <a:cs typeface="Arial"/>
              </a:rPr>
              <a:t> actions </a:t>
            </a:r>
            <a:r>
              <a:rPr sz="1200">
                <a:solidFill>
                  <a:schemeClr val="tx1"/>
                </a:solidFill>
                <a:latin typeface="Arial"/>
                <a:ea typeface="Arial"/>
                <a:cs typeface="Arial"/>
              </a:rPr>
              <a:t>using</a:t>
            </a:r>
            <a:r>
              <a:rPr sz="1200">
                <a:solidFill>
                  <a:schemeClr val="tx1"/>
                </a:solidFill>
                <a:latin typeface="Arial"/>
                <a:ea typeface="Arial"/>
                <a:cs typeface="Arial"/>
              </a:rPr>
              <a:t> power-flow simulations.</a:t>
            </a:r>
          </a:p>
          <a:p xmlns:a="http://schemas.openxmlformats.org/drawingml/2006/main"/>
          <a:p xmlns:a="http://schemas.openxmlformats.org/drawingml/2006/main">
            <a:r>
              <a:rPr sz="1200">
                <a:solidFill>
                  <a:schemeClr val="tx1"/>
                </a:solidFill>
                <a:latin typeface="Arial"/>
                <a:ea typeface="Arial"/>
                <a:cs typeface="Arial"/>
              </a:rPr>
              <a:t>Others</a:t>
            </a:r>
            <a:r>
              <a:rPr sz="1200">
                <a:solidFill>
                  <a:schemeClr val="tx1"/>
                </a:solidFill>
                <a:latin typeface="Arial"/>
                <a:ea typeface="Arial"/>
                <a:cs typeface="Arial"/>
              </a:rPr>
              <a:t> </a:t>
            </a:r>
            <a:r>
              <a:rPr sz="1200">
                <a:solidFill>
                  <a:schemeClr val="tx1"/>
                </a:solidFill>
                <a:latin typeface="Arial"/>
                <a:ea typeface="Arial"/>
                <a:cs typeface="Arial"/>
              </a:rPr>
              <a:t>reduce</a:t>
            </a:r>
            <a:r>
              <a:rPr sz="1200">
                <a:solidFill>
                  <a:schemeClr val="tx1"/>
                </a:solidFill>
                <a:latin typeface="Arial"/>
                <a:ea typeface="Arial"/>
                <a:cs typeface="Arial"/>
              </a:rPr>
              <a:t> the action </a:t>
            </a:r>
            <a:r>
              <a:rPr sz="1200">
                <a:solidFill>
                  <a:schemeClr val="tx1"/>
                </a:solidFill>
                <a:latin typeface="Arial"/>
                <a:ea typeface="Arial"/>
                <a:cs typeface="Arial"/>
              </a:rPr>
              <a:t>space</a:t>
            </a:r>
            <a:r>
              <a:rPr sz="1200">
                <a:solidFill>
                  <a:schemeClr val="tx1"/>
                </a:solidFill>
                <a:latin typeface="Arial"/>
                <a:ea typeface="Arial"/>
                <a:cs typeface="Arial"/>
              </a:rPr>
              <a:t> </a:t>
            </a:r>
            <a:r>
              <a:rPr sz="1200">
                <a:solidFill>
                  <a:schemeClr val="tx1"/>
                </a:solidFill>
                <a:latin typeface="Arial"/>
                <a:ea typeface="Arial"/>
                <a:cs typeface="Arial"/>
              </a:rPr>
              <a:t>using</a:t>
            </a:r>
            <a:r>
              <a:rPr sz="1200">
                <a:solidFill>
                  <a:schemeClr val="tx1"/>
                </a:solidFill>
                <a:latin typeface="Arial"/>
                <a:ea typeface="Arial"/>
                <a:cs typeface="Arial"/>
              </a:rPr>
              <a:t> </a:t>
            </a:r>
            <a:r>
              <a:rPr sz="1200">
                <a:solidFill>
                  <a:schemeClr val="tx1"/>
                </a:solidFill>
                <a:latin typeface="Arial"/>
                <a:ea typeface="Arial"/>
                <a:cs typeface="Arial"/>
              </a:rPr>
              <a:t>masking</a:t>
            </a:r>
            <a:r>
              <a:rPr sz="1200">
                <a:solidFill>
                  <a:schemeClr val="tx1"/>
                </a:solidFill>
                <a:latin typeface="Arial"/>
                <a:ea typeface="Arial"/>
                <a:cs typeface="Arial"/>
              </a:rPr>
              <a:t> or </a:t>
            </a:r>
            <a:r>
              <a:rPr sz="1200">
                <a:solidFill>
                  <a:schemeClr val="tx1"/>
                </a:solidFill>
                <a:latin typeface="Arial"/>
                <a:ea typeface="Arial"/>
                <a:cs typeface="Arial"/>
              </a:rPr>
              <a:t>pruning</a:t>
            </a:r>
            <a:r>
              <a:rPr sz="1200">
                <a:solidFill>
                  <a:schemeClr val="tx1"/>
                </a:solidFill>
                <a:latin typeface="Arial"/>
                <a:ea typeface="Arial"/>
                <a:cs typeface="Arial"/>
              </a:rPr>
              <a:t>.</a:t>
            </a:r>
          </a:p>
          <a:p xmlns:a="http://schemas.openxmlformats.org/drawingml/2006/main"/>
          <a:p xmlns:a="http://schemas.openxmlformats.org/drawingml/2006/main">
            <a:r>
              <a:rPr sz="1200">
                <a:solidFill>
                  <a:schemeClr val="tx1"/>
                </a:solidFill>
                <a:latin typeface="Arial"/>
                <a:ea typeface="Arial"/>
                <a:cs typeface="Arial"/>
              </a:rPr>
              <a:t>These</a:t>
            </a:r>
            <a:r>
              <a:rPr sz="1200">
                <a:solidFill>
                  <a:schemeClr val="tx1"/>
                </a:solidFill>
                <a:latin typeface="Arial"/>
                <a:ea typeface="Arial"/>
                <a:cs typeface="Arial"/>
              </a:rPr>
              <a:t> </a:t>
            </a:r>
            <a:r>
              <a:rPr sz="1200">
                <a:solidFill>
                  <a:schemeClr val="tx1"/>
                </a:solidFill>
                <a:latin typeface="Arial"/>
                <a:ea typeface="Arial"/>
                <a:cs typeface="Arial"/>
              </a:rPr>
              <a:t>methods</a:t>
            </a:r>
            <a:r>
              <a:rPr sz="1200">
                <a:solidFill>
                  <a:schemeClr val="tx1"/>
                </a:solidFill>
                <a:latin typeface="Arial"/>
                <a:ea typeface="Arial"/>
                <a:cs typeface="Arial"/>
              </a:rPr>
              <a:t> can </a:t>
            </a:r>
            <a:r>
              <a:rPr sz="1200">
                <a:solidFill>
                  <a:schemeClr val="tx1"/>
                </a:solidFill>
                <a:latin typeface="Arial"/>
                <a:ea typeface="Arial"/>
                <a:cs typeface="Arial"/>
              </a:rPr>
              <a:t>work</a:t>
            </a:r>
            <a:r>
              <a:rPr sz="1200">
                <a:solidFill>
                  <a:schemeClr val="tx1"/>
                </a:solidFill>
                <a:latin typeface="Arial"/>
                <a:ea typeface="Arial"/>
                <a:cs typeface="Arial"/>
              </a:rPr>
              <a:t>, </a:t>
            </a:r>
            <a:r>
              <a:rPr sz="1200">
                <a:solidFill>
                  <a:schemeClr val="tx1"/>
                </a:solidFill>
                <a:latin typeface="Arial"/>
                <a:ea typeface="Arial"/>
                <a:cs typeface="Arial"/>
              </a:rPr>
              <a:t>so</a:t>
            </a:r>
            <a:r>
              <a:rPr sz="1200">
                <a:solidFill>
                  <a:schemeClr val="tx1"/>
                </a:solidFill>
                <a:latin typeface="Arial"/>
                <a:ea typeface="Arial"/>
                <a:cs typeface="Arial"/>
              </a:rPr>
              <a:t> </a:t>
            </a:r>
            <a:r>
              <a:rPr sz="1200">
                <a:solidFill>
                  <a:schemeClr val="tx1"/>
                </a:solidFill>
                <a:latin typeface="Arial"/>
                <a:ea typeface="Arial"/>
                <a:cs typeface="Arial"/>
              </a:rPr>
              <a:t>mixing</a:t>
            </a:r>
            <a:r>
              <a:rPr sz="1200">
                <a:solidFill>
                  <a:schemeClr val="tx1"/>
                </a:solidFill>
                <a:latin typeface="Arial"/>
                <a:ea typeface="Arial"/>
                <a:cs typeface="Arial"/>
              </a:rPr>
              <a:t> a single agent </a:t>
            </a:r>
            <a:r>
              <a:rPr sz="1200">
                <a:solidFill>
                  <a:schemeClr val="tx1"/>
                </a:solidFill>
                <a:latin typeface="Arial"/>
                <a:ea typeface="Arial"/>
                <a:cs typeface="Arial"/>
              </a:rPr>
              <a:t>with</a:t>
            </a:r>
            <a:r>
              <a:rPr sz="1200">
                <a:solidFill>
                  <a:schemeClr val="tx1"/>
                </a:solidFill>
                <a:latin typeface="Arial"/>
                <a:ea typeface="Arial"/>
                <a:cs typeface="Arial"/>
              </a:rPr>
              <a:t> </a:t>
            </a:r>
            <a:r>
              <a:rPr sz="1200">
                <a:solidFill>
                  <a:schemeClr val="tx1"/>
                </a:solidFill>
                <a:latin typeface="Arial"/>
                <a:ea typeface="Arial"/>
                <a:cs typeface="Arial"/>
              </a:rPr>
              <a:t>rules</a:t>
            </a:r>
            <a:r>
              <a:rPr sz="1200">
                <a:solidFill>
                  <a:schemeClr val="tx1"/>
                </a:solidFill>
                <a:latin typeface="Arial"/>
                <a:ea typeface="Arial"/>
                <a:cs typeface="Arial"/>
              </a:rPr>
              <a:t>, but </a:t>
            </a:r>
            <a:r>
              <a:rPr sz="1200">
                <a:solidFill>
                  <a:schemeClr val="tx1"/>
                </a:solidFill>
                <a:latin typeface="Arial"/>
                <a:ea typeface="Arial"/>
                <a:cs typeface="Arial"/>
              </a:rPr>
              <a:t>they</a:t>
            </a:r>
            <a:r>
              <a:rPr sz="1200">
                <a:solidFill>
                  <a:schemeClr val="tx1"/>
                </a:solidFill>
                <a:latin typeface="Arial"/>
                <a:ea typeface="Arial"/>
                <a:cs typeface="Arial"/>
              </a:rPr>
              <a:t> </a:t>
            </a:r>
            <a:r>
              <a:rPr sz="1200">
                <a:solidFill>
                  <a:schemeClr val="tx1"/>
                </a:solidFill>
                <a:latin typeface="Arial"/>
                <a:ea typeface="Arial"/>
                <a:cs typeface="Arial"/>
              </a:rPr>
              <a:t>suffer</a:t>
            </a:r>
            <a:r>
              <a:rPr sz="1200">
                <a:solidFill>
                  <a:schemeClr val="tx1"/>
                </a:solidFill>
                <a:latin typeface="Arial"/>
                <a:ea typeface="Arial"/>
                <a:cs typeface="Arial"/>
              </a:rPr>
              <a:t> </a:t>
            </a:r>
            <a:r>
              <a:rPr sz="1200">
                <a:solidFill>
                  <a:schemeClr val="tx1"/>
                </a:solidFill>
                <a:latin typeface="Arial"/>
                <a:ea typeface="Arial"/>
                <a:cs typeface="Arial"/>
              </a:rPr>
              <a:t>because</a:t>
            </a:r>
            <a:r>
              <a:rPr sz="1200">
                <a:solidFill>
                  <a:schemeClr val="tx1"/>
                </a:solidFill>
                <a:latin typeface="Arial"/>
                <a:ea typeface="Arial"/>
                <a:cs typeface="Arial"/>
              </a:rPr>
              <a:t> the action </a:t>
            </a:r>
            <a:r>
              <a:rPr sz="1200">
                <a:solidFill>
                  <a:schemeClr val="tx1"/>
                </a:solidFill>
                <a:latin typeface="Arial"/>
                <a:ea typeface="Arial"/>
                <a:cs typeface="Arial"/>
              </a:rPr>
              <a:t>space</a:t>
            </a:r>
            <a:r>
              <a:rPr sz="1200">
                <a:solidFill>
                  <a:schemeClr val="tx1"/>
                </a:solidFill>
                <a:latin typeface="Arial"/>
                <a:ea typeface="Arial"/>
                <a:cs typeface="Arial"/>
              </a:rPr>
              <a:t> </a:t>
            </a:r>
            <a:r>
              <a:rPr sz="1200">
                <a:solidFill>
                  <a:schemeClr val="tx1"/>
                </a:solidFill>
                <a:latin typeface="Arial"/>
                <a:ea typeface="Arial"/>
                <a:cs typeface="Arial"/>
              </a:rPr>
              <a:t>remains</a:t>
            </a:r>
            <a:r>
              <a:rPr sz="1200">
                <a:solidFill>
                  <a:schemeClr val="tx1"/>
                </a:solidFill>
                <a:latin typeface="Arial"/>
                <a:ea typeface="Arial"/>
                <a:cs typeface="Arial"/>
              </a:rPr>
              <a:t> </a:t>
            </a:r>
            <a:r>
              <a:rPr sz="1200">
                <a:solidFill>
                  <a:schemeClr val="tx1"/>
                </a:solidFill>
                <a:latin typeface="Arial"/>
                <a:ea typeface="Arial"/>
                <a:cs typeface="Arial"/>
              </a:rPr>
              <a:t>very</a:t>
            </a:r>
            <a:r>
              <a:rPr sz="1200">
                <a:solidFill>
                  <a:schemeClr val="tx1"/>
                </a:solidFill>
                <a:latin typeface="Arial"/>
                <a:ea typeface="Arial"/>
                <a:cs typeface="Arial"/>
              </a:rPr>
              <a:t> large.”</a:t>
            </a:r>
          </a:p>
          <a:p xmlns:a="http://schemas.openxmlformats.org/drawingml/2006/main"/>
          <a:p xmlns:a="http://schemas.openxmlformats.org/drawingml/2006/main">
            <a:r>
              <a:rPr sz="1200">
                <a:solidFill>
                  <a:schemeClr val="tx1"/>
                </a:solidFill>
                <a:latin typeface="Arial"/>
                <a:ea typeface="Arial"/>
                <a:cs typeface="Arial"/>
              </a:rPr>
              <a:t>Another</a:t>
            </a:r>
            <a:r>
              <a:rPr sz="1200">
                <a:solidFill>
                  <a:schemeClr val="tx1"/>
                </a:solidFill>
                <a:latin typeface="Arial"/>
                <a:ea typeface="Arial"/>
                <a:cs typeface="Arial"/>
              </a:rPr>
              <a:t> important </a:t>
            </a:r>
            <a:r>
              <a:rPr sz="1200">
                <a:solidFill>
                  <a:schemeClr val="tx1"/>
                </a:solidFill>
                <a:latin typeface="Arial"/>
                <a:ea typeface="Arial"/>
                <a:cs typeface="Arial"/>
              </a:rPr>
              <a:t>idea</a:t>
            </a:r>
            <a:r>
              <a:rPr sz="1200">
                <a:solidFill>
                  <a:schemeClr val="tx1"/>
                </a:solidFill>
                <a:latin typeface="Arial"/>
                <a:ea typeface="Arial"/>
                <a:cs typeface="Arial"/>
              </a:rPr>
              <a:t> </a:t>
            </a:r>
            <a:r>
              <a:rPr sz="1200">
                <a:solidFill>
                  <a:schemeClr val="tx1"/>
                </a:solidFill>
                <a:latin typeface="Arial"/>
                <a:ea typeface="Arial"/>
                <a:cs typeface="Arial"/>
              </a:rPr>
              <a:t>is</a:t>
            </a:r>
            <a:r>
              <a:rPr sz="1200">
                <a:solidFill>
                  <a:schemeClr val="tx1"/>
                </a:solidFill>
                <a:latin typeface="Arial"/>
                <a:ea typeface="Arial"/>
                <a:cs typeface="Arial"/>
              </a:rPr>
              <a:t> to </a:t>
            </a:r>
            <a:r>
              <a:rPr sz="1200">
                <a:solidFill>
                  <a:schemeClr val="tx1"/>
                </a:solidFill>
                <a:latin typeface="Arial"/>
                <a:ea typeface="Arial"/>
                <a:cs typeface="Arial"/>
              </a:rPr>
              <a:t>predict</a:t>
            </a:r>
            <a:r>
              <a:rPr sz="1200">
                <a:solidFill>
                  <a:schemeClr val="tx1"/>
                </a:solidFill>
                <a:latin typeface="Arial"/>
                <a:ea typeface="Arial"/>
                <a:cs typeface="Arial"/>
              </a:rPr>
              <a:t> a </a:t>
            </a:r>
            <a:r>
              <a:rPr sz="1200" b="1">
                <a:solidFill>
                  <a:schemeClr val="tx1"/>
                </a:solidFill>
                <a:latin typeface="Arial"/>
                <a:ea typeface="Arial"/>
                <a:cs typeface="Arial"/>
              </a:rPr>
              <a:t>target</a:t>
            </a:r>
            <a:r>
              <a:rPr sz="1200" b="1">
                <a:solidFill>
                  <a:schemeClr val="tx1"/>
                </a:solidFill>
                <a:latin typeface="Arial"/>
                <a:ea typeface="Arial"/>
                <a:cs typeface="Arial"/>
              </a:rPr>
              <a:t> </a:t>
            </a:r>
            <a:r>
              <a:rPr sz="1200" b="1">
                <a:solidFill>
                  <a:schemeClr val="tx1"/>
                </a:solidFill>
                <a:latin typeface="Arial"/>
                <a:ea typeface="Arial"/>
                <a:cs typeface="Arial"/>
              </a:rPr>
              <a:t>topology</a:t>
            </a:r>
            <a:r>
              <a:rPr sz="1200" b="1">
                <a:solidFill>
                  <a:schemeClr val="tx1"/>
                </a:solidFill>
                <a:latin typeface="Arial"/>
                <a:ea typeface="Arial"/>
                <a:cs typeface="Arial"/>
              </a:rPr>
              <a:t> </a:t>
            </a:r>
            <a:r>
              <a:rPr sz="1200" b="1">
                <a:solidFill>
                  <a:schemeClr val="tx1"/>
                </a:solidFill>
                <a:latin typeface="Arial"/>
                <a:ea typeface="Arial"/>
                <a:cs typeface="Arial"/>
              </a:rPr>
              <a:t>instead</a:t>
            </a:r>
            <a:r>
              <a:rPr sz="1200" b="1">
                <a:solidFill>
                  <a:schemeClr val="tx1"/>
                </a:solidFill>
                <a:latin typeface="Arial"/>
                <a:ea typeface="Arial"/>
                <a:cs typeface="Arial"/>
              </a:rPr>
              <a:t> of </a:t>
            </a:r>
            <a:r>
              <a:rPr sz="1200" b="1">
                <a:solidFill>
                  <a:schemeClr val="tx1"/>
                </a:solidFill>
                <a:latin typeface="Arial"/>
                <a:ea typeface="Arial"/>
                <a:cs typeface="Arial"/>
              </a:rPr>
              <a:t>raw</a:t>
            </a:r>
            <a:r>
              <a:rPr sz="1200" b="1">
                <a:solidFill>
                  <a:schemeClr val="tx1"/>
                </a:solidFill>
                <a:latin typeface="Arial"/>
                <a:ea typeface="Arial"/>
                <a:cs typeface="Arial"/>
              </a:rPr>
              <a:t> actions</a:t>
            </a:r>
            <a:r>
              <a:rPr sz="1200">
                <a:solidFill>
                  <a:schemeClr val="tx1"/>
                </a:solidFill>
                <a:latin typeface="Arial"/>
                <a:ea typeface="Arial"/>
                <a:cs typeface="Arial"/>
              </a:rPr>
              <a:t>.</a:t>
            </a:r>
          </a:p>
          <a:p xmlns:a="http://schemas.openxmlformats.org/drawingml/2006/main"/>
          <a:p xmlns:a="http://schemas.openxmlformats.org/drawingml/2006/main">
            <a:r>
              <a:rPr sz="1200">
                <a:solidFill>
                  <a:schemeClr val="tx1"/>
                </a:solidFill>
                <a:latin typeface="Arial"/>
                <a:ea typeface="Arial"/>
                <a:cs typeface="Arial"/>
              </a:rPr>
              <a:t>This </a:t>
            </a:r>
            <a:r>
              <a:rPr sz="1200">
                <a:solidFill>
                  <a:schemeClr val="tx1"/>
                </a:solidFill>
                <a:latin typeface="Arial"/>
                <a:ea typeface="Arial"/>
                <a:cs typeface="Arial"/>
              </a:rPr>
              <a:t>is</a:t>
            </a:r>
            <a:r>
              <a:rPr sz="1200">
                <a:solidFill>
                  <a:schemeClr val="tx1"/>
                </a:solidFill>
                <a:latin typeface="Arial"/>
                <a:ea typeface="Arial"/>
                <a:cs typeface="Arial"/>
              </a:rPr>
              <a:t> </a:t>
            </a:r>
            <a:r>
              <a:rPr sz="1200">
                <a:solidFill>
                  <a:schemeClr val="tx1"/>
                </a:solidFill>
                <a:latin typeface="Arial"/>
                <a:ea typeface="Arial"/>
                <a:cs typeface="Arial"/>
              </a:rPr>
              <a:t>used</a:t>
            </a:r>
            <a:r>
              <a:rPr sz="1200">
                <a:solidFill>
                  <a:schemeClr val="tx1"/>
                </a:solidFill>
                <a:latin typeface="Arial"/>
                <a:ea typeface="Arial"/>
                <a:cs typeface="Arial"/>
              </a:rPr>
              <a:t> in SMAAC, </a:t>
            </a:r>
            <a:r>
              <a:rPr sz="1200">
                <a:solidFill>
                  <a:schemeClr val="tx1"/>
                </a:solidFill>
                <a:latin typeface="Arial"/>
                <a:ea typeface="Arial"/>
                <a:cs typeface="Arial"/>
              </a:rPr>
              <a:t>where</a:t>
            </a:r>
            <a:r>
              <a:rPr sz="1200">
                <a:solidFill>
                  <a:schemeClr val="tx1"/>
                </a:solidFill>
                <a:latin typeface="Arial"/>
                <a:ea typeface="Arial"/>
                <a:cs typeface="Arial"/>
              </a:rPr>
              <a:t> </a:t>
            </a:r>
            <a:r>
              <a:rPr sz="1200">
                <a:solidFill>
                  <a:schemeClr val="tx1"/>
                </a:solidFill>
                <a:latin typeface="Arial"/>
                <a:ea typeface="Arial"/>
                <a:cs typeface="Arial"/>
              </a:rPr>
              <a:t>the</a:t>
            </a:r>
            <a:r>
              <a:rPr sz="1200">
                <a:solidFill>
                  <a:schemeClr val="tx1"/>
                </a:solidFill>
                <a:latin typeface="Arial"/>
                <a:ea typeface="Arial"/>
                <a:cs typeface="Arial"/>
              </a:rPr>
              <a:t> </a:t>
            </a:r>
            <a:r>
              <a:rPr sz="1200">
                <a:solidFill>
                  <a:schemeClr val="tx1"/>
                </a:solidFill>
                <a:latin typeface="Arial"/>
                <a:ea typeface="Arial"/>
                <a:cs typeface="Arial"/>
              </a:rPr>
              <a:t>agent</a:t>
            </a:r>
            <a:r>
              <a:rPr sz="1200">
                <a:solidFill>
                  <a:schemeClr val="tx1"/>
                </a:solidFill>
                <a:latin typeface="Arial"/>
                <a:ea typeface="Arial"/>
                <a:cs typeface="Arial"/>
              </a:rPr>
              <a:t> </a:t>
            </a:r>
            <a:r>
              <a:rPr sz="1200">
                <a:solidFill>
                  <a:schemeClr val="tx1"/>
                </a:solidFill>
                <a:latin typeface="Arial"/>
                <a:ea typeface="Arial"/>
                <a:cs typeface="Arial"/>
              </a:rPr>
              <a:t>learns</a:t>
            </a:r>
            <a:r>
              <a:rPr sz="1200">
                <a:solidFill>
                  <a:schemeClr val="tx1"/>
                </a:solidFill>
                <a:latin typeface="Arial"/>
                <a:ea typeface="Arial"/>
                <a:cs typeface="Arial"/>
              </a:rPr>
              <a:t> an </a:t>
            </a:r>
            <a:r>
              <a:rPr sz="1200">
                <a:solidFill>
                  <a:schemeClr val="tx1"/>
                </a:solidFill>
                <a:latin typeface="Arial"/>
                <a:ea typeface="Arial"/>
                <a:cs typeface="Arial"/>
              </a:rPr>
              <a:t>afterstate</a:t>
            </a:r>
            <a:r>
              <a:rPr sz="1200">
                <a:solidFill>
                  <a:schemeClr val="tx1"/>
                </a:solidFill>
                <a:latin typeface="Arial"/>
                <a:ea typeface="Arial"/>
                <a:cs typeface="Arial"/>
              </a:rPr>
              <a:t> </a:t>
            </a:r>
            <a:r>
              <a:rPr sz="1200">
                <a:solidFill>
                  <a:schemeClr val="tx1"/>
                </a:solidFill>
                <a:latin typeface="Arial"/>
                <a:ea typeface="Arial"/>
                <a:cs typeface="Arial"/>
              </a:rPr>
              <a:t>representation</a:t>
            </a:r>
            <a:r>
              <a:rPr sz="1200">
                <a:solidFill>
                  <a:schemeClr val="tx1"/>
                </a:solidFill>
                <a:latin typeface="Arial"/>
                <a:ea typeface="Arial"/>
                <a:cs typeface="Arial"/>
              </a:rPr>
              <a:t>—</a:t>
            </a:r>
            <a:r>
              <a:rPr sz="1200">
                <a:solidFill>
                  <a:schemeClr val="tx1"/>
                </a:solidFill>
                <a:latin typeface="Arial"/>
                <a:ea typeface="Arial"/>
                <a:cs typeface="Arial"/>
              </a:rPr>
              <a:t>basically</a:t>
            </a:r>
            <a:r>
              <a:rPr sz="1200">
                <a:solidFill>
                  <a:schemeClr val="tx1"/>
                </a:solidFill>
                <a:latin typeface="Arial"/>
                <a:ea typeface="Arial"/>
                <a:cs typeface="Arial"/>
              </a:rPr>
              <a:t> </a:t>
            </a:r>
            <a:r>
              <a:rPr sz="1200">
                <a:solidFill>
                  <a:schemeClr val="tx1"/>
                </a:solidFill>
                <a:latin typeface="Arial"/>
                <a:ea typeface="Arial"/>
                <a:cs typeface="Arial"/>
              </a:rPr>
              <a:t>the</a:t>
            </a:r>
            <a:r>
              <a:rPr sz="1200">
                <a:solidFill>
                  <a:schemeClr val="tx1"/>
                </a:solidFill>
                <a:latin typeface="Arial"/>
                <a:ea typeface="Arial"/>
                <a:cs typeface="Arial"/>
              </a:rPr>
              <a:t> </a:t>
            </a:r>
            <a:r>
              <a:rPr sz="1200">
                <a:solidFill>
                  <a:schemeClr val="tx1"/>
                </a:solidFill>
                <a:latin typeface="Arial"/>
                <a:ea typeface="Arial"/>
                <a:cs typeface="Arial"/>
              </a:rPr>
              <a:t>resulting</a:t>
            </a:r>
            <a:r>
              <a:rPr sz="1200">
                <a:solidFill>
                  <a:schemeClr val="tx1"/>
                </a:solidFill>
                <a:latin typeface="Arial"/>
                <a:ea typeface="Arial"/>
                <a:cs typeface="Arial"/>
              </a:rPr>
              <a:t> </a:t>
            </a:r>
            <a:r>
              <a:rPr sz="1200">
                <a:solidFill>
                  <a:schemeClr val="tx1"/>
                </a:solidFill>
                <a:latin typeface="Arial"/>
                <a:ea typeface="Arial"/>
                <a:cs typeface="Arial"/>
              </a:rPr>
              <a:t>topology</a:t>
            </a:r>
            <a:r>
              <a:rPr sz="1200">
                <a:solidFill>
                  <a:schemeClr val="tx1"/>
                </a:solidFill>
                <a:latin typeface="Arial"/>
                <a:ea typeface="Arial"/>
                <a:cs typeface="Arial"/>
              </a:rPr>
              <a:t> after an </a:t>
            </a:r>
            <a:r>
              <a:rPr sz="1200">
                <a:solidFill>
                  <a:schemeClr val="tx1"/>
                </a:solidFill>
                <a:latin typeface="Arial"/>
                <a:ea typeface="Arial"/>
                <a:cs typeface="Arial"/>
              </a:rPr>
              <a:t>action</a:t>
            </a:r>
            <a:r>
              <a:rPr sz="1200">
                <a:solidFill>
                  <a:schemeClr val="tx1"/>
                </a:solidFill>
                <a:latin typeface="Arial"/>
                <a:ea typeface="Arial"/>
                <a:cs typeface="Arial"/>
              </a:rPr>
              <a:t>.</a:t>
            </a:r>
          </a:p>
          <a:p xmlns:a="http://schemas.openxmlformats.org/drawingml/2006/main"/>
          <a:p xmlns:a="http://schemas.openxmlformats.org/drawingml/2006/main">
            <a:r>
              <a:rPr sz="1200">
                <a:solidFill>
                  <a:schemeClr val="tx1"/>
                </a:solidFill>
                <a:latin typeface="Arial"/>
                <a:ea typeface="Arial"/>
                <a:cs typeface="Arial"/>
              </a:rPr>
              <a:t>This </a:t>
            </a:r>
            <a:r>
              <a:rPr sz="1200">
                <a:solidFill>
                  <a:schemeClr val="tx1"/>
                </a:solidFill>
                <a:latin typeface="Arial"/>
                <a:ea typeface="Arial"/>
                <a:cs typeface="Arial"/>
              </a:rPr>
              <a:t>helps</a:t>
            </a:r>
            <a:r>
              <a:rPr sz="1200">
                <a:solidFill>
                  <a:schemeClr val="tx1"/>
                </a:solidFill>
                <a:latin typeface="Arial"/>
                <a:ea typeface="Arial"/>
                <a:cs typeface="Arial"/>
              </a:rPr>
              <a:t> </a:t>
            </a:r>
            <a:r>
              <a:rPr sz="1200">
                <a:solidFill>
                  <a:schemeClr val="tx1"/>
                </a:solidFill>
                <a:latin typeface="Arial"/>
                <a:ea typeface="Arial"/>
                <a:cs typeface="Arial"/>
              </a:rPr>
              <a:t>because</a:t>
            </a:r>
            <a:r>
              <a:rPr sz="1200">
                <a:solidFill>
                  <a:schemeClr val="tx1"/>
                </a:solidFill>
                <a:latin typeface="Arial"/>
                <a:ea typeface="Arial"/>
                <a:cs typeface="Arial"/>
              </a:rPr>
              <a:t> multiple </a:t>
            </a:r>
            <a:r>
              <a:rPr sz="1200">
                <a:solidFill>
                  <a:schemeClr val="tx1"/>
                </a:solidFill>
                <a:latin typeface="Arial"/>
                <a:ea typeface="Arial"/>
                <a:cs typeface="Arial"/>
              </a:rPr>
              <a:t>sequences</a:t>
            </a:r>
            <a:r>
              <a:rPr sz="1200">
                <a:solidFill>
                  <a:schemeClr val="tx1"/>
                </a:solidFill>
                <a:latin typeface="Arial"/>
                <a:ea typeface="Arial"/>
                <a:cs typeface="Arial"/>
              </a:rPr>
              <a:t> of actions can lead to the </a:t>
            </a:r>
            <a:r>
              <a:rPr sz="1200">
                <a:solidFill>
                  <a:schemeClr val="tx1"/>
                </a:solidFill>
                <a:latin typeface="Arial"/>
                <a:ea typeface="Arial"/>
                <a:cs typeface="Arial"/>
              </a:rPr>
              <a:t>same</a:t>
            </a:r>
            <a:r>
              <a:rPr sz="1200">
                <a:solidFill>
                  <a:schemeClr val="tx1"/>
                </a:solidFill>
                <a:latin typeface="Arial"/>
                <a:ea typeface="Arial"/>
                <a:cs typeface="Arial"/>
              </a:rPr>
              <a:t> configuration. So </a:t>
            </a:r>
            <a:r>
              <a:rPr sz="1200">
                <a:solidFill>
                  <a:schemeClr val="tx1"/>
                </a:solidFill>
                <a:latin typeface="Arial"/>
                <a:ea typeface="Arial"/>
                <a:cs typeface="Arial"/>
              </a:rPr>
              <a:t>it</a:t>
            </a:r>
            <a:r>
              <a:rPr sz="1200">
                <a:solidFill>
                  <a:schemeClr val="tx1"/>
                </a:solidFill>
                <a:latin typeface="Arial"/>
                <a:ea typeface="Arial"/>
                <a:cs typeface="Arial"/>
              </a:rPr>
              <a:t> </a:t>
            </a:r>
            <a:r>
              <a:rPr sz="1200">
                <a:solidFill>
                  <a:schemeClr val="tx1"/>
                </a:solidFill>
                <a:latin typeface="Arial"/>
                <a:ea typeface="Arial"/>
                <a:cs typeface="Arial"/>
              </a:rPr>
              <a:t>reduces</a:t>
            </a:r>
            <a:r>
              <a:rPr sz="1200">
                <a:solidFill>
                  <a:schemeClr val="tx1"/>
                </a:solidFill>
                <a:latin typeface="Arial"/>
                <a:ea typeface="Arial"/>
                <a:cs typeface="Arial"/>
              </a:rPr>
              <a:t> the action </a:t>
            </a:r>
            <a:r>
              <a:rPr sz="1200">
                <a:solidFill>
                  <a:schemeClr val="tx1"/>
                </a:solidFill>
                <a:latin typeface="Arial"/>
                <a:ea typeface="Arial"/>
                <a:cs typeface="Arial"/>
              </a:rPr>
              <a:t>space</a:t>
            </a:r>
          </a:p>
          <a:p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a:solidFill>
                  <a:schemeClr val="tx1"/>
                </a:solidFill>
                <a:latin typeface="Arial"/>
                <a:ea typeface="Arial"/>
                <a:cs typeface="Arial"/>
              </a:rPr>
              <a:t>To dive a </a:t>
            </a:r>
            <a:r>
              <a:rPr sz="1200">
                <a:solidFill>
                  <a:schemeClr val="tx1"/>
                </a:solidFill>
                <a:latin typeface="Arial"/>
                <a:ea typeface="Arial"/>
                <a:cs typeface="Arial"/>
              </a:rPr>
              <a:t>little</a:t>
            </a:r>
            <a:r>
              <a:rPr sz="1200">
                <a:solidFill>
                  <a:schemeClr val="tx1"/>
                </a:solidFill>
                <a:latin typeface="Arial"/>
                <a:ea typeface="Arial"/>
                <a:cs typeface="Arial"/>
              </a:rPr>
              <a:t> </a:t>
            </a:r>
            <a:r>
              <a:rPr sz="1200">
                <a:solidFill>
                  <a:schemeClr val="tx1"/>
                </a:solidFill>
                <a:latin typeface="Arial"/>
                <a:ea typeface="Arial"/>
                <a:cs typeface="Arial"/>
              </a:rPr>
              <a:t>deeper</a:t>
            </a:r>
            <a:r>
              <a:rPr sz="1200">
                <a:solidFill>
                  <a:schemeClr val="tx1"/>
                </a:solidFill>
                <a:latin typeface="Arial"/>
                <a:ea typeface="Arial"/>
                <a:cs typeface="Arial"/>
              </a:rPr>
              <a:t> i have been </a:t>
            </a:r>
            <a:r>
              <a:rPr sz="1200">
                <a:solidFill>
                  <a:schemeClr val="tx1"/>
                </a:solidFill>
                <a:latin typeface="Arial"/>
                <a:ea typeface="Arial"/>
                <a:cs typeface="Arial"/>
              </a:rPr>
              <a:t>looking</a:t>
            </a:r>
            <a:r>
              <a:rPr sz="1200">
                <a:solidFill>
                  <a:schemeClr val="tx1"/>
                </a:solidFill>
                <a:latin typeface="Arial"/>
                <a:ea typeface="Arial"/>
                <a:cs typeface="Arial"/>
              </a:rPr>
              <a:t> at a </a:t>
            </a:r>
            <a:r>
              <a:rPr sz="1200">
                <a:solidFill>
                  <a:schemeClr val="tx1"/>
                </a:solidFill>
                <a:latin typeface="Arial"/>
                <a:ea typeface="Arial"/>
                <a:cs typeface="Arial"/>
              </a:rPr>
              <a:t>survey</a:t>
            </a:r>
            <a:r>
              <a:rPr sz="1200">
                <a:solidFill>
                  <a:schemeClr val="tx1"/>
                </a:solidFill>
                <a:latin typeface="Arial"/>
                <a:ea typeface="Arial"/>
                <a:cs typeface="Arial"/>
              </a:rPr>
              <a:t> </a:t>
            </a:r>
            <a:r>
              <a:rPr sz="1200">
                <a:solidFill>
                  <a:schemeClr val="tx1"/>
                </a:solidFill>
                <a:latin typeface="Arial"/>
                <a:ea typeface="Arial"/>
                <a:cs typeface="Arial"/>
              </a:rPr>
              <a:t>that</a:t>
            </a:r>
            <a:r>
              <a:rPr sz="1200">
                <a:solidFill>
                  <a:schemeClr val="tx1"/>
                </a:solidFill>
                <a:latin typeface="Arial"/>
                <a:ea typeface="Arial"/>
                <a:cs typeface="Arial"/>
              </a:rPr>
              <a:t> </a:t>
            </a:r>
            <a:r>
              <a:rPr sz="1200">
                <a:solidFill>
                  <a:schemeClr val="tx1"/>
                </a:solidFill>
                <a:latin typeface="Arial"/>
                <a:ea typeface="Arial"/>
                <a:cs typeface="Arial"/>
              </a:rPr>
              <a:t>summarize</a:t>
            </a:r>
            <a:r>
              <a:rPr sz="1200">
                <a:solidFill>
                  <a:schemeClr val="tx1"/>
                </a:solidFill>
                <a:latin typeface="Arial"/>
                <a:ea typeface="Arial"/>
                <a:cs typeface="Arial"/>
              </a:rPr>
              <a:t> all the </a:t>
            </a:r>
            <a:r>
              <a:rPr sz="1200">
                <a:solidFill>
                  <a:schemeClr val="tx1"/>
                </a:solidFill>
                <a:latin typeface="Arial"/>
                <a:ea typeface="Arial"/>
                <a:cs typeface="Arial"/>
              </a:rPr>
              <a:t>algorithms</a:t>
            </a:r>
            <a:r>
              <a:rPr sz="1200">
                <a:solidFill>
                  <a:schemeClr val="tx1"/>
                </a:solidFill>
                <a:latin typeface="Arial"/>
                <a:ea typeface="Arial"/>
                <a:cs typeface="Arial"/>
              </a:rPr>
              <a:t> </a:t>
            </a:r>
            <a:r>
              <a:rPr sz="1200">
                <a:solidFill>
                  <a:schemeClr val="tx1"/>
                </a:solidFill>
                <a:latin typeface="Arial"/>
                <a:ea typeface="Arial"/>
                <a:cs typeface="Arial"/>
              </a:rPr>
              <a:t>that</a:t>
            </a:r>
            <a:r>
              <a:rPr sz="1200">
                <a:solidFill>
                  <a:schemeClr val="tx1"/>
                </a:solidFill>
                <a:latin typeface="Arial"/>
                <a:ea typeface="Arial"/>
                <a:cs typeface="Arial"/>
              </a:rPr>
              <a:t> won the l2rpn challenge and </a:t>
            </a:r>
            <a:r>
              <a:rPr sz="1200">
                <a:solidFill>
                  <a:schemeClr val="tx1"/>
                </a:solidFill>
                <a:latin typeface="Arial"/>
                <a:ea typeface="Arial"/>
                <a:cs typeface="Arial"/>
              </a:rPr>
              <a:t>this</a:t>
            </a:r>
            <a:r>
              <a:rPr sz="1200">
                <a:solidFill>
                  <a:schemeClr val="tx1"/>
                </a:solidFill>
                <a:latin typeface="Arial"/>
                <a:ea typeface="Arial"/>
                <a:cs typeface="Arial"/>
              </a:rPr>
              <a:t> </a:t>
            </a:r>
            <a:r>
              <a:rPr sz="1200">
                <a:solidFill>
                  <a:schemeClr val="tx1"/>
                </a:solidFill>
                <a:latin typeface="Arial"/>
                <a:ea typeface="Arial"/>
                <a:cs typeface="Arial"/>
              </a:rPr>
              <a:t>is</a:t>
            </a:r>
            <a:r>
              <a:rPr sz="1200">
                <a:solidFill>
                  <a:schemeClr val="tx1"/>
                </a:solidFill>
                <a:latin typeface="Arial"/>
                <a:ea typeface="Arial"/>
                <a:cs typeface="Arial"/>
              </a:rPr>
              <a:t> the main </a:t>
            </a:r>
            <a:r>
              <a:rPr sz="1200">
                <a:solidFill>
                  <a:schemeClr val="tx1"/>
                </a:solidFill>
                <a:latin typeface="Arial"/>
                <a:ea typeface="Arial"/>
                <a:cs typeface="Arial"/>
              </a:rPr>
              <a:t>categories</a:t>
            </a:r>
            <a:r>
              <a:rPr sz="1200">
                <a:solidFill>
                  <a:schemeClr val="tx1"/>
                </a:solidFill>
                <a:latin typeface="Arial"/>
                <a:ea typeface="Arial"/>
                <a:cs typeface="Arial"/>
              </a:rPr>
              <a:t> of </a:t>
            </a:r>
            <a:r>
              <a:rPr sz="1200">
                <a:solidFill>
                  <a:schemeClr val="tx1"/>
                </a:solidFill>
                <a:latin typeface="Arial"/>
                <a:ea typeface="Arial"/>
                <a:cs typeface="Arial"/>
              </a:rPr>
              <a:t>succesfull</a:t>
            </a:r>
            <a:r>
              <a:rPr sz="1200">
                <a:solidFill>
                  <a:schemeClr val="tx1"/>
                </a:solidFill>
                <a:latin typeface="Arial"/>
                <a:ea typeface="Arial"/>
                <a:cs typeface="Arial"/>
              </a:rPr>
              <a:t> </a:t>
            </a:r>
            <a:r>
              <a:rPr sz="1200">
                <a:solidFill>
                  <a:schemeClr val="tx1"/>
                </a:solidFill>
                <a:latin typeface="Arial"/>
                <a:ea typeface="Arial"/>
                <a:cs typeface="Arial"/>
              </a:rPr>
              <a:t>agentthat</a:t>
            </a:r>
            <a:r>
              <a:rPr sz="1200">
                <a:solidFill>
                  <a:schemeClr val="tx1"/>
                </a:solidFill>
                <a:latin typeface="Arial"/>
                <a:ea typeface="Arial"/>
                <a:cs typeface="Arial"/>
              </a:rPr>
              <a:t> won the challenge.</a:t>
            </a:r>
          </a:p>
          <a:p xmlns:a="http://schemas.openxmlformats.org/drawingml/2006/main"/>
          <a:p xmlns:a="http://schemas.openxmlformats.org/drawingml/2006/main">
            <a:r>
              <a:rPr sz="1200">
                <a:solidFill>
                  <a:schemeClr val="tx1"/>
                </a:solidFill>
                <a:latin typeface="Arial"/>
                <a:ea typeface="Arial"/>
                <a:cs typeface="Arial"/>
              </a:rPr>
              <a:t>Some</a:t>
            </a:r>
            <a:r>
              <a:rPr sz="1200">
                <a:solidFill>
                  <a:schemeClr val="tx1"/>
                </a:solidFill>
                <a:latin typeface="Arial"/>
                <a:ea typeface="Arial"/>
                <a:cs typeface="Arial"/>
              </a:rPr>
              <a:t> </a:t>
            </a:r>
            <a:r>
              <a:rPr sz="1200">
                <a:solidFill>
                  <a:schemeClr val="tx1"/>
                </a:solidFill>
                <a:latin typeface="Arial"/>
                <a:ea typeface="Arial"/>
                <a:cs typeface="Arial"/>
              </a:rPr>
              <a:t>approaches</a:t>
            </a:r>
            <a:r>
              <a:rPr sz="1200">
                <a:solidFill>
                  <a:schemeClr val="tx1"/>
                </a:solidFill>
                <a:latin typeface="Arial"/>
                <a:ea typeface="Arial"/>
                <a:cs typeface="Arial"/>
              </a:rPr>
              <a:t> </a:t>
            </a:r>
            <a:r>
              <a:rPr sz="1200">
                <a:solidFill>
                  <a:schemeClr val="tx1"/>
                </a:solidFill>
                <a:latin typeface="Arial"/>
                <a:ea typeface="Arial"/>
                <a:cs typeface="Arial"/>
              </a:rPr>
              <a:t>rely</a:t>
            </a:r>
            <a:r>
              <a:rPr sz="1200">
                <a:solidFill>
                  <a:schemeClr val="tx1"/>
                </a:solidFill>
                <a:latin typeface="Arial"/>
                <a:ea typeface="Arial"/>
                <a:cs typeface="Arial"/>
              </a:rPr>
              <a:t> on a single global agent </a:t>
            </a:r>
            <a:r>
              <a:rPr sz="1200">
                <a:solidFill>
                  <a:schemeClr val="tx1"/>
                </a:solidFill>
                <a:latin typeface="Arial"/>
                <a:ea typeface="Arial"/>
                <a:cs typeface="Arial"/>
              </a:rPr>
              <a:t>with</a:t>
            </a:r>
            <a:r>
              <a:rPr sz="1200">
                <a:solidFill>
                  <a:schemeClr val="tx1"/>
                </a:solidFill>
                <a:latin typeface="Arial"/>
                <a:ea typeface="Arial"/>
                <a:cs typeface="Arial"/>
              </a:rPr>
              <a:t> </a:t>
            </a:r>
            <a:r>
              <a:rPr sz="1200">
                <a:solidFill>
                  <a:schemeClr val="tx1"/>
                </a:solidFill>
                <a:latin typeface="Arial"/>
                <a:ea typeface="Arial"/>
                <a:cs typeface="Arial"/>
              </a:rPr>
              <a:t>strong</a:t>
            </a:r>
            <a:r>
              <a:rPr sz="1200">
                <a:solidFill>
                  <a:schemeClr val="tx1"/>
                </a:solidFill>
                <a:latin typeface="Arial"/>
                <a:ea typeface="Arial"/>
                <a:cs typeface="Arial"/>
              </a:rPr>
              <a:t> engineering tricks.</a:t>
            </a:r>
          </a:p>
          <a:p xmlns:a="http://schemas.openxmlformats.org/drawingml/2006/main"/>
          <a:p xmlns:a="http://schemas.openxmlformats.org/drawingml/2006/main">
            <a:r>
              <a:rPr sz="1200">
                <a:solidFill>
                  <a:schemeClr val="tx1"/>
                </a:solidFill>
                <a:latin typeface="Arial"/>
                <a:ea typeface="Arial"/>
                <a:cs typeface="Arial"/>
              </a:rPr>
              <a:t>For </a:t>
            </a:r>
            <a:r>
              <a:rPr sz="1200">
                <a:solidFill>
                  <a:schemeClr val="tx1"/>
                </a:solidFill>
                <a:latin typeface="Arial"/>
                <a:ea typeface="Arial"/>
                <a:cs typeface="Arial"/>
              </a:rPr>
              <a:t>example</a:t>
            </a:r>
            <a:r>
              <a:rPr sz="1200">
                <a:solidFill>
                  <a:schemeClr val="tx1"/>
                </a:solidFill>
                <a:latin typeface="Arial"/>
                <a:ea typeface="Arial"/>
                <a:cs typeface="Arial"/>
              </a:rPr>
              <a:t>, </a:t>
            </a:r>
            <a:r>
              <a:rPr sz="1200">
                <a:solidFill>
                  <a:schemeClr val="tx1"/>
                </a:solidFill>
                <a:latin typeface="Arial"/>
                <a:ea typeface="Arial"/>
                <a:cs typeface="Arial"/>
              </a:rPr>
              <a:t>they</a:t>
            </a:r>
            <a:r>
              <a:rPr sz="1200">
                <a:solidFill>
                  <a:schemeClr val="tx1"/>
                </a:solidFill>
                <a:latin typeface="Arial"/>
                <a:ea typeface="Arial"/>
                <a:cs typeface="Arial"/>
              </a:rPr>
              <a:t> use graph neural networks </a:t>
            </a:r>
            <a:r>
              <a:rPr sz="1200">
                <a:solidFill>
                  <a:schemeClr val="tx1"/>
                </a:solidFill>
                <a:latin typeface="Arial"/>
                <a:ea typeface="Arial"/>
                <a:cs typeface="Arial"/>
              </a:rPr>
              <a:t>combined</a:t>
            </a:r>
            <a:r>
              <a:rPr sz="1200">
                <a:solidFill>
                  <a:schemeClr val="tx1"/>
                </a:solidFill>
                <a:latin typeface="Arial"/>
                <a:ea typeface="Arial"/>
                <a:cs typeface="Arial"/>
              </a:rPr>
              <a:t> </a:t>
            </a:r>
            <a:r>
              <a:rPr sz="1200">
                <a:solidFill>
                  <a:schemeClr val="tx1"/>
                </a:solidFill>
                <a:latin typeface="Arial"/>
                <a:ea typeface="Arial"/>
                <a:cs typeface="Arial"/>
              </a:rPr>
              <a:t>with</a:t>
            </a:r>
            <a:r>
              <a:rPr sz="1200">
                <a:solidFill>
                  <a:schemeClr val="tx1"/>
                </a:solidFill>
                <a:latin typeface="Arial"/>
                <a:ea typeface="Arial"/>
                <a:cs typeface="Arial"/>
              </a:rPr>
              <a:t> value-</a:t>
            </a:r>
            <a:r>
              <a:rPr sz="1200">
                <a:solidFill>
                  <a:schemeClr val="tx1"/>
                </a:solidFill>
                <a:latin typeface="Arial"/>
                <a:ea typeface="Arial"/>
                <a:cs typeface="Arial"/>
              </a:rPr>
              <a:t>based</a:t>
            </a:r>
            <a:r>
              <a:rPr sz="1200">
                <a:solidFill>
                  <a:schemeClr val="tx1"/>
                </a:solidFill>
                <a:latin typeface="Arial"/>
                <a:ea typeface="Arial"/>
                <a:cs typeface="Arial"/>
              </a:rPr>
              <a:t> RL, and </a:t>
            </a:r>
            <a:r>
              <a:rPr sz="1200">
                <a:solidFill>
                  <a:schemeClr val="tx1"/>
                </a:solidFill>
                <a:latin typeface="Arial"/>
                <a:ea typeface="Arial"/>
                <a:cs typeface="Arial"/>
              </a:rPr>
              <a:t>validate</a:t>
            </a:r>
            <a:r>
              <a:rPr sz="1200">
                <a:solidFill>
                  <a:schemeClr val="tx1"/>
                </a:solidFill>
                <a:latin typeface="Arial"/>
                <a:ea typeface="Arial"/>
                <a:cs typeface="Arial"/>
              </a:rPr>
              <a:t> actions </a:t>
            </a:r>
            <a:r>
              <a:rPr sz="1200">
                <a:solidFill>
                  <a:schemeClr val="tx1"/>
                </a:solidFill>
                <a:latin typeface="Arial"/>
                <a:ea typeface="Arial"/>
                <a:cs typeface="Arial"/>
              </a:rPr>
              <a:t>using</a:t>
            </a:r>
            <a:r>
              <a:rPr sz="1200">
                <a:solidFill>
                  <a:schemeClr val="tx1"/>
                </a:solidFill>
                <a:latin typeface="Arial"/>
                <a:ea typeface="Arial"/>
                <a:cs typeface="Arial"/>
              </a:rPr>
              <a:t> power-flow simulations.</a:t>
            </a:r>
          </a:p>
          <a:p xmlns:a="http://schemas.openxmlformats.org/drawingml/2006/main"/>
          <a:p xmlns:a="http://schemas.openxmlformats.org/drawingml/2006/main">
            <a:r>
              <a:rPr sz="1200">
                <a:solidFill>
                  <a:schemeClr val="tx1"/>
                </a:solidFill>
                <a:latin typeface="Arial"/>
                <a:ea typeface="Arial"/>
                <a:cs typeface="Arial"/>
              </a:rPr>
              <a:t>Others</a:t>
            </a:r>
            <a:r>
              <a:rPr sz="1200">
                <a:solidFill>
                  <a:schemeClr val="tx1"/>
                </a:solidFill>
                <a:latin typeface="Arial"/>
                <a:ea typeface="Arial"/>
                <a:cs typeface="Arial"/>
              </a:rPr>
              <a:t> </a:t>
            </a:r>
            <a:r>
              <a:rPr sz="1200">
                <a:solidFill>
                  <a:schemeClr val="tx1"/>
                </a:solidFill>
                <a:latin typeface="Arial"/>
                <a:ea typeface="Arial"/>
                <a:cs typeface="Arial"/>
              </a:rPr>
              <a:t>reduce</a:t>
            </a:r>
            <a:r>
              <a:rPr sz="1200">
                <a:solidFill>
                  <a:schemeClr val="tx1"/>
                </a:solidFill>
                <a:latin typeface="Arial"/>
                <a:ea typeface="Arial"/>
                <a:cs typeface="Arial"/>
              </a:rPr>
              <a:t> the action </a:t>
            </a:r>
            <a:r>
              <a:rPr sz="1200">
                <a:solidFill>
                  <a:schemeClr val="tx1"/>
                </a:solidFill>
                <a:latin typeface="Arial"/>
                <a:ea typeface="Arial"/>
                <a:cs typeface="Arial"/>
              </a:rPr>
              <a:t>space</a:t>
            </a:r>
            <a:r>
              <a:rPr sz="1200">
                <a:solidFill>
                  <a:schemeClr val="tx1"/>
                </a:solidFill>
                <a:latin typeface="Arial"/>
                <a:ea typeface="Arial"/>
                <a:cs typeface="Arial"/>
              </a:rPr>
              <a:t> </a:t>
            </a:r>
            <a:r>
              <a:rPr sz="1200">
                <a:solidFill>
                  <a:schemeClr val="tx1"/>
                </a:solidFill>
                <a:latin typeface="Arial"/>
                <a:ea typeface="Arial"/>
                <a:cs typeface="Arial"/>
              </a:rPr>
              <a:t>using</a:t>
            </a:r>
            <a:r>
              <a:rPr sz="1200">
                <a:solidFill>
                  <a:schemeClr val="tx1"/>
                </a:solidFill>
                <a:latin typeface="Arial"/>
                <a:ea typeface="Arial"/>
                <a:cs typeface="Arial"/>
              </a:rPr>
              <a:t> </a:t>
            </a:r>
            <a:r>
              <a:rPr sz="1200">
                <a:solidFill>
                  <a:schemeClr val="tx1"/>
                </a:solidFill>
                <a:latin typeface="Arial"/>
                <a:ea typeface="Arial"/>
                <a:cs typeface="Arial"/>
              </a:rPr>
              <a:t>masking</a:t>
            </a:r>
            <a:r>
              <a:rPr sz="1200">
                <a:solidFill>
                  <a:schemeClr val="tx1"/>
                </a:solidFill>
                <a:latin typeface="Arial"/>
                <a:ea typeface="Arial"/>
                <a:cs typeface="Arial"/>
              </a:rPr>
              <a:t> or </a:t>
            </a:r>
            <a:r>
              <a:rPr sz="1200">
                <a:solidFill>
                  <a:schemeClr val="tx1"/>
                </a:solidFill>
                <a:latin typeface="Arial"/>
                <a:ea typeface="Arial"/>
                <a:cs typeface="Arial"/>
              </a:rPr>
              <a:t>pruning</a:t>
            </a:r>
            <a:r>
              <a:rPr sz="1200">
                <a:solidFill>
                  <a:schemeClr val="tx1"/>
                </a:solidFill>
                <a:latin typeface="Arial"/>
                <a:ea typeface="Arial"/>
                <a:cs typeface="Arial"/>
              </a:rPr>
              <a:t>.</a:t>
            </a:r>
          </a:p>
          <a:p xmlns:a="http://schemas.openxmlformats.org/drawingml/2006/main"/>
          <a:p xmlns:a="http://schemas.openxmlformats.org/drawingml/2006/main">
            <a:r>
              <a:rPr sz="1200">
                <a:solidFill>
                  <a:schemeClr val="tx1"/>
                </a:solidFill>
                <a:latin typeface="Arial"/>
                <a:ea typeface="Arial"/>
                <a:cs typeface="Arial"/>
              </a:rPr>
              <a:t>These</a:t>
            </a:r>
            <a:r>
              <a:rPr sz="1200">
                <a:solidFill>
                  <a:schemeClr val="tx1"/>
                </a:solidFill>
                <a:latin typeface="Arial"/>
                <a:ea typeface="Arial"/>
                <a:cs typeface="Arial"/>
              </a:rPr>
              <a:t> </a:t>
            </a:r>
            <a:r>
              <a:rPr sz="1200">
                <a:solidFill>
                  <a:schemeClr val="tx1"/>
                </a:solidFill>
                <a:latin typeface="Arial"/>
                <a:ea typeface="Arial"/>
                <a:cs typeface="Arial"/>
              </a:rPr>
              <a:t>methods</a:t>
            </a:r>
            <a:r>
              <a:rPr sz="1200">
                <a:solidFill>
                  <a:schemeClr val="tx1"/>
                </a:solidFill>
                <a:latin typeface="Arial"/>
                <a:ea typeface="Arial"/>
                <a:cs typeface="Arial"/>
              </a:rPr>
              <a:t> can </a:t>
            </a:r>
            <a:r>
              <a:rPr sz="1200">
                <a:solidFill>
                  <a:schemeClr val="tx1"/>
                </a:solidFill>
                <a:latin typeface="Arial"/>
                <a:ea typeface="Arial"/>
                <a:cs typeface="Arial"/>
              </a:rPr>
              <a:t>work</a:t>
            </a:r>
            <a:r>
              <a:rPr sz="1200">
                <a:solidFill>
                  <a:schemeClr val="tx1"/>
                </a:solidFill>
                <a:latin typeface="Arial"/>
                <a:ea typeface="Arial"/>
                <a:cs typeface="Arial"/>
              </a:rPr>
              <a:t>, </a:t>
            </a:r>
            <a:r>
              <a:rPr sz="1200">
                <a:solidFill>
                  <a:schemeClr val="tx1"/>
                </a:solidFill>
                <a:latin typeface="Arial"/>
                <a:ea typeface="Arial"/>
                <a:cs typeface="Arial"/>
              </a:rPr>
              <a:t>so</a:t>
            </a:r>
            <a:r>
              <a:rPr sz="1200">
                <a:solidFill>
                  <a:schemeClr val="tx1"/>
                </a:solidFill>
                <a:latin typeface="Arial"/>
                <a:ea typeface="Arial"/>
                <a:cs typeface="Arial"/>
              </a:rPr>
              <a:t> </a:t>
            </a:r>
            <a:r>
              <a:rPr sz="1200">
                <a:solidFill>
                  <a:schemeClr val="tx1"/>
                </a:solidFill>
                <a:latin typeface="Arial"/>
                <a:ea typeface="Arial"/>
                <a:cs typeface="Arial"/>
              </a:rPr>
              <a:t>mixing</a:t>
            </a:r>
            <a:r>
              <a:rPr sz="1200">
                <a:solidFill>
                  <a:schemeClr val="tx1"/>
                </a:solidFill>
                <a:latin typeface="Arial"/>
                <a:ea typeface="Arial"/>
                <a:cs typeface="Arial"/>
              </a:rPr>
              <a:t> a single agent </a:t>
            </a:r>
            <a:r>
              <a:rPr sz="1200">
                <a:solidFill>
                  <a:schemeClr val="tx1"/>
                </a:solidFill>
                <a:latin typeface="Arial"/>
                <a:ea typeface="Arial"/>
                <a:cs typeface="Arial"/>
              </a:rPr>
              <a:t>with</a:t>
            </a:r>
            <a:r>
              <a:rPr sz="1200">
                <a:solidFill>
                  <a:schemeClr val="tx1"/>
                </a:solidFill>
                <a:latin typeface="Arial"/>
                <a:ea typeface="Arial"/>
                <a:cs typeface="Arial"/>
              </a:rPr>
              <a:t> </a:t>
            </a:r>
            <a:r>
              <a:rPr sz="1200">
                <a:solidFill>
                  <a:schemeClr val="tx1"/>
                </a:solidFill>
                <a:latin typeface="Arial"/>
                <a:ea typeface="Arial"/>
                <a:cs typeface="Arial"/>
              </a:rPr>
              <a:t>rules</a:t>
            </a:r>
            <a:r>
              <a:rPr sz="1200">
                <a:solidFill>
                  <a:schemeClr val="tx1"/>
                </a:solidFill>
                <a:latin typeface="Arial"/>
                <a:ea typeface="Arial"/>
                <a:cs typeface="Arial"/>
              </a:rPr>
              <a:t>, but </a:t>
            </a:r>
            <a:r>
              <a:rPr sz="1200">
                <a:solidFill>
                  <a:schemeClr val="tx1"/>
                </a:solidFill>
                <a:latin typeface="Arial"/>
                <a:ea typeface="Arial"/>
                <a:cs typeface="Arial"/>
              </a:rPr>
              <a:t>they</a:t>
            </a:r>
            <a:r>
              <a:rPr sz="1200">
                <a:solidFill>
                  <a:schemeClr val="tx1"/>
                </a:solidFill>
                <a:latin typeface="Arial"/>
                <a:ea typeface="Arial"/>
                <a:cs typeface="Arial"/>
              </a:rPr>
              <a:t> </a:t>
            </a:r>
            <a:r>
              <a:rPr sz="1200">
                <a:solidFill>
                  <a:schemeClr val="tx1"/>
                </a:solidFill>
                <a:latin typeface="Arial"/>
                <a:ea typeface="Arial"/>
                <a:cs typeface="Arial"/>
              </a:rPr>
              <a:t>suffer</a:t>
            </a:r>
            <a:r>
              <a:rPr sz="1200">
                <a:solidFill>
                  <a:schemeClr val="tx1"/>
                </a:solidFill>
                <a:latin typeface="Arial"/>
                <a:ea typeface="Arial"/>
                <a:cs typeface="Arial"/>
              </a:rPr>
              <a:t> </a:t>
            </a:r>
            <a:r>
              <a:rPr sz="1200">
                <a:solidFill>
                  <a:schemeClr val="tx1"/>
                </a:solidFill>
                <a:latin typeface="Arial"/>
                <a:ea typeface="Arial"/>
                <a:cs typeface="Arial"/>
              </a:rPr>
              <a:t>because</a:t>
            </a:r>
            <a:r>
              <a:rPr sz="1200">
                <a:solidFill>
                  <a:schemeClr val="tx1"/>
                </a:solidFill>
                <a:latin typeface="Arial"/>
                <a:ea typeface="Arial"/>
                <a:cs typeface="Arial"/>
              </a:rPr>
              <a:t> the action </a:t>
            </a:r>
            <a:r>
              <a:rPr sz="1200">
                <a:solidFill>
                  <a:schemeClr val="tx1"/>
                </a:solidFill>
                <a:latin typeface="Arial"/>
                <a:ea typeface="Arial"/>
                <a:cs typeface="Arial"/>
              </a:rPr>
              <a:t>space</a:t>
            </a:r>
            <a:r>
              <a:rPr sz="1200">
                <a:solidFill>
                  <a:schemeClr val="tx1"/>
                </a:solidFill>
                <a:latin typeface="Arial"/>
                <a:ea typeface="Arial"/>
                <a:cs typeface="Arial"/>
              </a:rPr>
              <a:t> </a:t>
            </a:r>
            <a:r>
              <a:rPr sz="1200">
                <a:solidFill>
                  <a:schemeClr val="tx1"/>
                </a:solidFill>
                <a:latin typeface="Arial"/>
                <a:ea typeface="Arial"/>
                <a:cs typeface="Arial"/>
              </a:rPr>
              <a:t>remains</a:t>
            </a:r>
            <a:r>
              <a:rPr sz="1200">
                <a:solidFill>
                  <a:schemeClr val="tx1"/>
                </a:solidFill>
                <a:latin typeface="Arial"/>
                <a:ea typeface="Arial"/>
                <a:cs typeface="Arial"/>
              </a:rPr>
              <a:t> </a:t>
            </a:r>
            <a:r>
              <a:rPr sz="1200">
                <a:solidFill>
                  <a:schemeClr val="tx1"/>
                </a:solidFill>
                <a:latin typeface="Arial"/>
                <a:ea typeface="Arial"/>
                <a:cs typeface="Arial"/>
              </a:rPr>
              <a:t>very</a:t>
            </a:r>
            <a:r>
              <a:rPr sz="1200">
                <a:solidFill>
                  <a:schemeClr val="tx1"/>
                </a:solidFill>
                <a:latin typeface="Arial"/>
                <a:ea typeface="Arial"/>
                <a:cs typeface="Arial"/>
              </a:rPr>
              <a:t> large.”</a:t>
            </a:r>
          </a:p>
          <a:p xmlns:a="http://schemas.openxmlformats.org/drawingml/2006/main"/>
          <a:p xmlns:a="http://schemas.openxmlformats.org/drawingml/2006/main">
            <a:r>
              <a:rPr sz="1200">
                <a:solidFill>
                  <a:schemeClr val="tx1"/>
                </a:solidFill>
                <a:latin typeface="Arial"/>
                <a:ea typeface="Arial"/>
                <a:cs typeface="Arial"/>
              </a:rPr>
              <a:t>Another</a:t>
            </a:r>
            <a:r>
              <a:rPr sz="1200">
                <a:solidFill>
                  <a:schemeClr val="tx1"/>
                </a:solidFill>
                <a:latin typeface="Arial"/>
                <a:ea typeface="Arial"/>
                <a:cs typeface="Arial"/>
              </a:rPr>
              <a:t> important </a:t>
            </a:r>
            <a:r>
              <a:rPr sz="1200">
                <a:solidFill>
                  <a:schemeClr val="tx1"/>
                </a:solidFill>
                <a:latin typeface="Arial"/>
                <a:ea typeface="Arial"/>
                <a:cs typeface="Arial"/>
              </a:rPr>
              <a:t>idea</a:t>
            </a:r>
            <a:r>
              <a:rPr sz="1200">
                <a:solidFill>
                  <a:schemeClr val="tx1"/>
                </a:solidFill>
                <a:latin typeface="Arial"/>
                <a:ea typeface="Arial"/>
                <a:cs typeface="Arial"/>
              </a:rPr>
              <a:t> </a:t>
            </a:r>
            <a:r>
              <a:rPr sz="1200">
                <a:solidFill>
                  <a:schemeClr val="tx1"/>
                </a:solidFill>
                <a:latin typeface="Arial"/>
                <a:ea typeface="Arial"/>
                <a:cs typeface="Arial"/>
              </a:rPr>
              <a:t>is</a:t>
            </a:r>
            <a:r>
              <a:rPr sz="1200">
                <a:solidFill>
                  <a:schemeClr val="tx1"/>
                </a:solidFill>
                <a:latin typeface="Arial"/>
                <a:ea typeface="Arial"/>
                <a:cs typeface="Arial"/>
              </a:rPr>
              <a:t> to </a:t>
            </a:r>
            <a:r>
              <a:rPr sz="1200">
                <a:solidFill>
                  <a:schemeClr val="tx1"/>
                </a:solidFill>
                <a:latin typeface="Arial"/>
                <a:ea typeface="Arial"/>
                <a:cs typeface="Arial"/>
              </a:rPr>
              <a:t>predict</a:t>
            </a:r>
            <a:r>
              <a:rPr sz="1200">
                <a:solidFill>
                  <a:schemeClr val="tx1"/>
                </a:solidFill>
                <a:latin typeface="Arial"/>
                <a:ea typeface="Arial"/>
                <a:cs typeface="Arial"/>
              </a:rPr>
              <a:t> a </a:t>
            </a:r>
            <a:r>
              <a:rPr sz="1200" b="1">
                <a:solidFill>
                  <a:schemeClr val="tx1"/>
                </a:solidFill>
                <a:latin typeface="Arial"/>
                <a:ea typeface="Arial"/>
                <a:cs typeface="Arial"/>
              </a:rPr>
              <a:t>target</a:t>
            </a:r>
            <a:r>
              <a:rPr sz="1200" b="1">
                <a:solidFill>
                  <a:schemeClr val="tx1"/>
                </a:solidFill>
                <a:latin typeface="Arial"/>
                <a:ea typeface="Arial"/>
                <a:cs typeface="Arial"/>
              </a:rPr>
              <a:t> </a:t>
            </a:r>
            <a:r>
              <a:rPr sz="1200" b="1">
                <a:solidFill>
                  <a:schemeClr val="tx1"/>
                </a:solidFill>
                <a:latin typeface="Arial"/>
                <a:ea typeface="Arial"/>
                <a:cs typeface="Arial"/>
              </a:rPr>
              <a:t>topology</a:t>
            </a:r>
            <a:r>
              <a:rPr sz="1200" b="1">
                <a:solidFill>
                  <a:schemeClr val="tx1"/>
                </a:solidFill>
                <a:latin typeface="Arial"/>
                <a:ea typeface="Arial"/>
                <a:cs typeface="Arial"/>
              </a:rPr>
              <a:t> </a:t>
            </a:r>
            <a:r>
              <a:rPr sz="1200" b="1">
                <a:solidFill>
                  <a:schemeClr val="tx1"/>
                </a:solidFill>
                <a:latin typeface="Arial"/>
                <a:ea typeface="Arial"/>
                <a:cs typeface="Arial"/>
              </a:rPr>
              <a:t>instead</a:t>
            </a:r>
            <a:r>
              <a:rPr sz="1200" b="1">
                <a:solidFill>
                  <a:schemeClr val="tx1"/>
                </a:solidFill>
                <a:latin typeface="Arial"/>
                <a:ea typeface="Arial"/>
                <a:cs typeface="Arial"/>
              </a:rPr>
              <a:t> of </a:t>
            </a:r>
            <a:r>
              <a:rPr sz="1200" b="1">
                <a:solidFill>
                  <a:schemeClr val="tx1"/>
                </a:solidFill>
                <a:latin typeface="Arial"/>
                <a:ea typeface="Arial"/>
                <a:cs typeface="Arial"/>
              </a:rPr>
              <a:t>raw</a:t>
            </a:r>
            <a:r>
              <a:rPr sz="1200" b="1">
                <a:solidFill>
                  <a:schemeClr val="tx1"/>
                </a:solidFill>
                <a:latin typeface="Arial"/>
                <a:ea typeface="Arial"/>
                <a:cs typeface="Arial"/>
              </a:rPr>
              <a:t> actions</a:t>
            </a:r>
            <a:r>
              <a:rPr sz="1200">
                <a:solidFill>
                  <a:schemeClr val="tx1"/>
                </a:solidFill>
                <a:latin typeface="Arial"/>
                <a:ea typeface="Arial"/>
                <a:cs typeface="Arial"/>
              </a:rPr>
              <a:t>.</a:t>
            </a:r>
          </a:p>
          <a:p xmlns:a="http://schemas.openxmlformats.org/drawingml/2006/main"/>
          <a:p xmlns:a="http://schemas.openxmlformats.org/drawingml/2006/main">
            <a:r>
              <a:rPr sz="1200">
                <a:solidFill>
                  <a:schemeClr val="tx1"/>
                </a:solidFill>
                <a:latin typeface="Arial"/>
                <a:ea typeface="Arial"/>
                <a:cs typeface="Arial"/>
              </a:rPr>
              <a:t>This </a:t>
            </a:r>
            <a:r>
              <a:rPr sz="1200">
                <a:solidFill>
                  <a:schemeClr val="tx1"/>
                </a:solidFill>
                <a:latin typeface="Arial"/>
                <a:ea typeface="Arial"/>
                <a:cs typeface="Arial"/>
              </a:rPr>
              <a:t>is</a:t>
            </a:r>
            <a:r>
              <a:rPr sz="1200">
                <a:solidFill>
                  <a:schemeClr val="tx1"/>
                </a:solidFill>
                <a:latin typeface="Arial"/>
                <a:ea typeface="Arial"/>
                <a:cs typeface="Arial"/>
              </a:rPr>
              <a:t> </a:t>
            </a:r>
            <a:r>
              <a:rPr sz="1200">
                <a:solidFill>
                  <a:schemeClr val="tx1"/>
                </a:solidFill>
                <a:latin typeface="Arial"/>
                <a:ea typeface="Arial"/>
                <a:cs typeface="Arial"/>
              </a:rPr>
              <a:t>used</a:t>
            </a:r>
            <a:r>
              <a:rPr sz="1200">
                <a:solidFill>
                  <a:schemeClr val="tx1"/>
                </a:solidFill>
                <a:latin typeface="Arial"/>
                <a:ea typeface="Arial"/>
                <a:cs typeface="Arial"/>
              </a:rPr>
              <a:t> in SMAAC, </a:t>
            </a:r>
            <a:r>
              <a:rPr sz="1200">
                <a:solidFill>
                  <a:schemeClr val="tx1"/>
                </a:solidFill>
                <a:latin typeface="Arial"/>
                <a:ea typeface="Arial"/>
                <a:cs typeface="Arial"/>
              </a:rPr>
              <a:t>where</a:t>
            </a:r>
            <a:r>
              <a:rPr sz="1200">
                <a:solidFill>
                  <a:schemeClr val="tx1"/>
                </a:solidFill>
                <a:latin typeface="Arial"/>
                <a:ea typeface="Arial"/>
                <a:cs typeface="Arial"/>
              </a:rPr>
              <a:t> </a:t>
            </a:r>
            <a:r>
              <a:rPr sz="1200">
                <a:solidFill>
                  <a:schemeClr val="tx1"/>
                </a:solidFill>
                <a:latin typeface="Arial"/>
                <a:ea typeface="Arial"/>
                <a:cs typeface="Arial"/>
              </a:rPr>
              <a:t>the</a:t>
            </a:r>
            <a:r>
              <a:rPr sz="1200">
                <a:solidFill>
                  <a:schemeClr val="tx1"/>
                </a:solidFill>
                <a:latin typeface="Arial"/>
                <a:ea typeface="Arial"/>
                <a:cs typeface="Arial"/>
              </a:rPr>
              <a:t> </a:t>
            </a:r>
            <a:r>
              <a:rPr sz="1200">
                <a:solidFill>
                  <a:schemeClr val="tx1"/>
                </a:solidFill>
                <a:latin typeface="Arial"/>
                <a:ea typeface="Arial"/>
                <a:cs typeface="Arial"/>
              </a:rPr>
              <a:t>agent</a:t>
            </a:r>
            <a:r>
              <a:rPr sz="1200">
                <a:solidFill>
                  <a:schemeClr val="tx1"/>
                </a:solidFill>
                <a:latin typeface="Arial"/>
                <a:ea typeface="Arial"/>
                <a:cs typeface="Arial"/>
              </a:rPr>
              <a:t> </a:t>
            </a:r>
            <a:r>
              <a:rPr sz="1200">
                <a:solidFill>
                  <a:schemeClr val="tx1"/>
                </a:solidFill>
                <a:latin typeface="Arial"/>
                <a:ea typeface="Arial"/>
                <a:cs typeface="Arial"/>
              </a:rPr>
              <a:t>learns</a:t>
            </a:r>
            <a:r>
              <a:rPr sz="1200">
                <a:solidFill>
                  <a:schemeClr val="tx1"/>
                </a:solidFill>
                <a:latin typeface="Arial"/>
                <a:ea typeface="Arial"/>
                <a:cs typeface="Arial"/>
              </a:rPr>
              <a:t> an </a:t>
            </a:r>
            <a:r>
              <a:rPr sz="1200">
                <a:solidFill>
                  <a:schemeClr val="tx1"/>
                </a:solidFill>
                <a:latin typeface="Arial"/>
                <a:ea typeface="Arial"/>
                <a:cs typeface="Arial"/>
              </a:rPr>
              <a:t>afterstate</a:t>
            </a:r>
            <a:r>
              <a:rPr sz="1200">
                <a:solidFill>
                  <a:schemeClr val="tx1"/>
                </a:solidFill>
                <a:latin typeface="Arial"/>
                <a:ea typeface="Arial"/>
                <a:cs typeface="Arial"/>
              </a:rPr>
              <a:t> </a:t>
            </a:r>
            <a:r>
              <a:rPr sz="1200">
                <a:solidFill>
                  <a:schemeClr val="tx1"/>
                </a:solidFill>
                <a:latin typeface="Arial"/>
                <a:ea typeface="Arial"/>
                <a:cs typeface="Arial"/>
              </a:rPr>
              <a:t>representation</a:t>
            </a:r>
            <a:r>
              <a:rPr sz="1200">
                <a:solidFill>
                  <a:schemeClr val="tx1"/>
                </a:solidFill>
                <a:latin typeface="Arial"/>
                <a:ea typeface="Arial"/>
                <a:cs typeface="Arial"/>
              </a:rPr>
              <a:t>—</a:t>
            </a:r>
            <a:r>
              <a:rPr sz="1200">
                <a:solidFill>
                  <a:schemeClr val="tx1"/>
                </a:solidFill>
                <a:latin typeface="Arial"/>
                <a:ea typeface="Arial"/>
                <a:cs typeface="Arial"/>
              </a:rPr>
              <a:t>basically</a:t>
            </a:r>
            <a:r>
              <a:rPr sz="1200">
                <a:solidFill>
                  <a:schemeClr val="tx1"/>
                </a:solidFill>
                <a:latin typeface="Arial"/>
                <a:ea typeface="Arial"/>
                <a:cs typeface="Arial"/>
              </a:rPr>
              <a:t> </a:t>
            </a:r>
            <a:r>
              <a:rPr sz="1200">
                <a:solidFill>
                  <a:schemeClr val="tx1"/>
                </a:solidFill>
                <a:latin typeface="Arial"/>
                <a:ea typeface="Arial"/>
                <a:cs typeface="Arial"/>
              </a:rPr>
              <a:t>the</a:t>
            </a:r>
            <a:r>
              <a:rPr sz="1200">
                <a:solidFill>
                  <a:schemeClr val="tx1"/>
                </a:solidFill>
                <a:latin typeface="Arial"/>
                <a:ea typeface="Arial"/>
                <a:cs typeface="Arial"/>
              </a:rPr>
              <a:t> </a:t>
            </a:r>
            <a:r>
              <a:rPr sz="1200">
                <a:solidFill>
                  <a:schemeClr val="tx1"/>
                </a:solidFill>
                <a:latin typeface="Arial"/>
                <a:ea typeface="Arial"/>
                <a:cs typeface="Arial"/>
              </a:rPr>
              <a:t>resulting</a:t>
            </a:r>
            <a:r>
              <a:rPr sz="1200">
                <a:solidFill>
                  <a:schemeClr val="tx1"/>
                </a:solidFill>
                <a:latin typeface="Arial"/>
                <a:ea typeface="Arial"/>
                <a:cs typeface="Arial"/>
              </a:rPr>
              <a:t> </a:t>
            </a:r>
            <a:r>
              <a:rPr sz="1200">
                <a:solidFill>
                  <a:schemeClr val="tx1"/>
                </a:solidFill>
                <a:latin typeface="Arial"/>
                <a:ea typeface="Arial"/>
                <a:cs typeface="Arial"/>
              </a:rPr>
              <a:t>topology</a:t>
            </a:r>
            <a:r>
              <a:rPr sz="1200">
                <a:solidFill>
                  <a:schemeClr val="tx1"/>
                </a:solidFill>
                <a:latin typeface="Arial"/>
                <a:ea typeface="Arial"/>
                <a:cs typeface="Arial"/>
              </a:rPr>
              <a:t> after an </a:t>
            </a:r>
            <a:r>
              <a:rPr sz="1200">
                <a:solidFill>
                  <a:schemeClr val="tx1"/>
                </a:solidFill>
                <a:latin typeface="Arial"/>
                <a:ea typeface="Arial"/>
                <a:cs typeface="Arial"/>
              </a:rPr>
              <a:t>action</a:t>
            </a:r>
            <a:r>
              <a:rPr sz="1200">
                <a:solidFill>
                  <a:schemeClr val="tx1"/>
                </a:solidFill>
                <a:latin typeface="Arial"/>
                <a:ea typeface="Arial"/>
                <a:cs typeface="Arial"/>
              </a:rPr>
              <a:t>.</a:t>
            </a:r>
          </a:p>
          <a:p xmlns:a="http://schemas.openxmlformats.org/drawingml/2006/main"/>
          <a:p xmlns:a="http://schemas.openxmlformats.org/drawingml/2006/main">
            <a:r>
              <a:rPr sz="1200">
                <a:solidFill>
                  <a:schemeClr val="tx1"/>
                </a:solidFill>
                <a:latin typeface="Arial"/>
                <a:ea typeface="Arial"/>
                <a:cs typeface="Arial"/>
              </a:rPr>
              <a:t>This </a:t>
            </a:r>
            <a:r>
              <a:rPr sz="1200">
                <a:solidFill>
                  <a:schemeClr val="tx1"/>
                </a:solidFill>
                <a:latin typeface="Arial"/>
                <a:ea typeface="Arial"/>
                <a:cs typeface="Arial"/>
              </a:rPr>
              <a:t>helps</a:t>
            </a:r>
            <a:r>
              <a:rPr sz="1200">
                <a:solidFill>
                  <a:schemeClr val="tx1"/>
                </a:solidFill>
                <a:latin typeface="Arial"/>
                <a:ea typeface="Arial"/>
                <a:cs typeface="Arial"/>
              </a:rPr>
              <a:t> </a:t>
            </a:r>
            <a:r>
              <a:rPr sz="1200">
                <a:solidFill>
                  <a:schemeClr val="tx1"/>
                </a:solidFill>
                <a:latin typeface="Arial"/>
                <a:ea typeface="Arial"/>
                <a:cs typeface="Arial"/>
              </a:rPr>
              <a:t>because</a:t>
            </a:r>
            <a:r>
              <a:rPr sz="1200">
                <a:solidFill>
                  <a:schemeClr val="tx1"/>
                </a:solidFill>
                <a:latin typeface="Arial"/>
                <a:ea typeface="Arial"/>
                <a:cs typeface="Arial"/>
              </a:rPr>
              <a:t> multiple </a:t>
            </a:r>
            <a:r>
              <a:rPr sz="1200">
                <a:solidFill>
                  <a:schemeClr val="tx1"/>
                </a:solidFill>
                <a:latin typeface="Arial"/>
                <a:ea typeface="Arial"/>
                <a:cs typeface="Arial"/>
              </a:rPr>
              <a:t>sequences</a:t>
            </a:r>
            <a:r>
              <a:rPr sz="1200">
                <a:solidFill>
                  <a:schemeClr val="tx1"/>
                </a:solidFill>
                <a:latin typeface="Arial"/>
                <a:ea typeface="Arial"/>
                <a:cs typeface="Arial"/>
              </a:rPr>
              <a:t> of actions can lead to the </a:t>
            </a:r>
            <a:r>
              <a:rPr sz="1200">
                <a:solidFill>
                  <a:schemeClr val="tx1"/>
                </a:solidFill>
                <a:latin typeface="Arial"/>
                <a:ea typeface="Arial"/>
                <a:cs typeface="Arial"/>
              </a:rPr>
              <a:t>same</a:t>
            </a:r>
            <a:r>
              <a:rPr sz="1200">
                <a:solidFill>
                  <a:schemeClr val="tx1"/>
                </a:solidFill>
                <a:latin typeface="Arial"/>
                <a:ea typeface="Arial"/>
                <a:cs typeface="Arial"/>
              </a:rPr>
              <a:t> configuration. So </a:t>
            </a:r>
            <a:r>
              <a:rPr sz="1200">
                <a:solidFill>
                  <a:schemeClr val="tx1"/>
                </a:solidFill>
                <a:latin typeface="Arial"/>
                <a:ea typeface="Arial"/>
                <a:cs typeface="Arial"/>
              </a:rPr>
              <a:t>it</a:t>
            </a:r>
            <a:r>
              <a:rPr sz="1200">
                <a:solidFill>
                  <a:schemeClr val="tx1"/>
                </a:solidFill>
                <a:latin typeface="Arial"/>
                <a:ea typeface="Arial"/>
                <a:cs typeface="Arial"/>
              </a:rPr>
              <a:t> </a:t>
            </a:r>
            <a:r>
              <a:rPr sz="1200">
                <a:solidFill>
                  <a:schemeClr val="tx1"/>
                </a:solidFill>
                <a:latin typeface="Arial"/>
                <a:ea typeface="Arial"/>
                <a:cs typeface="Arial"/>
              </a:rPr>
              <a:t>reduces</a:t>
            </a:r>
            <a:r>
              <a:rPr sz="1200">
                <a:solidFill>
                  <a:schemeClr val="tx1"/>
                </a:solidFill>
                <a:latin typeface="Arial"/>
                <a:ea typeface="Arial"/>
                <a:cs typeface="Arial"/>
              </a:rPr>
              <a:t> the action </a:t>
            </a:r>
            <a:r>
              <a:rPr sz="1200">
                <a:solidFill>
                  <a:schemeClr val="tx1"/>
                </a:solidFill>
                <a:latin typeface="Arial"/>
                <a:ea typeface="Arial"/>
                <a:cs typeface="Arial"/>
              </a:rPr>
              <a:t>space</a:t>
            </a:r>
          </a:p>
          <a:p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a:solidFill>
                  <a:schemeClr val="tx1"/>
                </a:solidFill>
                <a:latin typeface="Arial"/>
                <a:ea typeface="Arial"/>
                <a:cs typeface="Arial"/>
              </a:rPr>
              <a:t>To dive a </a:t>
            </a:r>
            <a:r>
              <a:rPr sz="1200">
                <a:solidFill>
                  <a:schemeClr val="tx1"/>
                </a:solidFill>
                <a:latin typeface="Arial"/>
                <a:ea typeface="Arial"/>
                <a:cs typeface="Arial"/>
              </a:rPr>
              <a:t>little</a:t>
            </a:r>
            <a:r>
              <a:rPr sz="1200">
                <a:solidFill>
                  <a:schemeClr val="tx1"/>
                </a:solidFill>
                <a:latin typeface="Arial"/>
                <a:ea typeface="Arial"/>
                <a:cs typeface="Arial"/>
              </a:rPr>
              <a:t> </a:t>
            </a:r>
            <a:r>
              <a:rPr sz="1200">
                <a:solidFill>
                  <a:schemeClr val="tx1"/>
                </a:solidFill>
                <a:latin typeface="Arial"/>
                <a:ea typeface="Arial"/>
                <a:cs typeface="Arial"/>
              </a:rPr>
              <a:t>deeper</a:t>
            </a:r>
            <a:r>
              <a:rPr sz="1200">
                <a:solidFill>
                  <a:schemeClr val="tx1"/>
                </a:solidFill>
                <a:latin typeface="Arial"/>
                <a:ea typeface="Arial"/>
                <a:cs typeface="Arial"/>
              </a:rPr>
              <a:t> i have been </a:t>
            </a:r>
            <a:r>
              <a:rPr sz="1200">
                <a:solidFill>
                  <a:schemeClr val="tx1"/>
                </a:solidFill>
                <a:latin typeface="Arial"/>
                <a:ea typeface="Arial"/>
                <a:cs typeface="Arial"/>
              </a:rPr>
              <a:t>looking</a:t>
            </a:r>
            <a:r>
              <a:rPr sz="1200">
                <a:solidFill>
                  <a:schemeClr val="tx1"/>
                </a:solidFill>
                <a:latin typeface="Arial"/>
                <a:ea typeface="Arial"/>
                <a:cs typeface="Arial"/>
              </a:rPr>
              <a:t> at a </a:t>
            </a:r>
            <a:r>
              <a:rPr sz="1200">
                <a:solidFill>
                  <a:schemeClr val="tx1"/>
                </a:solidFill>
                <a:latin typeface="Arial"/>
                <a:ea typeface="Arial"/>
                <a:cs typeface="Arial"/>
              </a:rPr>
              <a:t>survey</a:t>
            </a:r>
            <a:r>
              <a:rPr sz="1200">
                <a:solidFill>
                  <a:schemeClr val="tx1"/>
                </a:solidFill>
                <a:latin typeface="Arial"/>
                <a:ea typeface="Arial"/>
                <a:cs typeface="Arial"/>
              </a:rPr>
              <a:t> </a:t>
            </a:r>
            <a:r>
              <a:rPr sz="1200">
                <a:solidFill>
                  <a:schemeClr val="tx1"/>
                </a:solidFill>
                <a:latin typeface="Arial"/>
                <a:ea typeface="Arial"/>
                <a:cs typeface="Arial"/>
              </a:rPr>
              <a:t>that</a:t>
            </a:r>
            <a:r>
              <a:rPr sz="1200">
                <a:solidFill>
                  <a:schemeClr val="tx1"/>
                </a:solidFill>
                <a:latin typeface="Arial"/>
                <a:ea typeface="Arial"/>
                <a:cs typeface="Arial"/>
              </a:rPr>
              <a:t> </a:t>
            </a:r>
            <a:r>
              <a:rPr sz="1200">
                <a:solidFill>
                  <a:schemeClr val="tx1"/>
                </a:solidFill>
                <a:latin typeface="Arial"/>
                <a:ea typeface="Arial"/>
                <a:cs typeface="Arial"/>
              </a:rPr>
              <a:t>summarize</a:t>
            </a:r>
            <a:r>
              <a:rPr sz="1200">
                <a:solidFill>
                  <a:schemeClr val="tx1"/>
                </a:solidFill>
                <a:latin typeface="Arial"/>
                <a:ea typeface="Arial"/>
                <a:cs typeface="Arial"/>
              </a:rPr>
              <a:t> all the </a:t>
            </a:r>
            <a:r>
              <a:rPr sz="1200">
                <a:solidFill>
                  <a:schemeClr val="tx1"/>
                </a:solidFill>
                <a:latin typeface="Arial"/>
                <a:ea typeface="Arial"/>
                <a:cs typeface="Arial"/>
              </a:rPr>
              <a:t>algorithms</a:t>
            </a:r>
            <a:r>
              <a:rPr sz="1200">
                <a:solidFill>
                  <a:schemeClr val="tx1"/>
                </a:solidFill>
                <a:latin typeface="Arial"/>
                <a:ea typeface="Arial"/>
                <a:cs typeface="Arial"/>
              </a:rPr>
              <a:t> </a:t>
            </a:r>
            <a:r>
              <a:rPr sz="1200">
                <a:solidFill>
                  <a:schemeClr val="tx1"/>
                </a:solidFill>
                <a:latin typeface="Arial"/>
                <a:ea typeface="Arial"/>
                <a:cs typeface="Arial"/>
              </a:rPr>
              <a:t>that</a:t>
            </a:r>
            <a:r>
              <a:rPr sz="1200">
                <a:solidFill>
                  <a:schemeClr val="tx1"/>
                </a:solidFill>
                <a:latin typeface="Arial"/>
                <a:ea typeface="Arial"/>
                <a:cs typeface="Arial"/>
              </a:rPr>
              <a:t> won the l2rpn challenge and </a:t>
            </a:r>
            <a:r>
              <a:rPr sz="1200">
                <a:solidFill>
                  <a:schemeClr val="tx1"/>
                </a:solidFill>
                <a:latin typeface="Arial"/>
                <a:ea typeface="Arial"/>
                <a:cs typeface="Arial"/>
              </a:rPr>
              <a:t>this</a:t>
            </a:r>
            <a:r>
              <a:rPr sz="1200">
                <a:solidFill>
                  <a:schemeClr val="tx1"/>
                </a:solidFill>
                <a:latin typeface="Arial"/>
                <a:ea typeface="Arial"/>
                <a:cs typeface="Arial"/>
              </a:rPr>
              <a:t> </a:t>
            </a:r>
            <a:r>
              <a:rPr sz="1200">
                <a:solidFill>
                  <a:schemeClr val="tx1"/>
                </a:solidFill>
                <a:latin typeface="Arial"/>
                <a:ea typeface="Arial"/>
                <a:cs typeface="Arial"/>
              </a:rPr>
              <a:t>is</a:t>
            </a:r>
            <a:r>
              <a:rPr sz="1200">
                <a:solidFill>
                  <a:schemeClr val="tx1"/>
                </a:solidFill>
                <a:latin typeface="Arial"/>
                <a:ea typeface="Arial"/>
                <a:cs typeface="Arial"/>
              </a:rPr>
              <a:t> the main </a:t>
            </a:r>
            <a:r>
              <a:rPr sz="1200">
                <a:solidFill>
                  <a:schemeClr val="tx1"/>
                </a:solidFill>
                <a:latin typeface="Arial"/>
                <a:ea typeface="Arial"/>
                <a:cs typeface="Arial"/>
              </a:rPr>
              <a:t>categories</a:t>
            </a:r>
            <a:r>
              <a:rPr sz="1200">
                <a:solidFill>
                  <a:schemeClr val="tx1"/>
                </a:solidFill>
                <a:latin typeface="Arial"/>
                <a:ea typeface="Arial"/>
                <a:cs typeface="Arial"/>
              </a:rPr>
              <a:t> of </a:t>
            </a:r>
            <a:r>
              <a:rPr sz="1200">
                <a:solidFill>
                  <a:schemeClr val="tx1"/>
                </a:solidFill>
                <a:latin typeface="Arial"/>
                <a:ea typeface="Arial"/>
                <a:cs typeface="Arial"/>
              </a:rPr>
              <a:t>succesfull</a:t>
            </a:r>
            <a:r>
              <a:rPr sz="1200">
                <a:solidFill>
                  <a:schemeClr val="tx1"/>
                </a:solidFill>
                <a:latin typeface="Arial"/>
                <a:ea typeface="Arial"/>
                <a:cs typeface="Arial"/>
              </a:rPr>
              <a:t> </a:t>
            </a:r>
            <a:r>
              <a:rPr sz="1200">
                <a:solidFill>
                  <a:schemeClr val="tx1"/>
                </a:solidFill>
                <a:latin typeface="Arial"/>
                <a:ea typeface="Arial"/>
                <a:cs typeface="Arial"/>
              </a:rPr>
              <a:t>agentthat</a:t>
            </a:r>
            <a:r>
              <a:rPr sz="1200">
                <a:solidFill>
                  <a:schemeClr val="tx1"/>
                </a:solidFill>
                <a:latin typeface="Arial"/>
                <a:ea typeface="Arial"/>
                <a:cs typeface="Arial"/>
              </a:rPr>
              <a:t> won the challenge.</a:t>
            </a:r>
          </a:p>
          <a:p xmlns:a="http://schemas.openxmlformats.org/drawingml/2006/main"/>
          <a:p xmlns:a="http://schemas.openxmlformats.org/drawingml/2006/main">
            <a:r>
              <a:rPr sz="1200">
                <a:solidFill>
                  <a:schemeClr val="tx1"/>
                </a:solidFill>
                <a:latin typeface="Arial"/>
                <a:ea typeface="Arial"/>
                <a:cs typeface="Arial"/>
              </a:rPr>
              <a:t>Some</a:t>
            </a:r>
            <a:r>
              <a:rPr sz="1200">
                <a:solidFill>
                  <a:schemeClr val="tx1"/>
                </a:solidFill>
                <a:latin typeface="Arial"/>
                <a:ea typeface="Arial"/>
                <a:cs typeface="Arial"/>
              </a:rPr>
              <a:t> </a:t>
            </a:r>
            <a:r>
              <a:rPr sz="1200">
                <a:solidFill>
                  <a:schemeClr val="tx1"/>
                </a:solidFill>
                <a:latin typeface="Arial"/>
                <a:ea typeface="Arial"/>
                <a:cs typeface="Arial"/>
              </a:rPr>
              <a:t>approaches</a:t>
            </a:r>
            <a:r>
              <a:rPr sz="1200">
                <a:solidFill>
                  <a:schemeClr val="tx1"/>
                </a:solidFill>
                <a:latin typeface="Arial"/>
                <a:ea typeface="Arial"/>
                <a:cs typeface="Arial"/>
              </a:rPr>
              <a:t> </a:t>
            </a:r>
            <a:r>
              <a:rPr sz="1200">
                <a:solidFill>
                  <a:schemeClr val="tx1"/>
                </a:solidFill>
                <a:latin typeface="Arial"/>
                <a:ea typeface="Arial"/>
                <a:cs typeface="Arial"/>
              </a:rPr>
              <a:t>rely</a:t>
            </a:r>
            <a:r>
              <a:rPr sz="1200">
                <a:solidFill>
                  <a:schemeClr val="tx1"/>
                </a:solidFill>
                <a:latin typeface="Arial"/>
                <a:ea typeface="Arial"/>
                <a:cs typeface="Arial"/>
              </a:rPr>
              <a:t> on a single global agent </a:t>
            </a:r>
            <a:r>
              <a:rPr sz="1200">
                <a:solidFill>
                  <a:schemeClr val="tx1"/>
                </a:solidFill>
                <a:latin typeface="Arial"/>
                <a:ea typeface="Arial"/>
                <a:cs typeface="Arial"/>
              </a:rPr>
              <a:t>with</a:t>
            </a:r>
            <a:r>
              <a:rPr sz="1200">
                <a:solidFill>
                  <a:schemeClr val="tx1"/>
                </a:solidFill>
                <a:latin typeface="Arial"/>
                <a:ea typeface="Arial"/>
                <a:cs typeface="Arial"/>
              </a:rPr>
              <a:t> </a:t>
            </a:r>
            <a:r>
              <a:rPr sz="1200">
                <a:solidFill>
                  <a:schemeClr val="tx1"/>
                </a:solidFill>
                <a:latin typeface="Arial"/>
                <a:ea typeface="Arial"/>
                <a:cs typeface="Arial"/>
              </a:rPr>
              <a:t>strong</a:t>
            </a:r>
            <a:r>
              <a:rPr sz="1200">
                <a:solidFill>
                  <a:schemeClr val="tx1"/>
                </a:solidFill>
                <a:latin typeface="Arial"/>
                <a:ea typeface="Arial"/>
                <a:cs typeface="Arial"/>
              </a:rPr>
              <a:t> engineering tricks.</a:t>
            </a:r>
          </a:p>
          <a:p xmlns:a="http://schemas.openxmlformats.org/drawingml/2006/main"/>
          <a:p xmlns:a="http://schemas.openxmlformats.org/drawingml/2006/main">
            <a:r>
              <a:rPr sz="1200">
                <a:solidFill>
                  <a:schemeClr val="tx1"/>
                </a:solidFill>
                <a:latin typeface="Arial"/>
                <a:ea typeface="Arial"/>
                <a:cs typeface="Arial"/>
              </a:rPr>
              <a:t>For </a:t>
            </a:r>
            <a:r>
              <a:rPr sz="1200">
                <a:solidFill>
                  <a:schemeClr val="tx1"/>
                </a:solidFill>
                <a:latin typeface="Arial"/>
                <a:ea typeface="Arial"/>
                <a:cs typeface="Arial"/>
              </a:rPr>
              <a:t>example</a:t>
            </a:r>
            <a:r>
              <a:rPr sz="1200">
                <a:solidFill>
                  <a:schemeClr val="tx1"/>
                </a:solidFill>
                <a:latin typeface="Arial"/>
                <a:ea typeface="Arial"/>
                <a:cs typeface="Arial"/>
              </a:rPr>
              <a:t>, </a:t>
            </a:r>
            <a:r>
              <a:rPr sz="1200">
                <a:solidFill>
                  <a:schemeClr val="tx1"/>
                </a:solidFill>
                <a:latin typeface="Arial"/>
                <a:ea typeface="Arial"/>
                <a:cs typeface="Arial"/>
              </a:rPr>
              <a:t>they</a:t>
            </a:r>
            <a:r>
              <a:rPr sz="1200">
                <a:solidFill>
                  <a:schemeClr val="tx1"/>
                </a:solidFill>
                <a:latin typeface="Arial"/>
                <a:ea typeface="Arial"/>
                <a:cs typeface="Arial"/>
              </a:rPr>
              <a:t> use graph neural networks </a:t>
            </a:r>
            <a:r>
              <a:rPr sz="1200">
                <a:solidFill>
                  <a:schemeClr val="tx1"/>
                </a:solidFill>
                <a:latin typeface="Arial"/>
                <a:ea typeface="Arial"/>
                <a:cs typeface="Arial"/>
              </a:rPr>
              <a:t>combined</a:t>
            </a:r>
            <a:r>
              <a:rPr sz="1200">
                <a:solidFill>
                  <a:schemeClr val="tx1"/>
                </a:solidFill>
                <a:latin typeface="Arial"/>
                <a:ea typeface="Arial"/>
                <a:cs typeface="Arial"/>
              </a:rPr>
              <a:t> </a:t>
            </a:r>
            <a:r>
              <a:rPr sz="1200">
                <a:solidFill>
                  <a:schemeClr val="tx1"/>
                </a:solidFill>
                <a:latin typeface="Arial"/>
                <a:ea typeface="Arial"/>
                <a:cs typeface="Arial"/>
              </a:rPr>
              <a:t>with</a:t>
            </a:r>
            <a:r>
              <a:rPr sz="1200">
                <a:solidFill>
                  <a:schemeClr val="tx1"/>
                </a:solidFill>
                <a:latin typeface="Arial"/>
                <a:ea typeface="Arial"/>
                <a:cs typeface="Arial"/>
              </a:rPr>
              <a:t> value-</a:t>
            </a:r>
            <a:r>
              <a:rPr sz="1200">
                <a:solidFill>
                  <a:schemeClr val="tx1"/>
                </a:solidFill>
                <a:latin typeface="Arial"/>
                <a:ea typeface="Arial"/>
                <a:cs typeface="Arial"/>
              </a:rPr>
              <a:t>based</a:t>
            </a:r>
            <a:r>
              <a:rPr sz="1200">
                <a:solidFill>
                  <a:schemeClr val="tx1"/>
                </a:solidFill>
                <a:latin typeface="Arial"/>
                <a:ea typeface="Arial"/>
                <a:cs typeface="Arial"/>
              </a:rPr>
              <a:t> RL, and </a:t>
            </a:r>
            <a:r>
              <a:rPr sz="1200">
                <a:solidFill>
                  <a:schemeClr val="tx1"/>
                </a:solidFill>
                <a:latin typeface="Arial"/>
                <a:ea typeface="Arial"/>
                <a:cs typeface="Arial"/>
              </a:rPr>
              <a:t>validate</a:t>
            </a:r>
            <a:r>
              <a:rPr sz="1200">
                <a:solidFill>
                  <a:schemeClr val="tx1"/>
                </a:solidFill>
                <a:latin typeface="Arial"/>
                <a:ea typeface="Arial"/>
                <a:cs typeface="Arial"/>
              </a:rPr>
              <a:t> actions </a:t>
            </a:r>
            <a:r>
              <a:rPr sz="1200">
                <a:solidFill>
                  <a:schemeClr val="tx1"/>
                </a:solidFill>
                <a:latin typeface="Arial"/>
                <a:ea typeface="Arial"/>
                <a:cs typeface="Arial"/>
              </a:rPr>
              <a:t>using</a:t>
            </a:r>
            <a:r>
              <a:rPr sz="1200">
                <a:solidFill>
                  <a:schemeClr val="tx1"/>
                </a:solidFill>
                <a:latin typeface="Arial"/>
                <a:ea typeface="Arial"/>
                <a:cs typeface="Arial"/>
              </a:rPr>
              <a:t> power-flow simulations.</a:t>
            </a:r>
          </a:p>
          <a:p xmlns:a="http://schemas.openxmlformats.org/drawingml/2006/main"/>
          <a:p xmlns:a="http://schemas.openxmlformats.org/drawingml/2006/main">
            <a:r>
              <a:rPr sz="1200">
                <a:solidFill>
                  <a:schemeClr val="tx1"/>
                </a:solidFill>
                <a:latin typeface="Arial"/>
                <a:ea typeface="Arial"/>
                <a:cs typeface="Arial"/>
              </a:rPr>
              <a:t>Others</a:t>
            </a:r>
            <a:r>
              <a:rPr sz="1200">
                <a:solidFill>
                  <a:schemeClr val="tx1"/>
                </a:solidFill>
                <a:latin typeface="Arial"/>
                <a:ea typeface="Arial"/>
                <a:cs typeface="Arial"/>
              </a:rPr>
              <a:t> </a:t>
            </a:r>
            <a:r>
              <a:rPr sz="1200">
                <a:solidFill>
                  <a:schemeClr val="tx1"/>
                </a:solidFill>
                <a:latin typeface="Arial"/>
                <a:ea typeface="Arial"/>
                <a:cs typeface="Arial"/>
              </a:rPr>
              <a:t>reduce</a:t>
            </a:r>
            <a:r>
              <a:rPr sz="1200">
                <a:solidFill>
                  <a:schemeClr val="tx1"/>
                </a:solidFill>
                <a:latin typeface="Arial"/>
                <a:ea typeface="Arial"/>
                <a:cs typeface="Arial"/>
              </a:rPr>
              <a:t> the action </a:t>
            </a:r>
            <a:r>
              <a:rPr sz="1200">
                <a:solidFill>
                  <a:schemeClr val="tx1"/>
                </a:solidFill>
                <a:latin typeface="Arial"/>
                <a:ea typeface="Arial"/>
                <a:cs typeface="Arial"/>
              </a:rPr>
              <a:t>space</a:t>
            </a:r>
            <a:r>
              <a:rPr sz="1200">
                <a:solidFill>
                  <a:schemeClr val="tx1"/>
                </a:solidFill>
                <a:latin typeface="Arial"/>
                <a:ea typeface="Arial"/>
                <a:cs typeface="Arial"/>
              </a:rPr>
              <a:t> </a:t>
            </a:r>
            <a:r>
              <a:rPr sz="1200">
                <a:solidFill>
                  <a:schemeClr val="tx1"/>
                </a:solidFill>
                <a:latin typeface="Arial"/>
                <a:ea typeface="Arial"/>
                <a:cs typeface="Arial"/>
              </a:rPr>
              <a:t>using</a:t>
            </a:r>
            <a:r>
              <a:rPr sz="1200">
                <a:solidFill>
                  <a:schemeClr val="tx1"/>
                </a:solidFill>
                <a:latin typeface="Arial"/>
                <a:ea typeface="Arial"/>
                <a:cs typeface="Arial"/>
              </a:rPr>
              <a:t> </a:t>
            </a:r>
            <a:r>
              <a:rPr sz="1200">
                <a:solidFill>
                  <a:schemeClr val="tx1"/>
                </a:solidFill>
                <a:latin typeface="Arial"/>
                <a:ea typeface="Arial"/>
                <a:cs typeface="Arial"/>
              </a:rPr>
              <a:t>masking</a:t>
            </a:r>
            <a:r>
              <a:rPr sz="1200">
                <a:solidFill>
                  <a:schemeClr val="tx1"/>
                </a:solidFill>
                <a:latin typeface="Arial"/>
                <a:ea typeface="Arial"/>
                <a:cs typeface="Arial"/>
              </a:rPr>
              <a:t> or </a:t>
            </a:r>
            <a:r>
              <a:rPr sz="1200">
                <a:solidFill>
                  <a:schemeClr val="tx1"/>
                </a:solidFill>
                <a:latin typeface="Arial"/>
                <a:ea typeface="Arial"/>
                <a:cs typeface="Arial"/>
              </a:rPr>
              <a:t>pruning</a:t>
            </a:r>
            <a:r>
              <a:rPr sz="1200">
                <a:solidFill>
                  <a:schemeClr val="tx1"/>
                </a:solidFill>
                <a:latin typeface="Arial"/>
                <a:ea typeface="Arial"/>
                <a:cs typeface="Arial"/>
              </a:rPr>
              <a:t>.</a:t>
            </a:r>
          </a:p>
          <a:p xmlns:a="http://schemas.openxmlformats.org/drawingml/2006/main"/>
          <a:p xmlns:a="http://schemas.openxmlformats.org/drawingml/2006/main">
            <a:r>
              <a:rPr sz="1200">
                <a:solidFill>
                  <a:schemeClr val="tx1"/>
                </a:solidFill>
                <a:latin typeface="Arial"/>
                <a:ea typeface="Arial"/>
                <a:cs typeface="Arial"/>
              </a:rPr>
              <a:t>These</a:t>
            </a:r>
            <a:r>
              <a:rPr sz="1200">
                <a:solidFill>
                  <a:schemeClr val="tx1"/>
                </a:solidFill>
                <a:latin typeface="Arial"/>
                <a:ea typeface="Arial"/>
                <a:cs typeface="Arial"/>
              </a:rPr>
              <a:t> </a:t>
            </a:r>
            <a:r>
              <a:rPr sz="1200">
                <a:solidFill>
                  <a:schemeClr val="tx1"/>
                </a:solidFill>
                <a:latin typeface="Arial"/>
                <a:ea typeface="Arial"/>
                <a:cs typeface="Arial"/>
              </a:rPr>
              <a:t>methods</a:t>
            </a:r>
            <a:r>
              <a:rPr sz="1200">
                <a:solidFill>
                  <a:schemeClr val="tx1"/>
                </a:solidFill>
                <a:latin typeface="Arial"/>
                <a:ea typeface="Arial"/>
                <a:cs typeface="Arial"/>
              </a:rPr>
              <a:t> can </a:t>
            </a:r>
            <a:r>
              <a:rPr sz="1200">
                <a:solidFill>
                  <a:schemeClr val="tx1"/>
                </a:solidFill>
                <a:latin typeface="Arial"/>
                <a:ea typeface="Arial"/>
                <a:cs typeface="Arial"/>
              </a:rPr>
              <a:t>work</a:t>
            </a:r>
            <a:r>
              <a:rPr sz="1200">
                <a:solidFill>
                  <a:schemeClr val="tx1"/>
                </a:solidFill>
                <a:latin typeface="Arial"/>
                <a:ea typeface="Arial"/>
                <a:cs typeface="Arial"/>
              </a:rPr>
              <a:t>, </a:t>
            </a:r>
            <a:r>
              <a:rPr sz="1200">
                <a:solidFill>
                  <a:schemeClr val="tx1"/>
                </a:solidFill>
                <a:latin typeface="Arial"/>
                <a:ea typeface="Arial"/>
                <a:cs typeface="Arial"/>
              </a:rPr>
              <a:t>so</a:t>
            </a:r>
            <a:r>
              <a:rPr sz="1200">
                <a:solidFill>
                  <a:schemeClr val="tx1"/>
                </a:solidFill>
                <a:latin typeface="Arial"/>
                <a:ea typeface="Arial"/>
                <a:cs typeface="Arial"/>
              </a:rPr>
              <a:t> </a:t>
            </a:r>
            <a:r>
              <a:rPr sz="1200">
                <a:solidFill>
                  <a:schemeClr val="tx1"/>
                </a:solidFill>
                <a:latin typeface="Arial"/>
                <a:ea typeface="Arial"/>
                <a:cs typeface="Arial"/>
              </a:rPr>
              <a:t>mixing</a:t>
            </a:r>
            <a:r>
              <a:rPr sz="1200">
                <a:solidFill>
                  <a:schemeClr val="tx1"/>
                </a:solidFill>
                <a:latin typeface="Arial"/>
                <a:ea typeface="Arial"/>
                <a:cs typeface="Arial"/>
              </a:rPr>
              <a:t> a single agent </a:t>
            </a:r>
            <a:r>
              <a:rPr sz="1200">
                <a:solidFill>
                  <a:schemeClr val="tx1"/>
                </a:solidFill>
                <a:latin typeface="Arial"/>
                <a:ea typeface="Arial"/>
                <a:cs typeface="Arial"/>
              </a:rPr>
              <a:t>with</a:t>
            </a:r>
            <a:r>
              <a:rPr sz="1200">
                <a:solidFill>
                  <a:schemeClr val="tx1"/>
                </a:solidFill>
                <a:latin typeface="Arial"/>
                <a:ea typeface="Arial"/>
                <a:cs typeface="Arial"/>
              </a:rPr>
              <a:t> </a:t>
            </a:r>
            <a:r>
              <a:rPr sz="1200">
                <a:solidFill>
                  <a:schemeClr val="tx1"/>
                </a:solidFill>
                <a:latin typeface="Arial"/>
                <a:ea typeface="Arial"/>
                <a:cs typeface="Arial"/>
              </a:rPr>
              <a:t>rules</a:t>
            </a:r>
            <a:r>
              <a:rPr sz="1200">
                <a:solidFill>
                  <a:schemeClr val="tx1"/>
                </a:solidFill>
                <a:latin typeface="Arial"/>
                <a:ea typeface="Arial"/>
                <a:cs typeface="Arial"/>
              </a:rPr>
              <a:t>, but </a:t>
            </a:r>
            <a:r>
              <a:rPr sz="1200">
                <a:solidFill>
                  <a:schemeClr val="tx1"/>
                </a:solidFill>
                <a:latin typeface="Arial"/>
                <a:ea typeface="Arial"/>
                <a:cs typeface="Arial"/>
              </a:rPr>
              <a:t>they</a:t>
            </a:r>
            <a:r>
              <a:rPr sz="1200">
                <a:solidFill>
                  <a:schemeClr val="tx1"/>
                </a:solidFill>
                <a:latin typeface="Arial"/>
                <a:ea typeface="Arial"/>
                <a:cs typeface="Arial"/>
              </a:rPr>
              <a:t> </a:t>
            </a:r>
            <a:r>
              <a:rPr sz="1200">
                <a:solidFill>
                  <a:schemeClr val="tx1"/>
                </a:solidFill>
                <a:latin typeface="Arial"/>
                <a:ea typeface="Arial"/>
                <a:cs typeface="Arial"/>
              </a:rPr>
              <a:t>suffer</a:t>
            </a:r>
            <a:r>
              <a:rPr sz="1200">
                <a:solidFill>
                  <a:schemeClr val="tx1"/>
                </a:solidFill>
                <a:latin typeface="Arial"/>
                <a:ea typeface="Arial"/>
                <a:cs typeface="Arial"/>
              </a:rPr>
              <a:t> </a:t>
            </a:r>
            <a:r>
              <a:rPr sz="1200">
                <a:solidFill>
                  <a:schemeClr val="tx1"/>
                </a:solidFill>
                <a:latin typeface="Arial"/>
                <a:ea typeface="Arial"/>
                <a:cs typeface="Arial"/>
              </a:rPr>
              <a:t>because</a:t>
            </a:r>
            <a:r>
              <a:rPr sz="1200">
                <a:solidFill>
                  <a:schemeClr val="tx1"/>
                </a:solidFill>
                <a:latin typeface="Arial"/>
                <a:ea typeface="Arial"/>
                <a:cs typeface="Arial"/>
              </a:rPr>
              <a:t> the action </a:t>
            </a:r>
            <a:r>
              <a:rPr sz="1200">
                <a:solidFill>
                  <a:schemeClr val="tx1"/>
                </a:solidFill>
                <a:latin typeface="Arial"/>
                <a:ea typeface="Arial"/>
                <a:cs typeface="Arial"/>
              </a:rPr>
              <a:t>space</a:t>
            </a:r>
            <a:r>
              <a:rPr sz="1200">
                <a:solidFill>
                  <a:schemeClr val="tx1"/>
                </a:solidFill>
                <a:latin typeface="Arial"/>
                <a:ea typeface="Arial"/>
                <a:cs typeface="Arial"/>
              </a:rPr>
              <a:t> </a:t>
            </a:r>
            <a:r>
              <a:rPr sz="1200">
                <a:solidFill>
                  <a:schemeClr val="tx1"/>
                </a:solidFill>
                <a:latin typeface="Arial"/>
                <a:ea typeface="Arial"/>
                <a:cs typeface="Arial"/>
              </a:rPr>
              <a:t>remains</a:t>
            </a:r>
            <a:r>
              <a:rPr sz="1200">
                <a:solidFill>
                  <a:schemeClr val="tx1"/>
                </a:solidFill>
                <a:latin typeface="Arial"/>
                <a:ea typeface="Arial"/>
                <a:cs typeface="Arial"/>
              </a:rPr>
              <a:t> </a:t>
            </a:r>
            <a:r>
              <a:rPr sz="1200">
                <a:solidFill>
                  <a:schemeClr val="tx1"/>
                </a:solidFill>
                <a:latin typeface="Arial"/>
                <a:ea typeface="Arial"/>
                <a:cs typeface="Arial"/>
              </a:rPr>
              <a:t>very</a:t>
            </a:r>
            <a:r>
              <a:rPr sz="1200">
                <a:solidFill>
                  <a:schemeClr val="tx1"/>
                </a:solidFill>
                <a:latin typeface="Arial"/>
                <a:ea typeface="Arial"/>
                <a:cs typeface="Arial"/>
              </a:rPr>
              <a:t> large.”</a:t>
            </a:r>
          </a:p>
          <a:p xmlns:a="http://schemas.openxmlformats.org/drawingml/2006/main"/>
          <a:p xmlns:a="http://schemas.openxmlformats.org/drawingml/2006/main">
            <a:r>
              <a:rPr sz="1200">
                <a:solidFill>
                  <a:schemeClr val="tx1"/>
                </a:solidFill>
                <a:latin typeface="Arial"/>
                <a:ea typeface="Arial"/>
                <a:cs typeface="Arial"/>
              </a:rPr>
              <a:t>Another</a:t>
            </a:r>
            <a:r>
              <a:rPr sz="1200">
                <a:solidFill>
                  <a:schemeClr val="tx1"/>
                </a:solidFill>
                <a:latin typeface="Arial"/>
                <a:ea typeface="Arial"/>
                <a:cs typeface="Arial"/>
              </a:rPr>
              <a:t> important </a:t>
            </a:r>
            <a:r>
              <a:rPr sz="1200">
                <a:solidFill>
                  <a:schemeClr val="tx1"/>
                </a:solidFill>
                <a:latin typeface="Arial"/>
                <a:ea typeface="Arial"/>
                <a:cs typeface="Arial"/>
              </a:rPr>
              <a:t>idea</a:t>
            </a:r>
            <a:r>
              <a:rPr sz="1200">
                <a:solidFill>
                  <a:schemeClr val="tx1"/>
                </a:solidFill>
                <a:latin typeface="Arial"/>
                <a:ea typeface="Arial"/>
                <a:cs typeface="Arial"/>
              </a:rPr>
              <a:t> </a:t>
            </a:r>
            <a:r>
              <a:rPr sz="1200">
                <a:solidFill>
                  <a:schemeClr val="tx1"/>
                </a:solidFill>
                <a:latin typeface="Arial"/>
                <a:ea typeface="Arial"/>
                <a:cs typeface="Arial"/>
              </a:rPr>
              <a:t>is</a:t>
            </a:r>
            <a:r>
              <a:rPr sz="1200">
                <a:solidFill>
                  <a:schemeClr val="tx1"/>
                </a:solidFill>
                <a:latin typeface="Arial"/>
                <a:ea typeface="Arial"/>
                <a:cs typeface="Arial"/>
              </a:rPr>
              <a:t> to </a:t>
            </a:r>
            <a:r>
              <a:rPr sz="1200">
                <a:solidFill>
                  <a:schemeClr val="tx1"/>
                </a:solidFill>
                <a:latin typeface="Arial"/>
                <a:ea typeface="Arial"/>
                <a:cs typeface="Arial"/>
              </a:rPr>
              <a:t>predict</a:t>
            </a:r>
            <a:r>
              <a:rPr sz="1200">
                <a:solidFill>
                  <a:schemeClr val="tx1"/>
                </a:solidFill>
                <a:latin typeface="Arial"/>
                <a:ea typeface="Arial"/>
                <a:cs typeface="Arial"/>
              </a:rPr>
              <a:t> a </a:t>
            </a:r>
            <a:r>
              <a:rPr sz="1200" b="1">
                <a:solidFill>
                  <a:schemeClr val="tx1"/>
                </a:solidFill>
                <a:latin typeface="Arial"/>
                <a:ea typeface="Arial"/>
                <a:cs typeface="Arial"/>
              </a:rPr>
              <a:t>target</a:t>
            </a:r>
            <a:r>
              <a:rPr sz="1200" b="1">
                <a:solidFill>
                  <a:schemeClr val="tx1"/>
                </a:solidFill>
                <a:latin typeface="Arial"/>
                <a:ea typeface="Arial"/>
                <a:cs typeface="Arial"/>
              </a:rPr>
              <a:t> </a:t>
            </a:r>
            <a:r>
              <a:rPr sz="1200" b="1">
                <a:solidFill>
                  <a:schemeClr val="tx1"/>
                </a:solidFill>
                <a:latin typeface="Arial"/>
                <a:ea typeface="Arial"/>
                <a:cs typeface="Arial"/>
              </a:rPr>
              <a:t>topology</a:t>
            </a:r>
            <a:r>
              <a:rPr sz="1200" b="1">
                <a:solidFill>
                  <a:schemeClr val="tx1"/>
                </a:solidFill>
                <a:latin typeface="Arial"/>
                <a:ea typeface="Arial"/>
                <a:cs typeface="Arial"/>
              </a:rPr>
              <a:t> </a:t>
            </a:r>
            <a:r>
              <a:rPr sz="1200" b="1">
                <a:solidFill>
                  <a:schemeClr val="tx1"/>
                </a:solidFill>
                <a:latin typeface="Arial"/>
                <a:ea typeface="Arial"/>
                <a:cs typeface="Arial"/>
              </a:rPr>
              <a:t>instead</a:t>
            </a:r>
            <a:r>
              <a:rPr sz="1200" b="1">
                <a:solidFill>
                  <a:schemeClr val="tx1"/>
                </a:solidFill>
                <a:latin typeface="Arial"/>
                <a:ea typeface="Arial"/>
                <a:cs typeface="Arial"/>
              </a:rPr>
              <a:t> of </a:t>
            </a:r>
            <a:r>
              <a:rPr sz="1200" b="1">
                <a:solidFill>
                  <a:schemeClr val="tx1"/>
                </a:solidFill>
                <a:latin typeface="Arial"/>
                <a:ea typeface="Arial"/>
                <a:cs typeface="Arial"/>
              </a:rPr>
              <a:t>raw</a:t>
            </a:r>
            <a:r>
              <a:rPr sz="1200" b="1">
                <a:solidFill>
                  <a:schemeClr val="tx1"/>
                </a:solidFill>
                <a:latin typeface="Arial"/>
                <a:ea typeface="Arial"/>
                <a:cs typeface="Arial"/>
              </a:rPr>
              <a:t> actions</a:t>
            </a:r>
            <a:r>
              <a:rPr sz="1200">
                <a:solidFill>
                  <a:schemeClr val="tx1"/>
                </a:solidFill>
                <a:latin typeface="Arial"/>
                <a:ea typeface="Arial"/>
                <a:cs typeface="Arial"/>
              </a:rPr>
              <a:t>.</a:t>
            </a:r>
          </a:p>
          <a:p xmlns:a="http://schemas.openxmlformats.org/drawingml/2006/main"/>
          <a:p xmlns:a="http://schemas.openxmlformats.org/drawingml/2006/main">
            <a:r>
              <a:rPr sz="1200">
                <a:solidFill>
                  <a:schemeClr val="tx1"/>
                </a:solidFill>
                <a:latin typeface="Arial"/>
                <a:ea typeface="Arial"/>
                <a:cs typeface="Arial"/>
              </a:rPr>
              <a:t>This </a:t>
            </a:r>
            <a:r>
              <a:rPr sz="1200">
                <a:solidFill>
                  <a:schemeClr val="tx1"/>
                </a:solidFill>
                <a:latin typeface="Arial"/>
                <a:ea typeface="Arial"/>
                <a:cs typeface="Arial"/>
              </a:rPr>
              <a:t>is</a:t>
            </a:r>
            <a:r>
              <a:rPr sz="1200">
                <a:solidFill>
                  <a:schemeClr val="tx1"/>
                </a:solidFill>
                <a:latin typeface="Arial"/>
                <a:ea typeface="Arial"/>
                <a:cs typeface="Arial"/>
              </a:rPr>
              <a:t> </a:t>
            </a:r>
            <a:r>
              <a:rPr sz="1200">
                <a:solidFill>
                  <a:schemeClr val="tx1"/>
                </a:solidFill>
                <a:latin typeface="Arial"/>
                <a:ea typeface="Arial"/>
                <a:cs typeface="Arial"/>
              </a:rPr>
              <a:t>used</a:t>
            </a:r>
            <a:r>
              <a:rPr sz="1200">
                <a:solidFill>
                  <a:schemeClr val="tx1"/>
                </a:solidFill>
                <a:latin typeface="Arial"/>
                <a:ea typeface="Arial"/>
                <a:cs typeface="Arial"/>
              </a:rPr>
              <a:t> in SMAAC, </a:t>
            </a:r>
            <a:r>
              <a:rPr sz="1200">
                <a:solidFill>
                  <a:schemeClr val="tx1"/>
                </a:solidFill>
                <a:latin typeface="Arial"/>
                <a:ea typeface="Arial"/>
                <a:cs typeface="Arial"/>
              </a:rPr>
              <a:t>where</a:t>
            </a:r>
            <a:r>
              <a:rPr sz="1200">
                <a:solidFill>
                  <a:schemeClr val="tx1"/>
                </a:solidFill>
                <a:latin typeface="Arial"/>
                <a:ea typeface="Arial"/>
                <a:cs typeface="Arial"/>
              </a:rPr>
              <a:t> </a:t>
            </a:r>
            <a:r>
              <a:rPr sz="1200">
                <a:solidFill>
                  <a:schemeClr val="tx1"/>
                </a:solidFill>
                <a:latin typeface="Arial"/>
                <a:ea typeface="Arial"/>
                <a:cs typeface="Arial"/>
              </a:rPr>
              <a:t>the</a:t>
            </a:r>
            <a:r>
              <a:rPr sz="1200">
                <a:solidFill>
                  <a:schemeClr val="tx1"/>
                </a:solidFill>
                <a:latin typeface="Arial"/>
                <a:ea typeface="Arial"/>
                <a:cs typeface="Arial"/>
              </a:rPr>
              <a:t> </a:t>
            </a:r>
            <a:r>
              <a:rPr sz="1200">
                <a:solidFill>
                  <a:schemeClr val="tx1"/>
                </a:solidFill>
                <a:latin typeface="Arial"/>
                <a:ea typeface="Arial"/>
                <a:cs typeface="Arial"/>
              </a:rPr>
              <a:t>agent</a:t>
            </a:r>
            <a:r>
              <a:rPr sz="1200">
                <a:solidFill>
                  <a:schemeClr val="tx1"/>
                </a:solidFill>
                <a:latin typeface="Arial"/>
                <a:ea typeface="Arial"/>
                <a:cs typeface="Arial"/>
              </a:rPr>
              <a:t> </a:t>
            </a:r>
            <a:r>
              <a:rPr sz="1200">
                <a:solidFill>
                  <a:schemeClr val="tx1"/>
                </a:solidFill>
                <a:latin typeface="Arial"/>
                <a:ea typeface="Arial"/>
                <a:cs typeface="Arial"/>
              </a:rPr>
              <a:t>learns</a:t>
            </a:r>
            <a:r>
              <a:rPr sz="1200">
                <a:solidFill>
                  <a:schemeClr val="tx1"/>
                </a:solidFill>
                <a:latin typeface="Arial"/>
                <a:ea typeface="Arial"/>
                <a:cs typeface="Arial"/>
              </a:rPr>
              <a:t> an </a:t>
            </a:r>
            <a:r>
              <a:rPr sz="1200">
                <a:solidFill>
                  <a:schemeClr val="tx1"/>
                </a:solidFill>
                <a:latin typeface="Arial"/>
                <a:ea typeface="Arial"/>
                <a:cs typeface="Arial"/>
              </a:rPr>
              <a:t>afterstate</a:t>
            </a:r>
            <a:r>
              <a:rPr sz="1200">
                <a:solidFill>
                  <a:schemeClr val="tx1"/>
                </a:solidFill>
                <a:latin typeface="Arial"/>
                <a:ea typeface="Arial"/>
                <a:cs typeface="Arial"/>
              </a:rPr>
              <a:t> </a:t>
            </a:r>
            <a:r>
              <a:rPr sz="1200">
                <a:solidFill>
                  <a:schemeClr val="tx1"/>
                </a:solidFill>
                <a:latin typeface="Arial"/>
                <a:ea typeface="Arial"/>
                <a:cs typeface="Arial"/>
              </a:rPr>
              <a:t>representation</a:t>
            </a:r>
            <a:r>
              <a:rPr sz="1200">
                <a:solidFill>
                  <a:schemeClr val="tx1"/>
                </a:solidFill>
                <a:latin typeface="Arial"/>
                <a:ea typeface="Arial"/>
                <a:cs typeface="Arial"/>
              </a:rPr>
              <a:t>—</a:t>
            </a:r>
            <a:r>
              <a:rPr sz="1200">
                <a:solidFill>
                  <a:schemeClr val="tx1"/>
                </a:solidFill>
                <a:latin typeface="Arial"/>
                <a:ea typeface="Arial"/>
                <a:cs typeface="Arial"/>
              </a:rPr>
              <a:t>basically</a:t>
            </a:r>
            <a:r>
              <a:rPr sz="1200">
                <a:solidFill>
                  <a:schemeClr val="tx1"/>
                </a:solidFill>
                <a:latin typeface="Arial"/>
                <a:ea typeface="Arial"/>
                <a:cs typeface="Arial"/>
              </a:rPr>
              <a:t> </a:t>
            </a:r>
            <a:r>
              <a:rPr sz="1200">
                <a:solidFill>
                  <a:schemeClr val="tx1"/>
                </a:solidFill>
                <a:latin typeface="Arial"/>
                <a:ea typeface="Arial"/>
                <a:cs typeface="Arial"/>
              </a:rPr>
              <a:t>the</a:t>
            </a:r>
            <a:r>
              <a:rPr sz="1200">
                <a:solidFill>
                  <a:schemeClr val="tx1"/>
                </a:solidFill>
                <a:latin typeface="Arial"/>
                <a:ea typeface="Arial"/>
                <a:cs typeface="Arial"/>
              </a:rPr>
              <a:t> </a:t>
            </a:r>
            <a:r>
              <a:rPr sz="1200">
                <a:solidFill>
                  <a:schemeClr val="tx1"/>
                </a:solidFill>
                <a:latin typeface="Arial"/>
                <a:ea typeface="Arial"/>
                <a:cs typeface="Arial"/>
              </a:rPr>
              <a:t>resulting</a:t>
            </a:r>
            <a:r>
              <a:rPr sz="1200">
                <a:solidFill>
                  <a:schemeClr val="tx1"/>
                </a:solidFill>
                <a:latin typeface="Arial"/>
                <a:ea typeface="Arial"/>
                <a:cs typeface="Arial"/>
              </a:rPr>
              <a:t> </a:t>
            </a:r>
            <a:r>
              <a:rPr sz="1200">
                <a:solidFill>
                  <a:schemeClr val="tx1"/>
                </a:solidFill>
                <a:latin typeface="Arial"/>
                <a:ea typeface="Arial"/>
                <a:cs typeface="Arial"/>
              </a:rPr>
              <a:t>topology</a:t>
            </a:r>
            <a:r>
              <a:rPr sz="1200">
                <a:solidFill>
                  <a:schemeClr val="tx1"/>
                </a:solidFill>
                <a:latin typeface="Arial"/>
                <a:ea typeface="Arial"/>
                <a:cs typeface="Arial"/>
              </a:rPr>
              <a:t> after an </a:t>
            </a:r>
            <a:r>
              <a:rPr sz="1200">
                <a:solidFill>
                  <a:schemeClr val="tx1"/>
                </a:solidFill>
                <a:latin typeface="Arial"/>
                <a:ea typeface="Arial"/>
                <a:cs typeface="Arial"/>
              </a:rPr>
              <a:t>action</a:t>
            </a:r>
            <a:r>
              <a:rPr sz="1200">
                <a:solidFill>
                  <a:schemeClr val="tx1"/>
                </a:solidFill>
                <a:latin typeface="Arial"/>
                <a:ea typeface="Arial"/>
                <a:cs typeface="Arial"/>
              </a:rPr>
              <a:t>.</a:t>
            </a:r>
          </a:p>
          <a:p xmlns:a="http://schemas.openxmlformats.org/drawingml/2006/main"/>
          <a:p xmlns:a="http://schemas.openxmlformats.org/drawingml/2006/main">
            <a:r>
              <a:rPr sz="1200">
                <a:solidFill>
                  <a:schemeClr val="tx1"/>
                </a:solidFill>
                <a:latin typeface="Arial"/>
                <a:ea typeface="Arial"/>
                <a:cs typeface="Arial"/>
              </a:rPr>
              <a:t>This </a:t>
            </a:r>
            <a:r>
              <a:rPr sz="1200">
                <a:solidFill>
                  <a:schemeClr val="tx1"/>
                </a:solidFill>
                <a:latin typeface="Arial"/>
                <a:ea typeface="Arial"/>
                <a:cs typeface="Arial"/>
              </a:rPr>
              <a:t>helps</a:t>
            </a:r>
            <a:r>
              <a:rPr sz="1200">
                <a:solidFill>
                  <a:schemeClr val="tx1"/>
                </a:solidFill>
                <a:latin typeface="Arial"/>
                <a:ea typeface="Arial"/>
                <a:cs typeface="Arial"/>
              </a:rPr>
              <a:t> </a:t>
            </a:r>
            <a:r>
              <a:rPr sz="1200">
                <a:solidFill>
                  <a:schemeClr val="tx1"/>
                </a:solidFill>
                <a:latin typeface="Arial"/>
                <a:ea typeface="Arial"/>
                <a:cs typeface="Arial"/>
              </a:rPr>
              <a:t>because</a:t>
            </a:r>
            <a:r>
              <a:rPr sz="1200">
                <a:solidFill>
                  <a:schemeClr val="tx1"/>
                </a:solidFill>
                <a:latin typeface="Arial"/>
                <a:ea typeface="Arial"/>
                <a:cs typeface="Arial"/>
              </a:rPr>
              <a:t> multiple </a:t>
            </a:r>
            <a:r>
              <a:rPr sz="1200">
                <a:solidFill>
                  <a:schemeClr val="tx1"/>
                </a:solidFill>
                <a:latin typeface="Arial"/>
                <a:ea typeface="Arial"/>
                <a:cs typeface="Arial"/>
              </a:rPr>
              <a:t>sequences</a:t>
            </a:r>
            <a:r>
              <a:rPr sz="1200">
                <a:solidFill>
                  <a:schemeClr val="tx1"/>
                </a:solidFill>
                <a:latin typeface="Arial"/>
                <a:ea typeface="Arial"/>
                <a:cs typeface="Arial"/>
              </a:rPr>
              <a:t> of actions can lead to the </a:t>
            </a:r>
            <a:r>
              <a:rPr sz="1200">
                <a:solidFill>
                  <a:schemeClr val="tx1"/>
                </a:solidFill>
                <a:latin typeface="Arial"/>
                <a:ea typeface="Arial"/>
                <a:cs typeface="Arial"/>
              </a:rPr>
              <a:t>same</a:t>
            </a:r>
            <a:r>
              <a:rPr sz="1200">
                <a:solidFill>
                  <a:schemeClr val="tx1"/>
                </a:solidFill>
                <a:latin typeface="Arial"/>
                <a:ea typeface="Arial"/>
                <a:cs typeface="Arial"/>
              </a:rPr>
              <a:t> configuration. So </a:t>
            </a:r>
            <a:r>
              <a:rPr sz="1200">
                <a:solidFill>
                  <a:schemeClr val="tx1"/>
                </a:solidFill>
                <a:latin typeface="Arial"/>
                <a:ea typeface="Arial"/>
                <a:cs typeface="Arial"/>
              </a:rPr>
              <a:t>it</a:t>
            </a:r>
            <a:r>
              <a:rPr sz="1200">
                <a:solidFill>
                  <a:schemeClr val="tx1"/>
                </a:solidFill>
                <a:latin typeface="Arial"/>
                <a:ea typeface="Arial"/>
                <a:cs typeface="Arial"/>
              </a:rPr>
              <a:t> </a:t>
            </a:r>
            <a:r>
              <a:rPr sz="1200">
                <a:solidFill>
                  <a:schemeClr val="tx1"/>
                </a:solidFill>
                <a:latin typeface="Arial"/>
                <a:ea typeface="Arial"/>
                <a:cs typeface="Arial"/>
              </a:rPr>
              <a:t>reduces</a:t>
            </a:r>
            <a:r>
              <a:rPr sz="1200">
                <a:solidFill>
                  <a:schemeClr val="tx1"/>
                </a:solidFill>
                <a:latin typeface="Arial"/>
                <a:ea typeface="Arial"/>
                <a:cs typeface="Arial"/>
              </a:rPr>
              <a:t> the action </a:t>
            </a:r>
            <a:r>
              <a:rPr sz="1200">
                <a:solidFill>
                  <a:schemeClr val="tx1"/>
                </a:solidFill>
                <a:latin typeface="Arial"/>
                <a:ea typeface="Arial"/>
                <a:cs typeface="Arial"/>
              </a:rPr>
              <a:t>space</a:t>
            </a:r>
          </a:p>
          <a:p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a:solidFill>
                  <a:schemeClr val="tx1"/>
                </a:solidFill>
                <a:latin typeface="Arial"/>
                <a:ea typeface="Arial"/>
                <a:cs typeface="Arial"/>
              </a:rPr>
              <a:t>To dive a </a:t>
            </a:r>
            <a:r>
              <a:rPr sz="1200">
                <a:solidFill>
                  <a:schemeClr val="tx1"/>
                </a:solidFill>
                <a:latin typeface="Arial"/>
                <a:ea typeface="Arial"/>
                <a:cs typeface="Arial"/>
              </a:rPr>
              <a:t>little</a:t>
            </a:r>
            <a:r>
              <a:rPr sz="1200">
                <a:solidFill>
                  <a:schemeClr val="tx1"/>
                </a:solidFill>
                <a:latin typeface="Arial"/>
                <a:ea typeface="Arial"/>
                <a:cs typeface="Arial"/>
              </a:rPr>
              <a:t> </a:t>
            </a:r>
            <a:r>
              <a:rPr sz="1200">
                <a:solidFill>
                  <a:schemeClr val="tx1"/>
                </a:solidFill>
                <a:latin typeface="Arial"/>
                <a:ea typeface="Arial"/>
                <a:cs typeface="Arial"/>
              </a:rPr>
              <a:t>deeper</a:t>
            </a:r>
            <a:r>
              <a:rPr sz="1200">
                <a:solidFill>
                  <a:schemeClr val="tx1"/>
                </a:solidFill>
                <a:latin typeface="Arial"/>
                <a:ea typeface="Arial"/>
                <a:cs typeface="Arial"/>
              </a:rPr>
              <a:t> i have been </a:t>
            </a:r>
            <a:r>
              <a:rPr sz="1200">
                <a:solidFill>
                  <a:schemeClr val="tx1"/>
                </a:solidFill>
                <a:latin typeface="Arial"/>
                <a:ea typeface="Arial"/>
                <a:cs typeface="Arial"/>
              </a:rPr>
              <a:t>looking</a:t>
            </a:r>
            <a:r>
              <a:rPr sz="1200">
                <a:solidFill>
                  <a:schemeClr val="tx1"/>
                </a:solidFill>
                <a:latin typeface="Arial"/>
                <a:ea typeface="Arial"/>
                <a:cs typeface="Arial"/>
              </a:rPr>
              <a:t> at a </a:t>
            </a:r>
            <a:r>
              <a:rPr sz="1200">
                <a:solidFill>
                  <a:schemeClr val="tx1"/>
                </a:solidFill>
                <a:latin typeface="Arial"/>
                <a:ea typeface="Arial"/>
                <a:cs typeface="Arial"/>
              </a:rPr>
              <a:t>survey</a:t>
            </a:r>
            <a:r>
              <a:rPr sz="1200">
                <a:solidFill>
                  <a:schemeClr val="tx1"/>
                </a:solidFill>
                <a:latin typeface="Arial"/>
                <a:ea typeface="Arial"/>
                <a:cs typeface="Arial"/>
              </a:rPr>
              <a:t> </a:t>
            </a:r>
            <a:r>
              <a:rPr sz="1200">
                <a:solidFill>
                  <a:schemeClr val="tx1"/>
                </a:solidFill>
                <a:latin typeface="Arial"/>
                <a:ea typeface="Arial"/>
                <a:cs typeface="Arial"/>
              </a:rPr>
              <a:t>that</a:t>
            </a:r>
            <a:r>
              <a:rPr sz="1200">
                <a:solidFill>
                  <a:schemeClr val="tx1"/>
                </a:solidFill>
                <a:latin typeface="Arial"/>
                <a:ea typeface="Arial"/>
                <a:cs typeface="Arial"/>
              </a:rPr>
              <a:t> </a:t>
            </a:r>
            <a:r>
              <a:rPr sz="1200">
                <a:solidFill>
                  <a:schemeClr val="tx1"/>
                </a:solidFill>
                <a:latin typeface="Arial"/>
                <a:ea typeface="Arial"/>
                <a:cs typeface="Arial"/>
              </a:rPr>
              <a:t>summarize</a:t>
            </a:r>
            <a:r>
              <a:rPr sz="1200">
                <a:solidFill>
                  <a:schemeClr val="tx1"/>
                </a:solidFill>
                <a:latin typeface="Arial"/>
                <a:ea typeface="Arial"/>
                <a:cs typeface="Arial"/>
              </a:rPr>
              <a:t> all the </a:t>
            </a:r>
            <a:r>
              <a:rPr sz="1200">
                <a:solidFill>
                  <a:schemeClr val="tx1"/>
                </a:solidFill>
                <a:latin typeface="Arial"/>
                <a:ea typeface="Arial"/>
                <a:cs typeface="Arial"/>
              </a:rPr>
              <a:t>algorithms</a:t>
            </a:r>
            <a:r>
              <a:rPr sz="1200">
                <a:solidFill>
                  <a:schemeClr val="tx1"/>
                </a:solidFill>
                <a:latin typeface="Arial"/>
                <a:ea typeface="Arial"/>
                <a:cs typeface="Arial"/>
              </a:rPr>
              <a:t> </a:t>
            </a:r>
            <a:r>
              <a:rPr sz="1200">
                <a:solidFill>
                  <a:schemeClr val="tx1"/>
                </a:solidFill>
                <a:latin typeface="Arial"/>
                <a:ea typeface="Arial"/>
                <a:cs typeface="Arial"/>
              </a:rPr>
              <a:t>that</a:t>
            </a:r>
            <a:r>
              <a:rPr sz="1200">
                <a:solidFill>
                  <a:schemeClr val="tx1"/>
                </a:solidFill>
                <a:latin typeface="Arial"/>
                <a:ea typeface="Arial"/>
                <a:cs typeface="Arial"/>
              </a:rPr>
              <a:t> won the l2rpn challenge and </a:t>
            </a:r>
            <a:r>
              <a:rPr sz="1200">
                <a:solidFill>
                  <a:schemeClr val="tx1"/>
                </a:solidFill>
                <a:latin typeface="Arial"/>
                <a:ea typeface="Arial"/>
                <a:cs typeface="Arial"/>
              </a:rPr>
              <a:t>this</a:t>
            </a:r>
            <a:r>
              <a:rPr sz="1200">
                <a:solidFill>
                  <a:schemeClr val="tx1"/>
                </a:solidFill>
                <a:latin typeface="Arial"/>
                <a:ea typeface="Arial"/>
                <a:cs typeface="Arial"/>
              </a:rPr>
              <a:t> </a:t>
            </a:r>
            <a:r>
              <a:rPr sz="1200">
                <a:solidFill>
                  <a:schemeClr val="tx1"/>
                </a:solidFill>
                <a:latin typeface="Arial"/>
                <a:ea typeface="Arial"/>
                <a:cs typeface="Arial"/>
              </a:rPr>
              <a:t>is</a:t>
            </a:r>
            <a:r>
              <a:rPr sz="1200">
                <a:solidFill>
                  <a:schemeClr val="tx1"/>
                </a:solidFill>
                <a:latin typeface="Arial"/>
                <a:ea typeface="Arial"/>
                <a:cs typeface="Arial"/>
              </a:rPr>
              <a:t> the main </a:t>
            </a:r>
            <a:r>
              <a:rPr sz="1200">
                <a:solidFill>
                  <a:schemeClr val="tx1"/>
                </a:solidFill>
                <a:latin typeface="Arial"/>
                <a:ea typeface="Arial"/>
                <a:cs typeface="Arial"/>
              </a:rPr>
              <a:t>categories</a:t>
            </a:r>
            <a:r>
              <a:rPr sz="1200">
                <a:solidFill>
                  <a:schemeClr val="tx1"/>
                </a:solidFill>
                <a:latin typeface="Arial"/>
                <a:ea typeface="Arial"/>
                <a:cs typeface="Arial"/>
              </a:rPr>
              <a:t> of </a:t>
            </a:r>
            <a:r>
              <a:rPr sz="1200">
                <a:solidFill>
                  <a:schemeClr val="tx1"/>
                </a:solidFill>
                <a:latin typeface="Arial"/>
                <a:ea typeface="Arial"/>
                <a:cs typeface="Arial"/>
              </a:rPr>
              <a:t>succesfull</a:t>
            </a:r>
            <a:r>
              <a:rPr sz="1200">
                <a:solidFill>
                  <a:schemeClr val="tx1"/>
                </a:solidFill>
                <a:latin typeface="Arial"/>
                <a:ea typeface="Arial"/>
                <a:cs typeface="Arial"/>
              </a:rPr>
              <a:t> </a:t>
            </a:r>
            <a:r>
              <a:rPr sz="1200">
                <a:solidFill>
                  <a:schemeClr val="tx1"/>
                </a:solidFill>
                <a:latin typeface="Arial"/>
                <a:ea typeface="Arial"/>
                <a:cs typeface="Arial"/>
              </a:rPr>
              <a:t>agentthat</a:t>
            </a:r>
            <a:r>
              <a:rPr sz="1200">
                <a:solidFill>
                  <a:schemeClr val="tx1"/>
                </a:solidFill>
                <a:latin typeface="Arial"/>
                <a:ea typeface="Arial"/>
                <a:cs typeface="Arial"/>
              </a:rPr>
              <a:t> won the challenge.</a:t>
            </a:r>
          </a:p>
          <a:p xmlns:a="http://schemas.openxmlformats.org/drawingml/2006/main"/>
          <a:p xmlns:a="http://schemas.openxmlformats.org/drawingml/2006/main">
            <a:r>
              <a:rPr sz="1200">
                <a:solidFill>
                  <a:schemeClr val="tx1"/>
                </a:solidFill>
                <a:latin typeface="Arial"/>
                <a:ea typeface="Arial"/>
                <a:cs typeface="Arial"/>
              </a:rPr>
              <a:t>Some</a:t>
            </a:r>
            <a:r>
              <a:rPr sz="1200">
                <a:solidFill>
                  <a:schemeClr val="tx1"/>
                </a:solidFill>
                <a:latin typeface="Arial"/>
                <a:ea typeface="Arial"/>
                <a:cs typeface="Arial"/>
              </a:rPr>
              <a:t> </a:t>
            </a:r>
            <a:r>
              <a:rPr sz="1200">
                <a:solidFill>
                  <a:schemeClr val="tx1"/>
                </a:solidFill>
                <a:latin typeface="Arial"/>
                <a:ea typeface="Arial"/>
                <a:cs typeface="Arial"/>
              </a:rPr>
              <a:t>approaches</a:t>
            </a:r>
            <a:r>
              <a:rPr sz="1200">
                <a:solidFill>
                  <a:schemeClr val="tx1"/>
                </a:solidFill>
                <a:latin typeface="Arial"/>
                <a:ea typeface="Arial"/>
                <a:cs typeface="Arial"/>
              </a:rPr>
              <a:t> </a:t>
            </a:r>
            <a:r>
              <a:rPr sz="1200">
                <a:solidFill>
                  <a:schemeClr val="tx1"/>
                </a:solidFill>
                <a:latin typeface="Arial"/>
                <a:ea typeface="Arial"/>
                <a:cs typeface="Arial"/>
              </a:rPr>
              <a:t>rely</a:t>
            </a:r>
            <a:r>
              <a:rPr sz="1200">
                <a:solidFill>
                  <a:schemeClr val="tx1"/>
                </a:solidFill>
                <a:latin typeface="Arial"/>
                <a:ea typeface="Arial"/>
                <a:cs typeface="Arial"/>
              </a:rPr>
              <a:t> on a single global agent </a:t>
            </a:r>
            <a:r>
              <a:rPr sz="1200">
                <a:solidFill>
                  <a:schemeClr val="tx1"/>
                </a:solidFill>
                <a:latin typeface="Arial"/>
                <a:ea typeface="Arial"/>
                <a:cs typeface="Arial"/>
              </a:rPr>
              <a:t>with</a:t>
            </a:r>
            <a:r>
              <a:rPr sz="1200">
                <a:solidFill>
                  <a:schemeClr val="tx1"/>
                </a:solidFill>
                <a:latin typeface="Arial"/>
                <a:ea typeface="Arial"/>
                <a:cs typeface="Arial"/>
              </a:rPr>
              <a:t> </a:t>
            </a:r>
            <a:r>
              <a:rPr sz="1200">
                <a:solidFill>
                  <a:schemeClr val="tx1"/>
                </a:solidFill>
                <a:latin typeface="Arial"/>
                <a:ea typeface="Arial"/>
                <a:cs typeface="Arial"/>
              </a:rPr>
              <a:t>strong</a:t>
            </a:r>
            <a:r>
              <a:rPr sz="1200">
                <a:solidFill>
                  <a:schemeClr val="tx1"/>
                </a:solidFill>
                <a:latin typeface="Arial"/>
                <a:ea typeface="Arial"/>
                <a:cs typeface="Arial"/>
              </a:rPr>
              <a:t> engineering tricks.</a:t>
            </a:r>
          </a:p>
          <a:p xmlns:a="http://schemas.openxmlformats.org/drawingml/2006/main"/>
          <a:p xmlns:a="http://schemas.openxmlformats.org/drawingml/2006/main">
            <a:r>
              <a:rPr sz="1200">
                <a:solidFill>
                  <a:schemeClr val="tx1"/>
                </a:solidFill>
                <a:latin typeface="Arial"/>
                <a:ea typeface="Arial"/>
                <a:cs typeface="Arial"/>
              </a:rPr>
              <a:t>For </a:t>
            </a:r>
            <a:r>
              <a:rPr sz="1200">
                <a:solidFill>
                  <a:schemeClr val="tx1"/>
                </a:solidFill>
                <a:latin typeface="Arial"/>
                <a:ea typeface="Arial"/>
                <a:cs typeface="Arial"/>
              </a:rPr>
              <a:t>example</a:t>
            </a:r>
            <a:r>
              <a:rPr sz="1200">
                <a:solidFill>
                  <a:schemeClr val="tx1"/>
                </a:solidFill>
                <a:latin typeface="Arial"/>
                <a:ea typeface="Arial"/>
                <a:cs typeface="Arial"/>
              </a:rPr>
              <a:t>, </a:t>
            </a:r>
            <a:r>
              <a:rPr sz="1200">
                <a:solidFill>
                  <a:schemeClr val="tx1"/>
                </a:solidFill>
                <a:latin typeface="Arial"/>
                <a:ea typeface="Arial"/>
                <a:cs typeface="Arial"/>
              </a:rPr>
              <a:t>they</a:t>
            </a:r>
            <a:r>
              <a:rPr sz="1200">
                <a:solidFill>
                  <a:schemeClr val="tx1"/>
                </a:solidFill>
                <a:latin typeface="Arial"/>
                <a:ea typeface="Arial"/>
                <a:cs typeface="Arial"/>
              </a:rPr>
              <a:t> use graph neural networks </a:t>
            </a:r>
            <a:r>
              <a:rPr sz="1200">
                <a:solidFill>
                  <a:schemeClr val="tx1"/>
                </a:solidFill>
                <a:latin typeface="Arial"/>
                <a:ea typeface="Arial"/>
                <a:cs typeface="Arial"/>
              </a:rPr>
              <a:t>combined</a:t>
            </a:r>
            <a:r>
              <a:rPr sz="1200">
                <a:solidFill>
                  <a:schemeClr val="tx1"/>
                </a:solidFill>
                <a:latin typeface="Arial"/>
                <a:ea typeface="Arial"/>
                <a:cs typeface="Arial"/>
              </a:rPr>
              <a:t> </a:t>
            </a:r>
            <a:r>
              <a:rPr sz="1200">
                <a:solidFill>
                  <a:schemeClr val="tx1"/>
                </a:solidFill>
                <a:latin typeface="Arial"/>
                <a:ea typeface="Arial"/>
                <a:cs typeface="Arial"/>
              </a:rPr>
              <a:t>with</a:t>
            </a:r>
            <a:r>
              <a:rPr sz="1200">
                <a:solidFill>
                  <a:schemeClr val="tx1"/>
                </a:solidFill>
                <a:latin typeface="Arial"/>
                <a:ea typeface="Arial"/>
                <a:cs typeface="Arial"/>
              </a:rPr>
              <a:t> value-</a:t>
            </a:r>
            <a:r>
              <a:rPr sz="1200">
                <a:solidFill>
                  <a:schemeClr val="tx1"/>
                </a:solidFill>
                <a:latin typeface="Arial"/>
                <a:ea typeface="Arial"/>
                <a:cs typeface="Arial"/>
              </a:rPr>
              <a:t>based</a:t>
            </a:r>
            <a:r>
              <a:rPr sz="1200">
                <a:solidFill>
                  <a:schemeClr val="tx1"/>
                </a:solidFill>
                <a:latin typeface="Arial"/>
                <a:ea typeface="Arial"/>
                <a:cs typeface="Arial"/>
              </a:rPr>
              <a:t> RL, and </a:t>
            </a:r>
            <a:r>
              <a:rPr sz="1200">
                <a:solidFill>
                  <a:schemeClr val="tx1"/>
                </a:solidFill>
                <a:latin typeface="Arial"/>
                <a:ea typeface="Arial"/>
                <a:cs typeface="Arial"/>
              </a:rPr>
              <a:t>validate</a:t>
            </a:r>
            <a:r>
              <a:rPr sz="1200">
                <a:solidFill>
                  <a:schemeClr val="tx1"/>
                </a:solidFill>
                <a:latin typeface="Arial"/>
                <a:ea typeface="Arial"/>
                <a:cs typeface="Arial"/>
              </a:rPr>
              <a:t> actions </a:t>
            </a:r>
            <a:r>
              <a:rPr sz="1200">
                <a:solidFill>
                  <a:schemeClr val="tx1"/>
                </a:solidFill>
                <a:latin typeface="Arial"/>
                <a:ea typeface="Arial"/>
                <a:cs typeface="Arial"/>
              </a:rPr>
              <a:t>using</a:t>
            </a:r>
            <a:r>
              <a:rPr sz="1200">
                <a:solidFill>
                  <a:schemeClr val="tx1"/>
                </a:solidFill>
                <a:latin typeface="Arial"/>
                <a:ea typeface="Arial"/>
                <a:cs typeface="Arial"/>
              </a:rPr>
              <a:t> power-flow simulations.</a:t>
            </a:r>
          </a:p>
          <a:p xmlns:a="http://schemas.openxmlformats.org/drawingml/2006/main"/>
          <a:p xmlns:a="http://schemas.openxmlformats.org/drawingml/2006/main">
            <a:r>
              <a:rPr sz="1200">
                <a:solidFill>
                  <a:schemeClr val="tx1"/>
                </a:solidFill>
                <a:latin typeface="Arial"/>
                <a:ea typeface="Arial"/>
                <a:cs typeface="Arial"/>
              </a:rPr>
              <a:t>Others</a:t>
            </a:r>
            <a:r>
              <a:rPr sz="1200">
                <a:solidFill>
                  <a:schemeClr val="tx1"/>
                </a:solidFill>
                <a:latin typeface="Arial"/>
                <a:ea typeface="Arial"/>
                <a:cs typeface="Arial"/>
              </a:rPr>
              <a:t> </a:t>
            </a:r>
            <a:r>
              <a:rPr sz="1200">
                <a:solidFill>
                  <a:schemeClr val="tx1"/>
                </a:solidFill>
                <a:latin typeface="Arial"/>
                <a:ea typeface="Arial"/>
                <a:cs typeface="Arial"/>
              </a:rPr>
              <a:t>reduce</a:t>
            </a:r>
            <a:r>
              <a:rPr sz="1200">
                <a:solidFill>
                  <a:schemeClr val="tx1"/>
                </a:solidFill>
                <a:latin typeface="Arial"/>
                <a:ea typeface="Arial"/>
                <a:cs typeface="Arial"/>
              </a:rPr>
              <a:t> the action </a:t>
            </a:r>
            <a:r>
              <a:rPr sz="1200">
                <a:solidFill>
                  <a:schemeClr val="tx1"/>
                </a:solidFill>
                <a:latin typeface="Arial"/>
                <a:ea typeface="Arial"/>
                <a:cs typeface="Arial"/>
              </a:rPr>
              <a:t>space</a:t>
            </a:r>
            <a:r>
              <a:rPr sz="1200">
                <a:solidFill>
                  <a:schemeClr val="tx1"/>
                </a:solidFill>
                <a:latin typeface="Arial"/>
                <a:ea typeface="Arial"/>
                <a:cs typeface="Arial"/>
              </a:rPr>
              <a:t> </a:t>
            </a:r>
            <a:r>
              <a:rPr sz="1200">
                <a:solidFill>
                  <a:schemeClr val="tx1"/>
                </a:solidFill>
                <a:latin typeface="Arial"/>
                <a:ea typeface="Arial"/>
                <a:cs typeface="Arial"/>
              </a:rPr>
              <a:t>using</a:t>
            </a:r>
            <a:r>
              <a:rPr sz="1200">
                <a:solidFill>
                  <a:schemeClr val="tx1"/>
                </a:solidFill>
                <a:latin typeface="Arial"/>
                <a:ea typeface="Arial"/>
                <a:cs typeface="Arial"/>
              </a:rPr>
              <a:t> </a:t>
            </a:r>
            <a:r>
              <a:rPr sz="1200">
                <a:solidFill>
                  <a:schemeClr val="tx1"/>
                </a:solidFill>
                <a:latin typeface="Arial"/>
                <a:ea typeface="Arial"/>
                <a:cs typeface="Arial"/>
              </a:rPr>
              <a:t>masking</a:t>
            </a:r>
            <a:r>
              <a:rPr sz="1200">
                <a:solidFill>
                  <a:schemeClr val="tx1"/>
                </a:solidFill>
                <a:latin typeface="Arial"/>
                <a:ea typeface="Arial"/>
                <a:cs typeface="Arial"/>
              </a:rPr>
              <a:t> or </a:t>
            </a:r>
            <a:r>
              <a:rPr sz="1200">
                <a:solidFill>
                  <a:schemeClr val="tx1"/>
                </a:solidFill>
                <a:latin typeface="Arial"/>
                <a:ea typeface="Arial"/>
                <a:cs typeface="Arial"/>
              </a:rPr>
              <a:t>pruning</a:t>
            </a:r>
            <a:r>
              <a:rPr sz="1200">
                <a:solidFill>
                  <a:schemeClr val="tx1"/>
                </a:solidFill>
                <a:latin typeface="Arial"/>
                <a:ea typeface="Arial"/>
                <a:cs typeface="Arial"/>
              </a:rPr>
              <a:t>.</a:t>
            </a:r>
          </a:p>
          <a:p xmlns:a="http://schemas.openxmlformats.org/drawingml/2006/main"/>
          <a:p xmlns:a="http://schemas.openxmlformats.org/drawingml/2006/main">
            <a:r>
              <a:rPr sz="1200">
                <a:solidFill>
                  <a:schemeClr val="tx1"/>
                </a:solidFill>
                <a:latin typeface="Arial"/>
                <a:ea typeface="Arial"/>
                <a:cs typeface="Arial"/>
              </a:rPr>
              <a:t>These</a:t>
            </a:r>
            <a:r>
              <a:rPr sz="1200">
                <a:solidFill>
                  <a:schemeClr val="tx1"/>
                </a:solidFill>
                <a:latin typeface="Arial"/>
                <a:ea typeface="Arial"/>
                <a:cs typeface="Arial"/>
              </a:rPr>
              <a:t> </a:t>
            </a:r>
            <a:r>
              <a:rPr sz="1200">
                <a:solidFill>
                  <a:schemeClr val="tx1"/>
                </a:solidFill>
                <a:latin typeface="Arial"/>
                <a:ea typeface="Arial"/>
                <a:cs typeface="Arial"/>
              </a:rPr>
              <a:t>methods</a:t>
            </a:r>
            <a:r>
              <a:rPr sz="1200">
                <a:solidFill>
                  <a:schemeClr val="tx1"/>
                </a:solidFill>
                <a:latin typeface="Arial"/>
                <a:ea typeface="Arial"/>
                <a:cs typeface="Arial"/>
              </a:rPr>
              <a:t> can </a:t>
            </a:r>
            <a:r>
              <a:rPr sz="1200">
                <a:solidFill>
                  <a:schemeClr val="tx1"/>
                </a:solidFill>
                <a:latin typeface="Arial"/>
                <a:ea typeface="Arial"/>
                <a:cs typeface="Arial"/>
              </a:rPr>
              <a:t>work</a:t>
            </a:r>
            <a:r>
              <a:rPr sz="1200">
                <a:solidFill>
                  <a:schemeClr val="tx1"/>
                </a:solidFill>
                <a:latin typeface="Arial"/>
                <a:ea typeface="Arial"/>
                <a:cs typeface="Arial"/>
              </a:rPr>
              <a:t>, </a:t>
            </a:r>
            <a:r>
              <a:rPr sz="1200">
                <a:solidFill>
                  <a:schemeClr val="tx1"/>
                </a:solidFill>
                <a:latin typeface="Arial"/>
                <a:ea typeface="Arial"/>
                <a:cs typeface="Arial"/>
              </a:rPr>
              <a:t>so</a:t>
            </a:r>
            <a:r>
              <a:rPr sz="1200">
                <a:solidFill>
                  <a:schemeClr val="tx1"/>
                </a:solidFill>
                <a:latin typeface="Arial"/>
                <a:ea typeface="Arial"/>
                <a:cs typeface="Arial"/>
              </a:rPr>
              <a:t> </a:t>
            </a:r>
            <a:r>
              <a:rPr sz="1200">
                <a:solidFill>
                  <a:schemeClr val="tx1"/>
                </a:solidFill>
                <a:latin typeface="Arial"/>
                <a:ea typeface="Arial"/>
                <a:cs typeface="Arial"/>
              </a:rPr>
              <a:t>mixing</a:t>
            </a:r>
            <a:r>
              <a:rPr sz="1200">
                <a:solidFill>
                  <a:schemeClr val="tx1"/>
                </a:solidFill>
                <a:latin typeface="Arial"/>
                <a:ea typeface="Arial"/>
                <a:cs typeface="Arial"/>
              </a:rPr>
              <a:t> a single agent </a:t>
            </a:r>
            <a:r>
              <a:rPr sz="1200">
                <a:solidFill>
                  <a:schemeClr val="tx1"/>
                </a:solidFill>
                <a:latin typeface="Arial"/>
                <a:ea typeface="Arial"/>
                <a:cs typeface="Arial"/>
              </a:rPr>
              <a:t>with</a:t>
            </a:r>
            <a:r>
              <a:rPr sz="1200">
                <a:solidFill>
                  <a:schemeClr val="tx1"/>
                </a:solidFill>
                <a:latin typeface="Arial"/>
                <a:ea typeface="Arial"/>
                <a:cs typeface="Arial"/>
              </a:rPr>
              <a:t> </a:t>
            </a:r>
            <a:r>
              <a:rPr sz="1200">
                <a:solidFill>
                  <a:schemeClr val="tx1"/>
                </a:solidFill>
                <a:latin typeface="Arial"/>
                <a:ea typeface="Arial"/>
                <a:cs typeface="Arial"/>
              </a:rPr>
              <a:t>rules</a:t>
            </a:r>
            <a:r>
              <a:rPr sz="1200">
                <a:solidFill>
                  <a:schemeClr val="tx1"/>
                </a:solidFill>
                <a:latin typeface="Arial"/>
                <a:ea typeface="Arial"/>
                <a:cs typeface="Arial"/>
              </a:rPr>
              <a:t>, but </a:t>
            </a:r>
            <a:r>
              <a:rPr sz="1200">
                <a:solidFill>
                  <a:schemeClr val="tx1"/>
                </a:solidFill>
                <a:latin typeface="Arial"/>
                <a:ea typeface="Arial"/>
                <a:cs typeface="Arial"/>
              </a:rPr>
              <a:t>they</a:t>
            </a:r>
            <a:r>
              <a:rPr sz="1200">
                <a:solidFill>
                  <a:schemeClr val="tx1"/>
                </a:solidFill>
                <a:latin typeface="Arial"/>
                <a:ea typeface="Arial"/>
                <a:cs typeface="Arial"/>
              </a:rPr>
              <a:t> </a:t>
            </a:r>
            <a:r>
              <a:rPr sz="1200">
                <a:solidFill>
                  <a:schemeClr val="tx1"/>
                </a:solidFill>
                <a:latin typeface="Arial"/>
                <a:ea typeface="Arial"/>
                <a:cs typeface="Arial"/>
              </a:rPr>
              <a:t>suffer</a:t>
            </a:r>
            <a:r>
              <a:rPr sz="1200">
                <a:solidFill>
                  <a:schemeClr val="tx1"/>
                </a:solidFill>
                <a:latin typeface="Arial"/>
                <a:ea typeface="Arial"/>
                <a:cs typeface="Arial"/>
              </a:rPr>
              <a:t> </a:t>
            </a:r>
            <a:r>
              <a:rPr sz="1200">
                <a:solidFill>
                  <a:schemeClr val="tx1"/>
                </a:solidFill>
                <a:latin typeface="Arial"/>
                <a:ea typeface="Arial"/>
                <a:cs typeface="Arial"/>
              </a:rPr>
              <a:t>because</a:t>
            </a:r>
            <a:r>
              <a:rPr sz="1200">
                <a:solidFill>
                  <a:schemeClr val="tx1"/>
                </a:solidFill>
                <a:latin typeface="Arial"/>
                <a:ea typeface="Arial"/>
                <a:cs typeface="Arial"/>
              </a:rPr>
              <a:t> the action </a:t>
            </a:r>
            <a:r>
              <a:rPr sz="1200">
                <a:solidFill>
                  <a:schemeClr val="tx1"/>
                </a:solidFill>
                <a:latin typeface="Arial"/>
                <a:ea typeface="Arial"/>
                <a:cs typeface="Arial"/>
              </a:rPr>
              <a:t>space</a:t>
            </a:r>
            <a:r>
              <a:rPr sz="1200">
                <a:solidFill>
                  <a:schemeClr val="tx1"/>
                </a:solidFill>
                <a:latin typeface="Arial"/>
                <a:ea typeface="Arial"/>
                <a:cs typeface="Arial"/>
              </a:rPr>
              <a:t> </a:t>
            </a:r>
            <a:r>
              <a:rPr sz="1200">
                <a:solidFill>
                  <a:schemeClr val="tx1"/>
                </a:solidFill>
                <a:latin typeface="Arial"/>
                <a:ea typeface="Arial"/>
                <a:cs typeface="Arial"/>
              </a:rPr>
              <a:t>remains</a:t>
            </a:r>
            <a:r>
              <a:rPr sz="1200">
                <a:solidFill>
                  <a:schemeClr val="tx1"/>
                </a:solidFill>
                <a:latin typeface="Arial"/>
                <a:ea typeface="Arial"/>
                <a:cs typeface="Arial"/>
              </a:rPr>
              <a:t> </a:t>
            </a:r>
            <a:r>
              <a:rPr sz="1200">
                <a:solidFill>
                  <a:schemeClr val="tx1"/>
                </a:solidFill>
                <a:latin typeface="Arial"/>
                <a:ea typeface="Arial"/>
                <a:cs typeface="Arial"/>
              </a:rPr>
              <a:t>very</a:t>
            </a:r>
            <a:r>
              <a:rPr sz="1200">
                <a:solidFill>
                  <a:schemeClr val="tx1"/>
                </a:solidFill>
                <a:latin typeface="Arial"/>
                <a:ea typeface="Arial"/>
                <a:cs typeface="Arial"/>
              </a:rPr>
              <a:t> large.”</a:t>
            </a:r>
          </a:p>
          <a:p xmlns:a="http://schemas.openxmlformats.org/drawingml/2006/main"/>
          <a:p xmlns:a="http://schemas.openxmlformats.org/drawingml/2006/main">
            <a:r>
              <a:rPr sz="1200">
                <a:solidFill>
                  <a:schemeClr val="tx1"/>
                </a:solidFill>
                <a:latin typeface="Arial"/>
                <a:ea typeface="Arial"/>
                <a:cs typeface="Arial"/>
              </a:rPr>
              <a:t>Another</a:t>
            </a:r>
            <a:r>
              <a:rPr sz="1200">
                <a:solidFill>
                  <a:schemeClr val="tx1"/>
                </a:solidFill>
                <a:latin typeface="Arial"/>
                <a:ea typeface="Arial"/>
                <a:cs typeface="Arial"/>
              </a:rPr>
              <a:t> important </a:t>
            </a:r>
            <a:r>
              <a:rPr sz="1200">
                <a:solidFill>
                  <a:schemeClr val="tx1"/>
                </a:solidFill>
                <a:latin typeface="Arial"/>
                <a:ea typeface="Arial"/>
                <a:cs typeface="Arial"/>
              </a:rPr>
              <a:t>idea</a:t>
            </a:r>
            <a:r>
              <a:rPr sz="1200">
                <a:solidFill>
                  <a:schemeClr val="tx1"/>
                </a:solidFill>
                <a:latin typeface="Arial"/>
                <a:ea typeface="Arial"/>
                <a:cs typeface="Arial"/>
              </a:rPr>
              <a:t> </a:t>
            </a:r>
            <a:r>
              <a:rPr sz="1200">
                <a:solidFill>
                  <a:schemeClr val="tx1"/>
                </a:solidFill>
                <a:latin typeface="Arial"/>
                <a:ea typeface="Arial"/>
                <a:cs typeface="Arial"/>
              </a:rPr>
              <a:t>is</a:t>
            </a:r>
            <a:r>
              <a:rPr sz="1200">
                <a:solidFill>
                  <a:schemeClr val="tx1"/>
                </a:solidFill>
                <a:latin typeface="Arial"/>
                <a:ea typeface="Arial"/>
                <a:cs typeface="Arial"/>
              </a:rPr>
              <a:t> to </a:t>
            </a:r>
            <a:r>
              <a:rPr sz="1200">
                <a:solidFill>
                  <a:schemeClr val="tx1"/>
                </a:solidFill>
                <a:latin typeface="Arial"/>
                <a:ea typeface="Arial"/>
                <a:cs typeface="Arial"/>
              </a:rPr>
              <a:t>predict</a:t>
            </a:r>
            <a:r>
              <a:rPr sz="1200">
                <a:solidFill>
                  <a:schemeClr val="tx1"/>
                </a:solidFill>
                <a:latin typeface="Arial"/>
                <a:ea typeface="Arial"/>
                <a:cs typeface="Arial"/>
              </a:rPr>
              <a:t> a </a:t>
            </a:r>
            <a:r>
              <a:rPr sz="1200" b="1">
                <a:solidFill>
                  <a:schemeClr val="tx1"/>
                </a:solidFill>
                <a:latin typeface="Arial"/>
                <a:ea typeface="Arial"/>
                <a:cs typeface="Arial"/>
              </a:rPr>
              <a:t>target</a:t>
            </a:r>
            <a:r>
              <a:rPr sz="1200" b="1">
                <a:solidFill>
                  <a:schemeClr val="tx1"/>
                </a:solidFill>
                <a:latin typeface="Arial"/>
                <a:ea typeface="Arial"/>
                <a:cs typeface="Arial"/>
              </a:rPr>
              <a:t> </a:t>
            </a:r>
            <a:r>
              <a:rPr sz="1200" b="1">
                <a:solidFill>
                  <a:schemeClr val="tx1"/>
                </a:solidFill>
                <a:latin typeface="Arial"/>
                <a:ea typeface="Arial"/>
                <a:cs typeface="Arial"/>
              </a:rPr>
              <a:t>topology</a:t>
            </a:r>
            <a:r>
              <a:rPr sz="1200" b="1">
                <a:solidFill>
                  <a:schemeClr val="tx1"/>
                </a:solidFill>
                <a:latin typeface="Arial"/>
                <a:ea typeface="Arial"/>
                <a:cs typeface="Arial"/>
              </a:rPr>
              <a:t> </a:t>
            </a:r>
            <a:r>
              <a:rPr sz="1200" b="1">
                <a:solidFill>
                  <a:schemeClr val="tx1"/>
                </a:solidFill>
                <a:latin typeface="Arial"/>
                <a:ea typeface="Arial"/>
                <a:cs typeface="Arial"/>
              </a:rPr>
              <a:t>instead</a:t>
            </a:r>
            <a:r>
              <a:rPr sz="1200" b="1">
                <a:solidFill>
                  <a:schemeClr val="tx1"/>
                </a:solidFill>
                <a:latin typeface="Arial"/>
                <a:ea typeface="Arial"/>
                <a:cs typeface="Arial"/>
              </a:rPr>
              <a:t> of </a:t>
            </a:r>
            <a:r>
              <a:rPr sz="1200" b="1">
                <a:solidFill>
                  <a:schemeClr val="tx1"/>
                </a:solidFill>
                <a:latin typeface="Arial"/>
                <a:ea typeface="Arial"/>
                <a:cs typeface="Arial"/>
              </a:rPr>
              <a:t>raw</a:t>
            </a:r>
            <a:r>
              <a:rPr sz="1200" b="1">
                <a:solidFill>
                  <a:schemeClr val="tx1"/>
                </a:solidFill>
                <a:latin typeface="Arial"/>
                <a:ea typeface="Arial"/>
                <a:cs typeface="Arial"/>
              </a:rPr>
              <a:t> actions</a:t>
            </a:r>
            <a:r>
              <a:rPr sz="1200">
                <a:solidFill>
                  <a:schemeClr val="tx1"/>
                </a:solidFill>
                <a:latin typeface="Arial"/>
                <a:ea typeface="Arial"/>
                <a:cs typeface="Arial"/>
              </a:rPr>
              <a:t>.</a:t>
            </a:r>
          </a:p>
          <a:p xmlns:a="http://schemas.openxmlformats.org/drawingml/2006/main"/>
          <a:p xmlns:a="http://schemas.openxmlformats.org/drawingml/2006/main">
            <a:r>
              <a:rPr sz="1200">
                <a:solidFill>
                  <a:schemeClr val="tx1"/>
                </a:solidFill>
                <a:latin typeface="Arial"/>
                <a:ea typeface="Arial"/>
                <a:cs typeface="Arial"/>
              </a:rPr>
              <a:t>This </a:t>
            </a:r>
            <a:r>
              <a:rPr sz="1200">
                <a:solidFill>
                  <a:schemeClr val="tx1"/>
                </a:solidFill>
                <a:latin typeface="Arial"/>
                <a:ea typeface="Arial"/>
                <a:cs typeface="Arial"/>
              </a:rPr>
              <a:t>is</a:t>
            </a:r>
            <a:r>
              <a:rPr sz="1200">
                <a:solidFill>
                  <a:schemeClr val="tx1"/>
                </a:solidFill>
                <a:latin typeface="Arial"/>
                <a:ea typeface="Arial"/>
                <a:cs typeface="Arial"/>
              </a:rPr>
              <a:t> </a:t>
            </a:r>
            <a:r>
              <a:rPr sz="1200">
                <a:solidFill>
                  <a:schemeClr val="tx1"/>
                </a:solidFill>
                <a:latin typeface="Arial"/>
                <a:ea typeface="Arial"/>
                <a:cs typeface="Arial"/>
              </a:rPr>
              <a:t>used</a:t>
            </a:r>
            <a:r>
              <a:rPr sz="1200">
                <a:solidFill>
                  <a:schemeClr val="tx1"/>
                </a:solidFill>
                <a:latin typeface="Arial"/>
                <a:ea typeface="Arial"/>
                <a:cs typeface="Arial"/>
              </a:rPr>
              <a:t> in SMAAC, </a:t>
            </a:r>
            <a:r>
              <a:rPr sz="1200">
                <a:solidFill>
                  <a:schemeClr val="tx1"/>
                </a:solidFill>
                <a:latin typeface="Arial"/>
                <a:ea typeface="Arial"/>
                <a:cs typeface="Arial"/>
              </a:rPr>
              <a:t>where</a:t>
            </a:r>
            <a:r>
              <a:rPr sz="1200">
                <a:solidFill>
                  <a:schemeClr val="tx1"/>
                </a:solidFill>
                <a:latin typeface="Arial"/>
                <a:ea typeface="Arial"/>
                <a:cs typeface="Arial"/>
              </a:rPr>
              <a:t> </a:t>
            </a:r>
            <a:r>
              <a:rPr sz="1200">
                <a:solidFill>
                  <a:schemeClr val="tx1"/>
                </a:solidFill>
                <a:latin typeface="Arial"/>
                <a:ea typeface="Arial"/>
                <a:cs typeface="Arial"/>
              </a:rPr>
              <a:t>the</a:t>
            </a:r>
            <a:r>
              <a:rPr sz="1200">
                <a:solidFill>
                  <a:schemeClr val="tx1"/>
                </a:solidFill>
                <a:latin typeface="Arial"/>
                <a:ea typeface="Arial"/>
                <a:cs typeface="Arial"/>
              </a:rPr>
              <a:t> </a:t>
            </a:r>
            <a:r>
              <a:rPr sz="1200">
                <a:solidFill>
                  <a:schemeClr val="tx1"/>
                </a:solidFill>
                <a:latin typeface="Arial"/>
                <a:ea typeface="Arial"/>
                <a:cs typeface="Arial"/>
              </a:rPr>
              <a:t>agent</a:t>
            </a:r>
            <a:r>
              <a:rPr sz="1200">
                <a:solidFill>
                  <a:schemeClr val="tx1"/>
                </a:solidFill>
                <a:latin typeface="Arial"/>
                <a:ea typeface="Arial"/>
                <a:cs typeface="Arial"/>
              </a:rPr>
              <a:t> </a:t>
            </a:r>
            <a:r>
              <a:rPr sz="1200">
                <a:solidFill>
                  <a:schemeClr val="tx1"/>
                </a:solidFill>
                <a:latin typeface="Arial"/>
                <a:ea typeface="Arial"/>
                <a:cs typeface="Arial"/>
              </a:rPr>
              <a:t>learns</a:t>
            </a:r>
            <a:r>
              <a:rPr sz="1200">
                <a:solidFill>
                  <a:schemeClr val="tx1"/>
                </a:solidFill>
                <a:latin typeface="Arial"/>
                <a:ea typeface="Arial"/>
                <a:cs typeface="Arial"/>
              </a:rPr>
              <a:t> an </a:t>
            </a:r>
            <a:r>
              <a:rPr sz="1200">
                <a:solidFill>
                  <a:schemeClr val="tx1"/>
                </a:solidFill>
                <a:latin typeface="Arial"/>
                <a:ea typeface="Arial"/>
                <a:cs typeface="Arial"/>
              </a:rPr>
              <a:t>afterstate</a:t>
            </a:r>
            <a:r>
              <a:rPr sz="1200">
                <a:solidFill>
                  <a:schemeClr val="tx1"/>
                </a:solidFill>
                <a:latin typeface="Arial"/>
                <a:ea typeface="Arial"/>
                <a:cs typeface="Arial"/>
              </a:rPr>
              <a:t> </a:t>
            </a:r>
            <a:r>
              <a:rPr sz="1200">
                <a:solidFill>
                  <a:schemeClr val="tx1"/>
                </a:solidFill>
                <a:latin typeface="Arial"/>
                <a:ea typeface="Arial"/>
                <a:cs typeface="Arial"/>
              </a:rPr>
              <a:t>representation</a:t>
            </a:r>
            <a:r>
              <a:rPr sz="1200">
                <a:solidFill>
                  <a:schemeClr val="tx1"/>
                </a:solidFill>
                <a:latin typeface="Arial"/>
                <a:ea typeface="Arial"/>
                <a:cs typeface="Arial"/>
              </a:rPr>
              <a:t>—</a:t>
            </a:r>
            <a:r>
              <a:rPr sz="1200">
                <a:solidFill>
                  <a:schemeClr val="tx1"/>
                </a:solidFill>
                <a:latin typeface="Arial"/>
                <a:ea typeface="Arial"/>
                <a:cs typeface="Arial"/>
              </a:rPr>
              <a:t>basically</a:t>
            </a:r>
            <a:r>
              <a:rPr sz="1200">
                <a:solidFill>
                  <a:schemeClr val="tx1"/>
                </a:solidFill>
                <a:latin typeface="Arial"/>
                <a:ea typeface="Arial"/>
                <a:cs typeface="Arial"/>
              </a:rPr>
              <a:t> </a:t>
            </a:r>
            <a:r>
              <a:rPr sz="1200">
                <a:solidFill>
                  <a:schemeClr val="tx1"/>
                </a:solidFill>
                <a:latin typeface="Arial"/>
                <a:ea typeface="Arial"/>
                <a:cs typeface="Arial"/>
              </a:rPr>
              <a:t>the</a:t>
            </a:r>
            <a:r>
              <a:rPr sz="1200">
                <a:solidFill>
                  <a:schemeClr val="tx1"/>
                </a:solidFill>
                <a:latin typeface="Arial"/>
                <a:ea typeface="Arial"/>
                <a:cs typeface="Arial"/>
              </a:rPr>
              <a:t> </a:t>
            </a:r>
            <a:r>
              <a:rPr sz="1200">
                <a:solidFill>
                  <a:schemeClr val="tx1"/>
                </a:solidFill>
                <a:latin typeface="Arial"/>
                <a:ea typeface="Arial"/>
                <a:cs typeface="Arial"/>
              </a:rPr>
              <a:t>resulting</a:t>
            </a:r>
            <a:r>
              <a:rPr sz="1200">
                <a:solidFill>
                  <a:schemeClr val="tx1"/>
                </a:solidFill>
                <a:latin typeface="Arial"/>
                <a:ea typeface="Arial"/>
                <a:cs typeface="Arial"/>
              </a:rPr>
              <a:t> </a:t>
            </a:r>
            <a:r>
              <a:rPr sz="1200">
                <a:solidFill>
                  <a:schemeClr val="tx1"/>
                </a:solidFill>
                <a:latin typeface="Arial"/>
                <a:ea typeface="Arial"/>
                <a:cs typeface="Arial"/>
              </a:rPr>
              <a:t>topology</a:t>
            </a:r>
            <a:r>
              <a:rPr sz="1200">
                <a:solidFill>
                  <a:schemeClr val="tx1"/>
                </a:solidFill>
                <a:latin typeface="Arial"/>
                <a:ea typeface="Arial"/>
                <a:cs typeface="Arial"/>
              </a:rPr>
              <a:t> after an </a:t>
            </a:r>
            <a:r>
              <a:rPr sz="1200">
                <a:solidFill>
                  <a:schemeClr val="tx1"/>
                </a:solidFill>
                <a:latin typeface="Arial"/>
                <a:ea typeface="Arial"/>
                <a:cs typeface="Arial"/>
              </a:rPr>
              <a:t>action</a:t>
            </a:r>
            <a:r>
              <a:rPr sz="1200">
                <a:solidFill>
                  <a:schemeClr val="tx1"/>
                </a:solidFill>
                <a:latin typeface="Arial"/>
                <a:ea typeface="Arial"/>
                <a:cs typeface="Arial"/>
              </a:rPr>
              <a:t>.</a:t>
            </a:r>
          </a:p>
          <a:p xmlns:a="http://schemas.openxmlformats.org/drawingml/2006/main"/>
          <a:p xmlns:a="http://schemas.openxmlformats.org/drawingml/2006/main">
            <a:r>
              <a:rPr sz="1200">
                <a:solidFill>
                  <a:schemeClr val="tx1"/>
                </a:solidFill>
                <a:latin typeface="Arial"/>
                <a:ea typeface="Arial"/>
                <a:cs typeface="Arial"/>
              </a:rPr>
              <a:t>This </a:t>
            </a:r>
            <a:r>
              <a:rPr sz="1200">
                <a:solidFill>
                  <a:schemeClr val="tx1"/>
                </a:solidFill>
                <a:latin typeface="Arial"/>
                <a:ea typeface="Arial"/>
                <a:cs typeface="Arial"/>
              </a:rPr>
              <a:t>helps</a:t>
            </a:r>
            <a:r>
              <a:rPr sz="1200">
                <a:solidFill>
                  <a:schemeClr val="tx1"/>
                </a:solidFill>
                <a:latin typeface="Arial"/>
                <a:ea typeface="Arial"/>
                <a:cs typeface="Arial"/>
              </a:rPr>
              <a:t> </a:t>
            </a:r>
            <a:r>
              <a:rPr sz="1200">
                <a:solidFill>
                  <a:schemeClr val="tx1"/>
                </a:solidFill>
                <a:latin typeface="Arial"/>
                <a:ea typeface="Arial"/>
                <a:cs typeface="Arial"/>
              </a:rPr>
              <a:t>because</a:t>
            </a:r>
            <a:r>
              <a:rPr sz="1200">
                <a:solidFill>
                  <a:schemeClr val="tx1"/>
                </a:solidFill>
                <a:latin typeface="Arial"/>
                <a:ea typeface="Arial"/>
                <a:cs typeface="Arial"/>
              </a:rPr>
              <a:t> multiple </a:t>
            </a:r>
            <a:r>
              <a:rPr sz="1200">
                <a:solidFill>
                  <a:schemeClr val="tx1"/>
                </a:solidFill>
                <a:latin typeface="Arial"/>
                <a:ea typeface="Arial"/>
                <a:cs typeface="Arial"/>
              </a:rPr>
              <a:t>sequences</a:t>
            </a:r>
            <a:r>
              <a:rPr sz="1200">
                <a:solidFill>
                  <a:schemeClr val="tx1"/>
                </a:solidFill>
                <a:latin typeface="Arial"/>
                <a:ea typeface="Arial"/>
                <a:cs typeface="Arial"/>
              </a:rPr>
              <a:t> of actions can lead to the </a:t>
            </a:r>
            <a:r>
              <a:rPr sz="1200">
                <a:solidFill>
                  <a:schemeClr val="tx1"/>
                </a:solidFill>
                <a:latin typeface="Arial"/>
                <a:ea typeface="Arial"/>
                <a:cs typeface="Arial"/>
              </a:rPr>
              <a:t>same</a:t>
            </a:r>
            <a:r>
              <a:rPr sz="1200">
                <a:solidFill>
                  <a:schemeClr val="tx1"/>
                </a:solidFill>
                <a:latin typeface="Arial"/>
                <a:ea typeface="Arial"/>
                <a:cs typeface="Arial"/>
              </a:rPr>
              <a:t> configuration. So </a:t>
            </a:r>
            <a:r>
              <a:rPr sz="1200">
                <a:solidFill>
                  <a:schemeClr val="tx1"/>
                </a:solidFill>
                <a:latin typeface="Arial"/>
                <a:ea typeface="Arial"/>
                <a:cs typeface="Arial"/>
              </a:rPr>
              <a:t>it</a:t>
            </a:r>
            <a:r>
              <a:rPr sz="1200">
                <a:solidFill>
                  <a:schemeClr val="tx1"/>
                </a:solidFill>
                <a:latin typeface="Arial"/>
                <a:ea typeface="Arial"/>
                <a:cs typeface="Arial"/>
              </a:rPr>
              <a:t> </a:t>
            </a:r>
            <a:r>
              <a:rPr sz="1200">
                <a:solidFill>
                  <a:schemeClr val="tx1"/>
                </a:solidFill>
                <a:latin typeface="Arial"/>
                <a:ea typeface="Arial"/>
                <a:cs typeface="Arial"/>
              </a:rPr>
              <a:t>reduces</a:t>
            </a:r>
            <a:r>
              <a:rPr sz="1200">
                <a:solidFill>
                  <a:schemeClr val="tx1"/>
                </a:solidFill>
                <a:latin typeface="Arial"/>
                <a:ea typeface="Arial"/>
                <a:cs typeface="Arial"/>
              </a:rPr>
              <a:t> the action </a:t>
            </a:r>
            <a:r>
              <a:rPr sz="1200">
                <a:solidFill>
                  <a:schemeClr val="tx1"/>
                </a:solidFill>
                <a:latin typeface="Arial"/>
                <a:ea typeface="Arial"/>
                <a:cs typeface="Arial"/>
              </a:rPr>
              <a:t>space</a:t>
            </a:r>
          </a:p>
          <a:p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a:solidFill>
                  <a:schemeClr val="tx1"/>
                </a:solidFill>
                <a:latin typeface="Arial"/>
                <a:ea typeface="Arial"/>
                <a:cs typeface="Arial"/>
              </a:rPr>
              <a:t>To dive a </a:t>
            </a:r>
            <a:r>
              <a:rPr sz="1200">
                <a:solidFill>
                  <a:schemeClr val="tx1"/>
                </a:solidFill>
                <a:latin typeface="Arial"/>
                <a:ea typeface="Arial"/>
                <a:cs typeface="Arial"/>
              </a:rPr>
              <a:t>little</a:t>
            </a:r>
            <a:r>
              <a:rPr sz="1200">
                <a:solidFill>
                  <a:schemeClr val="tx1"/>
                </a:solidFill>
                <a:latin typeface="Arial"/>
                <a:ea typeface="Arial"/>
                <a:cs typeface="Arial"/>
              </a:rPr>
              <a:t> </a:t>
            </a:r>
            <a:r>
              <a:rPr sz="1200">
                <a:solidFill>
                  <a:schemeClr val="tx1"/>
                </a:solidFill>
                <a:latin typeface="Arial"/>
                <a:ea typeface="Arial"/>
                <a:cs typeface="Arial"/>
              </a:rPr>
              <a:t>deeper</a:t>
            </a:r>
            <a:r>
              <a:rPr sz="1200">
                <a:solidFill>
                  <a:schemeClr val="tx1"/>
                </a:solidFill>
                <a:latin typeface="Arial"/>
                <a:ea typeface="Arial"/>
                <a:cs typeface="Arial"/>
              </a:rPr>
              <a:t> i have been </a:t>
            </a:r>
            <a:r>
              <a:rPr sz="1200">
                <a:solidFill>
                  <a:schemeClr val="tx1"/>
                </a:solidFill>
                <a:latin typeface="Arial"/>
                <a:ea typeface="Arial"/>
                <a:cs typeface="Arial"/>
              </a:rPr>
              <a:t>looking</a:t>
            </a:r>
            <a:r>
              <a:rPr sz="1200">
                <a:solidFill>
                  <a:schemeClr val="tx1"/>
                </a:solidFill>
                <a:latin typeface="Arial"/>
                <a:ea typeface="Arial"/>
                <a:cs typeface="Arial"/>
              </a:rPr>
              <a:t> at a </a:t>
            </a:r>
            <a:r>
              <a:rPr sz="1200">
                <a:solidFill>
                  <a:schemeClr val="tx1"/>
                </a:solidFill>
                <a:latin typeface="Arial"/>
                <a:ea typeface="Arial"/>
                <a:cs typeface="Arial"/>
              </a:rPr>
              <a:t>survey</a:t>
            </a:r>
            <a:r>
              <a:rPr sz="1200">
                <a:solidFill>
                  <a:schemeClr val="tx1"/>
                </a:solidFill>
                <a:latin typeface="Arial"/>
                <a:ea typeface="Arial"/>
                <a:cs typeface="Arial"/>
              </a:rPr>
              <a:t> </a:t>
            </a:r>
            <a:r>
              <a:rPr sz="1200">
                <a:solidFill>
                  <a:schemeClr val="tx1"/>
                </a:solidFill>
                <a:latin typeface="Arial"/>
                <a:ea typeface="Arial"/>
                <a:cs typeface="Arial"/>
              </a:rPr>
              <a:t>that</a:t>
            </a:r>
            <a:r>
              <a:rPr sz="1200">
                <a:solidFill>
                  <a:schemeClr val="tx1"/>
                </a:solidFill>
                <a:latin typeface="Arial"/>
                <a:ea typeface="Arial"/>
                <a:cs typeface="Arial"/>
              </a:rPr>
              <a:t> </a:t>
            </a:r>
            <a:r>
              <a:rPr sz="1200">
                <a:solidFill>
                  <a:schemeClr val="tx1"/>
                </a:solidFill>
                <a:latin typeface="Arial"/>
                <a:ea typeface="Arial"/>
                <a:cs typeface="Arial"/>
              </a:rPr>
              <a:t>summarize</a:t>
            </a:r>
            <a:r>
              <a:rPr sz="1200">
                <a:solidFill>
                  <a:schemeClr val="tx1"/>
                </a:solidFill>
                <a:latin typeface="Arial"/>
                <a:ea typeface="Arial"/>
                <a:cs typeface="Arial"/>
              </a:rPr>
              <a:t> all the </a:t>
            </a:r>
            <a:r>
              <a:rPr sz="1200">
                <a:solidFill>
                  <a:schemeClr val="tx1"/>
                </a:solidFill>
                <a:latin typeface="Arial"/>
                <a:ea typeface="Arial"/>
                <a:cs typeface="Arial"/>
              </a:rPr>
              <a:t>algorithms</a:t>
            </a:r>
            <a:r>
              <a:rPr sz="1200">
                <a:solidFill>
                  <a:schemeClr val="tx1"/>
                </a:solidFill>
                <a:latin typeface="Arial"/>
                <a:ea typeface="Arial"/>
                <a:cs typeface="Arial"/>
              </a:rPr>
              <a:t> </a:t>
            </a:r>
            <a:r>
              <a:rPr sz="1200">
                <a:solidFill>
                  <a:schemeClr val="tx1"/>
                </a:solidFill>
                <a:latin typeface="Arial"/>
                <a:ea typeface="Arial"/>
                <a:cs typeface="Arial"/>
              </a:rPr>
              <a:t>that</a:t>
            </a:r>
            <a:r>
              <a:rPr sz="1200">
                <a:solidFill>
                  <a:schemeClr val="tx1"/>
                </a:solidFill>
                <a:latin typeface="Arial"/>
                <a:ea typeface="Arial"/>
                <a:cs typeface="Arial"/>
              </a:rPr>
              <a:t> won the l2rpn challenge and </a:t>
            </a:r>
            <a:r>
              <a:rPr sz="1200">
                <a:solidFill>
                  <a:schemeClr val="tx1"/>
                </a:solidFill>
                <a:latin typeface="Arial"/>
                <a:ea typeface="Arial"/>
                <a:cs typeface="Arial"/>
              </a:rPr>
              <a:t>this</a:t>
            </a:r>
            <a:r>
              <a:rPr sz="1200">
                <a:solidFill>
                  <a:schemeClr val="tx1"/>
                </a:solidFill>
                <a:latin typeface="Arial"/>
                <a:ea typeface="Arial"/>
                <a:cs typeface="Arial"/>
              </a:rPr>
              <a:t> </a:t>
            </a:r>
            <a:r>
              <a:rPr sz="1200">
                <a:solidFill>
                  <a:schemeClr val="tx1"/>
                </a:solidFill>
                <a:latin typeface="Arial"/>
                <a:ea typeface="Arial"/>
                <a:cs typeface="Arial"/>
              </a:rPr>
              <a:t>is</a:t>
            </a:r>
            <a:r>
              <a:rPr sz="1200">
                <a:solidFill>
                  <a:schemeClr val="tx1"/>
                </a:solidFill>
                <a:latin typeface="Arial"/>
                <a:ea typeface="Arial"/>
                <a:cs typeface="Arial"/>
              </a:rPr>
              <a:t> the main </a:t>
            </a:r>
            <a:r>
              <a:rPr sz="1200">
                <a:solidFill>
                  <a:schemeClr val="tx1"/>
                </a:solidFill>
                <a:latin typeface="Arial"/>
                <a:ea typeface="Arial"/>
                <a:cs typeface="Arial"/>
              </a:rPr>
              <a:t>categories</a:t>
            </a:r>
            <a:r>
              <a:rPr sz="1200">
                <a:solidFill>
                  <a:schemeClr val="tx1"/>
                </a:solidFill>
                <a:latin typeface="Arial"/>
                <a:ea typeface="Arial"/>
                <a:cs typeface="Arial"/>
              </a:rPr>
              <a:t> of </a:t>
            </a:r>
            <a:r>
              <a:rPr sz="1200">
                <a:solidFill>
                  <a:schemeClr val="tx1"/>
                </a:solidFill>
                <a:latin typeface="Arial"/>
                <a:ea typeface="Arial"/>
                <a:cs typeface="Arial"/>
              </a:rPr>
              <a:t>succesfull</a:t>
            </a:r>
            <a:r>
              <a:rPr sz="1200">
                <a:solidFill>
                  <a:schemeClr val="tx1"/>
                </a:solidFill>
                <a:latin typeface="Arial"/>
                <a:ea typeface="Arial"/>
                <a:cs typeface="Arial"/>
              </a:rPr>
              <a:t> </a:t>
            </a:r>
            <a:r>
              <a:rPr sz="1200">
                <a:solidFill>
                  <a:schemeClr val="tx1"/>
                </a:solidFill>
                <a:latin typeface="Arial"/>
                <a:ea typeface="Arial"/>
                <a:cs typeface="Arial"/>
              </a:rPr>
              <a:t>agentthat</a:t>
            </a:r>
            <a:r>
              <a:rPr sz="1200">
                <a:solidFill>
                  <a:schemeClr val="tx1"/>
                </a:solidFill>
                <a:latin typeface="Arial"/>
                <a:ea typeface="Arial"/>
                <a:cs typeface="Arial"/>
              </a:rPr>
              <a:t> won the challenge.</a:t>
            </a:r>
          </a:p>
          <a:p xmlns:a="http://schemas.openxmlformats.org/drawingml/2006/main"/>
          <a:p xmlns:a="http://schemas.openxmlformats.org/drawingml/2006/main">
            <a:r>
              <a:rPr sz="1200">
                <a:solidFill>
                  <a:schemeClr val="tx1"/>
                </a:solidFill>
                <a:latin typeface="Arial"/>
                <a:ea typeface="Arial"/>
                <a:cs typeface="Arial"/>
              </a:rPr>
              <a:t>Some</a:t>
            </a:r>
            <a:r>
              <a:rPr sz="1200">
                <a:solidFill>
                  <a:schemeClr val="tx1"/>
                </a:solidFill>
                <a:latin typeface="Arial"/>
                <a:ea typeface="Arial"/>
                <a:cs typeface="Arial"/>
              </a:rPr>
              <a:t> </a:t>
            </a:r>
            <a:r>
              <a:rPr sz="1200">
                <a:solidFill>
                  <a:schemeClr val="tx1"/>
                </a:solidFill>
                <a:latin typeface="Arial"/>
                <a:ea typeface="Arial"/>
                <a:cs typeface="Arial"/>
              </a:rPr>
              <a:t>approaches</a:t>
            </a:r>
            <a:r>
              <a:rPr sz="1200">
                <a:solidFill>
                  <a:schemeClr val="tx1"/>
                </a:solidFill>
                <a:latin typeface="Arial"/>
                <a:ea typeface="Arial"/>
                <a:cs typeface="Arial"/>
              </a:rPr>
              <a:t> </a:t>
            </a:r>
            <a:r>
              <a:rPr sz="1200">
                <a:solidFill>
                  <a:schemeClr val="tx1"/>
                </a:solidFill>
                <a:latin typeface="Arial"/>
                <a:ea typeface="Arial"/>
                <a:cs typeface="Arial"/>
              </a:rPr>
              <a:t>rely</a:t>
            </a:r>
            <a:r>
              <a:rPr sz="1200">
                <a:solidFill>
                  <a:schemeClr val="tx1"/>
                </a:solidFill>
                <a:latin typeface="Arial"/>
                <a:ea typeface="Arial"/>
                <a:cs typeface="Arial"/>
              </a:rPr>
              <a:t> on a single global agent </a:t>
            </a:r>
            <a:r>
              <a:rPr sz="1200">
                <a:solidFill>
                  <a:schemeClr val="tx1"/>
                </a:solidFill>
                <a:latin typeface="Arial"/>
                <a:ea typeface="Arial"/>
                <a:cs typeface="Arial"/>
              </a:rPr>
              <a:t>with</a:t>
            </a:r>
            <a:r>
              <a:rPr sz="1200">
                <a:solidFill>
                  <a:schemeClr val="tx1"/>
                </a:solidFill>
                <a:latin typeface="Arial"/>
                <a:ea typeface="Arial"/>
                <a:cs typeface="Arial"/>
              </a:rPr>
              <a:t> </a:t>
            </a:r>
            <a:r>
              <a:rPr sz="1200">
                <a:solidFill>
                  <a:schemeClr val="tx1"/>
                </a:solidFill>
                <a:latin typeface="Arial"/>
                <a:ea typeface="Arial"/>
                <a:cs typeface="Arial"/>
              </a:rPr>
              <a:t>strong</a:t>
            </a:r>
            <a:r>
              <a:rPr sz="1200">
                <a:solidFill>
                  <a:schemeClr val="tx1"/>
                </a:solidFill>
                <a:latin typeface="Arial"/>
                <a:ea typeface="Arial"/>
                <a:cs typeface="Arial"/>
              </a:rPr>
              <a:t> engineering tricks.</a:t>
            </a:r>
          </a:p>
          <a:p xmlns:a="http://schemas.openxmlformats.org/drawingml/2006/main"/>
          <a:p xmlns:a="http://schemas.openxmlformats.org/drawingml/2006/main">
            <a:r>
              <a:rPr sz="1200">
                <a:solidFill>
                  <a:schemeClr val="tx1"/>
                </a:solidFill>
                <a:latin typeface="Arial"/>
                <a:ea typeface="Arial"/>
                <a:cs typeface="Arial"/>
              </a:rPr>
              <a:t>For </a:t>
            </a:r>
            <a:r>
              <a:rPr sz="1200">
                <a:solidFill>
                  <a:schemeClr val="tx1"/>
                </a:solidFill>
                <a:latin typeface="Arial"/>
                <a:ea typeface="Arial"/>
                <a:cs typeface="Arial"/>
              </a:rPr>
              <a:t>example</a:t>
            </a:r>
            <a:r>
              <a:rPr sz="1200">
                <a:solidFill>
                  <a:schemeClr val="tx1"/>
                </a:solidFill>
                <a:latin typeface="Arial"/>
                <a:ea typeface="Arial"/>
                <a:cs typeface="Arial"/>
              </a:rPr>
              <a:t>, </a:t>
            </a:r>
            <a:r>
              <a:rPr sz="1200">
                <a:solidFill>
                  <a:schemeClr val="tx1"/>
                </a:solidFill>
                <a:latin typeface="Arial"/>
                <a:ea typeface="Arial"/>
                <a:cs typeface="Arial"/>
              </a:rPr>
              <a:t>they</a:t>
            </a:r>
            <a:r>
              <a:rPr sz="1200">
                <a:solidFill>
                  <a:schemeClr val="tx1"/>
                </a:solidFill>
                <a:latin typeface="Arial"/>
                <a:ea typeface="Arial"/>
                <a:cs typeface="Arial"/>
              </a:rPr>
              <a:t> use graph neural networks </a:t>
            </a:r>
            <a:r>
              <a:rPr sz="1200">
                <a:solidFill>
                  <a:schemeClr val="tx1"/>
                </a:solidFill>
                <a:latin typeface="Arial"/>
                <a:ea typeface="Arial"/>
                <a:cs typeface="Arial"/>
              </a:rPr>
              <a:t>combined</a:t>
            </a:r>
            <a:r>
              <a:rPr sz="1200">
                <a:solidFill>
                  <a:schemeClr val="tx1"/>
                </a:solidFill>
                <a:latin typeface="Arial"/>
                <a:ea typeface="Arial"/>
                <a:cs typeface="Arial"/>
              </a:rPr>
              <a:t> </a:t>
            </a:r>
            <a:r>
              <a:rPr sz="1200">
                <a:solidFill>
                  <a:schemeClr val="tx1"/>
                </a:solidFill>
                <a:latin typeface="Arial"/>
                <a:ea typeface="Arial"/>
                <a:cs typeface="Arial"/>
              </a:rPr>
              <a:t>with</a:t>
            </a:r>
            <a:r>
              <a:rPr sz="1200">
                <a:solidFill>
                  <a:schemeClr val="tx1"/>
                </a:solidFill>
                <a:latin typeface="Arial"/>
                <a:ea typeface="Arial"/>
                <a:cs typeface="Arial"/>
              </a:rPr>
              <a:t> value-</a:t>
            </a:r>
            <a:r>
              <a:rPr sz="1200">
                <a:solidFill>
                  <a:schemeClr val="tx1"/>
                </a:solidFill>
                <a:latin typeface="Arial"/>
                <a:ea typeface="Arial"/>
                <a:cs typeface="Arial"/>
              </a:rPr>
              <a:t>based</a:t>
            </a:r>
            <a:r>
              <a:rPr sz="1200">
                <a:solidFill>
                  <a:schemeClr val="tx1"/>
                </a:solidFill>
                <a:latin typeface="Arial"/>
                <a:ea typeface="Arial"/>
                <a:cs typeface="Arial"/>
              </a:rPr>
              <a:t> RL, and </a:t>
            </a:r>
            <a:r>
              <a:rPr sz="1200">
                <a:solidFill>
                  <a:schemeClr val="tx1"/>
                </a:solidFill>
                <a:latin typeface="Arial"/>
                <a:ea typeface="Arial"/>
                <a:cs typeface="Arial"/>
              </a:rPr>
              <a:t>validate</a:t>
            </a:r>
            <a:r>
              <a:rPr sz="1200">
                <a:solidFill>
                  <a:schemeClr val="tx1"/>
                </a:solidFill>
                <a:latin typeface="Arial"/>
                <a:ea typeface="Arial"/>
                <a:cs typeface="Arial"/>
              </a:rPr>
              <a:t> actions </a:t>
            </a:r>
            <a:r>
              <a:rPr sz="1200">
                <a:solidFill>
                  <a:schemeClr val="tx1"/>
                </a:solidFill>
                <a:latin typeface="Arial"/>
                <a:ea typeface="Arial"/>
                <a:cs typeface="Arial"/>
              </a:rPr>
              <a:t>using</a:t>
            </a:r>
            <a:r>
              <a:rPr sz="1200">
                <a:solidFill>
                  <a:schemeClr val="tx1"/>
                </a:solidFill>
                <a:latin typeface="Arial"/>
                <a:ea typeface="Arial"/>
                <a:cs typeface="Arial"/>
              </a:rPr>
              <a:t> power-flow simulations.</a:t>
            </a:r>
          </a:p>
          <a:p xmlns:a="http://schemas.openxmlformats.org/drawingml/2006/main"/>
          <a:p xmlns:a="http://schemas.openxmlformats.org/drawingml/2006/main">
            <a:r>
              <a:rPr sz="1200">
                <a:solidFill>
                  <a:schemeClr val="tx1"/>
                </a:solidFill>
                <a:latin typeface="Arial"/>
                <a:ea typeface="Arial"/>
                <a:cs typeface="Arial"/>
              </a:rPr>
              <a:t>Others</a:t>
            </a:r>
            <a:r>
              <a:rPr sz="1200">
                <a:solidFill>
                  <a:schemeClr val="tx1"/>
                </a:solidFill>
                <a:latin typeface="Arial"/>
                <a:ea typeface="Arial"/>
                <a:cs typeface="Arial"/>
              </a:rPr>
              <a:t> </a:t>
            </a:r>
            <a:r>
              <a:rPr sz="1200">
                <a:solidFill>
                  <a:schemeClr val="tx1"/>
                </a:solidFill>
                <a:latin typeface="Arial"/>
                <a:ea typeface="Arial"/>
                <a:cs typeface="Arial"/>
              </a:rPr>
              <a:t>reduce</a:t>
            </a:r>
            <a:r>
              <a:rPr sz="1200">
                <a:solidFill>
                  <a:schemeClr val="tx1"/>
                </a:solidFill>
                <a:latin typeface="Arial"/>
                <a:ea typeface="Arial"/>
                <a:cs typeface="Arial"/>
              </a:rPr>
              <a:t> the action </a:t>
            </a:r>
            <a:r>
              <a:rPr sz="1200">
                <a:solidFill>
                  <a:schemeClr val="tx1"/>
                </a:solidFill>
                <a:latin typeface="Arial"/>
                <a:ea typeface="Arial"/>
                <a:cs typeface="Arial"/>
              </a:rPr>
              <a:t>space</a:t>
            </a:r>
            <a:r>
              <a:rPr sz="1200">
                <a:solidFill>
                  <a:schemeClr val="tx1"/>
                </a:solidFill>
                <a:latin typeface="Arial"/>
                <a:ea typeface="Arial"/>
                <a:cs typeface="Arial"/>
              </a:rPr>
              <a:t> </a:t>
            </a:r>
            <a:r>
              <a:rPr sz="1200">
                <a:solidFill>
                  <a:schemeClr val="tx1"/>
                </a:solidFill>
                <a:latin typeface="Arial"/>
                <a:ea typeface="Arial"/>
                <a:cs typeface="Arial"/>
              </a:rPr>
              <a:t>using</a:t>
            </a:r>
            <a:r>
              <a:rPr sz="1200">
                <a:solidFill>
                  <a:schemeClr val="tx1"/>
                </a:solidFill>
                <a:latin typeface="Arial"/>
                <a:ea typeface="Arial"/>
                <a:cs typeface="Arial"/>
              </a:rPr>
              <a:t> </a:t>
            </a:r>
            <a:r>
              <a:rPr sz="1200">
                <a:solidFill>
                  <a:schemeClr val="tx1"/>
                </a:solidFill>
                <a:latin typeface="Arial"/>
                <a:ea typeface="Arial"/>
                <a:cs typeface="Arial"/>
              </a:rPr>
              <a:t>masking</a:t>
            </a:r>
            <a:r>
              <a:rPr sz="1200">
                <a:solidFill>
                  <a:schemeClr val="tx1"/>
                </a:solidFill>
                <a:latin typeface="Arial"/>
                <a:ea typeface="Arial"/>
                <a:cs typeface="Arial"/>
              </a:rPr>
              <a:t> or </a:t>
            </a:r>
            <a:r>
              <a:rPr sz="1200">
                <a:solidFill>
                  <a:schemeClr val="tx1"/>
                </a:solidFill>
                <a:latin typeface="Arial"/>
                <a:ea typeface="Arial"/>
                <a:cs typeface="Arial"/>
              </a:rPr>
              <a:t>pruning</a:t>
            </a:r>
            <a:r>
              <a:rPr sz="1200">
                <a:solidFill>
                  <a:schemeClr val="tx1"/>
                </a:solidFill>
                <a:latin typeface="Arial"/>
                <a:ea typeface="Arial"/>
                <a:cs typeface="Arial"/>
              </a:rPr>
              <a:t>.</a:t>
            </a:r>
          </a:p>
          <a:p xmlns:a="http://schemas.openxmlformats.org/drawingml/2006/main"/>
          <a:p xmlns:a="http://schemas.openxmlformats.org/drawingml/2006/main">
            <a:r>
              <a:rPr sz="1200">
                <a:solidFill>
                  <a:schemeClr val="tx1"/>
                </a:solidFill>
                <a:latin typeface="Arial"/>
                <a:ea typeface="Arial"/>
                <a:cs typeface="Arial"/>
              </a:rPr>
              <a:t>These</a:t>
            </a:r>
            <a:r>
              <a:rPr sz="1200">
                <a:solidFill>
                  <a:schemeClr val="tx1"/>
                </a:solidFill>
                <a:latin typeface="Arial"/>
                <a:ea typeface="Arial"/>
                <a:cs typeface="Arial"/>
              </a:rPr>
              <a:t> </a:t>
            </a:r>
            <a:r>
              <a:rPr sz="1200">
                <a:solidFill>
                  <a:schemeClr val="tx1"/>
                </a:solidFill>
                <a:latin typeface="Arial"/>
                <a:ea typeface="Arial"/>
                <a:cs typeface="Arial"/>
              </a:rPr>
              <a:t>methods</a:t>
            </a:r>
            <a:r>
              <a:rPr sz="1200">
                <a:solidFill>
                  <a:schemeClr val="tx1"/>
                </a:solidFill>
                <a:latin typeface="Arial"/>
                <a:ea typeface="Arial"/>
                <a:cs typeface="Arial"/>
              </a:rPr>
              <a:t> can </a:t>
            </a:r>
            <a:r>
              <a:rPr sz="1200">
                <a:solidFill>
                  <a:schemeClr val="tx1"/>
                </a:solidFill>
                <a:latin typeface="Arial"/>
                <a:ea typeface="Arial"/>
                <a:cs typeface="Arial"/>
              </a:rPr>
              <a:t>work</a:t>
            </a:r>
            <a:r>
              <a:rPr sz="1200">
                <a:solidFill>
                  <a:schemeClr val="tx1"/>
                </a:solidFill>
                <a:latin typeface="Arial"/>
                <a:ea typeface="Arial"/>
                <a:cs typeface="Arial"/>
              </a:rPr>
              <a:t>, </a:t>
            </a:r>
            <a:r>
              <a:rPr sz="1200">
                <a:solidFill>
                  <a:schemeClr val="tx1"/>
                </a:solidFill>
                <a:latin typeface="Arial"/>
                <a:ea typeface="Arial"/>
                <a:cs typeface="Arial"/>
              </a:rPr>
              <a:t>so</a:t>
            </a:r>
            <a:r>
              <a:rPr sz="1200">
                <a:solidFill>
                  <a:schemeClr val="tx1"/>
                </a:solidFill>
                <a:latin typeface="Arial"/>
                <a:ea typeface="Arial"/>
                <a:cs typeface="Arial"/>
              </a:rPr>
              <a:t> </a:t>
            </a:r>
            <a:r>
              <a:rPr sz="1200">
                <a:solidFill>
                  <a:schemeClr val="tx1"/>
                </a:solidFill>
                <a:latin typeface="Arial"/>
                <a:ea typeface="Arial"/>
                <a:cs typeface="Arial"/>
              </a:rPr>
              <a:t>mixing</a:t>
            </a:r>
            <a:r>
              <a:rPr sz="1200">
                <a:solidFill>
                  <a:schemeClr val="tx1"/>
                </a:solidFill>
                <a:latin typeface="Arial"/>
                <a:ea typeface="Arial"/>
                <a:cs typeface="Arial"/>
              </a:rPr>
              <a:t> a single agent </a:t>
            </a:r>
            <a:r>
              <a:rPr sz="1200">
                <a:solidFill>
                  <a:schemeClr val="tx1"/>
                </a:solidFill>
                <a:latin typeface="Arial"/>
                <a:ea typeface="Arial"/>
                <a:cs typeface="Arial"/>
              </a:rPr>
              <a:t>with</a:t>
            </a:r>
            <a:r>
              <a:rPr sz="1200">
                <a:solidFill>
                  <a:schemeClr val="tx1"/>
                </a:solidFill>
                <a:latin typeface="Arial"/>
                <a:ea typeface="Arial"/>
                <a:cs typeface="Arial"/>
              </a:rPr>
              <a:t> </a:t>
            </a:r>
            <a:r>
              <a:rPr sz="1200">
                <a:solidFill>
                  <a:schemeClr val="tx1"/>
                </a:solidFill>
                <a:latin typeface="Arial"/>
                <a:ea typeface="Arial"/>
                <a:cs typeface="Arial"/>
              </a:rPr>
              <a:t>rules</a:t>
            </a:r>
            <a:r>
              <a:rPr sz="1200">
                <a:solidFill>
                  <a:schemeClr val="tx1"/>
                </a:solidFill>
                <a:latin typeface="Arial"/>
                <a:ea typeface="Arial"/>
                <a:cs typeface="Arial"/>
              </a:rPr>
              <a:t>, but </a:t>
            </a:r>
            <a:r>
              <a:rPr sz="1200">
                <a:solidFill>
                  <a:schemeClr val="tx1"/>
                </a:solidFill>
                <a:latin typeface="Arial"/>
                <a:ea typeface="Arial"/>
                <a:cs typeface="Arial"/>
              </a:rPr>
              <a:t>they</a:t>
            </a:r>
            <a:r>
              <a:rPr sz="1200">
                <a:solidFill>
                  <a:schemeClr val="tx1"/>
                </a:solidFill>
                <a:latin typeface="Arial"/>
                <a:ea typeface="Arial"/>
                <a:cs typeface="Arial"/>
              </a:rPr>
              <a:t> </a:t>
            </a:r>
            <a:r>
              <a:rPr sz="1200">
                <a:solidFill>
                  <a:schemeClr val="tx1"/>
                </a:solidFill>
                <a:latin typeface="Arial"/>
                <a:ea typeface="Arial"/>
                <a:cs typeface="Arial"/>
              </a:rPr>
              <a:t>suffer</a:t>
            </a:r>
            <a:r>
              <a:rPr sz="1200">
                <a:solidFill>
                  <a:schemeClr val="tx1"/>
                </a:solidFill>
                <a:latin typeface="Arial"/>
                <a:ea typeface="Arial"/>
                <a:cs typeface="Arial"/>
              </a:rPr>
              <a:t> </a:t>
            </a:r>
            <a:r>
              <a:rPr sz="1200">
                <a:solidFill>
                  <a:schemeClr val="tx1"/>
                </a:solidFill>
                <a:latin typeface="Arial"/>
                <a:ea typeface="Arial"/>
                <a:cs typeface="Arial"/>
              </a:rPr>
              <a:t>because</a:t>
            </a:r>
            <a:r>
              <a:rPr sz="1200">
                <a:solidFill>
                  <a:schemeClr val="tx1"/>
                </a:solidFill>
                <a:latin typeface="Arial"/>
                <a:ea typeface="Arial"/>
                <a:cs typeface="Arial"/>
              </a:rPr>
              <a:t> the action </a:t>
            </a:r>
            <a:r>
              <a:rPr sz="1200">
                <a:solidFill>
                  <a:schemeClr val="tx1"/>
                </a:solidFill>
                <a:latin typeface="Arial"/>
                <a:ea typeface="Arial"/>
                <a:cs typeface="Arial"/>
              </a:rPr>
              <a:t>space</a:t>
            </a:r>
            <a:r>
              <a:rPr sz="1200">
                <a:solidFill>
                  <a:schemeClr val="tx1"/>
                </a:solidFill>
                <a:latin typeface="Arial"/>
                <a:ea typeface="Arial"/>
                <a:cs typeface="Arial"/>
              </a:rPr>
              <a:t> </a:t>
            </a:r>
            <a:r>
              <a:rPr sz="1200">
                <a:solidFill>
                  <a:schemeClr val="tx1"/>
                </a:solidFill>
                <a:latin typeface="Arial"/>
                <a:ea typeface="Arial"/>
                <a:cs typeface="Arial"/>
              </a:rPr>
              <a:t>remains</a:t>
            </a:r>
            <a:r>
              <a:rPr sz="1200">
                <a:solidFill>
                  <a:schemeClr val="tx1"/>
                </a:solidFill>
                <a:latin typeface="Arial"/>
                <a:ea typeface="Arial"/>
                <a:cs typeface="Arial"/>
              </a:rPr>
              <a:t> </a:t>
            </a:r>
            <a:r>
              <a:rPr sz="1200">
                <a:solidFill>
                  <a:schemeClr val="tx1"/>
                </a:solidFill>
                <a:latin typeface="Arial"/>
                <a:ea typeface="Arial"/>
                <a:cs typeface="Arial"/>
              </a:rPr>
              <a:t>very</a:t>
            </a:r>
            <a:r>
              <a:rPr sz="1200">
                <a:solidFill>
                  <a:schemeClr val="tx1"/>
                </a:solidFill>
                <a:latin typeface="Arial"/>
                <a:ea typeface="Arial"/>
                <a:cs typeface="Arial"/>
              </a:rPr>
              <a:t> large.”</a:t>
            </a:r>
          </a:p>
          <a:p xmlns:a="http://schemas.openxmlformats.org/drawingml/2006/main"/>
          <a:p xmlns:a="http://schemas.openxmlformats.org/drawingml/2006/main">
            <a:r>
              <a:rPr sz="1200">
                <a:solidFill>
                  <a:schemeClr val="tx1"/>
                </a:solidFill>
                <a:latin typeface="Arial"/>
                <a:ea typeface="Arial"/>
                <a:cs typeface="Arial"/>
              </a:rPr>
              <a:t>Another</a:t>
            </a:r>
            <a:r>
              <a:rPr sz="1200">
                <a:solidFill>
                  <a:schemeClr val="tx1"/>
                </a:solidFill>
                <a:latin typeface="Arial"/>
                <a:ea typeface="Arial"/>
                <a:cs typeface="Arial"/>
              </a:rPr>
              <a:t> important </a:t>
            </a:r>
            <a:r>
              <a:rPr sz="1200">
                <a:solidFill>
                  <a:schemeClr val="tx1"/>
                </a:solidFill>
                <a:latin typeface="Arial"/>
                <a:ea typeface="Arial"/>
                <a:cs typeface="Arial"/>
              </a:rPr>
              <a:t>idea</a:t>
            </a:r>
            <a:r>
              <a:rPr sz="1200">
                <a:solidFill>
                  <a:schemeClr val="tx1"/>
                </a:solidFill>
                <a:latin typeface="Arial"/>
                <a:ea typeface="Arial"/>
                <a:cs typeface="Arial"/>
              </a:rPr>
              <a:t> </a:t>
            </a:r>
            <a:r>
              <a:rPr sz="1200">
                <a:solidFill>
                  <a:schemeClr val="tx1"/>
                </a:solidFill>
                <a:latin typeface="Arial"/>
                <a:ea typeface="Arial"/>
                <a:cs typeface="Arial"/>
              </a:rPr>
              <a:t>is</a:t>
            </a:r>
            <a:r>
              <a:rPr sz="1200">
                <a:solidFill>
                  <a:schemeClr val="tx1"/>
                </a:solidFill>
                <a:latin typeface="Arial"/>
                <a:ea typeface="Arial"/>
                <a:cs typeface="Arial"/>
              </a:rPr>
              <a:t> to </a:t>
            </a:r>
            <a:r>
              <a:rPr sz="1200">
                <a:solidFill>
                  <a:schemeClr val="tx1"/>
                </a:solidFill>
                <a:latin typeface="Arial"/>
                <a:ea typeface="Arial"/>
                <a:cs typeface="Arial"/>
              </a:rPr>
              <a:t>predict</a:t>
            </a:r>
            <a:r>
              <a:rPr sz="1200">
                <a:solidFill>
                  <a:schemeClr val="tx1"/>
                </a:solidFill>
                <a:latin typeface="Arial"/>
                <a:ea typeface="Arial"/>
                <a:cs typeface="Arial"/>
              </a:rPr>
              <a:t> a </a:t>
            </a:r>
            <a:r>
              <a:rPr sz="1200" b="1">
                <a:solidFill>
                  <a:schemeClr val="tx1"/>
                </a:solidFill>
                <a:latin typeface="Arial"/>
                <a:ea typeface="Arial"/>
                <a:cs typeface="Arial"/>
              </a:rPr>
              <a:t>target</a:t>
            </a:r>
            <a:r>
              <a:rPr sz="1200" b="1">
                <a:solidFill>
                  <a:schemeClr val="tx1"/>
                </a:solidFill>
                <a:latin typeface="Arial"/>
                <a:ea typeface="Arial"/>
                <a:cs typeface="Arial"/>
              </a:rPr>
              <a:t> </a:t>
            </a:r>
            <a:r>
              <a:rPr sz="1200" b="1">
                <a:solidFill>
                  <a:schemeClr val="tx1"/>
                </a:solidFill>
                <a:latin typeface="Arial"/>
                <a:ea typeface="Arial"/>
                <a:cs typeface="Arial"/>
              </a:rPr>
              <a:t>topology</a:t>
            </a:r>
            <a:r>
              <a:rPr sz="1200" b="1">
                <a:solidFill>
                  <a:schemeClr val="tx1"/>
                </a:solidFill>
                <a:latin typeface="Arial"/>
                <a:ea typeface="Arial"/>
                <a:cs typeface="Arial"/>
              </a:rPr>
              <a:t> </a:t>
            </a:r>
            <a:r>
              <a:rPr sz="1200" b="1">
                <a:solidFill>
                  <a:schemeClr val="tx1"/>
                </a:solidFill>
                <a:latin typeface="Arial"/>
                <a:ea typeface="Arial"/>
                <a:cs typeface="Arial"/>
              </a:rPr>
              <a:t>instead</a:t>
            </a:r>
            <a:r>
              <a:rPr sz="1200" b="1">
                <a:solidFill>
                  <a:schemeClr val="tx1"/>
                </a:solidFill>
                <a:latin typeface="Arial"/>
                <a:ea typeface="Arial"/>
                <a:cs typeface="Arial"/>
              </a:rPr>
              <a:t> of </a:t>
            </a:r>
            <a:r>
              <a:rPr sz="1200" b="1">
                <a:solidFill>
                  <a:schemeClr val="tx1"/>
                </a:solidFill>
                <a:latin typeface="Arial"/>
                <a:ea typeface="Arial"/>
                <a:cs typeface="Arial"/>
              </a:rPr>
              <a:t>raw</a:t>
            </a:r>
            <a:r>
              <a:rPr sz="1200" b="1">
                <a:solidFill>
                  <a:schemeClr val="tx1"/>
                </a:solidFill>
                <a:latin typeface="Arial"/>
                <a:ea typeface="Arial"/>
                <a:cs typeface="Arial"/>
              </a:rPr>
              <a:t> actions</a:t>
            </a:r>
            <a:r>
              <a:rPr sz="1200">
                <a:solidFill>
                  <a:schemeClr val="tx1"/>
                </a:solidFill>
                <a:latin typeface="Arial"/>
                <a:ea typeface="Arial"/>
                <a:cs typeface="Arial"/>
              </a:rPr>
              <a:t>.</a:t>
            </a:r>
          </a:p>
          <a:p xmlns:a="http://schemas.openxmlformats.org/drawingml/2006/main"/>
          <a:p xmlns:a="http://schemas.openxmlformats.org/drawingml/2006/main">
            <a:r>
              <a:rPr sz="1200">
                <a:solidFill>
                  <a:schemeClr val="tx1"/>
                </a:solidFill>
                <a:latin typeface="Arial"/>
                <a:ea typeface="Arial"/>
                <a:cs typeface="Arial"/>
              </a:rPr>
              <a:t>This </a:t>
            </a:r>
            <a:r>
              <a:rPr sz="1200">
                <a:solidFill>
                  <a:schemeClr val="tx1"/>
                </a:solidFill>
                <a:latin typeface="Arial"/>
                <a:ea typeface="Arial"/>
                <a:cs typeface="Arial"/>
              </a:rPr>
              <a:t>is</a:t>
            </a:r>
            <a:r>
              <a:rPr sz="1200">
                <a:solidFill>
                  <a:schemeClr val="tx1"/>
                </a:solidFill>
                <a:latin typeface="Arial"/>
                <a:ea typeface="Arial"/>
                <a:cs typeface="Arial"/>
              </a:rPr>
              <a:t> </a:t>
            </a:r>
            <a:r>
              <a:rPr sz="1200">
                <a:solidFill>
                  <a:schemeClr val="tx1"/>
                </a:solidFill>
                <a:latin typeface="Arial"/>
                <a:ea typeface="Arial"/>
                <a:cs typeface="Arial"/>
              </a:rPr>
              <a:t>used</a:t>
            </a:r>
            <a:r>
              <a:rPr sz="1200">
                <a:solidFill>
                  <a:schemeClr val="tx1"/>
                </a:solidFill>
                <a:latin typeface="Arial"/>
                <a:ea typeface="Arial"/>
                <a:cs typeface="Arial"/>
              </a:rPr>
              <a:t> in SMAAC, </a:t>
            </a:r>
            <a:r>
              <a:rPr sz="1200">
                <a:solidFill>
                  <a:schemeClr val="tx1"/>
                </a:solidFill>
                <a:latin typeface="Arial"/>
                <a:ea typeface="Arial"/>
                <a:cs typeface="Arial"/>
              </a:rPr>
              <a:t>where</a:t>
            </a:r>
            <a:r>
              <a:rPr sz="1200">
                <a:solidFill>
                  <a:schemeClr val="tx1"/>
                </a:solidFill>
                <a:latin typeface="Arial"/>
                <a:ea typeface="Arial"/>
                <a:cs typeface="Arial"/>
              </a:rPr>
              <a:t> </a:t>
            </a:r>
            <a:r>
              <a:rPr sz="1200">
                <a:solidFill>
                  <a:schemeClr val="tx1"/>
                </a:solidFill>
                <a:latin typeface="Arial"/>
                <a:ea typeface="Arial"/>
                <a:cs typeface="Arial"/>
              </a:rPr>
              <a:t>the</a:t>
            </a:r>
            <a:r>
              <a:rPr sz="1200">
                <a:solidFill>
                  <a:schemeClr val="tx1"/>
                </a:solidFill>
                <a:latin typeface="Arial"/>
                <a:ea typeface="Arial"/>
                <a:cs typeface="Arial"/>
              </a:rPr>
              <a:t> </a:t>
            </a:r>
            <a:r>
              <a:rPr sz="1200">
                <a:solidFill>
                  <a:schemeClr val="tx1"/>
                </a:solidFill>
                <a:latin typeface="Arial"/>
                <a:ea typeface="Arial"/>
                <a:cs typeface="Arial"/>
              </a:rPr>
              <a:t>agent</a:t>
            </a:r>
            <a:r>
              <a:rPr sz="1200">
                <a:solidFill>
                  <a:schemeClr val="tx1"/>
                </a:solidFill>
                <a:latin typeface="Arial"/>
                <a:ea typeface="Arial"/>
                <a:cs typeface="Arial"/>
              </a:rPr>
              <a:t> </a:t>
            </a:r>
            <a:r>
              <a:rPr sz="1200">
                <a:solidFill>
                  <a:schemeClr val="tx1"/>
                </a:solidFill>
                <a:latin typeface="Arial"/>
                <a:ea typeface="Arial"/>
                <a:cs typeface="Arial"/>
              </a:rPr>
              <a:t>learns</a:t>
            </a:r>
            <a:r>
              <a:rPr sz="1200">
                <a:solidFill>
                  <a:schemeClr val="tx1"/>
                </a:solidFill>
                <a:latin typeface="Arial"/>
                <a:ea typeface="Arial"/>
                <a:cs typeface="Arial"/>
              </a:rPr>
              <a:t> an </a:t>
            </a:r>
            <a:r>
              <a:rPr sz="1200">
                <a:solidFill>
                  <a:schemeClr val="tx1"/>
                </a:solidFill>
                <a:latin typeface="Arial"/>
                <a:ea typeface="Arial"/>
                <a:cs typeface="Arial"/>
              </a:rPr>
              <a:t>afterstate</a:t>
            </a:r>
            <a:r>
              <a:rPr sz="1200">
                <a:solidFill>
                  <a:schemeClr val="tx1"/>
                </a:solidFill>
                <a:latin typeface="Arial"/>
                <a:ea typeface="Arial"/>
                <a:cs typeface="Arial"/>
              </a:rPr>
              <a:t> </a:t>
            </a:r>
            <a:r>
              <a:rPr sz="1200">
                <a:solidFill>
                  <a:schemeClr val="tx1"/>
                </a:solidFill>
                <a:latin typeface="Arial"/>
                <a:ea typeface="Arial"/>
                <a:cs typeface="Arial"/>
              </a:rPr>
              <a:t>representation</a:t>
            </a:r>
            <a:r>
              <a:rPr sz="1200">
                <a:solidFill>
                  <a:schemeClr val="tx1"/>
                </a:solidFill>
                <a:latin typeface="Arial"/>
                <a:ea typeface="Arial"/>
                <a:cs typeface="Arial"/>
              </a:rPr>
              <a:t>—</a:t>
            </a:r>
            <a:r>
              <a:rPr sz="1200">
                <a:solidFill>
                  <a:schemeClr val="tx1"/>
                </a:solidFill>
                <a:latin typeface="Arial"/>
                <a:ea typeface="Arial"/>
                <a:cs typeface="Arial"/>
              </a:rPr>
              <a:t>basically</a:t>
            </a:r>
            <a:r>
              <a:rPr sz="1200">
                <a:solidFill>
                  <a:schemeClr val="tx1"/>
                </a:solidFill>
                <a:latin typeface="Arial"/>
                <a:ea typeface="Arial"/>
                <a:cs typeface="Arial"/>
              </a:rPr>
              <a:t> </a:t>
            </a:r>
            <a:r>
              <a:rPr sz="1200">
                <a:solidFill>
                  <a:schemeClr val="tx1"/>
                </a:solidFill>
                <a:latin typeface="Arial"/>
                <a:ea typeface="Arial"/>
                <a:cs typeface="Arial"/>
              </a:rPr>
              <a:t>the</a:t>
            </a:r>
            <a:r>
              <a:rPr sz="1200">
                <a:solidFill>
                  <a:schemeClr val="tx1"/>
                </a:solidFill>
                <a:latin typeface="Arial"/>
                <a:ea typeface="Arial"/>
                <a:cs typeface="Arial"/>
              </a:rPr>
              <a:t> </a:t>
            </a:r>
            <a:r>
              <a:rPr sz="1200">
                <a:solidFill>
                  <a:schemeClr val="tx1"/>
                </a:solidFill>
                <a:latin typeface="Arial"/>
                <a:ea typeface="Arial"/>
                <a:cs typeface="Arial"/>
              </a:rPr>
              <a:t>resulting</a:t>
            </a:r>
            <a:r>
              <a:rPr sz="1200">
                <a:solidFill>
                  <a:schemeClr val="tx1"/>
                </a:solidFill>
                <a:latin typeface="Arial"/>
                <a:ea typeface="Arial"/>
                <a:cs typeface="Arial"/>
              </a:rPr>
              <a:t> </a:t>
            </a:r>
            <a:r>
              <a:rPr sz="1200">
                <a:solidFill>
                  <a:schemeClr val="tx1"/>
                </a:solidFill>
                <a:latin typeface="Arial"/>
                <a:ea typeface="Arial"/>
                <a:cs typeface="Arial"/>
              </a:rPr>
              <a:t>topology</a:t>
            </a:r>
            <a:r>
              <a:rPr sz="1200">
                <a:solidFill>
                  <a:schemeClr val="tx1"/>
                </a:solidFill>
                <a:latin typeface="Arial"/>
                <a:ea typeface="Arial"/>
                <a:cs typeface="Arial"/>
              </a:rPr>
              <a:t> after an </a:t>
            </a:r>
            <a:r>
              <a:rPr sz="1200">
                <a:solidFill>
                  <a:schemeClr val="tx1"/>
                </a:solidFill>
                <a:latin typeface="Arial"/>
                <a:ea typeface="Arial"/>
                <a:cs typeface="Arial"/>
              </a:rPr>
              <a:t>action</a:t>
            </a:r>
            <a:r>
              <a:rPr sz="1200">
                <a:solidFill>
                  <a:schemeClr val="tx1"/>
                </a:solidFill>
                <a:latin typeface="Arial"/>
                <a:ea typeface="Arial"/>
                <a:cs typeface="Arial"/>
              </a:rPr>
              <a:t>.</a:t>
            </a:r>
          </a:p>
          <a:p xmlns:a="http://schemas.openxmlformats.org/drawingml/2006/main"/>
          <a:p xmlns:a="http://schemas.openxmlformats.org/drawingml/2006/main">
            <a:r>
              <a:rPr sz="1200">
                <a:solidFill>
                  <a:schemeClr val="tx1"/>
                </a:solidFill>
                <a:latin typeface="Arial"/>
                <a:ea typeface="Arial"/>
                <a:cs typeface="Arial"/>
              </a:rPr>
              <a:t>This </a:t>
            </a:r>
            <a:r>
              <a:rPr sz="1200">
                <a:solidFill>
                  <a:schemeClr val="tx1"/>
                </a:solidFill>
                <a:latin typeface="Arial"/>
                <a:ea typeface="Arial"/>
                <a:cs typeface="Arial"/>
              </a:rPr>
              <a:t>helps</a:t>
            </a:r>
            <a:r>
              <a:rPr sz="1200">
                <a:solidFill>
                  <a:schemeClr val="tx1"/>
                </a:solidFill>
                <a:latin typeface="Arial"/>
                <a:ea typeface="Arial"/>
                <a:cs typeface="Arial"/>
              </a:rPr>
              <a:t> </a:t>
            </a:r>
            <a:r>
              <a:rPr sz="1200">
                <a:solidFill>
                  <a:schemeClr val="tx1"/>
                </a:solidFill>
                <a:latin typeface="Arial"/>
                <a:ea typeface="Arial"/>
                <a:cs typeface="Arial"/>
              </a:rPr>
              <a:t>because</a:t>
            </a:r>
            <a:r>
              <a:rPr sz="1200">
                <a:solidFill>
                  <a:schemeClr val="tx1"/>
                </a:solidFill>
                <a:latin typeface="Arial"/>
                <a:ea typeface="Arial"/>
                <a:cs typeface="Arial"/>
              </a:rPr>
              <a:t> multiple </a:t>
            </a:r>
            <a:r>
              <a:rPr sz="1200">
                <a:solidFill>
                  <a:schemeClr val="tx1"/>
                </a:solidFill>
                <a:latin typeface="Arial"/>
                <a:ea typeface="Arial"/>
                <a:cs typeface="Arial"/>
              </a:rPr>
              <a:t>sequences</a:t>
            </a:r>
            <a:r>
              <a:rPr sz="1200">
                <a:solidFill>
                  <a:schemeClr val="tx1"/>
                </a:solidFill>
                <a:latin typeface="Arial"/>
                <a:ea typeface="Arial"/>
                <a:cs typeface="Arial"/>
              </a:rPr>
              <a:t> of actions can lead to the </a:t>
            </a:r>
            <a:r>
              <a:rPr sz="1200">
                <a:solidFill>
                  <a:schemeClr val="tx1"/>
                </a:solidFill>
                <a:latin typeface="Arial"/>
                <a:ea typeface="Arial"/>
                <a:cs typeface="Arial"/>
              </a:rPr>
              <a:t>same</a:t>
            </a:r>
            <a:r>
              <a:rPr sz="1200">
                <a:solidFill>
                  <a:schemeClr val="tx1"/>
                </a:solidFill>
                <a:latin typeface="Arial"/>
                <a:ea typeface="Arial"/>
                <a:cs typeface="Arial"/>
              </a:rPr>
              <a:t> configuration. So </a:t>
            </a:r>
            <a:r>
              <a:rPr sz="1200">
                <a:solidFill>
                  <a:schemeClr val="tx1"/>
                </a:solidFill>
                <a:latin typeface="Arial"/>
                <a:ea typeface="Arial"/>
                <a:cs typeface="Arial"/>
              </a:rPr>
              <a:t>it</a:t>
            </a:r>
            <a:r>
              <a:rPr sz="1200">
                <a:solidFill>
                  <a:schemeClr val="tx1"/>
                </a:solidFill>
                <a:latin typeface="Arial"/>
                <a:ea typeface="Arial"/>
                <a:cs typeface="Arial"/>
              </a:rPr>
              <a:t> </a:t>
            </a:r>
            <a:r>
              <a:rPr sz="1200">
                <a:solidFill>
                  <a:schemeClr val="tx1"/>
                </a:solidFill>
                <a:latin typeface="Arial"/>
                <a:ea typeface="Arial"/>
                <a:cs typeface="Arial"/>
              </a:rPr>
              <a:t>reduces</a:t>
            </a:r>
            <a:r>
              <a:rPr sz="1200">
                <a:solidFill>
                  <a:schemeClr val="tx1"/>
                </a:solidFill>
                <a:latin typeface="Arial"/>
                <a:ea typeface="Arial"/>
                <a:cs typeface="Arial"/>
              </a:rPr>
              <a:t> the action </a:t>
            </a:r>
            <a:r>
              <a:rPr sz="1200">
                <a:solidFill>
                  <a:schemeClr val="tx1"/>
                </a:solidFill>
                <a:latin typeface="Arial"/>
                <a:ea typeface="Arial"/>
                <a:cs typeface="Arial"/>
              </a:rPr>
              <a:t>space</a:t>
            </a:r>
          </a:p>
          <a:p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963a9b9d5d34c54" /><Relationship Type="http://schemas.openxmlformats.org/officeDocument/2006/relationships/image" Target="/ppt/media/image.png" Id="R06bcc2d2443c472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2ba825e328746ae" /><Relationship Type="http://schemas.openxmlformats.org/officeDocument/2006/relationships/image" Target="/ppt/media/image.png" Id="Rb4ec9d9b0840405f" /><Relationship Type="http://schemas.openxmlformats.org/officeDocument/2006/relationships/image" Target="/ppt/media/image2.png" Id="R8e418564030e4a0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97f964c2264407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40ef96894e54e3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c0e5277e9dc466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e439a9b79e64202"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4c79061ad02f4496"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136ba8c04ed54bd8"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f6f44b9bdd214262"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0593a592991c402e"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ff8494ab65c84a10"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0536c3166b9443bd"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1.xml" Id="R60d4f6290abb4ef2"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1.xml" Id="R9f491b31185e4f8c" /></Relationships>
</file>

<file path=ppt/slideLayouts/_rels/slideLayout15.xml.rels>&#65279;<?xml version="1.0" encoding="utf-8"?><Relationships xmlns="http://schemas.openxmlformats.org/package/2006/relationships"><Relationship Type="http://schemas.openxmlformats.org/officeDocument/2006/relationships/slideMaster" Target="/ppt/slideMasters/slideMaster1.xml" Id="Raffedd430f684d96" /></Relationships>
</file>

<file path=ppt/slideLayouts/_rels/slideLayout16.xml.rels>&#65279;<?xml version="1.0" encoding="utf-8"?><Relationships xmlns="http://schemas.openxmlformats.org/package/2006/relationships"><Relationship Type="http://schemas.openxmlformats.org/officeDocument/2006/relationships/slideMaster" Target="/ppt/slideMasters/slideMaster1.xml" Id="R2e5dfaea73ee4c3b" /></Relationships>
</file>

<file path=ppt/slideLayouts/_rels/slideLayout17.xml.rels>&#65279;<?xml version="1.0" encoding="utf-8"?><Relationships xmlns="http://schemas.openxmlformats.org/package/2006/relationships"><Relationship Type="http://schemas.openxmlformats.org/officeDocument/2006/relationships/slideMaster" Target="/ppt/slideMasters/slideMaster1.xml" Id="R018822297e3c4758" /></Relationships>
</file>

<file path=ppt/slideLayouts/slideLayout1.xml><?xml version="1.0" encoding="utf-8"?>
<p:sldLayout xmlns:p="http://schemas.openxmlformats.org/presentationml/2006/main" showMasterSp="0" preserve="1" userDrawn="1">
  <p:cSld name="Title_Faculty">
    <p:spTree>
      <p:nvGrpSpPr>
        <p:cNvPr id="1" name=""/>
        <p:cNvGrpSpPr/>
        <p:nvPr/>
      </p:nvGrpSpPr>
      <p:grpSpPr>
        <a:xfrm xmlns:a="http://schemas.openxmlformats.org/drawingml/2006/main"/>
      </p:grpSpPr>
      <p:sp>
        <p:nvSpPr>
          <p:cNvPr id="12" name="Espace réservé pour une image  11">
            <a:extLst xmlns:a="http://schemas.openxmlformats.org/drawingml/2006/main">
              <a:ext uri="{FF2B5EF4-FFF2-40B4-BE49-F238E27FC236}">
                <a16:creationId xmlns:a16="http://schemas.microsoft.com/office/drawing/2014/main" id="{4CF6F629-51E7-9F40-939D-F50AE3925ADE}"/>
              </a:ext>
            </a:extLst>
          </p:cNvPr>
          <p:cNvSpPr>
            <a:spLocks xmlns:a="http://schemas.openxmlformats.org/drawingml/2006/main" noGrp="1"/>
          </p:cNvSpPr>
          <p:nvPr>
            <p:ph type="pic" idx="10"/>
          </p:nvPr>
        </p:nvSpPr>
        <p:spPr>
          <a:xfrm xmlns:a="http://schemas.openxmlformats.org/drawingml/2006/main">
            <a:off x="1331913" y="0"/>
            <a:ext cx="7812087" cy="4948238"/>
          </a:xfrm>
        </p:spPr>
        <p:txBody>
          <a:bodyPr xmlns:a="http://schemas.openxmlformats.org/drawingml/2006/main"/>
          <a:lstStyle xmlns:a="http://schemas.openxmlformats.org/drawingml/2006/main"/>
          <a:p xmlns:a="http://schemas.openxmlformats.org/drawingml/2006/main">
            <a:r>
              <a:t>Cliquez sur l'icône pour ajouter une image</a:t>
            </a:r>
          </a:p>
        </p:txBody>
      </p:sp>
      <p:sp>
        <p:nvSpPr>
          <p:cNvPr id="2" name="Title 1">
            <a:extLst xmlns:a="http://schemas.openxmlformats.org/drawingml/2006/main">
              <a:ext uri="{FF2B5EF4-FFF2-40B4-BE49-F238E27FC236}">
                <a16:creationId xmlns:a16="http://schemas.microsoft.com/office/drawing/2014/main" id="{423A553F-F60F-428C-B406-1C10751ACC26}"/>
              </a:ext>
            </a:extLst>
          </p:cNvPr>
          <p:cNvSpPr>
            <a:spLocks xmlns:a="http://schemas.openxmlformats.org/drawingml/2006/main" noGrp="1"/>
          </p:cNvSpPr>
          <p:nvPr>
            <p:ph type="ctrTitle" idx="0"/>
          </p:nvPr>
        </p:nvSpPr>
        <p:spPr>
          <a:xfrm xmlns:a="http://schemas.openxmlformats.org/drawingml/2006/main">
            <a:off x="6405563" y="786535"/>
            <a:ext cx="2738437" cy="2338387"/>
          </a:xfrm>
          <a:prstGeom xmlns:a="http://schemas.openxmlformats.org/drawingml/2006/main" prst="rect">
            <a:avLst/>
          </a:prstGeom>
          <a:solidFill xmlns:a="http://schemas.openxmlformats.org/drawingml/2006/main">
            <a:schemeClr val="accent1"/>
          </a:solidFill>
        </p:spPr>
        <p:txBody>
          <a:bodyPr xmlns:a="http://schemas.openxmlformats.org/drawingml/2006/main" lIns="216000" anchor="ctr">
            <a:normAutofit/>
          </a:bodyPr>
          <a:lstStyle xmlns:a="http://schemas.openxmlformats.org/drawingml/2006/main">
            <a:lvl1pPr algn="l">
              <a:buNone/>
              <a:defRPr sz="3600">
                <a:solidFill>
                  <a:schemeClr val="bg1"/>
                </a:solidFill>
              </a:defRPr>
            </a:lvl1pPr>
          </a:lstStyle>
          <a:p xmlns:a="http://schemas.openxmlformats.org/drawingml/2006/main">
            <a:r>
              <a:t>Modifiez le style du titre</a:t>
            </a:r>
          </a:p>
        </p:txBody>
      </p:sp>
      <p:sp>
        <p:nvSpPr>
          <p:cNvPr id="3" name="Subtitle 2">
            <a:extLst xmlns:a="http://schemas.openxmlformats.org/drawingml/2006/main">
              <a:ext uri="{FF2B5EF4-FFF2-40B4-BE49-F238E27FC236}">
                <a16:creationId xmlns:a16="http://schemas.microsoft.com/office/drawing/2014/main" id="{C830564F-7F80-47E4-AC6B-FD0EED647D3D}"/>
              </a:ext>
            </a:extLst>
          </p:cNvPr>
          <p:cNvSpPr>
            <a:spLocks xmlns:a="http://schemas.openxmlformats.org/drawingml/2006/main" noGrp="1"/>
          </p:cNvSpPr>
          <p:nvPr>
            <p:ph type="subTitle" idx="1"/>
          </p:nvPr>
        </p:nvSpPr>
        <p:spPr>
          <a:xfrm xmlns:a="http://schemas.openxmlformats.org/drawingml/2006/main">
            <a:off x="4576763" y="3124922"/>
            <a:ext cx="1828800" cy="1568450"/>
          </a:xfrm>
          <a:prstGeom xmlns:a="http://schemas.openxmlformats.org/drawingml/2006/main" prst="rect">
            <a:avLst/>
          </a:prstGeom>
          <a:solidFill xmlns:a="http://schemas.openxmlformats.org/drawingml/2006/main">
            <a:schemeClr val="tx1"/>
          </a:solidFill>
        </p:spPr>
        <p:txBody>
          <a:bodyPr xmlns:a="http://schemas.openxmlformats.org/drawingml/2006/main" lIns="90000" anchor="ctr">
            <a:normAutofit/>
          </a:bodyPr>
          <a:lstStyle xmlns:a="http://schemas.openxmlformats.org/drawingml/2006/main">
            <a:lvl1pPr marL="0" indent="0" algn="ctr">
              <a:buNone/>
              <a:defRPr sz="12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xmlns:a="http://schemas.openxmlformats.org/drawingml/2006/main">
            <a:r>
              <a:t>Modifiez le style des sous-titres du masque</a:t>
            </a:r>
          </a:p>
        </p:txBody>
      </p:sp>
      <p:pic>
        <p:nvPicPr>
          <p:cNvPr id="21" name="Image 8"/>
          <p:cNvPicPr>
            <a:picLocks xmlns:a="http://schemas.openxmlformats.org/drawingml/2006/main" noChangeAspect="1"/>
          </p:cNvPicPr>
          <p:nvPr/>
        </p:nvPicPr>
        <p:blipFill>
          <a:blip xmlns:r="http://schemas.openxmlformats.org/officeDocument/2006/relationships" xmlns:a="http://schemas.openxmlformats.org/drawingml/2006/main" r:embed="R06bcc2d2443c4721"/>
          <a:stretch xmlns:a="http://schemas.openxmlformats.org/drawingml/2006/main">
            <a:fillRect l="0" t="0" r="0" b="0"/>
          </a:stretch>
        </p:blipFill>
        <p:spPr>
          <a:xfrm xmlns:a="http://schemas.openxmlformats.org/drawingml/2006/main">
            <a:off x="82647" y="80283"/>
            <a:ext cx="1175301" cy="508655"/>
          </a:xfrm>
          <a:prstGeom xmlns:a="http://schemas.openxmlformats.org/drawingml/2006/main" prst="rect">
            <a:avLst/>
          </a:prstGeom>
        </p:spPr>
      </p:pic>
      <p:sp>
        <p:nvSpPr>
          <p:cNvPr id="16" name="Espace réservé du texte 4">
            <a:extLst xmlns:a="http://schemas.openxmlformats.org/drawingml/2006/main">
              <a:ext uri="{FF2B5EF4-FFF2-40B4-BE49-F238E27FC236}">
                <a16:creationId xmlns:a16="http://schemas.microsoft.com/office/drawing/2014/main" id="{01960462-6F28-0740-916D-499D3BEDB2BE}"/>
              </a:ext>
            </a:extLst>
          </p:cNvPr>
          <p:cNvSpPr>
            <a:spLocks xmlns:a="http://schemas.openxmlformats.org/drawingml/2006/main" noGrp="1"/>
          </p:cNvSpPr>
          <p:nvPr>
            <p:ph type="body" idx="11"/>
          </p:nvPr>
        </p:nvSpPr>
        <p:spPr>
          <a:xfrm xmlns:a="http://schemas.openxmlformats.org/drawingml/2006/main">
            <a:off x="6400800" y="4683125"/>
            <a:ext cx="1828800" cy="460375"/>
          </a:xfrm>
          <a:prstGeom xmlns:a="http://schemas.openxmlformats.org/drawingml/2006/main" prst="rect">
            <a:avLst/>
          </a:prstGeom>
          <a:solidFill xmlns:a="http://schemas.openxmlformats.org/drawingml/2006/main">
            <a:schemeClr val="bg1"/>
          </a:solidFill>
        </p:spPr>
        <p:txBody>
          <a:bodyPr xmlns:a="http://schemas.openxmlformats.org/drawingml/2006/main" lIns="90000" anchor="ctr">
            <a:noAutofit/>
          </a:bodyPr>
          <a:lstStyle xmlns:a="http://schemas.openxmlformats.org/drawingml/2006/main">
            <a:lvl1pPr marL="0" indent="0" algn="ctr">
              <a:buNone/>
              <a:defRPr sz="1100"/>
            </a:lvl1pPr>
          </a:lstStyle>
          <a:p xmlns:a="http://schemas.openxmlformats.org/drawingml/2006/main">
            <a:pPr>
              <a:buNone/>
            </a:pPr>
            <a:r>
              <a:t>Modifier les styles du texte du masque
Deuxième niveau
Troisième niveau
Quatrième niveau
Cinquième niveau</a:t>
            </a:r>
          </a:p>
        </p:txBody>
      </p:sp>
      <p:sp>
        <p:nvSpPr>
          <p:cNvPr id="5" name="Espace réservé du texte 4">
            <a:extLst xmlns:a="http://schemas.openxmlformats.org/drawingml/2006/main">
              <a:ext uri="{FF2B5EF4-FFF2-40B4-BE49-F238E27FC236}">
                <a16:creationId xmlns:a16="http://schemas.microsoft.com/office/drawing/2014/main" id="{1E187583-F16A-6F41-8B68-000F9C9C20D3}"/>
              </a:ext>
            </a:extLst>
          </p:cNvPr>
          <p:cNvSpPr>
            <a:spLocks xmlns:a="http://schemas.openxmlformats.org/drawingml/2006/main" noGrp="1"/>
          </p:cNvSpPr>
          <p:nvPr>
            <p:ph type="body" idx="12"/>
          </p:nvPr>
        </p:nvSpPr>
        <p:spPr>
          <a:xfrm xmlns:a="http://schemas.openxmlformats.org/drawingml/2006/main">
            <a:off x="82550" y="4440264"/>
            <a:ext cx="698500" cy="507975"/>
          </a:xfrm>
        </p:spPr>
        <p:txBody>
          <a:bodyPr xmlns:a="http://schemas.openxmlformats.org/drawingml/2006/main" lIns="0" tIns="0" rIns="0" bIns="0" anchor="b">
            <a:noAutofit/>
          </a:bodyPr>
          <a:lstStyle xmlns:a="http://schemas.openxmlformats.org/drawingml/2006/main">
            <a:lvl1pPr marL="114300" indent="-107950">
              <a:buFontTx/>
              <a:buNone/>
              <a:defRPr sz="700">
                <a:solidFill>
                  <a:schemeClr val="tx1"/>
                </a:solidFill>
              </a:defRPr>
            </a:lvl1pPr>
          </a:lstStyle>
          <a:p xmlns:a="http://schemas.openxmlformats.org/drawingml/2006/main">
            <a:r>
              <a:t>Modifier les styles du texte du masque</a:t>
            </a:r>
          </a:p>
        </p:txBody>
      </p:sp>
    </p:spTree>
  </p:cSld>
</p:sldLayout>
</file>

<file path=ppt/slideLayouts/slideLayout2.xml><?xml version="1.0" encoding="utf-8"?>
<p:sldLayout xmlns:p="http://schemas.openxmlformats.org/presentationml/2006/main" showMasterSp="0" preserve="1" userDrawn="1">
  <p:cSld name="Title_EPFL">
    <p:spTree>
      <p:nvGrpSpPr>
        <p:cNvPr id="1" name=""/>
        <p:cNvGrpSpPr/>
        <p:nvPr/>
      </p:nvGrpSpPr>
      <p:grpSpPr>
        <a:xfrm xmlns:a="http://schemas.openxmlformats.org/drawingml/2006/main"/>
      </p:grpSpPr>
      <p:sp>
        <p:nvSpPr>
          <p:cNvPr id="12" name="Espace réservé pour une image  11">
            <a:extLst xmlns:a="http://schemas.openxmlformats.org/drawingml/2006/main">
              <a:ext uri="{FF2B5EF4-FFF2-40B4-BE49-F238E27FC236}">
                <a16:creationId xmlns:a16="http://schemas.microsoft.com/office/drawing/2014/main" id="{4CF6F629-51E7-9F40-939D-F50AE3925ADE}"/>
              </a:ext>
            </a:extLst>
          </p:cNvPr>
          <p:cNvSpPr>
            <a:spLocks xmlns:a="http://schemas.openxmlformats.org/drawingml/2006/main" noGrp="1"/>
          </p:cNvSpPr>
          <p:nvPr>
            <p:ph type="pic" idx="10"/>
          </p:nvPr>
        </p:nvSpPr>
        <p:spPr>
          <a:xfrm xmlns:a="http://schemas.openxmlformats.org/drawingml/2006/main">
            <a:off x="1331913" y="0"/>
            <a:ext cx="7812087" cy="4948238"/>
          </a:xfrm>
        </p:spPr>
        <p:txBody>
          <a:bodyPr xmlns:a="http://schemas.openxmlformats.org/drawingml/2006/main"/>
          <a:lstStyle xmlns:a="http://schemas.openxmlformats.org/drawingml/2006/main"/>
          <a:p xmlns:a="http://schemas.openxmlformats.org/drawingml/2006/main">
            <a:r>
              <a:t>Cliquez sur l'icône pour ajouter une image</a:t>
            </a:r>
          </a:p>
        </p:txBody>
      </p:sp>
      <p:sp>
        <p:nvSpPr>
          <p:cNvPr id="2" name="Title 1">
            <a:extLst xmlns:a="http://schemas.openxmlformats.org/drawingml/2006/main">
              <a:ext uri="{FF2B5EF4-FFF2-40B4-BE49-F238E27FC236}">
                <a16:creationId xmlns:a16="http://schemas.microsoft.com/office/drawing/2014/main" id="{30BEF63E-0EF6-4216-9302-7E7BB993155D}"/>
              </a:ext>
            </a:extLst>
          </p:cNvPr>
          <p:cNvSpPr>
            <a:spLocks xmlns:a="http://schemas.openxmlformats.org/drawingml/2006/main" noGrp="1"/>
          </p:cNvSpPr>
          <p:nvPr>
            <p:ph type="ctrTitle" idx="0"/>
          </p:nvPr>
        </p:nvSpPr>
        <p:spPr>
          <a:xfrm xmlns:a="http://schemas.openxmlformats.org/drawingml/2006/main">
            <a:off x="6405563" y="786535"/>
            <a:ext cx="2738437" cy="2338387"/>
          </a:xfrm>
          <a:prstGeom xmlns:a="http://schemas.openxmlformats.org/drawingml/2006/main" prst="rect">
            <a:avLst/>
          </a:prstGeom>
          <a:solidFill xmlns:a="http://schemas.openxmlformats.org/drawingml/2006/main">
            <a:schemeClr val="accent1"/>
          </a:solidFill>
        </p:spPr>
        <p:txBody>
          <a:bodyPr xmlns:a="http://schemas.openxmlformats.org/drawingml/2006/main" lIns="216000" anchor="ctr">
            <a:normAutofit/>
          </a:bodyPr>
          <a:lstStyle xmlns:a="http://schemas.openxmlformats.org/drawingml/2006/main">
            <a:lvl1pPr algn="l">
              <a:buNone/>
              <a:defRPr sz="3600">
                <a:solidFill>
                  <a:schemeClr val="bg1"/>
                </a:solidFill>
              </a:defRPr>
            </a:lvl1pPr>
          </a:lstStyle>
          <a:p xmlns:a="http://schemas.openxmlformats.org/drawingml/2006/main">
            <a:r>
              <a:t>Modifiez le style du titre</a:t>
            </a:r>
          </a:p>
        </p:txBody>
      </p:sp>
      <p:sp>
        <p:nvSpPr>
          <p:cNvPr id="3" name="Subtitle 2">
            <a:extLst xmlns:a="http://schemas.openxmlformats.org/drawingml/2006/main">
              <a:ext uri="{FF2B5EF4-FFF2-40B4-BE49-F238E27FC236}">
                <a16:creationId xmlns:a16="http://schemas.microsoft.com/office/drawing/2014/main" id="{1BBF6A20-C816-4306-8E2B-2A65765BEDB7}"/>
              </a:ext>
            </a:extLst>
          </p:cNvPr>
          <p:cNvSpPr>
            <a:spLocks xmlns:a="http://schemas.openxmlformats.org/drawingml/2006/main" noGrp="1"/>
          </p:cNvSpPr>
          <p:nvPr>
            <p:ph type="subTitle" idx="1"/>
          </p:nvPr>
        </p:nvSpPr>
        <p:spPr>
          <a:xfrm xmlns:a="http://schemas.openxmlformats.org/drawingml/2006/main">
            <a:off x="4576763" y="3124922"/>
            <a:ext cx="1828800" cy="1568450"/>
          </a:xfrm>
          <a:prstGeom xmlns:a="http://schemas.openxmlformats.org/drawingml/2006/main" prst="rect">
            <a:avLst/>
          </a:prstGeom>
          <a:solidFill xmlns:a="http://schemas.openxmlformats.org/drawingml/2006/main">
            <a:schemeClr val="tx1"/>
          </a:solidFill>
        </p:spPr>
        <p:txBody>
          <a:bodyPr xmlns:a="http://schemas.openxmlformats.org/drawingml/2006/main" lIns="90000" anchor="ctr">
            <a:normAutofit/>
          </a:bodyPr>
          <a:lstStyle xmlns:a="http://schemas.openxmlformats.org/drawingml/2006/main">
            <a:lvl1pPr marL="0" indent="0" algn="ctr">
              <a:buNone/>
              <a:defRPr sz="12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xmlns:a="http://schemas.openxmlformats.org/drawingml/2006/main">
            <a:r>
              <a:t>Modifiez le style des sous-titres du masque</a:t>
            </a:r>
          </a:p>
        </p:txBody>
      </p:sp>
      <p:pic>
        <p:nvPicPr>
          <p:cNvPr id="22" name="Image 8"/>
          <p:cNvPicPr>
            <a:picLocks xmlns:a="http://schemas.openxmlformats.org/drawingml/2006/main" noChangeAspect="1"/>
          </p:cNvPicPr>
          <p:nvPr/>
        </p:nvPicPr>
        <p:blipFill>
          <a:blip xmlns:r="http://schemas.openxmlformats.org/officeDocument/2006/relationships" xmlns:a="http://schemas.openxmlformats.org/drawingml/2006/main" r:embed="Rb4ec9d9b0840405f"/>
          <a:stretch xmlns:a="http://schemas.openxmlformats.org/drawingml/2006/main">
            <a:fillRect l="0" t="0" r="0" b="0"/>
          </a:stretch>
        </p:blipFill>
        <p:spPr>
          <a:xfrm xmlns:a="http://schemas.openxmlformats.org/drawingml/2006/main">
            <a:off x="82647" y="80283"/>
            <a:ext cx="1175301" cy="508655"/>
          </a:xfrm>
          <a:prstGeom xmlns:a="http://schemas.openxmlformats.org/drawingml/2006/main" prst="rect">
            <a:avLst/>
          </a:prstGeom>
        </p:spPr>
      </p:pic>
      <p:sp>
        <p:nvSpPr>
          <p:cNvPr id="16" name="Espace réservé du texte 4">
            <a:extLst xmlns:a="http://schemas.openxmlformats.org/drawingml/2006/main">
              <a:ext uri="{FF2B5EF4-FFF2-40B4-BE49-F238E27FC236}">
                <a16:creationId xmlns:a16="http://schemas.microsoft.com/office/drawing/2014/main" id="{01960462-6F28-0740-916D-499D3BEDB2BE}"/>
              </a:ext>
            </a:extLst>
          </p:cNvPr>
          <p:cNvSpPr>
            <a:spLocks xmlns:a="http://schemas.openxmlformats.org/drawingml/2006/main" noGrp="1"/>
          </p:cNvSpPr>
          <p:nvPr>
            <p:ph type="body" idx="11"/>
          </p:nvPr>
        </p:nvSpPr>
        <p:spPr>
          <a:xfrm xmlns:a="http://schemas.openxmlformats.org/drawingml/2006/main">
            <a:off x="6400800" y="4683125"/>
            <a:ext cx="1828800" cy="460375"/>
          </a:xfrm>
          <a:prstGeom xmlns:a="http://schemas.openxmlformats.org/drawingml/2006/main" prst="rect">
            <a:avLst/>
          </a:prstGeom>
          <a:solidFill xmlns:a="http://schemas.openxmlformats.org/drawingml/2006/main">
            <a:schemeClr val="bg1"/>
          </a:solidFill>
        </p:spPr>
        <p:txBody>
          <a:bodyPr xmlns:a="http://schemas.openxmlformats.org/drawingml/2006/main" lIns="90000" anchor="ctr">
            <a:noAutofit/>
          </a:bodyPr>
          <a:lstStyle xmlns:a="http://schemas.openxmlformats.org/drawingml/2006/main">
            <a:lvl1pPr marL="0" indent="0" algn="ctr">
              <a:buNone/>
              <a:defRPr sz="1100"/>
            </a:lvl1pPr>
          </a:lstStyle>
          <a:p xmlns:a="http://schemas.openxmlformats.org/drawingml/2006/main">
            <a:pPr>
              <a:buNone/>
            </a:pPr>
            <a:r>
              <a:t>Modifier les styles du texte du masque
Deuxième niveau
Troisième niveau
Quatrième niveau
Cinquième niveau</a:t>
            </a:r>
          </a:p>
        </p:txBody>
      </p:sp>
      <p:pic>
        <p:nvPicPr>
          <p:cNvPr id="24" name="Image 7"/>
          <p:cNvPicPr>
            <a:picLocks xmlns:a="http://schemas.openxmlformats.org/drawingml/2006/main" noChangeAspect="1"/>
          </p:cNvPicPr>
          <p:nvPr/>
        </p:nvPicPr>
        <p:blipFill>
          <a:blip xmlns:r="http://schemas.openxmlformats.org/officeDocument/2006/relationships" xmlns:a="http://schemas.openxmlformats.org/drawingml/2006/main" r:embed="R8e418564030e4a01"/>
          <a:stretch xmlns:a="http://schemas.openxmlformats.org/drawingml/2006/main">
            <a:fillRect l="0" t="0" r="0" b="0"/>
          </a:stretch>
        </p:blipFill>
        <p:spPr>
          <a:xfrm xmlns:a="http://schemas.openxmlformats.org/drawingml/2006/main">
            <a:off x="200025" y="4579268"/>
            <a:ext cx="561543" cy="367382"/>
          </a:xfrm>
          <a:prstGeom xmlns:a="http://schemas.openxmlformats.org/drawingml/2006/main" prst="rect">
            <a:avLst/>
          </a:prstGeom>
        </p:spPr>
      </p:pic>
      <p:sp>
        <p:nvSpPr>
          <p:cNvPr id="10" name="Rectangle 9">
            <a:extLst xmlns:a="http://schemas.openxmlformats.org/drawingml/2006/main">
              <a:ext uri="{FF2B5EF4-FFF2-40B4-BE49-F238E27FC236}">
                <a16:creationId xmlns:a16="http://schemas.microsoft.com/office/drawing/2014/main" id="{82865CD0-FD83-AF44-9C32-763AAD652C05}"/>
              </a:ext>
            </a:extLst>
          </p:cNvPr>
          <p:cNvSpPr>
            <a:spLocks xmlns:a="http://schemas.openxmlformats.org/drawingml/2006/main" noGrp="1"/>
          </p:cNvSpPr>
          <p:nvPr/>
        </p:nvSpPr>
        <p:spPr>
          <a:xfrm xmlns:a="http://schemas.openxmlformats.org/drawingml/2006/main" rot="16200000">
            <a:off x="89679" y="4591427"/>
            <a:ext cx="45719" cy="59782"/>
          </a:xfrm>
          <a:prstGeom xmlns:a="http://schemas.openxmlformats.org/drawingml/2006/main" prst="rect">
            <a:avLst/>
          </a:pr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3.xml><?xml version="1.0" encoding="utf-8"?>
<p:sldLayout xmlns:p="http://schemas.openxmlformats.org/presentationml/2006/main" preserve="1" userDrawn="1">
  <p:cSld name="Title_Section1">
    <p:spTree>
      <p:nvGrpSpPr>
        <p:cNvPr id="1" name=""/>
        <p:cNvGrpSpPr/>
        <p:nvPr/>
      </p:nvGrpSpPr>
      <p:grpSpPr>
        <a:xfrm xmlns:a="http://schemas.openxmlformats.org/drawingml/2006/main"/>
      </p:grpSpPr>
      <p:sp>
        <p:nvSpPr>
          <p:cNvPr id="7" name="Rectangle 6">
            <a:extLst xmlns:a="http://schemas.openxmlformats.org/drawingml/2006/main">
              <a:ext uri="{FF2B5EF4-FFF2-40B4-BE49-F238E27FC236}">
                <a16:creationId xmlns:a16="http://schemas.microsoft.com/office/drawing/2014/main" id="{4A9F6C81-AE59-DE44-BF60-E773080CD91C}"/>
              </a:ext>
            </a:extLst>
          </p:cNvPr>
          <p:cNvSpPr>
            <a:spLocks xmlns:a="http://schemas.openxmlformats.org/drawingml/2006/main" noGrp="1"/>
          </p:cNvSpPr>
          <p:nvPr/>
        </p:nvSpPr>
        <p:spPr>
          <a:xfrm xmlns:a="http://schemas.openxmlformats.org/drawingml/2006/main">
            <a:off x="4572000" y="0"/>
            <a:ext cx="4572000" cy="5143500"/>
          </a:xfrm>
          <a:prstGeom xmlns:a="http://schemas.openxmlformats.org/drawingml/2006/main" prst="rect">
            <a:avLst/>
          </a:pr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 name="Title 1">
            <a:extLst xmlns:a="http://schemas.openxmlformats.org/drawingml/2006/main">
              <a:ext uri="{FF2B5EF4-FFF2-40B4-BE49-F238E27FC236}">
                <a16:creationId xmlns:a16="http://schemas.microsoft.com/office/drawing/2014/main" id="{2A7CB49E-0BFD-47C2-B977-E29C9BAA82AB}"/>
              </a:ext>
            </a:extLst>
          </p:cNvPr>
          <p:cNvSpPr>
            <a:spLocks xmlns:a="http://schemas.openxmlformats.org/drawingml/2006/main" noGrp="1"/>
          </p:cNvSpPr>
          <p:nvPr>
            <p:ph type="title" idx="0"/>
          </p:nvPr>
        </p:nvSpPr>
        <p:spPr>
          <a:xfrm xmlns:a="http://schemas.openxmlformats.org/drawingml/2006/main">
            <a:off x="4572000" y="777875"/>
            <a:ext cx="4058920" cy="1793875"/>
          </a:xfrm>
        </p:spPr>
        <p:txBody>
          <a:bodyPr xmlns:a="http://schemas.openxmlformats.org/drawingml/2006/main" anchor="ctr">
            <a:normAutofit/>
          </a:bodyPr>
          <a:lstStyle xmlns:a="http://schemas.openxmlformats.org/drawingml/2006/main">
            <a:lvl1pPr>
              <a:buNone/>
              <a:defRPr sz="3200">
                <a:solidFill>
                  <a:schemeClr val="bg1"/>
                </a:solidFill>
              </a:defRPr>
            </a:lvl1pPr>
          </a:lstStyle>
          <a:p xmlns:a="http://schemas.openxmlformats.org/drawingml/2006/main">
            <a:r>
              <a:t>Modifiez le style du titre</a:t>
            </a:r>
          </a:p>
        </p:txBody>
      </p:sp>
      <p:sp>
        <p:nvSpPr>
          <p:cNvPr id="3" name="Text Placeholder 2">
            <a:extLst xmlns:a="http://schemas.openxmlformats.org/drawingml/2006/main">
              <a:ext uri="{FF2B5EF4-FFF2-40B4-BE49-F238E27FC236}">
                <a16:creationId xmlns:a16="http://schemas.microsoft.com/office/drawing/2014/main" id="{443BE77A-FF31-4BE2-AAB5-5E208F1E5B33}"/>
              </a:ext>
            </a:extLst>
          </p:cNvPr>
          <p:cNvSpPr>
            <a:spLocks xmlns:a="http://schemas.openxmlformats.org/drawingml/2006/main" noGrp="1"/>
          </p:cNvSpPr>
          <p:nvPr>
            <p:ph type="body" idx="1"/>
          </p:nvPr>
        </p:nvSpPr>
        <p:spPr>
          <a:xfrm xmlns:a="http://schemas.openxmlformats.org/drawingml/2006/main">
            <a:off x="4572000" y="2571750"/>
            <a:ext cx="4058920" cy="2156508"/>
          </a:xfrm>
        </p:spPr>
        <p:txBody>
          <a:bodyPr xmlns:a="http://schemas.openxmlformats.org/drawingml/2006/main"/>
          <a:lstStyle xmlns:a="http://schemas.openxmlformats.org/drawingml/2006/main">
            <a:lvl1pPr marL="0" indent="0">
              <a:buNone/>
              <a:defRPr sz="1800">
                <a:solidFill>
                  <a:schemeClr val="bg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xmlns:a="http://schemas.openxmlformats.org/drawingml/2006/main">
            <a:pPr>
              <a:buNone/>
            </a:pPr>
            <a:r>
              <a:t>Modifier les styles du texte du masque
Deuxième niveau
Troisième niveau
Quatrième niveau
Cinquième niveau</a:t>
            </a:r>
          </a:p>
        </p:txBody>
      </p:sp>
      <p:sp>
        <p:nvSpPr>
          <p:cNvPr id="9" name="Espace réservé pour une image  8">
            <a:extLst xmlns:a="http://schemas.openxmlformats.org/drawingml/2006/main">
              <a:ext uri="{FF2B5EF4-FFF2-40B4-BE49-F238E27FC236}">
                <a16:creationId xmlns:a16="http://schemas.microsoft.com/office/drawing/2014/main" id="{C58F136D-3292-C745-91DE-A21191C16FE7}"/>
              </a:ext>
            </a:extLst>
          </p:cNvPr>
          <p:cNvSpPr>
            <a:spLocks xmlns:a="http://schemas.openxmlformats.org/drawingml/2006/main" noGrp="1"/>
          </p:cNvSpPr>
          <p:nvPr>
            <p:ph type="pic" idx="13"/>
          </p:nvPr>
        </p:nvSpPr>
        <p:spPr>
          <a:xfrm xmlns:a="http://schemas.openxmlformats.org/drawingml/2006/main">
            <a:off x="904875" y="0"/>
            <a:ext cx="3667125" cy="5143500"/>
          </a:xfrm>
        </p:spPr>
        <p:txBody>
          <a:bodyPr xmlns:a="http://schemas.openxmlformats.org/drawingml/2006/main"/>
          <a:lstStyle xmlns:a="http://schemas.openxmlformats.org/drawingml/2006/main"/>
          <a:p xmlns:a="http://schemas.openxmlformats.org/drawingml/2006/main">
            <a:r>
              <a:t>Cliquez sur l'icône pour ajouter une image</a:t>
            </a:r>
          </a:p>
        </p:txBody>
      </p:sp>
      <p:sp>
        <p:nvSpPr>
          <p:cNvPr id="12" name="Espace réservé de la date 11">
            <a:extLst xmlns:a="http://schemas.openxmlformats.org/drawingml/2006/main">
              <a:ext uri="{FF2B5EF4-FFF2-40B4-BE49-F238E27FC236}">
                <a16:creationId xmlns:a16="http://schemas.microsoft.com/office/drawing/2014/main" id="{DC67DCAE-4284-44E4-A6CD-852EC5526AF3}"/>
              </a:ext>
            </a:extLst>
          </p:cNvPr>
          <p:cNvSpPr>
            <a:spLocks xmlns:a="http://schemas.openxmlformats.org/drawingml/2006/main" noGrp="1"/>
          </p:cNvSpPr>
          <p:nvPr>
            <p:ph type="dt" idx="14"/>
          </p:nvPr>
        </p:nvSpPr>
        <p:spPr/>
        <p:txBody>
          <a:bodyPr xmlns:a="http://schemas.openxmlformats.org/drawingml/2006/main"/>
          <a:lstStyle xmlns:a="http://schemas.openxmlformats.org/drawingml/2006/main"/>
          <a:p xmlns:a="http://schemas.openxmlformats.org/drawingml/2006/main">
            <a:r>
              <a:t>WELCOME TO EPFL</a:t>
            </a:r>
          </a:p>
        </p:txBody>
      </p:sp>
      <p:sp>
        <p:nvSpPr>
          <p:cNvPr id="13" name="Espace réservé du pied de page 12">
            <a:extLst xmlns:a="http://schemas.openxmlformats.org/drawingml/2006/main">
              <a:ext uri="{FF2B5EF4-FFF2-40B4-BE49-F238E27FC236}">
                <a16:creationId xmlns:a16="http://schemas.microsoft.com/office/drawing/2014/main" id="{4EE26F30-7396-450B-876E-E6DCA660D808}"/>
              </a:ext>
            </a:extLst>
          </p:cNvPr>
          <p:cNvSpPr>
            <a:spLocks xmlns:a="http://schemas.openxmlformats.org/drawingml/2006/main" noGrp="1"/>
          </p:cNvSpPr>
          <p:nvPr>
            <p:ph type="ftr" idx="15"/>
          </p:nvPr>
        </p:nvSpPr>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r>
              <a:t>Speaker</a:t>
            </a:r>
          </a:p>
        </p:txBody>
      </p:sp>
      <p:sp>
        <p:nvSpPr>
          <p:cNvPr id="14" name="Espace réservé du numéro de diapositive 13">
            <a:extLst xmlns:a="http://schemas.openxmlformats.org/drawingml/2006/main">
              <a:ext uri="{FF2B5EF4-FFF2-40B4-BE49-F238E27FC236}">
                <a16:creationId xmlns:a16="http://schemas.microsoft.com/office/drawing/2014/main" id="{5B26424B-E622-40F2-8598-84DF1981A130}"/>
              </a:ext>
            </a:extLst>
          </p:cNvPr>
          <p:cNvSpPr>
            <a:spLocks xmlns:a="http://schemas.openxmlformats.org/drawingml/2006/main" noGrp="1"/>
          </p:cNvSpPr>
          <p:nvPr>
            <p:ph type="sldNum" idx="16"/>
          </p:nvPr>
        </p:nvSpPr>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fld id="{E1E1CD7C-2161-7D43-862E-CE4C333CD873}" type="slidenum">
              <a:t>‹N°›</a:t>
            </a:fld>
          </a:p>
        </p:txBody>
      </p:sp>
    </p:spTree>
  </p:cSld>
</p:sldLayout>
</file>

<file path=ppt/slideLayouts/slideLayout4.xml><?xml version="1.0" encoding="utf-8"?>
<p:sldLayout xmlns:p="http://schemas.openxmlformats.org/presentationml/2006/main" preserve="1" userDrawn="1">
  <p:cSld name="Title_Section2">
    <p:spTree>
      <p:nvGrpSpPr>
        <p:cNvPr id="1" name=""/>
        <p:cNvGrpSpPr/>
        <p:nvPr/>
      </p:nvGrpSpPr>
      <p:grpSpPr>
        <a:xfrm xmlns:a="http://schemas.openxmlformats.org/drawingml/2006/main"/>
      </p:grpSpPr>
      <p:sp>
        <p:nvSpPr>
          <p:cNvPr id="7" name="Rectangle 6">
            <a:extLst xmlns:a="http://schemas.openxmlformats.org/drawingml/2006/main">
              <a:ext uri="{FF2B5EF4-FFF2-40B4-BE49-F238E27FC236}">
                <a16:creationId xmlns:a16="http://schemas.microsoft.com/office/drawing/2014/main" id="{4A9F6C81-AE59-DE44-BF60-E773080CD91C}"/>
              </a:ext>
            </a:extLst>
          </p:cNvPr>
          <p:cNvSpPr>
            <a:spLocks xmlns:a="http://schemas.openxmlformats.org/drawingml/2006/main" noGrp="1"/>
          </p:cNvSpPr>
          <p:nvPr/>
        </p:nvSpPr>
        <p:spPr>
          <a:xfrm xmlns:a="http://schemas.openxmlformats.org/drawingml/2006/main">
            <a:off x="4572000" y="0"/>
            <a:ext cx="4572000" cy="5143500"/>
          </a:xfrm>
          <a:prstGeom xmlns:a="http://schemas.openxmlformats.org/drawingml/2006/main" prst="rect">
            <a:avLst/>
          </a:pr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 name="Title 1">
            <a:extLst xmlns:a="http://schemas.openxmlformats.org/drawingml/2006/main">
              <a:ext uri="{FF2B5EF4-FFF2-40B4-BE49-F238E27FC236}">
                <a16:creationId xmlns:a16="http://schemas.microsoft.com/office/drawing/2014/main" id="{888C55E0-5220-4785-AED9-63FD2BD5F3C0}"/>
              </a:ext>
            </a:extLst>
          </p:cNvPr>
          <p:cNvSpPr>
            <a:spLocks xmlns:a="http://schemas.openxmlformats.org/drawingml/2006/main" noGrp="1"/>
          </p:cNvSpPr>
          <p:nvPr>
            <p:ph type="title" idx="0"/>
          </p:nvPr>
        </p:nvSpPr>
        <p:spPr>
          <a:xfrm xmlns:a="http://schemas.openxmlformats.org/drawingml/2006/main">
            <a:off x="4572000" y="777875"/>
            <a:ext cx="4058920" cy="1793875"/>
          </a:xfrm>
        </p:spPr>
        <p:txBody>
          <a:bodyPr xmlns:a="http://schemas.openxmlformats.org/drawingml/2006/main" anchor="ctr">
            <a:normAutofit/>
          </a:bodyPr>
          <a:lstStyle xmlns:a="http://schemas.openxmlformats.org/drawingml/2006/main">
            <a:lvl1pPr>
              <a:buNone/>
              <a:defRPr sz="3200">
                <a:solidFill>
                  <a:schemeClr val="bg1"/>
                </a:solidFill>
              </a:defRPr>
            </a:lvl1pPr>
          </a:lstStyle>
          <a:p xmlns:a="http://schemas.openxmlformats.org/drawingml/2006/main">
            <a:r>
              <a:t>Modifiez le style du titre</a:t>
            </a:r>
          </a:p>
        </p:txBody>
      </p:sp>
      <p:sp>
        <p:nvSpPr>
          <p:cNvPr id="3" name="Text Placeholder 2">
            <a:extLst xmlns:a="http://schemas.openxmlformats.org/drawingml/2006/main">
              <a:ext uri="{FF2B5EF4-FFF2-40B4-BE49-F238E27FC236}">
                <a16:creationId xmlns:a16="http://schemas.microsoft.com/office/drawing/2014/main" id="{0A13E999-F336-41F8-9AC6-B06ABAC4A162}"/>
              </a:ext>
            </a:extLst>
          </p:cNvPr>
          <p:cNvSpPr>
            <a:spLocks xmlns:a="http://schemas.openxmlformats.org/drawingml/2006/main" noGrp="1"/>
          </p:cNvSpPr>
          <p:nvPr>
            <p:ph type="body" idx="1"/>
          </p:nvPr>
        </p:nvSpPr>
        <p:spPr>
          <a:xfrm xmlns:a="http://schemas.openxmlformats.org/drawingml/2006/main">
            <a:off x="4572000" y="2571750"/>
            <a:ext cx="4058920" cy="2156508"/>
          </a:xfrm>
        </p:spPr>
        <p:txBody>
          <a:bodyPr xmlns:a="http://schemas.openxmlformats.org/drawingml/2006/main"/>
          <a:lstStyle xmlns:a="http://schemas.openxmlformats.org/drawingml/2006/main">
            <a:lvl1pPr marL="0" indent="0">
              <a:buNone/>
              <a:defRPr sz="1800">
                <a:solidFill>
                  <a:schemeClr val="bg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xmlns:a="http://schemas.openxmlformats.org/drawingml/2006/main">
            <a:pPr>
              <a:buNone/>
            </a:pPr>
            <a:r>
              <a:t>Modifier les styles du texte du masque
Deuxième niveau
Troisième niveau
Quatrième niveau
Cinquième niveau</a:t>
            </a:r>
          </a:p>
        </p:txBody>
      </p:sp>
      <p:sp>
        <p:nvSpPr>
          <p:cNvPr id="9" name="Espace réservé pour une image  8">
            <a:extLst xmlns:a="http://schemas.openxmlformats.org/drawingml/2006/main">
              <a:ext uri="{FF2B5EF4-FFF2-40B4-BE49-F238E27FC236}">
                <a16:creationId xmlns:a16="http://schemas.microsoft.com/office/drawing/2014/main" id="{C58F136D-3292-C745-91DE-A21191C16FE7}"/>
              </a:ext>
            </a:extLst>
          </p:cNvPr>
          <p:cNvSpPr>
            <a:spLocks xmlns:a="http://schemas.openxmlformats.org/drawingml/2006/main" noGrp="1"/>
          </p:cNvSpPr>
          <p:nvPr>
            <p:ph type="pic" idx="13"/>
          </p:nvPr>
        </p:nvSpPr>
        <p:spPr>
          <a:xfrm xmlns:a="http://schemas.openxmlformats.org/drawingml/2006/main">
            <a:off x="904875" y="0"/>
            <a:ext cx="3667125" cy="5143500"/>
          </a:xfrm>
        </p:spPr>
        <p:txBody>
          <a:bodyPr xmlns:a="http://schemas.openxmlformats.org/drawingml/2006/main"/>
          <a:lstStyle xmlns:a="http://schemas.openxmlformats.org/drawingml/2006/main"/>
          <a:p xmlns:a="http://schemas.openxmlformats.org/drawingml/2006/main">
            <a:r>
              <a:t>Cliquez sur l'icône pour ajouter une image</a:t>
            </a:r>
          </a:p>
        </p:txBody>
      </p:sp>
      <p:sp>
        <p:nvSpPr>
          <p:cNvPr id="12" name="Espace réservé de la date 11">
            <a:extLst xmlns:a="http://schemas.openxmlformats.org/drawingml/2006/main">
              <a:ext uri="{FF2B5EF4-FFF2-40B4-BE49-F238E27FC236}">
                <a16:creationId xmlns:a16="http://schemas.microsoft.com/office/drawing/2014/main" id="{E1691F80-3FB9-440A-B017-396CAE52C2B5}"/>
              </a:ext>
            </a:extLst>
          </p:cNvPr>
          <p:cNvSpPr>
            <a:spLocks xmlns:a="http://schemas.openxmlformats.org/drawingml/2006/main" noGrp="1"/>
          </p:cNvSpPr>
          <p:nvPr>
            <p:ph type="dt" idx="14"/>
          </p:nvPr>
        </p:nvSpPr>
        <p:spPr/>
        <p:txBody>
          <a:bodyPr xmlns:a="http://schemas.openxmlformats.org/drawingml/2006/main"/>
          <a:lstStyle xmlns:a="http://schemas.openxmlformats.org/drawingml/2006/main"/>
          <a:p xmlns:a="http://schemas.openxmlformats.org/drawingml/2006/main">
            <a:r>
              <a:t>WELCOME TO EPFL</a:t>
            </a:r>
          </a:p>
        </p:txBody>
      </p:sp>
      <p:sp>
        <p:nvSpPr>
          <p:cNvPr id="13" name="Espace réservé du pied de page 12">
            <a:extLst xmlns:a="http://schemas.openxmlformats.org/drawingml/2006/main">
              <a:ext uri="{FF2B5EF4-FFF2-40B4-BE49-F238E27FC236}">
                <a16:creationId xmlns:a16="http://schemas.microsoft.com/office/drawing/2014/main" id="{74DA814F-46FF-4DB0-96BF-E7873778319C}"/>
              </a:ext>
            </a:extLst>
          </p:cNvPr>
          <p:cNvSpPr>
            <a:spLocks xmlns:a="http://schemas.openxmlformats.org/drawingml/2006/main" noGrp="1"/>
          </p:cNvSpPr>
          <p:nvPr>
            <p:ph type="ftr" idx="15"/>
          </p:nvPr>
        </p:nvSpPr>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r>
              <a:t>Speaker</a:t>
            </a:r>
          </a:p>
        </p:txBody>
      </p:sp>
      <p:sp>
        <p:nvSpPr>
          <p:cNvPr id="14" name="Espace réservé du numéro de diapositive 13">
            <a:extLst xmlns:a="http://schemas.openxmlformats.org/drawingml/2006/main">
              <a:ext uri="{FF2B5EF4-FFF2-40B4-BE49-F238E27FC236}">
                <a16:creationId xmlns:a16="http://schemas.microsoft.com/office/drawing/2014/main" id="{19A85858-D97C-4AB9-AFBB-59D8C32447D2}"/>
              </a:ext>
            </a:extLst>
          </p:cNvPr>
          <p:cNvSpPr>
            <a:spLocks xmlns:a="http://schemas.openxmlformats.org/drawingml/2006/main" noGrp="1"/>
          </p:cNvSpPr>
          <p:nvPr>
            <p:ph type="sldNum" idx="16"/>
          </p:nvPr>
        </p:nvSpPr>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fld id="{E1E1CD7C-2161-7D43-862E-CE4C333CD873}" type="slidenum">
              <a:t>‹N°›</a:t>
            </a:fld>
          </a:p>
        </p:txBody>
      </p:sp>
    </p:spTree>
  </p:cSld>
</p:sldLayout>
</file>

<file path=ppt/slideLayouts/slideLayout5.xml><?xml version="1.0" encoding="utf-8"?>
<p:sldLayout xmlns:p="http://schemas.openxmlformats.org/presentationml/2006/main" preserve="1" userDrawn="1">
  <p:cSld name="Title_Section3">
    <p:spTree>
      <p:nvGrpSpPr>
        <p:cNvPr id="1" name=""/>
        <p:cNvGrpSpPr/>
        <p:nvPr/>
      </p:nvGrpSpPr>
      <p:grpSpPr>
        <a:xfrm xmlns:a="http://schemas.openxmlformats.org/drawingml/2006/main"/>
      </p:grpSpPr>
      <p:sp>
        <p:nvSpPr>
          <p:cNvPr id="7" name="Rectangle 6">
            <a:extLst xmlns:a="http://schemas.openxmlformats.org/drawingml/2006/main">
              <a:ext uri="{FF2B5EF4-FFF2-40B4-BE49-F238E27FC236}">
                <a16:creationId xmlns:a16="http://schemas.microsoft.com/office/drawing/2014/main" id="{4A9F6C81-AE59-DE44-BF60-E773080CD91C}"/>
              </a:ext>
            </a:extLst>
          </p:cNvPr>
          <p:cNvSpPr>
            <a:spLocks xmlns:a="http://schemas.openxmlformats.org/drawingml/2006/main" noGrp="1"/>
          </p:cNvSpPr>
          <p:nvPr/>
        </p:nvSpPr>
        <p:spPr>
          <a:xfrm xmlns:a="http://schemas.openxmlformats.org/drawingml/2006/main">
            <a:off x="4572000" y="0"/>
            <a:ext cx="4572000" cy="5143500"/>
          </a:xfrm>
          <a:prstGeom xmlns:a="http://schemas.openxmlformats.org/drawingml/2006/main" prst="rect">
            <a:avLst/>
          </a:prstGeom>
          <a:solidFill xmlns:a="http://schemas.openxmlformats.org/drawingml/2006/main">
            <a:schemeClr val="tx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 name="Title 1">
            <a:extLst xmlns:a="http://schemas.openxmlformats.org/drawingml/2006/main">
              <a:ext uri="{FF2B5EF4-FFF2-40B4-BE49-F238E27FC236}">
                <a16:creationId xmlns:a16="http://schemas.microsoft.com/office/drawing/2014/main" id="{7FDFC4CE-226F-4008-B457-CBA4C1EBB6DF}"/>
              </a:ext>
            </a:extLst>
          </p:cNvPr>
          <p:cNvSpPr>
            <a:spLocks xmlns:a="http://schemas.openxmlformats.org/drawingml/2006/main" noGrp="1"/>
          </p:cNvSpPr>
          <p:nvPr>
            <p:ph type="title" idx="0"/>
          </p:nvPr>
        </p:nvSpPr>
        <p:spPr>
          <a:xfrm xmlns:a="http://schemas.openxmlformats.org/drawingml/2006/main">
            <a:off x="4572000" y="777875"/>
            <a:ext cx="4058920" cy="1793875"/>
          </a:xfrm>
        </p:spPr>
        <p:txBody>
          <a:bodyPr xmlns:a="http://schemas.openxmlformats.org/drawingml/2006/main" anchor="ctr">
            <a:normAutofit/>
          </a:bodyPr>
          <a:lstStyle xmlns:a="http://schemas.openxmlformats.org/drawingml/2006/main">
            <a:lvl1pPr>
              <a:buNone/>
              <a:defRPr sz="3200">
                <a:solidFill>
                  <a:schemeClr val="bg1"/>
                </a:solidFill>
              </a:defRPr>
            </a:lvl1pPr>
          </a:lstStyle>
          <a:p xmlns:a="http://schemas.openxmlformats.org/drawingml/2006/main">
            <a:r>
              <a:t>Modifiez le style du titre</a:t>
            </a:r>
          </a:p>
        </p:txBody>
      </p:sp>
      <p:sp>
        <p:nvSpPr>
          <p:cNvPr id="3" name="Text Placeholder 2">
            <a:extLst xmlns:a="http://schemas.openxmlformats.org/drawingml/2006/main">
              <a:ext uri="{FF2B5EF4-FFF2-40B4-BE49-F238E27FC236}">
                <a16:creationId xmlns:a16="http://schemas.microsoft.com/office/drawing/2014/main" id="{3C22AB79-0EA2-435E-ADB7-E2B9ABB0BFF7}"/>
              </a:ext>
            </a:extLst>
          </p:cNvPr>
          <p:cNvSpPr>
            <a:spLocks xmlns:a="http://schemas.openxmlformats.org/drawingml/2006/main" noGrp="1"/>
          </p:cNvSpPr>
          <p:nvPr>
            <p:ph type="body" idx="1"/>
          </p:nvPr>
        </p:nvSpPr>
        <p:spPr>
          <a:xfrm xmlns:a="http://schemas.openxmlformats.org/drawingml/2006/main">
            <a:off x="4572000" y="2571750"/>
            <a:ext cx="4058920" cy="2156508"/>
          </a:xfrm>
        </p:spPr>
        <p:txBody>
          <a:bodyPr xmlns:a="http://schemas.openxmlformats.org/drawingml/2006/main"/>
          <a:lstStyle xmlns:a="http://schemas.openxmlformats.org/drawingml/2006/main">
            <a:lvl1pPr marL="0" indent="0">
              <a:buNone/>
              <a:defRPr sz="1800">
                <a:solidFill>
                  <a:schemeClr val="bg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xmlns:a="http://schemas.openxmlformats.org/drawingml/2006/main">
            <a:pPr>
              <a:buNone/>
            </a:pPr>
            <a:r>
              <a:t>Modifier les styles du texte du masque
Deuxième niveau
Troisième niveau
Quatrième niveau
Cinquième niveau</a:t>
            </a:r>
          </a:p>
        </p:txBody>
      </p:sp>
      <p:sp>
        <p:nvSpPr>
          <p:cNvPr id="9" name="Espace réservé pour une image  8">
            <a:extLst xmlns:a="http://schemas.openxmlformats.org/drawingml/2006/main">
              <a:ext uri="{FF2B5EF4-FFF2-40B4-BE49-F238E27FC236}">
                <a16:creationId xmlns:a16="http://schemas.microsoft.com/office/drawing/2014/main" id="{C58F136D-3292-C745-91DE-A21191C16FE7}"/>
              </a:ext>
            </a:extLst>
          </p:cNvPr>
          <p:cNvSpPr>
            <a:spLocks xmlns:a="http://schemas.openxmlformats.org/drawingml/2006/main" noGrp="1"/>
          </p:cNvSpPr>
          <p:nvPr>
            <p:ph type="pic" idx="13"/>
          </p:nvPr>
        </p:nvSpPr>
        <p:spPr>
          <a:xfrm xmlns:a="http://schemas.openxmlformats.org/drawingml/2006/main">
            <a:off x="904875" y="0"/>
            <a:ext cx="3667125" cy="5143500"/>
          </a:xfrm>
        </p:spPr>
        <p:txBody>
          <a:bodyPr xmlns:a="http://schemas.openxmlformats.org/drawingml/2006/main"/>
          <a:lstStyle xmlns:a="http://schemas.openxmlformats.org/drawingml/2006/main"/>
          <a:p xmlns:a="http://schemas.openxmlformats.org/drawingml/2006/main">
            <a:r>
              <a:t>Cliquez sur l'icône pour ajouter une image</a:t>
            </a:r>
          </a:p>
        </p:txBody>
      </p:sp>
      <p:sp>
        <p:nvSpPr>
          <p:cNvPr id="8" name="Espace réservé de la date 7">
            <a:extLst xmlns:a="http://schemas.openxmlformats.org/drawingml/2006/main">
              <a:ext uri="{FF2B5EF4-FFF2-40B4-BE49-F238E27FC236}">
                <a16:creationId xmlns:a16="http://schemas.microsoft.com/office/drawing/2014/main" id="{D87D040B-7C0B-41D4-8AB8-5DE46D491C81}"/>
              </a:ext>
            </a:extLst>
          </p:cNvPr>
          <p:cNvSpPr>
            <a:spLocks xmlns:a="http://schemas.openxmlformats.org/drawingml/2006/main" noGrp="1"/>
          </p:cNvSpPr>
          <p:nvPr>
            <p:ph type="dt" idx="14"/>
          </p:nvPr>
        </p:nvSpPr>
        <p:spPr/>
        <p:txBody>
          <a:bodyPr xmlns:a="http://schemas.openxmlformats.org/drawingml/2006/main"/>
          <a:lstStyle xmlns:a="http://schemas.openxmlformats.org/drawingml/2006/main"/>
          <a:p xmlns:a="http://schemas.openxmlformats.org/drawingml/2006/main">
            <a:r>
              <a:t>WELCOME TO EPFL</a:t>
            </a:r>
          </a:p>
        </p:txBody>
      </p:sp>
      <p:sp>
        <p:nvSpPr>
          <p:cNvPr id="10" name="Espace réservé du pied de page 9">
            <a:extLst xmlns:a="http://schemas.openxmlformats.org/drawingml/2006/main">
              <a:ext uri="{FF2B5EF4-FFF2-40B4-BE49-F238E27FC236}">
                <a16:creationId xmlns:a16="http://schemas.microsoft.com/office/drawing/2014/main" id="{AF4122DC-A769-41CB-A01D-6C7A77438F7B}"/>
              </a:ext>
            </a:extLst>
          </p:cNvPr>
          <p:cNvSpPr>
            <a:spLocks xmlns:a="http://schemas.openxmlformats.org/drawingml/2006/main" noGrp="1"/>
          </p:cNvSpPr>
          <p:nvPr>
            <p:ph type="ftr" idx="15"/>
          </p:nvPr>
        </p:nvSpPr>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r>
              <a:t>Speaker</a:t>
            </a:r>
          </a:p>
        </p:txBody>
      </p:sp>
      <p:sp>
        <p:nvSpPr>
          <p:cNvPr id="11" name="Espace réservé du numéro de diapositive 10">
            <a:extLst xmlns:a="http://schemas.openxmlformats.org/drawingml/2006/main">
              <a:ext uri="{FF2B5EF4-FFF2-40B4-BE49-F238E27FC236}">
                <a16:creationId xmlns:a16="http://schemas.microsoft.com/office/drawing/2014/main" id="{ACC6FD8C-5FCC-435C-8851-5B2E7DFEA85D}"/>
              </a:ext>
            </a:extLst>
          </p:cNvPr>
          <p:cNvSpPr>
            <a:spLocks xmlns:a="http://schemas.openxmlformats.org/drawingml/2006/main" noGrp="1"/>
          </p:cNvSpPr>
          <p:nvPr>
            <p:ph type="sldNum" idx="16"/>
          </p:nvPr>
        </p:nvSpPr>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fld id="{E1E1CD7C-2161-7D43-862E-CE4C333CD873}" type="slidenum">
              <a:t>‹N°›</a:t>
            </a:fld>
          </a:p>
        </p:txBody>
      </p:sp>
    </p:spTree>
  </p:cSld>
</p:sldLayout>
</file>

<file path=ppt/slideLayouts/slideLayout6.xml><?xml version="1.0" encoding="utf-8"?>
<p:sldLayout xmlns:p="http://schemas.openxmlformats.org/presentationml/2006/main" preserve="1" userDrawn="1">
  <p:cSld name="Title_Section4">
    <p:spTree>
      <p:nvGrpSpPr>
        <p:cNvPr id="1" name=""/>
        <p:cNvGrpSpPr/>
        <p:nvPr/>
      </p:nvGrpSpPr>
      <p:grpSpPr>
        <a:xfrm xmlns:a="http://schemas.openxmlformats.org/drawingml/2006/main"/>
      </p:grpSpPr>
      <p:sp>
        <p:nvSpPr>
          <p:cNvPr id="7" name="Rectangle 6">
            <a:extLst xmlns:a="http://schemas.openxmlformats.org/drawingml/2006/main">
              <a:ext uri="{FF2B5EF4-FFF2-40B4-BE49-F238E27FC236}">
                <a16:creationId xmlns:a16="http://schemas.microsoft.com/office/drawing/2014/main" id="{4A9F6C81-AE59-DE44-BF60-E773080CD91C}"/>
              </a:ext>
            </a:extLst>
          </p:cNvPr>
          <p:cNvSpPr>
            <a:spLocks xmlns:a="http://schemas.openxmlformats.org/drawingml/2006/main" noGrp="1"/>
          </p:cNvSpPr>
          <p:nvPr/>
        </p:nvSpPr>
        <p:spPr>
          <a:xfrm xmlns:a="http://schemas.openxmlformats.org/drawingml/2006/main">
            <a:off x="4572000" y="0"/>
            <a:ext cx="4572000" cy="5143500"/>
          </a:xfrm>
          <a:prstGeom xmlns:a="http://schemas.openxmlformats.org/drawingml/2006/main" prst="rect">
            <a:avLst/>
          </a:prstGeom>
          <a:solidFill xmlns:a="http://schemas.openxmlformats.org/drawingml/2006/main">
            <a:schemeClr val="accent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 name="Title 1">
            <a:extLst xmlns:a="http://schemas.openxmlformats.org/drawingml/2006/main">
              <a:ext uri="{FF2B5EF4-FFF2-40B4-BE49-F238E27FC236}">
                <a16:creationId xmlns:a16="http://schemas.microsoft.com/office/drawing/2014/main" id="{4955C482-6759-4BF5-95A6-CCA45EB5B0A9}"/>
              </a:ext>
            </a:extLst>
          </p:cNvPr>
          <p:cNvSpPr>
            <a:spLocks xmlns:a="http://schemas.openxmlformats.org/drawingml/2006/main" noGrp="1"/>
          </p:cNvSpPr>
          <p:nvPr>
            <p:ph type="title" idx="0"/>
          </p:nvPr>
        </p:nvSpPr>
        <p:spPr>
          <a:xfrm xmlns:a="http://schemas.openxmlformats.org/drawingml/2006/main">
            <a:off x="4572000" y="777875"/>
            <a:ext cx="4058920" cy="1793875"/>
          </a:xfrm>
        </p:spPr>
        <p:txBody>
          <a:bodyPr xmlns:a="http://schemas.openxmlformats.org/drawingml/2006/main" anchor="ctr">
            <a:normAutofit/>
          </a:bodyPr>
          <a:lstStyle xmlns:a="http://schemas.openxmlformats.org/drawingml/2006/main">
            <a:lvl1pPr>
              <a:buNone/>
              <a:defRPr sz="3200">
                <a:solidFill>
                  <a:schemeClr val="bg1"/>
                </a:solidFill>
              </a:defRPr>
            </a:lvl1pPr>
          </a:lstStyle>
          <a:p xmlns:a="http://schemas.openxmlformats.org/drawingml/2006/main">
            <a:r>
              <a:t>Modifiez le style du titre</a:t>
            </a:r>
          </a:p>
        </p:txBody>
      </p:sp>
      <p:sp>
        <p:nvSpPr>
          <p:cNvPr id="3" name="Text Placeholder 2">
            <a:extLst xmlns:a="http://schemas.openxmlformats.org/drawingml/2006/main">
              <a:ext uri="{FF2B5EF4-FFF2-40B4-BE49-F238E27FC236}">
                <a16:creationId xmlns:a16="http://schemas.microsoft.com/office/drawing/2014/main" id="{83D12DD8-AA91-43EC-A827-61CFF46662A5}"/>
              </a:ext>
            </a:extLst>
          </p:cNvPr>
          <p:cNvSpPr>
            <a:spLocks xmlns:a="http://schemas.openxmlformats.org/drawingml/2006/main" noGrp="1"/>
          </p:cNvSpPr>
          <p:nvPr>
            <p:ph type="body" idx="1"/>
          </p:nvPr>
        </p:nvSpPr>
        <p:spPr>
          <a:xfrm xmlns:a="http://schemas.openxmlformats.org/drawingml/2006/main">
            <a:off x="4572000" y="2571750"/>
            <a:ext cx="4058920" cy="2156508"/>
          </a:xfrm>
        </p:spPr>
        <p:txBody>
          <a:bodyPr xmlns:a="http://schemas.openxmlformats.org/drawingml/2006/main"/>
          <a:lstStyle xmlns:a="http://schemas.openxmlformats.org/drawingml/2006/main">
            <a:lvl1pPr marL="0" indent="0">
              <a:buNone/>
              <a:defRPr sz="1800">
                <a:solidFill>
                  <a:schemeClr val="bg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xmlns:a="http://schemas.openxmlformats.org/drawingml/2006/main">
            <a:pPr>
              <a:buNone/>
            </a:pPr>
            <a:r>
              <a:t>Modifier les styles du texte du masque
Deuxième niveau
Troisième niveau
Quatrième niveau
Cinquième niveau</a:t>
            </a:r>
          </a:p>
        </p:txBody>
      </p:sp>
      <p:sp>
        <p:nvSpPr>
          <p:cNvPr id="9" name="Espace réservé pour une image  8">
            <a:extLst xmlns:a="http://schemas.openxmlformats.org/drawingml/2006/main">
              <a:ext uri="{FF2B5EF4-FFF2-40B4-BE49-F238E27FC236}">
                <a16:creationId xmlns:a16="http://schemas.microsoft.com/office/drawing/2014/main" id="{C58F136D-3292-C745-91DE-A21191C16FE7}"/>
              </a:ext>
            </a:extLst>
          </p:cNvPr>
          <p:cNvSpPr>
            <a:spLocks xmlns:a="http://schemas.openxmlformats.org/drawingml/2006/main" noGrp="1"/>
          </p:cNvSpPr>
          <p:nvPr>
            <p:ph type="pic" idx="13"/>
          </p:nvPr>
        </p:nvSpPr>
        <p:spPr>
          <a:xfrm xmlns:a="http://schemas.openxmlformats.org/drawingml/2006/main">
            <a:off x="904875" y="0"/>
            <a:ext cx="3667125" cy="5143500"/>
          </a:xfrm>
        </p:spPr>
        <p:txBody>
          <a:bodyPr xmlns:a="http://schemas.openxmlformats.org/drawingml/2006/main"/>
          <a:lstStyle xmlns:a="http://schemas.openxmlformats.org/drawingml/2006/main"/>
          <a:p xmlns:a="http://schemas.openxmlformats.org/drawingml/2006/main">
            <a:r>
              <a:t>Cliquez sur l'icône pour ajouter une image</a:t>
            </a:r>
          </a:p>
        </p:txBody>
      </p:sp>
      <p:sp>
        <p:nvSpPr>
          <p:cNvPr id="8" name="Espace réservé de la date 7">
            <a:extLst xmlns:a="http://schemas.openxmlformats.org/drawingml/2006/main">
              <a:ext uri="{FF2B5EF4-FFF2-40B4-BE49-F238E27FC236}">
                <a16:creationId xmlns:a16="http://schemas.microsoft.com/office/drawing/2014/main" id="{7A7484FD-BA15-4DCF-86DD-E0D38C38EA14}"/>
              </a:ext>
            </a:extLst>
          </p:cNvPr>
          <p:cNvSpPr>
            <a:spLocks xmlns:a="http://schemas.openxmlformats.org/drawingml/2006/main" noGrp="1"/>
          </p:cNvSpPr>
          <p:nvPr>
            <p:ph type="dt" idx="14"/>
          </p:nvPr>
        </p:nvSpPr>
        <p:spPr/>
        <p:txBody>
          <a:bodyPr xmlns:a="http://schemas.openxmlformats.org/drawingml/2006/main"/>
          <a:lstStyle xmlns:a="http://schemas.openxmlformats.org/drawingml/2006/main"/>
          <a:p xmlns:a="http://schemas.openxmlformats.org/drawingml/2006/main">
            <a:r>
              <a:t>WELCOME TO EPFL</a:t>
            </a:r>
          </a:p>
        </p:txBody>
      </p:sp>
      <p:sp>
        <p:nvSpPr>
          <p:cNvPr id="10" name="Espace réservé du pied de page 9">
            <a:extLst xmlns:a="http://schemas.openxmlformats.org/drawingml/2006/main">
              <a:ext uri="{FF2B5EF4-FFF2-40B4-BE49-F238E27FC236}">
                <a16:creationId xmlns:a16="http://schemas.microsoft.com/office/drawing/2014/main" id="{A3458FB3-7140-4682-B3F6-F5781231E8D1}"/>
              </a:ext>
            </a:extLst>
          </p:cNvPr>
          <p:cNvSpPr>
            <a:spLocks xmlns:a="http://schemas.openxmlformats.org/drawingml/2006/main" noGrp="1"/>
          </p:cNvSpPr>
          <p:nvPr>
            <p:ph type="ftr" idx="15"/>
          </p:nvPr>
        </p:nvSpPr>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r>
              <a:t>Speaker</a:t>
            </a:r>
          </a:p>
        </p:txBody>
      </p:sp>
      <p:sp>
        <p:nvSpPr>
          <p:cNvPr id="11" name="Espace réservé du numéro de diapositive 10">
            <a:extLst xmlns:a="http://schemas.openxmlformats.org/drawingml/2006/main">
              <a:ext uri="{FF2B5EF4-FFF2-40B4-BE49-F238E27FC236}">
                <a16:creationId xmlns:a16="http://schemas.microsoft.com/office/drawing/2014/main" id="{4EC5376A-9456-4C55-99EE-C36B6C44D1F5}"/>
              </a:ext>
            </a:extLst>
          </p:cNvPr>
          <p:cNvSpPr>
            <a:spLocks xmlns:a="http://schemas.openxmlformats.org/drawingml/2006/main" noGrp="1"/>
          </p:cNvSpPr>
          <p:nvPr>
            <p:ph type="sldNum" idx="16"/>
          </p:nvPr>
        </p:nvSpPr>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fld id="{E1E1CD7C-2161-7D43-862E-CE4C333CD873}" type="slidenum">
              <a:t>‹N°›</a:t>
            </a:fld>
          </a:p>
        </p:txBody>
      </p:sp>
    </p:spTree>
  </p:cSld>
</p:sldLayout>
</file>

<file path=ppt/slideLayouts/slideLayout7.xml><?xml version="1.0" encoding="utf-8"?>
<p:sldLayout xmlns:p="http://schemas.openxmlformats.org/presentationml/2006/main" preserve="1" userDrawn="1">
  <p:cSld name="Title_Content">
    <p:spTree>
      <p:nvGrpSpPr>
        <p:cNvPr id="1" name=""/>
        <p:cNvGrpSpPr/>
        <p:nvPr/>
      </p:nvGrpSpPr>
      <p:grpSpPr>
        <a:xfrm xmlns:a="http://schemas.openxmlformats.org/drawingml/2006/main"/>
      </p:grpSpPr>
      <p:sp>
        <p:nvSpPr>
          <p:cNvPr id="3" name="Content Placeholder 2">
            <a:extLst xmlns:a="http://schemas.openxmlformats.org/drawingml/2006/main">
              <a:ext uri="{FF2B5EF4-FFF2-40B4-BE49-F238E27FC236}">
                <a16:creationId xmlns:a16="http://schemas.microsoft.com/office/drawing/2014/main" id="{CCD6D3B6-28FF-4030-A96A-A0591365BDAB}"/>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a:buNone/>
            </a:pPr>
            <a:r>
              <a:t>Modifier les styles du texte du masque
Deuxième niveau
Troisième niveau
Quatrième niveau
Cinquième niveau</a:t>
            </a:r>
          </a:p>
        </p:txBody>
      </p:sp>
      <p:sp>
        <p:nvSpPr>
          <p:cNvPr id="8" name="Titre 7">
            <a:extLst xmlns:a="http://schemas.openxmlformats.org/drawingml/2006/main">
              <a:ext uri="{FF2B5EF4-FFF2-40B4-BE49-F238E27FC236}">
                <a16:creationId xmlns:a16="http://schemas.microsoft.com/office/drawing/2014/main" id="{A30C78BE-DAD0-D748-8B93-AD898D00C88C}"/>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Modifiez le style du titre</a:t>
            </a:r>
          </a:p>
        </p:txBody>
      </p:sp>
      <p:sp>
        <p:nvSpPr>
          <p:cNvPr id="9" name="Espace réservé de la date 8">
            <a:extLst xmlns:a="http://schemas.openxmlformats.org/drawingml/2006/main">
              <a:ext uri="{FF2B5EF4-FFF2-40B4-BE49-F238E27FC236}">
                <a16:creationId xmlns:a16="http://schemas.microsoft.com/office/drawing/2014/main" id="{131A8490-33AC-9443-A9FC-9A5E9322967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r>
              <a:t>WELCOME TO EPFL</a:t>
            </a:r>
          </a:p>
        </p:txBody>
      </p:sp>
      <p:sp>
        <p:nvSpPr>
          <p:cNvPr id="10" name="Espace réservé du pied de page 9">
            <a:extLst xmlns:a="http://schemas.openxmlformats.org/drawingml/2006/main">
              <a:ext uri="{FF2B5EF4-FFF2-40B4-BE49-F238E27FC236}">
                <a16:creationId xmlns:a16="http://schemas.microsoft.com/office/drawing/2014/main" id="{B875139C-6471-774D-89EF-2B93FAD2CB2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Speaker</a:t>
            </a:r>
          </a:p>
        </p:txBody>
      </p:sp>
      <p:sp>
        <p:nvSpPr>
          <p:cNvPr id="11" name="Espace réservé du numéro de diapositive 10">
            <a:extLst xmlns:a="http://schemas.openxmlformats.org/drawingml/2006/main">
              <a:ext uri="{FF2B5EF4-FFF2-40B4-BE49-F238E27FC236}">
                <a16:creationId xmlns:a16="http://schemas.microsoft.com/office/drawing/2014/main" id="{3942AF23-4BDC-8C4A-9212-AF88439C612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E1E1CD7C-2161-7D43-862E-CE4C333CD873}" type="slidenum">
              <a:t>‹N°›</a:t>
            </a:fld>
          </a:p>
        </p:txBody>
      </p:sp>
    </p:spTree>
  </p:cSld>
</p:sldLayout>
</file>

<file path=ppt/slideLayouts/slideLayout8.xml><?xml version="1.0" encoding="utf-8"?>
<p:sldLayout xmlns:p="http://schemas.openxmlformats.org/presentationml/2006/main" preserve="1" userDrawn="1">
  <p:cSld name="Title_Content_Image1">
    <p:spTree>
      <p:nvGrpSpPr>
        <p:cNvPr id="1" name=""/>
        <p:cNvGrpSpPr/>
        <p:nvPr/>
      </p:nvGrpSpPr>
      <p:grpSpPr>
        <a:xfrm xmlns:a="http://schemas.openxmlformats.org/drawingml/2006/main"/>
      </p:grpSpPr>
      <p:sp>
        <p:nvSpPr>
          <p:cNvPr id="3" name="Content Placeholder 2">
            <a:extLst xmlns:a="http://schemas.openxmlformats.org/drawingml/2006/main">
              <a:ext uri="{FF2B5EF4-FFF2-40B4-BE49-F238E27FC236}">
                <a16:creationId xmlns:a16="http://schemas.microsoft.com/office/drawing/2014/main" id="{E9B0D398-5E34-4407-B1C2-B4520DDC23C2}"/>
              </a:ext>
            </a:extLst>
          </p:cNvPr>
          <p:cNvSpPr>
            <a:spLocks xmlns:a="http://schemas.openxmlformats.org/drawingml/2006/main" noGrp="1"/>
          </p:cNvSpPr>
          <p:nvPr>
            <p:ph idx="1"/>
          </p:nvPr>
        </p:nvSpPr>
        <p:spPr>
          <a:xfrm xmlns:a="http://schemas.openxmlformats.org/drawingml/2006/main">
            <a:off x="904875" y="1563688"/>
            <a:ext cx="4581525" cy="3386772"/>
          </a:xfrm>
        </p:spPr>
        <p:txBody>
          <a:bodyPr xmlns:a="http://schemas.openxmlformats.org/drawingml/2006/main"/>
          <a:lstStyle xmlns:a="http://schemas.openxmlformats.org/drawingml/2006/main"/>
          <a:p xmlns:a="http://schemas.openxmlformats.org/drawingml/2006/main">
            <a:pPr>
              <a:buNone/>
            </a:pPr>
            <a:r>
              <a:t>Modifier les styles du texte du masque
Deuxième niveau
Troisième niveau
Quatrième niveau
Cinquième niveau</a:t>
            </a:r>
          </a:p>
        </p:txBody>
      </p:sp>
      <p:sp>
        <p:nvSpPr>
          <p:cNvPr id="8" name="Espace réservé pour une image  7">
            <a:extLst xmlns:a="http://schemas.openxmlformats.org/drawingml/2006/main">
              <a:ext uri="{FF2B5EF4-FFF2-40B4-BE49-F238E27FC236}">
                <a16:creationId xmlns:a16="http://schemas.microsoft.com/office/drawing/2014/main" id="{70ED9B2D-C513-AF40-B94F-355C174B8FF0}"/>
              </a:ext>
            </a:extLst>
          </p:cNvPr>
          <p:cNvSpPr>
            <a:spLocks xmlns:a="http://schemas.openxmlformats.org/drawingml/2006/main" noGrp="1"/>
          </p:cNvSpPr>
          <p:nvPr>
            <p:ph type="pic" idx="13"/>
          </p:nvPr>
        </p:nvSpPr>
        <p:spPr>
          <a:xfrm xmlns:a="http://schemas.openxmlformats.org/drawingml/2006/main">
            <a:off x="5486400" y="0"/>
            <a:ext cx="3144838" cy="5143500"/>
          </a:xfrm>
        </p:spPr>
        <p:txBody>
          <a:bodyPr xmlns:a="http://schemas.openxmlformats.org/drawingml/2006/main"/>
          <a:lstStyle xmlns:a="http://schemas.openxmlformats.org/drawingml/2006/main"/>
          <a:p xmlns:a="http://schemas.openxmlformats.org/drawingml/2006/main">
            <a:r>
              <a:t>Cliquez sur l'icône pour ajouter une image</a:t>
            </a:r>
          </a:p>
        </p:txBody>
      </p:sp>
      <p:sp>
        <p:nvSpPr>
          <p:cNvPr id="5" name="Titre 4">
            <a:extLst xmlns:a="http://schemas.openxmlformats.org/drawingml/2006/main">
              <a:ext uri="{FF2B5EF4-FFF2-40B4-BE49-F238E27FC236}">
                <a16:creationId xmlns:a16="http://schemas.microsoft.com/office/drawing/2014/main" id="{55F20A3C-6DA6-684F-8F84-A7C8F1339C0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Modifiez le style du titre</a:t>
            </a:r>
          </a:p>
        </p:txBody>
      </p:sp>
      <p:sp>
        <p:nvSpPr>
          <p:cNvPr id="6" name="Espace réservé de la date 5">
            <a:extLst xmlns:a="http://schemas.openxmlformats.org/drawingml/2006/main">
              <a:ext uri="{FF2B5EF4-FFF2-40B4-BE49-F238E27FC236}">
                <a16:creationId xmlns:a16="http://schemas.microsoft.com/office/drawing/2014/main" id="{B633A2CC-2D27-AE47-AE09-87A5F61228B8}"/>
              </a:ext>
            </a:extLst>
          </p:cNvPr>
          <p:cNvSpPr>
            <a:spLocks xmlns:a="http://schemas.openxmlformats.org/drawingml/2006/main" noGrp="1"/>
          </p:cNvSpPr>
          <p:nvPr>
            <p:ph type="dt" idx="14"/>
          </p:nvPr>
        </p:nvSpPr>
        <p:spPr/>
        <p:txBody>
          <a:bodyPr xmlns:a="http://schemas.openxmlformats.org/drawingml/2006/main"/>
          <a:lstStyle xmlns:a="http://schemas.openxmlformats.org/drawingml/2006/main"/>
          <a:p xmlns:a="http://schemas.openxmlformats.org/drawingml/2006/main">
            <a:r>
              <a:t>WELCOME TO EPFL</a:t>
            </a:r>
          </a:p>
        </p:txBody>
      </p:sp>
      <p:sp>
        <p:nvSpPr>
          <p:cNvPr id="11" name="Espace réservé du pied de page 10">
            <a:extLst xmlns:a="http://schemas.openxmlformats.org/drawingml/2006/main">
              <a:ext uri="{FF2B5EF4-FFF2-40B4-BE49-F238E27FC236}">
                <a16:creationId xmlns:a16="http://schemas.microsoft.com/office/drawing/2014/main" id="{CABC000E-4E22-1A40-9D3F-FE2F141E5CA4}"/>
              </a:ext>
            </a:extLst>
          </p:cNvPr>
          <p:cNvSpPr>
            <a:spLocks xmlns:a="http://schemas.openxmlformats.org/drawingml/2006/main" noGrp="1"/>
          </p:cNvSpPr>
          <p:nvPr>
            <p:ph type="ftr" idx="15"/>
          </p:nvPr>
        </p:nvSpPr>
        <p:spPr/>
        <p:txBody>
          <a:bodyPr xmlns:a="http://schemas.openxmlformats.org/drawingml/2006/main"/>
          <a:lstStyle xmlns:a="http://schemas.openxmlformats.org/drawingml/2006/main"/>
          <a:p xmlns:a="http://schemas.openxmlformats.org/drawingml/2006/main">
            <a:r>
              <a:t>Speaker</a:t>
            </a:r>
          </a:p>
        </p:txBody>
      </p:sp>
      <p:sp>
        <p:nvSpPr>
          <p:cNvPr id="12" name="Espace réservé du numéro de diapositive 11">
            <a:extLst xmlns:a="http://schemas.openxmlformats.org/drawingml/2006/main">
              <a:ext uri="{FF2B5EF4-FFF2-40B4-BE49-F238E27FC236}">
                <a16:creationId xmlns:a16="http://schemas.microsoft.com/office/drawing/2014/main" id="{0AF49D93-C78A-F646-92B0-A7932C43D9EE}"/>
              </a:ext>
            </a:extLst>
          </p:cNvPr>
          <p:cNvSpPr>
            <a:spLocks xmlns:a="http://schemas.openxmlformats.org/drawingml/2006/main" noGrp="1"/>
          </p:cNvSpPr>
          <p:nvPr>
            <p:ph type="sldNum" idx="16"/>
          </p:nvPr>
        </p:nvSpPr>
        <p:spPr/>
        <p:txBody>
          <a:bodyPr xmlns:a="http://schemas.openxmlformats.org/drawingml/2006/main"/>
          <a:lstStyle xmlns:a="http://schemas.openxmlformats.org/drawingml/2006/main"/>
          <a:p xmlns:a="http://schemas.openxmlformats.org/drawingml/2006/main">
            <a:fld id="{E1E1CD7C-2161-7D43-862E-CE4C333CD873}" type="slidenum">
              <a:t>‹N°›</a:t>
            </a:fld>
          </a:p>
        </p:txBody>
      </p:sp>
    </p:spTree>
  </p:cSld>
</p:sldLayout>
</file>

<file path=ppt/slideLayouts/slideLayout9.xml><?xml version="1.0" encoding="utf-8"?>
<p:sldLayout xmlns:p="http://schemas.openxmlformats.org/presentationml/2006/main" preserve="1" userDrawn="1">
  <p:cSld name="Title_Content_Image2">
    <p:spTree>
      <p:nvGrpSpPr>
        <p:cNvPr id="1" name=""/>
        <p:cNvGrpSpPr/>
        <p:nvPr/>
      </p:nvGrpSpPr>
      <p:grpSpPr>
        <a:xfrm xmlns:a="http://schemas.openxmlformats.org/drawingml/2006/main"/>
      </p:grpSpPr>
      <p:sp>
        <p:nvSpPr>
          <p:cNvPr id="8" name="Espace réservé pour une image  7">
            <a:extLst xmlns:a="http://schemas.openxmlformats.org/drawingml/2006/main">
              <a:ext uri="{FF2B5EF4-FFF2-40B4-BE49-F238E27FC236}">
                <a16:creationId xmlns:a16="http://schemas.microsoft.com/office/drawing/2014/main" id="{70ED9B2D-C513-AF40-B94F-355C174B8FF0}"/>
              </a:ext>
            </a:extLst>
          </p:cNvPr>
          <p:cNvSpPr>
            <a:spLocks xmlns:a="http://schemas.openxmlformats.org/drawingml/2006/main" noGrp="1"/>
          </p:cNvSpPr>
          <p:nvPr>
            <p:ph type="pic" idx="13"/>
          </p:nvPr>
        </p:nvSpPr>
        <p:spPr>
          <a:xfrm xmlns:a="http://schemas.openxmlformats.org/drawingml/2006/main">
            <a:off x="904875" y="0"/>
            <a:ext cx="3144838" cy="5143500"/>
          </a:xfrm>
        </p:spPr>
        <p:txBody>
          <a:bodyPr xmlns:a="http://schemas.openxmlformats.org/drawingml/2006/main"/>
          <a:lstStyle xmlns:a="http://schemas.openxmlformats.org/drawingml/2006/main"/>
          <a:p xmlns:a="http://schemas.openxmlformats.org/drawingml/2006/main">
            <a:r>
              <a:t>Cliquez sur l'icône pour ajouter une image</a:t>
            </a:r>
          </a:p>
        </p:txBody>
      </p:sp>
      <p:sp>
        <p:nvSpPr>
          <p:cNvPr id="3" name="Content Placeholder 2">
            <a:extLst xmlns:a="http://schemas.openxmlformats.org/drawingml/2006/main">
              <a:ext uri="{FF2B5EF4-FFF2-40B4-BE49-F238E27FC236}">
                <a16:creationId xmlns:a16="http://schemas.microsoft.com/office/drawing/2014/main" id="{D22E1282-06A8-4C8E-B956-A239A204E879}"/>
              </a:ext>
            </a:extLst>
          </p:cNvPr>
          <p:cNvSpPr>
            <a:spLocks xmlns:a="http://schemas.openxmlformats.org/drawingml/2006/main" noGrp="1"/>
          </p:cNvSpPr>
          <p:nvPr>
            <p:ph idx="1"/>
          </p:nvPr>
        </p:nvSpPr>
        <p:spPr>
          <a:xfrm xmlns:a="http://schemas.openxmlformats.org/drawingml/2006/main">
            <a:off x="4049395" y="1563688"/>
            <a:ext cx="4581525" cy="3386772"/>
          </a:xfrm>
        </p:spPr>
        <p:txBody>
          <a:bodyPr xmlns:a="http://schemas.openxmlformats.org/drawingml/2006/main"/>
          <a:lstStyle xmlns:a="http://schemas.openxmlformats.org/drawingml/2006/main"/>
          <a:p xmlns:a="http://schemas.openxmlformats.org/drawingml/2006/main">
            <a:pPr>
              <a:buNone/>
            </a:pPr>
            <a:r>
              <a:t>Modifier les styles du texte du masque
Deuxième niveau
Troisième niveau
Quatrième niveau
Cinquième niveau</a:t>
            </a:r>
          </a:p>
        </p:txBody>
      </p:sp>
      <p:sp>
        <p:nvSpPr>
          <p:cNvPr id="7" name="Espace réservé de la date 6">
            <a:extLst xmlns:a="http://schemas.openxmlformats.org/drawingml/2006/main">
              <a:ext uri="{FF2B5EF4-FFF2-40B4-BE49-F238E27FC236}">
                <a16:creationId xmlns:a16="http://schemas.microsoft.com/office/drawing/2014/main" id="{A02A0D73-096C-844E-97C3-C4A4AF580FDE}"/>
              </a:ext>
            </a:extLst>
          </p:cNvPr>
          <p:cNvSpPr>
            <a:spLocks xmlns:a="http://schemas.openxmlformats.org/drawingml/2006/main" noGrp="1"/>
          </p:cNvSpPr>
          <p:nvPr>
            <p:ph type="dt" idx="14"/>
          </p:nvPr>
        </p:nvSpPr>
        <p:spPr/>
        <p:txBody>
          <a:bodyPr xmlns:a="http://schemas.openxmlformats.org/drawingml/2006/main"/>
          <a:lstStyle xmlns:a="http://schemas.openxmlformats.org/drawingml/2006/main"/>
          <a:p xmlns:a="http://schemas.openxmlformats.org/drawingml/2006/main">
            <a:r>
              <a:t>WELCOME TO EPFL</a:t>
            </a:r>
          </a:p>
        </p:txBody>
      </p:sp>
      <p:sp>
        <p:nvSpPr>
          <p:cNvPr id="9" name="Espace réservé du pied de page 8">
            <a:extLst xmlns:a="http://schemas.openxmlformats.org/drawingml/2006/main">
              <a:ext uri="{FF2B5EF4-FFF2-40B4-BE49-F238E27FC236}">
                <a16:creationId xmlns:a16="http://schemas.microsoft.com/office/drawing/2014/main" id="{CEF5AC5C-A2B6-2848-8C47-96A168E211DF}"/>
              </a:ext>
            </a:extLst>
          </p:cNvPr>
          <p:cNvSpPr>
            <a:spLocks xmlns:a="http://schemas.openxmlformats.org/drawingml/2006/main" noGrp="1"/>
          </p:cNvSpPr>
          <p:nvPr>
            <p:ph type="ftr" idx="15"/>
          </p:nvPr>
        </p:nvSpPr>
        <p:spPr/>
        <p:txBody>
          <a:bodyPr xmlns:a="http://schemas.openxmlformats.org/drawingml/2006/main"/>
          <a:lstStyle xmlns:a="http://schemas.openxmlformats.org/drawingml/2006/main"/>
          <a:p xmlns:a="http://schemas.openxmlformats.org/drawingml/2006/main">
            <a:r>
              <a:t>Speaker</a:t>
            </a:r>
          </a:p>
        </p:txBody>
      </p:sp>
      <p:sp>
        <p:nvSpPr>
          <p:cNvPr id="10" name="Espace réservé du numéro de diapositive 9">
            <a:extLst xmlns:a="http://schemas.openxmlformats.org/drawingml/2006/main">
              <a:ext uri="{FF2B5EF4-FFF2-40B4-BE49-F238E27FC236}">
                <a16:creationId xmlns:a16="http://schemas.microsoft.com/office/drawing/2014/main" id="{31B90E33-03D8-2143-B49F-B1474EE1A1F6}"/>
              </a:ext>
            </a:extLst>
          </p:cNvPr>
          <p:cNvSpPr>
            <a:spLocks xmlns:a="http://schemas.openxmlformats.org/drawingml/2006/main" noGrp="1"/>
          </p:cNvSpPr>
          <p:nvPr>
            <p:ph type="sldNum" idx="16"/>
          </p:nvPr>
        </p:nvSpPr>
        <p:spPr/>
        <p:txBody>
          <a:bodyPr xmlns:a="http://schemas.openxmlformats.org/drawingml/2006/main"/>
          <a:lstStyle xmlns:a="http://schemas.openxmlformats.org/drawingml/2006/main"/>
          <a:p xmlns:a="http://schemas.openxmlformats.org/drawingml/2006/main">
            <a:fld id="{E1E1CD7C-2161-7D43-862E-CE4C333CD873}" type="slidenum">
              <a:t>‹N°›</a:t>
            </a:fld>
          </a:p>
        </p:txBody>
      </p:sp>
      <p:sp>
        <p:nvSpPr>
          <p:cNvPr id="11" name="Titre 10">
            <a:extLst xmlns:a="http://schemas.openxmlformats.org/drawingml/2006/main">
              <a:ext uri="{FF2B5EF4-FFF2-40B4-BE49-F238E27FC236}">
                <a16:creationId xmlns:a16="http://schemas.microsoft.com/office/drawing/2014/main" id="{3FC7B5EC-066E-EC4A-B320-77DF64E6E0F0}"/>
              </a:ext>
            </a:extLst>
          </p:cNvPr>
          <p:cNvSpPr>
            <a:spLocks xmlns:a="http://schemas.openxmlformats.org/drawingml/2006/main" noGrp="1"/>
          </p:cNvSpPr>
          <p:nvPr>
            <p:ph type="title" idx="0"/>
          </p:nvPr>
        </p:nvSpPr>
        <p:spPr>
          <a:xfrm xmlns:a="http://schemas.openxmlformats.org/drawingml/2006/main">
            <a:off x="904876" y="131032"/>
            <a:ext cx="3144520" cy="1072753"/>
          </a:xfrm>
        </p:spPr>
        <p:txBody>
          <a:bodyPr xmlns:a="http://schemas.openxmlformats.org/drawingml/2006/main"/>
          <a:lstStyle xmlns:a="http://schemas.openxmlformats.org/drawingml/2006/main"/>
          <a:p xmlns:a="http://schemas.openxmlformats.org/drawingml/2006/main">
            <a:r>
              <a:t>Modifiez le style du titre</a:t>
            </a:r>
          </a:p>
        </p:txBody>
      </p:sp>
    </p:spTree>
  </p:cSld>
</p:sldLayout>
</file>

<file path=ppt/slideLayouts/slideLayout10.xml><?xml version="1.0" encoding="utf-8"?>
<p:sldLayout xmlns:p="http://schemas.openxmlformats.org/presentationml/2006/main" preserve="1" userDrawn="1">
  <p:cSld name="Title_Content_Image4">
    <p:spTree>
      <p:nvGrpSpPr>
        <p:cNvPr id="1" name=""/>
        <p:cNvGrpSpPr/>
        <p:nvPr/>
      </p:nvGrpSpPr>
      <p:grpSpPr>
        <a:xfrm xmlns:a="http://schemas.openxmlformats.org/drawingml/2006/main"/>
      </p:grpSpPr>
      <p:sp>
        <p:nvSpPr>
          <p:cNvPr id="8" name="Espace réservé pour une image  7">
            <a:extLst xmlns:a="http://schemas.openxmlformats.org/drawingml/2006/main">
              <a:ext uri="{FF2B5EF4-FFF2-40B4-BE49-F238E27FC236}">
                <a16:creationId xmlns:a16="http://schemas.microsoft.com/office/drawing/2014/main" id="{70ED9B2D-C513-AF40-B94F-355C174B8FF0}"/>
              </a:ext>
            </a:extLst>
          </p:cNvPr>
          <p:cNvSpPr>
            <a:spLocks xmlns:a="http://schemas.openxmlformats.org/drawingml/2006/main" noGrp="1"/>
          </p:cNvSpPr>
          <p:nvPr>
            <p:ph type="pic" idx="13"/>
          </p:nvPr>
        </p:nvSpPr>
        <p:spPr>
          <a:xfrm xmlns:a="http://schemas.openxmlformats.org/drawingml/2006/main">
            <a:off x="904875" y="1563688"/>
            <a:ext cx="3144838" cy="3579812"/>
          </a:xfrm>
        </p:spPr>
        <p:txBody>
          <a:bodyPr xmlns:a="http://schemas.openxmlformats.org/drawingml/2006/main"/>
          <a:lstStyle xmlns:a="http://schemas.openxmlformats.org/drawingml/2006/main"/>
          <a:p xmlns:a="http://schemas.openxmlformats.org/drawingml/2006/main">
            <a:r>
              <a:t>Cliquez sur l'icône pour ajouter une image</a:t>
            </a:r>
          </a:p>
        </p:txBody>
      </p:sp>
      <p:sp>
        <p:nvSpPr>
          <p:cNvPr id="3" name="Content Placeholder 2">
            <a:extLst xmlns:a="http://schemas.openxmlformats.org/drawingml/2006/main">
              <a:ext uri="{FF2B5EF4-FFF2-40B4-BE49-F238E27FC236}">
                <a16:creationId xmlns:a16="http://schemas.microsoft.com/office/drawing/2014/main" id="{9076E03D-6DA1-43E5-B17B-DA5BC73C1ECE}"/>
              </a:ext>
            </a:extLst>
          </p:cNvPr>
          <p:cNvSpPr>
            <a:spLocks xmlns:a="http://schemas.openxmlformats.org/drawingml/2006/main" noGrp="1"/>
          </p:cNvSpPr>
          <p:nvPr>
            <p:ph idx="1"/>
          </p:nvPr>
        </p:nvSpPr>
        <p:spPr>
          <a:xfrm xmlns:a="http://schemas.openxmlformats.org/drawingml/2006/main">
            <a:off x="4049395" y="1563688"/>
            <a:ext cx="4581525" cy="3386772"/>
          </a:xfrm>
        </p:spPr>
        <p:txBody>
          <a:bodyPr xmlns:a="http://schemas.openxmlformats.org/drawingml/2006/main"/>
          <a:lstStyle xmlns:a="http://schemas.openxmlformats.org/drawingml/2006/main"/>
          <a:p xmlns:a="http://schemas.openxmlformats.org/drawingml/2006/main">
            <a:pPr>
              <a:buNone/>
            </a:pPr>
            <a:r>
              <a:t>Modifier les styles du texte du masque
Deuxième niveau
Troisième niveau
Quatrième niveau
Cinquième niveau</a:t>
            </a:r>
          </a:p>
        </p:txBody>
      </p:sp>
      <p:sp>
        <p:nvSpPr>
          <p:cNvPr id="7" name="Titre 6">
            <a:extLst xmlns:a="http://schemas.openxmlformats.org/drawingml/2006/main">
              <a:ext uri="{FF2B5EF4-FFF2-40B4-BE49-F238E27FC236}">
                <a16:creationId xmlns:a16="http://schemas.microsoft.com/office/drawing/2014/main" id="{C026A30B-6F8E-1445-88F0-A5FB77E124E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Modifiez le style du titre</a:t>
            </a:r>
          </a:p>
        </p:txBody>
      </p:sp>
      <p:sp>
        <p:nvSpPr>
          <p:cNvPr id="9" name="Espace réservé de la date 8">
            <a:extLst xmlns:a="http://schemas.openxmlformats.org/drawingml/2006/main">
              <a:ext uri="{FF2B5EF4-FFF2-40B4-BE49-F238E27FC236}">
                <a16:creationId xmlns:a16="http://schemas.microsoft.com/office/drawing/2014/main" id="{826567D5-4A83-9E48-B441-CCB2A72BA6D1}"/>
              </a:ext>
            </a:extLst>
          </p:cNvPr>
          <p:cNvSpPr>
            <a:spLocks xmlns:a="http://schemas.openxmlformats.org/drawingml/2006/main" noGrp="1"/>
          </p:cNvSpPr>
          <p:nvPr>
            <p:ph type="dt" idx="14"/>
          </p:nvPr>
        </p:nvSpPr>
        <p:spPr/>
        <p:txBody>
          <a:bodyPr xmlns:a="http://schemas.openxmlformats.org/drawingml/2006/main"/>
          <a:lstStyle xmlns:a="http://schemas.openxmlformats.org/drawingml/2006/main"/>
          <a:p xmlns:a="http://schemas.openxmlformats.org/drawingml/2006/main">
            <a:r>
              <a:t>WELCOME TO EPFL</a:t>
            </a:r>
          </a:p>
        </p:txBody>
      </p:sp>
      <p:sp>
        <p:nvSpPr>
          <p:cNvPr id="10" name="Espace réservé du pied de page 9">
            <a:extLst xmlns:a="http://schemas.openxmlformats.org/drawingml/2006/main">
              <a:ext uri="{FF2B5EF4-FFF2-40B4-BE49-F238E27FC236}">
                <a16:creationId xmlns:a16="http://schemas.microsoft.com/office/drawing/2014/main" id="{C830A539-93F1-2541-B9F0-330893BD5190}"/>
              </a:ext>
            </a:extLst>
          </p:cNvPr>
          <p:cNvSpPr>
            <a:spLocks xmlns:a="http://schemas.openxmlformats.org/drawingml/2006/main" noGrp="1"/>
          </p:cNvSpPr>
          <p:nvPr>
            <p:ph type="ftr" idx="15"/>
          </p:nvPr>
        </p:nvSpPr>
        <p:spPr/>
        <p:txBody>
          <a:bodyPr xmlns:a="http://schemas.openxmlformats.org/drawingml/2006/main"/>
          <a:lstStyle xmlns:a="http://schemas.openxmlformats.org/drawingml/2006/main"/>
          <a:p xmlns:a="http://schemas.openxmlformats.org/drawingml/2006/main">
            <a:r>
              <a:t>Speaker</a:t>
            </a:r>
          </a:p>
        </p:txBody>
      </p:sp>
      <p:sp>
        <p:nvSpPr>
          <p:cNvPr id="11" name="Espace réservé du numéro de diapositive 10">
            <a:extLst xmlns:a="http://schemas.openxmlformats.org/drawingml/2006/main">
              <a:ext uri="{FF2B5EF4-FFF2-40B4-BE49-F238E27FC236}">
                <a16:creationId xmlns:a16="http://schemas.microsoft.com/office/drawing/2014/main" id="{82F21D18-8706-7E4D-8FBE-C1E2584541D1}"/>
              </a:ext>
            </a:extLst>
          </p:cNvPr>
          <p:cNvSpPr>
            <a:spLocks xmlns:a="http://schemas.openxmlformats.org/drawingml/2006/main" noGrp="1"/>
          </p:cNvSpPr>
          <p:nvPr>
            <p:ph type="sldNum" idx="16"/>
          </p:nvPr>
        </p:nvSpPr>
        <p:spPr/>
        <p:txBody>
          <a:bodyPr xmlns:a="http://schemas.openxmlformats.org/drawingml/2006/main"/>
          <a:lstStyle xmlns:a="http://schemas.openxmlformats.org/drawingml/2006/main"/>
          <a:p xmlns:a="http://schemas.openxmlformats.org/drawingml/2006/main">
            <a:fld id="{E1E1CD7C-2161-7D43-862E-CE4C333CD873}" type="slidenum">
              <a:t>‹N°›</a:t>
            </a:fld>
          </a:p>
        </p:txBody>
      </p:sp>
    </p:spTree>
  </p:cSld>
</p:sldLayout>
</file>

<file path=ppt/slideLayouts/slideLayout11.xml><?xml version="1.0" encoding="utf-8"?>
<p:sldLayout xmlns:p="http://schemas.openxmlformats.org/presentationml/2006/main" preserve="1" userDrawn="1">
  <p:cSld name="title_2_content">
    <p:spTree>
      <p:nvGrpSpPr>
        <p:cNvPr id="1" name=""/>
        <p:cNvGrpSpPr/>
        <p:nvPr/>
      </p:nvGrpSpPr>
      <p:grpSpPr>
        <a:xfrm xmlns:a="http://schemas.openxmlformats.org/drawingml/2006/main"/>
      </p:grpSpPr>
      <p:sp>
        <p:nvSpPr>
          <p:cNvPr id="3" name="Content Placeholder 2">
            <a:extLst xmlns:a="http://schemas.openxmlformats.org/drawingml/2006/main">
              <a:ext uri="{FF2B5EF4-FFF2-40B4-BE49-F238E27FC236}">
                <a16:creationId xmlns:a16="http://schemas.microsoft.com/office/drawing/2014/main" id="{1080C9C1-742D-4684-9BA4-C6D638BD1D11}"/>
              </a:ext>
            </a:extLst>
          </p:cNvPr>
          <p:cNvSpPr>
            <a:spLocks xmlns:a="http://schemas.openxmlformats.org/drawingml/2006/main" noGrp="1"/>
          </p:cNvSpPr>
          <p:nvPr>
            <p:ph idx="1"/>
          </p:nvPr>
        </p:nvSpPr>
        <p:spPr>
          <a:xfrm xmlns:a="http://schemas.openxmlformats.org/drawingml/2006/main">
            <a:off x="904875" y="1563688"/>
            <a:ext cx="3671466" cy="3263504"/>
          </a:xfrm>
        </p:spPr>
        <p:txBody>
          <a:bodyPr xmlns:a="http://schemas.openxmlformats.org/drawingml/2006/main"/>
          <a:lstStyle xmlns:a="http://schemas.openxmlformats.org/drawingml/2006/main"/>
          <a:p xmlns:a="http://schemas.openxmlformats.org/drawingml/2006/main">
            <a:pPr>
              <a:buNone/>
            </a:pPr>
            <a:r>
              <a:t>Modifier les styles du texte du masque
Deuxième niveau
Troisième niveau
Quatrième niveau
Cinquième niveau</a:t>
            </a:r>
          </a:p>
        </p:txBody>
      </p:sp>
      <p:sp>
        <p:nvSpPr>
          <p:cNvPr id="4" name="Content Placeholder 3">
            <a:extLst xmlns:a="http://schemas.openxmlformats.org/drawingml/2006/main">
              <a:ext uri="{FF2B5EF4-FFF2-40B4-BE49-F238E27FC236}">
                <a16:creationId xmlns:a16="http://schemas.microsoft.com/office/drawing/2014/main" id="{D85AB8B9-C0E6-4DFB-9C63-A84E8313E626}"/>
              </a:ext>
            </a:extLst>
          </p:cNvPr>
          <p:cNvSpPr>
            <a:spLocks xmlns:a="http://schemas.openxmlformats.org/drawingml/2006/main" noGrp="1"/>
          </p:cNvSpPr>
          <p:nvPr>
            <p:ph idx="2"/>
          </p:nvPr>
        </p:nvSpPr>
        <p:spPr>
          <a:xfrm xmlns:a="http://schemas.openxmlformats.org/drawingml/2006/main">
            <a:off x="4959772" y="1563688"/>
            <a:ext cx="3671466" cy="3263504"/>
          </a:xfrm>
        </p:spPr>
        <p:txBody>
          <a:bodyPr xmlns:a="http://schemas.openxmlformats.org/drawingml/2006/main"/>
          <a:lstStyle xmlns:a="http://schemas.openxmlformats.org/drawingml/2006/main"/>
          <a:p xmlns:a="http://schemas.openxmlformats.org/drawingml/2006/main">
            <a:pPr>
              <a:buNone/>
            </a:pPr>
            <a:r>
              <a:t>Modifier les styles du texte du masque
Deuxième niveau
Troisième niveau
Quatrième niveau
Cinquième niveau</a:t>
            </a:r>
          </a:p>
        </p:txBody>
      </p:sp>
      <p:sp>
        <p:nvSpPr>
          <p:cNvPr id="8" name="Titre 7">
            <a:extLst xmlns:a="http://schemas.openxmlformats.org/drawingml/2006/main">
              <a:ext uri="{FF2B5EF4-FFF2-40B4-BE49-F238E27FC236}">
                <a16:creationId xmlns:a16="http://schemas.microsoft.com/office/drawing/2014/main" id="{6897D737-724C-984A-82E1-2A2DBD5F624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Modifiez le style du titre</a:t>
            </a:r>
          </a:p>
        </p:txBody>
      </p:sp>
      <p:sp>
        <p:nvSpPr>
          <p:cNvPr id="9" name="Espace réservé de la date 8">
            <a:extLst xmlns:a="http://schemas.openxmlformats.org/drawingml/2006/main">
              <a:ext uri="{FF2B5EF4-FFF2-40B4-BE49-F238E27FC236}">
                <a16:creationId xmlns:a16="http://schemas.microsoft.com/office/drawing/2014/main" id="{E34C2B73-67B7-BB4C-AE0F-7D16D8DDD2B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r>
              <a:t>WELCOME TO EPFL</a:t>
            </a:r>
          </a:p>
        </p:txBody>
      </p:sp>
      <p:sp>
        <p:nvSpPr>
          <p:cNvPr id="10" name="Espace réservé du pied de page 9">
            <a:extLst xmlns:a="http://schemas.openxmlformats.org/drawingml/2006/main">
              <a:ext uri="{FF2B5EF4-FFF2-40B4-BE49-F238E27FC236}">
                <a16:creationId xmlns:a16="http://schemas.microsoft.com/office/drawing/2014/main" id="{C9FF6AA9-AC16-D748-B815-56221BFFFB9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Speaker</a:t>
            </a:r>
          </a:p>
        </p:txBody>
      </p:sp>
      <p:sp>
        <p:nvSpPr>
          <p:cNvPr id="11" name="Espace réservé du numéro de diapositive 10">
            <a:extLst xmlns:a="http://schemas.openxmlformats.org/drawingml/2006/main">
              <a:ext uri="{FF2B5EF4-FFF2-40B4-BE49-F238E27FC236}">
                <a16:creationId xmlns:a16="http://schemas.microsoft.com/office/drawing/2014/main" id="{DD59D891-3F23-D04C-AB43-6FA4220AFE8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E1E1CD7C-2161-7D43-862E-CE4C333CD873}" type="slidenum">
              <a:t>‹N°›</a:t>
            </a:fld>
          </a:p>
        </p:txBody>
      </p:sp>
    </p:spTree>
  </p:cSld>
</p:sldLayout>
</file>

<file path=ppt/slideLayouts/slideLayout12.xml><?xml version="1.0" encoding="utf-8"?>
<p:sldLayout xmlns:p="http://schemas.openxmlformats.org/presentationml/2006/main" preserve="1" userDrawn="1">
  <p:cSld name="Title_Only">
    <p:spTree>
      <p:nvGrpSpPr>
        <p:cNvPr id="1" name=""/>
        <p:cNvGrpSpPr/>
        <p:nvPr/>
      </p:nvGrpSpPr>
      <p:grpSpPr>
        <a:xfrm xmlns:a="http://schemas.openxmlformats.org/drawingml/2006/main"/>
      </p:grpSpPr>
      <p:sp>
        <p:nvSpPr>
          <p:cNvPr id="6" name="Titre 5">
            <a:extLst xmlns:a="http://schemas.openxmlformats.org/drawingml/2006/main">
              <a:ext uri="{FF2B5EF4-FFF2-40B4-BE49-F238E27FC236}">
                <a16:creationId xmlns:a16="http://schemas.microsoft.com/office/drawing/2014/main" id="{9BFFD8D9-6AAA-B44F-8BD5-98D7A6546A6C}"/>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Modifiez le style du titre</a:t>
            </a:r>
          </a:p>
        </p:txBody>
      </p:sp>
      <p:sp>
        <p:nvSpPr>
          <p:cNvPr id="7" name="Espace réservé de la date 6">
            <a:extLst xmlns:a="http://schemas.openxmlformats.org/drawingml/2006/main">
              <a:ext uri="{FF2B5EF4-FFF2-40B4-BE49-F238E27FC236}">
                <a16:creationId xmlns:a16="http://schemas.microsoft.com/office/drawing/2014/main" id="{084C64CE-C88F-2044-AD84-19F588F1890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r>
              <a:t>WELCOME TO EPFL</a:t>
            </a:r>
          </a:p>
        </p:txBody>
      </p:sp>
      <p:sp>
        <p:nvSpPr>
          <p:cNvPr id="8" name="Espace réservé du pied de page 7">
            <a:extLst xmlns:a="http://schemas.openxmlformats.org/drawingml/2006/main">
              <a:ext uri="{FF2B5EF4-FFF2-40B4-BE49-F238E27FC236}">
                <a16:creationId xmlns:a16="http://schemas.microsoft.com/office/drawing/2014/main" id="{A948AF20-C2DF-3542-BB6A-8354A981732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Speaker</a:t>
            </a:r>
          </a:p>
        </p:txBody>
      </p:sp>
      <p:sp>
        <p:nvSpPr>
          <p:cNvPr id="9" name="Espace réservé du numéro de diapositive 8">
            <a:extLst xmlns:a="http://schemas.openxmlformats.org/drawingml/2006/main">
              <a:ext uri="{FF2B5EF4-FFF2-40B4-BE49-F238E27FC236}">
                <a16:creationId xmlns:a16="http://schemas.microsoft.com/office/drawing/2014/main" id="{71083942-1443-BC45-9F95-32C82A8DCDE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E1E1CD7C-2161-7D43-862E-CE4C333CD873}" type="slidenum">
              <a:t>‹N°›</a:t>
            </a:fld>
          </a:p>
        </p:txBody>
      </p:sp>
    </p:spTree>
  </p:cSld>
</p:sldLayout>
</file>

<file path=ppt/slideLayouts/slideLayout13.xml><?xml version="1.0" encoding="utf-8"?>
<p:sldLayout xmlns:p="http://schemas.openxmlformats.org/presentationml/2006/main" preserve="1" userDrawn="1">
  <p:cSld name="Image_Title">
    <p:spTree>
      <p:nvGrpSpPr>
        <p:cNvPr id="1" name=""/>
        <p:cNvGrpSpPr/>
        <p:nvPr/>
      </p:nvGrpSpPr>
      <p:grpSpPr>
        <a:xfrm xmlns:a="http://schemas.openxmlformats.org/drawingml/2006/main"/>
      </p:grpSpPr>
      <p:sp>
        <p:nvSpPr>
          <p:cNvPr id="7" name="Espace réservé pour une image  6">
            <a:extLst xmlns:a="http://schemas.openxmlformats.org/drawingml/2006/main">
              <a:ext uri="{FF2B5EF4-FFF2-40B4-BE49-F238E27FC236}">
                <a16:creationId xmlns:a16="http://schemas.microsoft.com/office/drawing/2014/main" id="{625DAC6D-23F0-6941-BE81-E7A79CA3AFFD}"/>
              </a:ext>
            </a:extLst>
          </p:cNvPr>
          <p:cNvSpPr>
            <a:spLocks xmlns:a="http://schemas.openxmlformats.org/drawingml/2006/main" noGrp="1"/>
          </p:cNvSpPr>
          <p:nvPr>
            <p:ph type="pic" idx="13"/>
          </p:nvPr>
        </p:nvSpPr>
        <p:spPr>
          <a:xfrm xmlns:a="http://schemas.openxmlformats.org/drawingml/2006/main">
            <a:off x="904875" y="0"/>
            <a:ext cx="7726363" cy="5143500"/>
          </a:xfrm>
        </p:spPr>
        <p:txBody>
          <a:bodyPr xmlns:a="http://schemas.openxmlformats.org/drawingml/2006/main"/>
          <a:lstStyle xmlns:a="http://schemas.openxmlformats.org/drawingml/2006/main"/>
          <a:p xmlns:a="http://schemas.openxmlformats.org/drawingml/2006/main">
            <a:r>
              <a:t>Cliquez sur l'icône pour ajouter une image</a:t>
            </a:r>
          </a:p>
        </p:txBody>
      </p:sp>
      <p:sp>
        <p:nvSpPr>
          <p:cNvPr id="2" name="Title 1">
            <a:extLst xmlns:a="http://schemas.openxmlformats.org/drawingml/2006/main">
              <a:ext uri="{FF2B5EF4-FFF2-40B4-BE49-F238E27FC236}">
                <a16:creationId xmlns:a16="http://schemas.microsoft.com/office/drawing/2014/main" id="{7B1AEDCD-171B-4BAA-A442-F2D5AE3A5E7C}"/>
              </a:ext>
            </a:extLst>
          </p:cNvPr>
          <p:cNvSpPr>
            <a:spLocks xmlns:a="http://schemas.openxmlformats.org/drawingml/2006/main" noGrp="1"/>
          </p:cNvSpPr>
          <p:nvPr>
            <p:ph type="title" idx="0"/>
          </p:nvPr>
        </p:nvSpPr>
        <p:spPr>
          <a:xfrm xmlns:a="http://schemas.openxmlformats.org/drawingml/2006/main">
            <a:off x="6405563" y="2571750"/>
            <a:ext cx="2738437" cy="2111375"/>
          </a:xfrm>
          <a:prstGeom xmlns:a="http://schemas.openxmlformats.org/drawingml/2006/main" prst="rect">
            <a:avLst/>
          </a:prstGeom>
          <a:solidFill xmlns:a="http://schemas.openxmlformats.org/drawingml/2006/main">
            <a:schemeClr val="accent2"/>
          </a:solidFill>
        </p:spPr>
        <p:txBody>
          <a:bodyPr xmlns:a="http://schemas.openxmlformats.org/drawingml/2006/main" anchor="ctr"/>
          <a:lstStyle xmlns:a="http://schemas.openxmlformats.org/drawingml/2006/main">
            <a:lvl1pPr>
              <a:buNone/>
              <a:defRPr>
                <a:solidFill>
                  <a:schemeClr val="bg1"/>
                </a:solidFill>
              </a:defRPr>
            </a:lvl1pPr>
          </a:lstStyle>
          <a:p xmlns:a="http://schemas.openxmlformats.org/drawingml/2006/main">
            <a:r>
              <a:t>Modifiez le style du titre</a:t>
            </a:r>
          </a:p>
        </p:txBody>
      </p:sp>
      <p:sp>
        <p:nvSpPr>
          <p:cNvPr id="3" name="Espace réservé de la date 2">
            <a:extLst xmlns:a="http://schemas.openxmlformats.org/drawingml/2006/main">
              <a:ext uri="{FF2B5EF4-FFF2-40B4-BE49-F238E27FC236}">
                <a16:creationId xmlns:a16="http://schemas.microsoft.com/office/drawing/2014/main" id="{60E5EA1C-63CE-2C4F-B9F4-39FDBC14B9A3}"/>
              </a:ext>
            </a:extLst>
          </p:cNvPr>
          <p:cNvSpPr>
            <a:spLocks xmlns:a="http://schemas.openxmlformats.org/drawingml/2006/main" noGrp="1"/>
          </p:cNvSpPr>
          <p:nvPr>
            <p:ph type="dt" idx="14"/>
          </p:nvPr>
        </p:nvSpPr>
        <p:spPr/>
        <p:txBody>
          <a:bodyPr xmlns:a="http://schemas.openxmlformats.org/drawingml/2006/main"/>
          <a:lstStyle xmlns:a="http://schemas.openxmlformats.org/drawingml/2006/main"/>
          <a:p xmlns:a="http://schemas.openxmlformats.org/drawingml/2006/main">
            <a:r>
              <a:t>WELCOME TO EPFL</a:t>
            </a:r>
          </a:p>
        </p:txBody>
      </p:sp>
      <p:sp>
        <p:nvSpPr>
          <p:cNvPr id="4" name="Espace réservé du pied de page 3">
            <a:extLst xmlns:a="http://schemas.openxmlformats.org/drawingml/2006/main">
              <a:ext uri="{FF2B5EF4-FFF2-40B4-BE49-F238E27FC236}">
                <a16:creationId xmlns:a16="http://schemas.microsoft.com/office/drawing/2014/main" id="{8E7A5892-F23D-BD48-84D1-FD279BA16865}"/>
              </a:ext>
            </a:extLst>
          </p:cNvPr>
          <p:cNvSpPr>
            <a:spLocks xmlns:a="http://schemas.openxmlformats.org/drawingml/2006/main" noGrp="1"/>
          </p:cNvSpPr>
          <p:nvPr>
            <p:ph type="ftr" idx="15"/>
          </p:nvPr>
        </p:nvSpPr>
        <p:spPr/>
        <p:txBody>
          <a:bodyPr xmlns:a="http://schemas.openxmlformats.org/drawingml/2006/main"/>
          <a:lstStyle xmlns:a="http://schemas.openxmlformats.org/drawingml/2006/main"/>
          <a:p xmlns:a="http://schemas.openxmlformats.org/drawingml/2006/main">
            <a:r>
              <a:t>Speaker</a:t>
            </a:r>
          </a:p>
        </p:txBody>
      </p:sp>
      <p:sp>
        <p:nvSpPr>
          <p:cNvPr id="5" name="Espace réservé du numéro de diapositive 4">
            <a:extLst xmlns:a="http://schemas.openxmlformats.org/drawingml/2006/main">
              <a:ext uri="{FF2B5EF4-FFF2-40B4-BE49-F238E27FC236}">
                <a16:creationId xmlns:a16="http://schemas.microsoft.com/office/drawing/2014/main" id="{6C516D46-C7BB-2141-A4EE-18D1756414F6}"/>
              </a:ext>
            </a:extLst>
          </p:cNvPr>
          <p:cNvSpPr>
            <a:spLocks xmlns:a="http://schemas.openxmlformats.org/drawingml/2006/main" noGrp="1"/>
          </p:cNvSpPr>
          <p:nvPr>
            <p:ph type="sldNum" idx="16"/>
          </p:nvPr>
        </p:nvSpPr>
        <p:spPr/>
        <p:txBody>
          <a:bodyPr xmlns:a="http://schemas.openxmlformats.org/drawingml/2006/main"/>
          <a:lstStyle xmlns:a="http://schemas.openxmlformats.org/drawingml/2006/main"/>
          <a:p xmlns:a="http://schemas.openxmlformats.org/drawingml/2006/main">
            <a:fld id="{E1E1CD7C-2161-7D43-862E-CE4C333CD873}" type="slidenum">
              <a:t>‹N°›</a:t>
            </a:fld>
          </a:p>
        </p:txBody>
      </p:sp>
    </p:spTree>
  </p:cSld>
</p:sldLayout>
</file>

<file path=ppt/slideLayouts/slideLayout14.xml><?xml version="1.0" encoding="utf-8"?>
<p:sldLayout xmlns:p="http://schemas.openxmlformats.org/presentationml/2006/main" preserve="1" userDrawn="1">
  <p:cSld name="Image">
    <p:spTree>
      <p:nvGrpSpPr>
        <p:cNvPr id="1" name=""/>
        <p:cNvGrpSpPr/>
        <p:nvPr/>
      </p:nvGrpSpPr>
      <p:grpSpPr>
        <a:xfrm xmlns:a="http://schemas.openxmlformats.org/drawingml/2006/main"/>
      </p:grpSpPr>
      <p:sp>
        <p:nvSpPr>
          <p:cNvPr id="7" name="Espace réservé pour une image  6">
            <a:extLst xmlns:a="http://schemas.openxmlformats.org/drawingml/2006/main">
              <a:ext uri="{FF2B5EF4-FFF2-40B4-BE49-F238E27FC236}">
                <a16:creationId xmlns:a16="http://schemas.microsoft.com/office/drawing/2014/main" id="{625DAC6D-23F0-6941-BE81-E7A79CA3AFFD}"/>
              </a:ext>
            </a:extLst>
          </p:cNvPr>
          <p:cNvSpPr>
            <a:spLocks xmlns:a="http://schemas.openxmlformats.org/drawingml/2006/main" noGrp="1"/>
          </p:cNvSpPr>
          <p:nvPr>
            <p:ph type="pic" idx="13"/>
          </p:nvPr>
        </p:nvSpPr>
        <p:spPr>
          <a:xfrm xmlns:a="http://schemas.openxmlformats.org/drawingml/2006/main">
            <a:off x="904875" y="0"/>
            <a:ext cx="7726363" cy="5143500"/>
          </a:xfrm>
        </p:spPr>
        <p:txBody>
          <a:bodyPr xmlns:a="http://schemas.openxmlformats.org/drawingml/2006/main"/>
          <a:lstStyle xmlns:a="http://schemas.openxmlformats.org/drawingml/2006/main"/>
          <a:p xmlns:a="http://schemas.openxmlformats.org/drawingml/2006/main">
            <a:r>
              <a:t>Cliquez sur l'icône pour ajouter une image</a:t>
            </a:r>
          </a:p>
        </p:txBody>
      </p:sp>
      <p:sp>
        <p:nvSpPr>
          <p:cNvPr id="5" name="Espace réservé de la date 4">
            <a:extLst xmlns:a="http://schemas.openxmlformats.org/drawingml/2006/main">
              <a:ext uri="{FF2B5EF4-FFF2-40B4-BE49-F238E27FC236}">
                <a16:creationId xmlns:a16="http://schemas.microsoft.com/office/drawing/2014/main" id="{91E6F4EB-CC02-6E4D-9146-CE4A7A789A95}"/>
              </a:ext>
            </a:extLst>
          </p:cNvPr>
          <p:cNvSpPr>
            <a:spLocks xmlns:a="http://schemas.openxmlformats.org/drawingml/2006/main" noGrp="1"/>
          </p:cNvSpPr>
          <p:nvPr>
            <p:ph type="dt" idx="14"/>
          </p:nvPr>
        </p:nvSpPr>
        <p:spPr/>
        <p:txBody>
          <a:bodyPr xmlns:a="http://schemas.openxmlformats.org/drawingml/2006/main"/>
          <a:lstStyle xmlns:a="http://schemas.openxmlformats.org/drawingml/2006/main"/>
          <a:p xmlns:a="http://schemas.openxmlformats.org/drawingml/2006/main">
            <a:r>
              <a:t>WELCOME TO EPFL</a:t>
            </a:r>
          </a:p>
        </p:txBody>
      </p:sp>
      <p:sp>
        <p:nvSpPr>
          <p:cNvPr id="6" name="Espace réservé du pied de page 5">
            <a:extLst xmlns:a="http://schemas.openxmlformats.org/drawingml/2006/main">
              <a:ext uri="{FF2B5EF4-FFF2-40B4-BE49-F238E27FC236}">
                <a16:creationId xmlns:a16="http://schemas.microsoft.com/office/drawing/2014/main" id="{DED4AA2C-29B3-CA42-B7C3-C932911A7586}"/>
              </a:ext>
            </a:extLst>
          </p:cNvPr>
          <p:cNvSpPr>
            <a:spLocks xmlns:a="http://schemas.openxmlformats.org/drawingml/2006/main" noGrp="1"/>
          </p:cNvSpPr>
          <p:nvPr>
            <p:ph type="ftr" idx="15"/>
          </p:nvPr>
        </p:nvSpPr>
        <p:spPr/>
        <p:txBody>
          <a:bodyPr xmlns:a="http://schemas.openxmlformats.org/drawingml/2006/main"/>
          <a:lstStyle xmlns:a="http://schemas.openxmlformats.org/drawingml/2006/main"/>
          <a:p xmlns:a="http://schemas.openxmlformats.org/drawingml/2006/main">
            <a:r>
              <a:t>Speaker</a:t>
            </a:r>
          </a:p>
        </p:txBody>
      </p:sp>
      <p:sp>
        <p:nvSpPr>
          <p:cNvPr id="8" name="Espace réservé du numéro de diapositive 7">
            <a:extLst xmlns:a="http://schemas.openxmlformats.org/drawingml/2006/main">
              <a:ext uri="{FF2B5EF4-FFF2-40B4-BE49-F238E27FC236}">
                <a16:creationId xmlns:a16="http://schemas.microsoft.com/office/drawing/2014/main" id="{0FE7A1E3-AAEC-7641-B6C5-8D9FC0B6A211}"/>
              </a:ext>
            </a:extLst>
          </p:cNvPr>
          <p:cNvSpPr>
            <a:spLocks xmlns:a="http://schemas.openxmlformats.org/drawingml/2006/main" noGrp="1"/>
          </p:cNvSpPr>
          <p:nvPr>
            <p:ph type="sldNum" idx="16"/>
          </p:nvPr>
        </p:nvSpPr>
        <p:spPr/>
        <p:txBody>
          <a:bodyPr xmlns:a="http://schemas.openxmlformats.org/drawingml/2006/main"/>
          <a:lstStyle xmlns:a="http://schemas.openxmlformats.org/drawingml/2006/main"/>
          <a:p xmlns:a="http://schemas.openxmlformats.org/drawingml/2006/main">
            <a:fld id="{E1E1CD7C-2161-7D43-862E-CE4C333CD873}" type="slidenum">
              <a:t>‹N°›</a:t>
            </a:fld>
          </a:p>
        </p:txBody>
      </p:sp>
    </p:spTree>
  </p:cSld>
</p:sldLayout>
</file>

<file path=ppt/slideLayouts/slideLayout15.xml><?xml version="1.0" encoding="utf-8"?>
<p:sldLayout xmlns:p="http://schemas.openxmlformats.org/presentationml/2006/main" preserve="1" userDrawn="1">
  <p:cSld name="Title_Content_ImageBelow">
    <p:spTree>
      <p:nvGrpSpPr>
        <p:cNvPr id="1" name=""/>
        <p:cNvGrpSpPr/>
        <p:nvPr/>
      </p:nvGrpSpPr>
      <p:grpSpPr>
        <a:xfrm xmlns:a="http://schemas.openxmlformats.org/drawingml/2006/main"/>
      </p:grpSpPr>
      <p:sp>
        <p:nvSpPr>
          <p:cNvPr id="7" name="Espace réservé pour une image  6">
            <a:extLst xmlns:a="http://schemas.openxmlformats.org/drawingml/2006/main">
              <a:ext uri="{FF2B5EF4-FFF2-40B4-BE49-F238E27FC236}">
                <a16:creationId xmlns:a16="http://schemas.microsoft.com/office/drawing/2014/main" id="{625DAC6D-23F0-6941-BE81-E7A79CA3AFFD}"/>
              </a:ext>
            </a:extLst>
          </p:cNvPr>
          <p:cNvSpPr>
            <a:spLocks xmlns:a="http://schemas.openxmlformats.org/drawingml/2006/main" noGrp="1"/>
          </p:cNvSpPr>
          <p:nvPr>
            <p:ph type="pic" idx="13"/>
          </p:nvPr>
        </p:nvSpPr>
        <p:spPr>
          <a:xfrm xmlns:a="http://schemas.openxmlformats.org/drawingml/2006/main">
            <a:off x="904875" y="3114674"/>
            <a:ext cx="8239125" cy="2028825"/>
          </a:xfrm>
        </p:spPr>
        <p:txBody>
          <a:bodyPr xmlns:a="http://schemas.openxmlformats.org/drawingml/2006/main"/>
          <a:lstStyle xmlns:a="http://schemas.openxmlformats.org/drawingml/2006/main"/>
          <a:p xmlns:a="http://schemas.openxmlformats.org/drawingml/2006/main">
            <a:r>
              <a:t>Cliquez sur l'icône pour ajouter une image</a:t>
            </a:r>
          </a:p>
        </p:txBody>
      </p:sp>
      <p:sp>
        <p:nvSpPr>
          <p:cNvPr id="4" name="Espace réservé du texte 3">
            <a:extLst xmlns:a="http://schemas.openxmlformats.org/drawingml/2006/main">
              <a:ext uri="{FF2B5EF4-FFF2-40B4-BE49-F238E27FC236}">
                <a16:creationId xmlns:a16="http://schemas.microsoft.com/office/drawing/2014/main" id="{0A71897F-4064-4D4C-ACEA-22AFD7A805D7}"/>
              </a:ext>
            </a:extLst>
          </p:cNvPr>
          <p:cNvSpPr>
            <a:spLocks xmlns:a="http://schemas.openxmlformats.org/drawingml/2006/main" noGrp="1"/>
          </p:cNvSpPr>
          <p:nvPr>
            <p:ph type="body" idx="17"/>
          </p:nvPr>
        </p:nvSpPr>
        <p:spPr>
          <a:xfrm xmlns:a="http://schemas.openxmlformats.org/drawingml/2006/main">
            <a:off x="904875" y="1563688"/>
            <a:ext cx="7646988" cy="1436687"/>
          </a:xfrm>
        </p:spPr>
        <p:txBody>
          <a:bodyPr xmlns:a="http://schemas.openxmlformats.org/drawingml/2006/main"/>
          <a:lstStyle xmlns:a="http://schemas.openxmlformats.org/drawingml/2006/main">
            <a:lvl4pPr>
              <a:buNone/>
              <a:defRPr>
                <a:latin typeface="Arial"/>
                <a:ea typeface="Arial"/>
                <a:cs typeface="Arial"/>
              </a:defRPr>
            </a:lvl4pPr>
            <a:lvl5pPr>
              <a:buNone/>
              <a:defRPr>
                <a:latin typeface="Arial"/>
                <a:ea typeface="Arial"/>
                <a:cs typeface="Arial"/>
              </a:defRPr>
            </a:lvl5pPr>
          </a:lstStyle>
          <a:p xmlns:a="http://schemas.openxmlformats.org/drawingml/2006/main">
            <a:pPr>
              <a:buNone/>
            </a:pPr>
            <a:r>
              <a:t>Modifier les styles du texte du masque
Deuxième niveau
Troisième niveau
Quatrième niveau
Cinquième niveau</a:t>
            </a:r>
          </a:p>
        </p:txBody>
      </p:sp>
      <p:sp>
        <p:nvSpPr>
          <p:cNvPr id="6" name="Espace réservé de la date 5">
            <a:extLst xmlns:a="http://schemas.openxmlformats.org/drawingml/2006/main">
              <a:ext uri="{FF2B5EF4-FFF2-40B4-BE49-F238E27FC236}">
                <a16:creationId xmlns:a16="http://schemas.microsoft.com/office/drawing/2014/main" id="{37CF3032-2465-874C-B786-95E1B594A5AB}"/>
              </a:ext>
            </a:extLst>
          </p:cNvPr>
          <p:cNvSpPr>
            <a:spLocks xmlns:a="http://schemas.openxmlformats.org/drawingml/2006/main" noGrp="1"/>
          </p:cNvSpPr>
          <p:nvPr>
            <p:ph type="dt" idx="18"/>
          </p:nvPr>
        </p:nvSpPr>
        <p:spPr/>
        <p:txBody>
          <a:bodyPr xmlns:a="http://schemas.openxmlformats.org/drawingml/2006/main"/>
          <a:lstStyle xmlns:a="http://schemas.openxmlformats.org/drawingml/2006/main"/>
          <a:p xmlns:a="http://schemas.openxmlformats.org/drawingml/2006/main">
            <a:r>
              <a:t>WELCOME TO EPFL</a:t>
            </a:r>
          </a:p>
        </p:txBody>
      </p:sp>
      <p:sp>
        <p:nvSpPr>
          <p:cNvPr id="8" name="Espace réservé du pied de page 7">
            <a:extLst xmlns:a="http://schemas.openxmlformats.org/drawingml/2006/main">
              <a:ext uri="{FF2B5EF4-FFF2-40B4-BE49-F238E27FC236}">
                <a16:creationId xmlns:a16="http://schemas.microsoft.com/office/drawing/2014/main" id="{AAF73E2A-22D7-894A-9267-185CB4E4B13E}"/>
              </a:ext>
            </a:extLst>
          </p:cNvPr>
          <p:cNvSpPr>
            <a:spLocks xmlns:a="http://schemas.openxmlformats.org/drawingml/2006/main" noGrp="1"/>
          </p:cNvSpPr>
          <p:nvPr>
            <p:ph type="ftr" idx="19"/>
          </p:nvPr>
        </p:nvSpPr>
        <p:spPr/>
        <p:txBody>
          <a:bodyPr xmlns:a="http://schemas.openxmlformats.org/drawingml/2006/main"/>
          <a:lstStyle xmlns:a="http://schemas.openxmlformats.org/drawingml/2006/main"/>
          <a:p xmlns:a="http://schemas.openxmlformats.org/drawingml/2006/main">
            <a:r>
              <a:t>Speaker</a:t>
            </a:r>
          </a:p>
        </p:txBody>
      </p:sp>
      <p:sp>
        <p:nvSpPr>
          <p:cNvPr id="9" name="Espace réservé du numéro de diapositive 8">
            <a:extLst xmlns:a="http://schemas.openxmlformats.org/drawingml/2006/main">
              <a:ext uri="{FF2B5EF4-FFF2-40B4-BE49-F238E27FC236}">
                <a16:creationId xmlns:a16="http://schemas.microsoft.com/office/drawing/2014/main" id="{39D9777C-EC90-1141-9E30-4B4F669C2BE1}"/>
              </a:ext>
            </a:extLst>
          </p:cNvPr>
          <p:cNvSpPr>
            <a:spLocks xmlns:a="http://schemas.openxmlformats.org/drawingml/2006/main" noGrp="1"/>
          </p:cNvSpPr>
          <p:nvPr>
            <p:ph type="sldNum" idx="20"/>
          </p:nvPr>
        </p:nvSpPr>
        <p:spPr/>
        <p:txBody>
          <a:bodyPr xmlns:a="http://schemas.openxmlformats.org/drawingml/2006/main"/>
          <a:lstStyle xmlns:a="http://schemas.openxmlformats.org/drawingml/2006/main"/>
          <a:p xmlns:a="http://schemas.openxmlformats.org/drawingml/2006/main">
            <a:fld id="{E1E1CD7C-2161-7D43-862E-CE4C333CD873}" type="slidenum">
              <a:t>‹N°›</a:t>
            </a:fld>
          </a:p>
        </p:txBody>
      </p:sp>
      <p:sp>
        <p:nvSpPr>
          <p:cNvPr id="11" name="Titre 10">
            <a:extLst xmlns:a="http://schemas.openxmlformats.org/drawingml/2006/main">
              <a:ext uri="{FF2B5EF4-FFF2-40B4-BE49-F238E27FC236}">
                <a16:creationId xmlns:a16="http://schemas.microsoft.com/office/drawing/2014/main" id="{0E011164-727C-4C46-B34E-7729CB350E3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Modifiez le style du titre</a:t>
            </a:r>
          </a:p>
        </p:txBody>
      </p:sp>
    </p:spTree>
  </p:cSld>
</p:sldLayout>
</file>

<file path=ppt/slideLayouts/slideLayout16.xml><?xml version="1.0" encoding="utf-8"?>
<p:sldLayout xmlns:p="http://schemas.openxmlformats.org/presentationml/2006/main" type="blank" preserve="1">
  <p:cSld name="Empty">
    <p:spTree>
      <p:nvGrpSpPr>
        <p:cNvPr id="1" name=""/>
        <p:cNvGrpSpPr/>
        <p:nvPr/>
      </p:nvGrpSpPr>
      <p:grpSpPr>
        <a:xfrm xmlns:a="http://schemas.openxmlformats.org/drawingml/2006/main"/>
      </p:grpSpPr>
      <p:sp>
        <p:nvSpPr>
          <p:cNvPr id="5" name="Espace réservé de la date 4">
            <a:extLst xmlns:a="http://schemas.openxmlformats.org/drawingml/2006/main">
              <a:ext uri="{FF2B5EF4-FFF2-40B4-BE49-F238E27FC236}">
                <a16:creationId xmlns:a16="http://schemas.microsoft.com/office/drawing/2014/main" id="{4D8101AB-8ACE-BB4C-9D61-B4AABFE1159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r>
              <a:t>WELCOME TO EPFL</a:t>
            </a:r>
          </a:p>
        </p:txBody>
      </p:sp>
      <p:sp>
        <p:nvSpPr>
          <p:cNvPr id="6" name="Espace réservé du pied de page 5">
            <a:extLst xmlns:a="http://schemas.openxmlformats.org/drawingml/2006/main">
              <a:ext uri="{FF2B5EF4-FFF2-40B4-BE49-F238E27FC236}">
                <a16:creationId xmlns:a16="http://schemas.microsoft.com/office/drawing/2014/main" id="{5F9CFC1D-0B2A-0A4E-9C0D-682EECA5570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Speaker</a:t>
            </a:r>
          </a:p>
        </p:txBody>
      </p:sp>
      <p:sp>
        <p:nvSpPr>
          <p:cNvPr id="7" name="Espace réservé du numéro de diapositive 6">
            <a:extLst xmlns:a="http://schemas.openxmlformats.org/drawingml/2006/main">
              <a:ext uri="{FF2B5EF4-FFF2-40B4-BE49-F238E27FC236}">
                <a16:creationId xmlns:a16="http://schemas.microsoft.com/office/drawing/2014/main" id="{56622065-A833-2340-B0FD-ACB065A3B8C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E1E1CD7C-2161-7D43-862E-CE4C333CD873}" type="slidenum">
              <a:t>‹N°›</a:t>
            </a:fld>
          </a:p>
        </p:txBody>
      </p:sp>
    </p:spTree>
  </p:cSld>
</p:sldLayout>
</file>

<file path=ppt/slideLayouts/slideLayout17.xml><?xml version="1.0" encoding="utf-8"?>
<p:sldLayout xmlns:p="http://schemas.openxmlformats.org/presentationml/2006/main" userDrawn="1">
  <p:cSld name="1_Titre seul">
    <p:spTree>
      <p:nvGrpSpPr>
        <p:cNvPr id="1" name=""/>
        <p:cNvGrpSpPr/>
        <p:nvPr/>
      </p:nvGrpSpPr>
      <p:grpSpPr>
        <a:xfrm xmlns:a="http://schemas.openxmlformats.org/drawingml/2006/main"/>
      </p:grpSpPr>
      <p:sp>
        <p:nvSpPr>
          <p:cNvPr id="7" name="Espace réservé pour une image  6">
            <a:extLst xmlns:a="http://schemas.openxmlformats.org/drawingml/2006/main">
              <a:ext uri="{FF2B5EF4-FFF2-40B4-BE49-F238E27FC236}">
                <a16:creationId xmlns:a16="http://schemas.microsoft.com/office/drawing/2014/main" id="{625DAC6D-23F0-6941-BE81-E7A79CA3AFFD}"/>
              </a:ext>
            </a:extLst>
          </p:cNvPr>
          <p:cNvSpPr>
            <a:spLocks xmlns:a="http://schemas.openxmlformats.org/drawingml/2006/main" noGrp="1"/>
          </p:cNvSpPr>
          <p:nvPr>
            <p:ph type="pic" idx="13"/>
          </p:nvPr>
        </p:nvSpPr>
        <p:spPr>
          <a:xfrm xmlns:a="http://schemas.openxmlformats.org/drawingml/2006/main">
            <a:off x="904876" y="0"/>
            <a:ext cx="8239125" cy="5143500"/>
          </a:xfrm>
        </p:spPr>
        <p:txBody>
          <a:bodyPr xmlns:a="http://schemas.openxmlformats.org/drawingml/2006/main"/>
          <a:lstStyle xmlns:a="http://schemas.openxmlformats.org/drawingml/2006/main"/>
          <a:p xmlns:a="http://schemas.openxmlformats.org/drawingml/2006/main">
            <a:r>
              <a:t>Cliquez sur l'icône pour ajouter une image</a:t>
            </a:r>
          </a:p>
        </p:txBody>
      </p:sp>
      <p:sp>
        <p:nvSpPr>
          <p:cNvPr id="2" name="Title 1">
            <a:extLst xmlns:a="http://schemas.openxmlformats.org/drawingml/2006/main">
              <a:ext uri="{FF2B5EF4-FFF2-40B4-BE49-F238E27FC236}">
                <a16:creationId xmlns:a16="http://schemas.microsoft.com/office/drawing/2014/main" id="{0BD30102-3F9D-4942-B3E2-26316F971FC0}"/>
              </a:ext>
            </a:extLst>
          </p:cNvPr>
          <p:cNvSpPr>
            <a:spLocks xmlns:a="http://schemas.openxmlformats.org/drawingml/2006/main" noGrp="1"/>
          </p:cNvSpPr>
          <p:nvPr>
            <p:ph type="title" idx="0"/>
          </p:nvPr>
        </p:nvSpPr>
        <p:spPr>
          <a:xfrm xmlns:a="http://schemas.openxmlformats.org/drawingml/2006/main">
            <a:off x="6405564" y="2571751"/>
            <a:ext cx="2738437" cy="2111375"/>
          </a:xfrm>
          <a:prstGeom xmlns:a="http://schemas.openxmlformats.org/drawingml/2006/main" prst="rect">
            <a:avLst/>
          </a:prstGeom>
          <a:solidFill xmlns:a="http://schemas.openxmlformats.org/drawingml/2006/main">
            <a:schemeClr val="accent2"/>
          </a:solidFill>
        </p:spPr>
        <p:txBody>
          <a:bodyPr xmlns:a="http://schemas.openxmlformats.org/drawingml/2006/main" anchor="ctr"/>
          <a:lstStyle xmlns:a="http://schemas.openxmlformats.org/drawingml/2006/main">
            <a:lvl1pPr>
              <a:buNone/>
              <a:defRPr>
                <a:solidFill>
                  <a:schemeClr val="bg1"/>
                </a:solidFill>
              </a:defRPr>
            </a:lvl1pPr>
          </a:lstStyle>
          <a:p xmlns:a="http://schemas.openxmlformats.org/drawingml/2006/main">
            <a:r>
              <a:t>Modifiez le style du titre</a:t>
            </a:r>
          </a:p>
        </p:txBody>
      </p:sp>
      <p:sp>
        <p:nvSpPr>
          <p:cNvPr id="3" name="Espace réservé de la date 2">
            <a:extLst xmlns:a="http://schemas.openxmlformats.org/drawingml/2006/main">
              <a:ext uri="{FF2B5EF4-FFF2-40B4-BE49-F238E27FC236}">
                <a16:creationId xmlns:a16="http://schemas.microsoft.com/office/drawing/2014/main" id="{60E5EA1C-63CE-2C4F-B9F4-39FDBC14B9A3}"/>
              </a:ext>
            </a:extLst>
          </p:cNvPr>
          <p:cNvSpPr>
            <a:spLocks xmlns:a="http://schemas.openxmlformats.org/drawingml/2006/main" noGrp="1"/>
          </p:cNvSpPr>
          <p:nvPr>
            <p:ph type="dt" idx="14"/>
          </p:nvPr>
        </p:nvSpPr>
        <p:spPr/>
        <p:txBody>
          <a:bodyPr xmlns:a="http://schemas.openxmlformats.org/drawingml/2006/main"/>
          <a:lstStyle xmlns:a="http://schemas.openxmlformats.org/drawingml/2006/main"/>
          <a:p xmlns:a="http://schemas.openxmlformats.org/drawingml/2006/main">
            <a:r>
              <a:t>WELCOME TO EPFL</a:t>
            </a:r>
          </a:p>
        </p:txBody>
      </p:sp>
      <p:sp>
        <p:nvSpPr>
          <p:cNvPr id="4" name="Espace réservé du pied de page 3">
            <a:extLst xmlns:a="http://schemas.openxmlformats.org/drawingml/2006/main">
              <a:ext uri="{FF2B5EF4-FFF2-40B4-BE49-F238E27FC236}">
                <a16:creationId xmlns:a16="http://schemas.microsoft.com/office/drawing/2014/main" id="{8E7A5892-F23D-BD48-84D1-FD279BA16865}"/>
              </a:ext>
            </a:extLst>
          </p:cNvPr>
          <p:cNvSpPr>
            <a:spLocks xmlns:a="http://schemas.openxmlformats.org/drawingml/2006/main" noGrp="1"/>
          </p:cNvSpPr>
          <p:nvPr>
            <p:ph type="ftr" idx="15"/>
          </p:nvPr>
        </p:nvSpPr>
        <p:spPr/>
        <p:txBody>
          <a:bodyPr xmlns:a="http://schemas.openxmlformats.org/drawingml/2006/main"/>
          <a:lstStyle xmlns:a="http://schemas.openxmlformats.org/drawingml/2006/main"/>
          <a:p xmlns:a="http://schemas.openxmlformats.org/drawingml/2006/main">
            <a:r>
              <a:t>Speaker</a:t>
            </a:r>
          </a:p>
        </p:txBody>
      </p:sp>
      <p:sp>
        <p:nvSpPr>
          <p:cNvPr id="5" name="Espace réservé du numéro de diapositive 4">
            <a:extLst xmlns:a="http://schemas.openxmlformats.org/drawingml/2006/main">
              <a:ext uri="{FF2B5EF4-FFF2-40B4-BE49-F238E27FC236}">
                <a16:creationId xmlns:a16="http://schemas.microsoft.com/office/drawing/2014/main" id="{6C516D46-C7BB-2141-A4EE-18D1756414F6}"/>
              </a:ext>
            </a:extLst>
          </p:cNvPr>
          <p:cNvSpPr>
            <a:spLocks xmlns:a="http://schemas.openxmlformats.org/drawingml/2006/main" noGrp="1"/>
          </p:cNvSpPr>
          <p:nvPr>
            <p:ph type="sldNum" idx="16"/>
          </p:nvPr>
        </p:nvSpPr>
        <p:spPr/>
        <p:txBody>
          <a:bodyPr xmlns:a="http://schemas.openxmlformats.org/drawingml/2006/main"/>
          <a:lstStyle xmlns:a="http://schemas.openxmlformats.org/drawingml/2006/main"/>
          <a:p xmlns:a="http://schemas.openxmlformats.org/drawingml/2006/main">
            <a:fld id="{E1E1CD7C-2161-7D43-862E-CE4C333CD873}" type="slidenum">
              <a:t>‹N°›</a:t>
            </a:fld>
          </a:p>
        </p:txBody>
      </p:sp>
    </p:spTree>
  </p:cSld>
</p:sldLayout>
</file>

<file path=ppt/slideMasters/_rels/slideMaster1.xml.rels>&#65279;<?xml version="1.0" encoding="utf-8"?><Relationships xmlns="http://schemas.openxmlformats.org/package/2006/relationships"><Relationship Type="http://schemas.openxmlformats.org/officeDocument/2006/relationships/image" Target="/ppt/media/image.png" Id="Rc9ac6b2841274d57" /><Relationship Type="http://schemas.openxmlformats.org/officeDocument/2006/relationships/theme" Target="/ppt/slideMasters/theme/theme2.xml" Id="R92ba1a5222d14882" /><Relationship Type="http://schemas.openxmlformats.org/officeDocument/2006/relationships/slideLayout" Target="/ppt/slideLayouts/slideLayout1.xml" Id="Rc3abe757f6604004" /><Relationship Type="http://schemas.openxmlformats.org/officeDocument/2006/relationships/slideLayout" Target="/ppt/slideLayouts/slideLayout2.xml" Id="Rb524a67333ea49ab" /><Relationship Type="http://schemas.openxmlformats.org/officeDocument/2006/relationships/slideLayout" Target="/ppt/slideLayouts/slideLayout3.xml" Id="Ree2c379ace8245d6" /><Relationship Type="http://schemas.openxmlformats.org/officeDocument/2006/relationships/slideLayout" Target="/ppt/slideLayouts/slideLayout4.xml" Id="R272d84e197d049d8" /><Relationship Type="http://schemas.openxmlformats.org/officeDocument/2006/relationships/slideLayout" Target="/ppt/slideLayouts/slideLayout5.xml" Id="R95a67ce21ed5490d" /><Relationship Type="http://schemas.openxmlformats.org/officeDocument/2006/relationships/slideLayout" Target="/ppt/slideLayouts/slideLayout6.xml" Id="R69a99a43f58c48db" /><Relationship Type="http://schemas.openxmlformats.org/officeDocument/2006/relationships/slideLayout" Target="/ppt/slideLayouts/slideLayout7.xml" Id="R6370fd6261434e5e" /><Relationship Type="http://schemas.openxmlformats.org/officeDocument/2006/relationships/slideLayout" Target="/ppt/slideLayouts/slideLayout8.xml" Id="R1f7607a8eaff4fa3" /><Relationship Type="http://schemas.openxmlformats.org/officeDocument/2006/relationships/slideLayout" Target="/ppt/slideLayouts/slideLayout9.xml" Id="R9b25f46de2d74a7f" /><Relationship Type="http://schemas.openxmlformats.org/officeDocument/2006/relationships/slideLayout" Target="/ppt/slideLayouts/slideLayout10.xml" Id="R399e1e80fdbf481e" /><Relationship Type="http://schemas.openxmlformats.org/officeDocument/2006/relationships/slideLayout" Target="/ppt/slideLayouts/slideLayout11.xml" Id="R5673b1dfe84347a7" /><Relationship Type="http://schemas.openxmlformats.org/officeDocument/2006/relationships/slideLayout" Target="/ppt/slideLayouts/slideLayout12.xml" Id="R724b56cdb3de45f9" /><Relationship Type="http://schemas.openxmlformats.org/officeDocument/2006/relationships/slideLayout" Target="/ppt/slideLayouts/slideLayout13.xml" Id="Re594e0a28f7443a9" /><Relationship Type="http://schemas.openxmlformats.org/officeDocument/2006/relationships/slideLayout" Target="/ppt/slideLayouts/slideLayout14.xml" Id="R5d65d6f8b37d4c50" /><Relationship Type="http://schemas.openxmlformats.org/officeDocument/2006/relationships/slideLayout" Target="/ppt/slideLayouts/slideLayout15.xml" Id="R3e4f04e2ad724e11" /><Relationship Type="http://schemas.openxmlformats.org/officeDocument/2006/relationships/slideLayout" Target="/ppt/slideLayouts/slideLayout16.xml" Id="R847b20a519c842af" /><Relationship Type="http://schemas.openxmlformats.org/officeDocument/2006/relationships/slideLayout" Target="/ppt/slideLayouts/slideLayout17.xml" Id="R5818ad6295cf44ce"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48FC63F4-1ECE-462F-B85C-1613EBAE4E81}"/>
              </a:ext>
            </a:extLst>
          </p:cNvPr>
          <p:cNvSpPr>
            <a:spLocks xmlns:a="http://schemas.openxmlformats.org/drawingml/2006/main" noGrp="1"/>
          </p:cNvSpPr>
          <p:nvPr>
            <p:ph type="title" idx="0"/>
          </p:nvPr>
        </p:nvSpPr>
        <p:spPr>
          <a:xfrm xmlns:a="http://schemas.openxmlformats.org/drawingml/2006/main">
            <a:off x="904875" y="179552"/>
            <a:ext cx="3667125" cy="1072753"/>
          </a:xfrm>
          <a:prstGeom xmlns:a="http://schemas.openxmlformats.org/drawingml/2006/main" prst="rect">
            <a:avLst/>
          </a:prstGeom>
        </p:spPr>
        <p:txBody>
          <a:bodyPr xmlns:a="http://schemas.openxmlformats.org/drawingml/2006/main" vert="horz" lIns="180000" tIns="0" rIns="72000" bIns="46800" anchor="t">
            <a:normAutofit/>
          </a:bodyPr>
          <a:lstStyle xmlns:a="http://schemas.openxmlformats.org/drawingml/2006/main"/>
          <a:p xmlns:a="http://schemas.openxmlformats.org/drawingml/2006/main">
            <a:r>
              <a:t>Modifiez le style du titre</a:t>
            </a:r>
          </a:p>
        </p:txBody>
      </p:sp>
      <p:sp>
        <p:nvSpPr>
          <p:cNvPr id="3" name="Text Placeholder 2">
            <a:extLst xmlns:a="http://schemas.openxmlformats.org/drawingml/2006/main">
              <a:ext uri="{FF2B5EF4-FFF2-40B4-BE49-F238E27FC236}">
                <a16:creationId xmlns:a16="http://schemas.microsoft.com/office/drawing/2014/main" id="{D669D1D5-E727-4E98-897B-F7E95305E1B4}"/>
              </a:ext>
            </a:extLst>
          </p:cNvPr>
          <p:cNvSpPr>
            <a:spLocks xmlns:a="http://schemas.openxmlformats.org/drawingml/2006/main" noGrp="1"/>
          </p:cNvSpPr>
          <p:nvPr>
            <p:ph type="body" idx="1"/>
          </p:nvPr>
        </p:nvSpPr>
        <p:spPr>
          <a:xfrm xmlns:a="http://schemas.openxmlformats.org/drawingml/2006/main">
            <a:off x="904875" y="1563688"/>
            <a:ext cx="7726363" cy="3386772"/>
          </a:xfrm>
          <a:prstGeom xmlns:a="http://schemas.openxmlformats.org/drawingml/2006/main" prst="rect">
            <a:avLst/>
          </a:prstGeom>
        </p:spPr>
        <p:txBody>
          <a:bodyPr xmlns:a="http://schemas.openxmlformats.org/drawingml/2006/main" vert="horz" lIns="180000" tIns="45720" rIns="91440" bIns="45720">
            <a:normAutofit/>
          </a:bodyPr>
          <a:lstStyle xmlns:a="http://schemas.openxmlformats.org/drawingml/2006/main"/>
          <a:p xmlns:a="http://schemas.openxmlformats.org/drawingml/2006/main">
            <a:pPr>
              <a:buNone/>
            </a:pPr>
            <a:r>
              <a:t>Modifier les styles du </a:t>
            </a:r>
            <a:r>
              <a:t>texte</a:t>
            </a:r>
            <a:r>
              <a:t> du masque</a:t>
            </a:r>
          </a:p>
          <a:p xmlns:a="http://schemas.openxmlformats.org/drawingml/2006/main">
            <a:pPr>
              <a:buNone/>
            </a:pPr>
            <a:r>
              <a:t>Deuxième</a:t>
            </a:r>
            <a:r>
              <a:t> </a:t>
            </a:r>
            <a:r>
              <a:t>niveau</a:t>
            </a:r>
          </a:p>
          <a:p xmlns:a="http://schemas.openxmlformats.org/drawingml/2006/main">
            <a:pPr>
              <a:buNone/>
            </a:pPr>
            <a:r>
              <a:t>Troisième</a:t>
            </a:r>
            <a:r>
              <a:t> </a:t>
            </a:r>
            <a:r>
              <a:t>niveau</a:t>
            </a:r>
            <a:br/>
            <a:r>
              <a:t>Quatrième</a:t>
            </a:r>
            <a:r>
              <a:t> </a:t>
            </a:r>
            <a:r>
              <a:t>niveau</a:t>
            </a:r>
            <a:br/>
            <a:r>
              <a:t>Cinquième</a:t>
            </a:r>
            <a:r>
              <a:t> </a:t>
            </a:r>
            <a:r>
              <a:t>niveau</a:t>
            </a:r>
          </a:p>
        </p:txBody>
      </p:sp>
      <p:sp>
        <p:nvSpPr>
          <p:cNvPr id="4" name="Date Placeholder 3">
            <a:extLst xmlns:a="http://schemas.openxmlformats.org/drawingml/2006/main">
              <a:ext uri="{FF2B5EF4-FFF2-40B4-BE49-F238E27FC236}">
                <a16:creationId xmlns:a16="http://schemas.microsoft.com/office/drawing/2014/main" id="{2E30AB5E-3742-486A-A74A-93140826B4C3}"/>
              </a:ext>
            </a:extLst>
          </p:cNvPr>
          <p:cNvSpPr>
            <a:spLocks xmlns:a="http://schemas.openxmlformats.org/drawingml/2006/main" noGrp="1"/>
          </p:cNvSpPr>
          <p:nvPr>
            <p:ph type="dt" idx="2"/>
          </p:nvPr>
        </p:nvSpPr>
        <p:spPr>
          <a:xfrm xmlns:a="http://schemas.openxmlformats.org/drawingml/2006/main" rot="16200000">
            <a:off x="-1221413" y="2778452"/>
            <a:ext cx="3341052" cy="911524"/>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700">
                <a:solidFill>
                  <a:schemeClr val="accent1"/>
                </a:solidFill>
                <a:latin typeface="Arial"/>
                <a:ea typeface="Arial"/>
                <a:cs typeface="Arial"/>
              </a:defRPr>
            </a:lvl1pPr>
          </a:lstStyle>
          <a:p xmlns:a="http://schemas.openxmlformats.org/drawingml/2006/main">
            <a:r>
              <a:t>WELCOME TO EPFL</a:t>
            </a:r>
          </a:p>
        </p:txBody>
      </p:sp>
      <p:sp>
        <p:nvSpPr>
          <p:cNvPr id="5" name="Footer Placeholder 4">
            <a:extLst xmlns:a="http://schemas.openxmlformats.org/drawingml/2006/main">
              <a:ext uri="{FF2B5EF4-FFF2-40B4-BE49-F238E27FC236}">
                <a16:creationId xmlns:a16="http://schemas.microsoft.com/office/drawing/2014/main" id="{1C2A31DC-F9B5-4A4F-85D1-79583C809C38}"/>
              </a:ext>
            </a:extLst>
          </p:cNvPr>
          <p:cNvSpPr>
            <a:spLocks xmlns:a="http://schemas.openxmlformats.org/drawingml/2006/main" noGrp="1"/>
          </p:cNvSpPr>
          <p:nvPr>
            <p:ph type="ftr" idx="3"/>
          </p:nvPr>
        </p:nvSpPr>
        <p:spPr>
          <a:xfrm xmlns:a="http://schemas.openxmlformats.org/drawingml/2006/main" rot="16200000">
            <a:off x="7115989" y="1874064"/>
            <a:ext cx="3543260" cy="512762"/>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700">
                <a:solidFill>
                  <a:schemeClr val="tx1"/>
                </a:solidFill>
                <a:latin typeface="Arial"/>
                <a:ea typeface="Arial"/>
                <a:cs typeface="Arial"/>
              </a:defRPr>
            </a:lvl1pPr>
          </a:lstStyle>
          <a:p xmlns:a="http://schemas.openxmlformats.org/drawingml/2006/main">
            <a:r>
              <a:t>Speaker</a:t>
            </a:r>
          </a:p>
        </p:txBody>
      </p:sp>
      <p:sp>
        <p:nvSpPr>
          <p:cNvPr id="6" name="Slide Number Placeholder 5">
            <a:extLst xmlns:a="http://schemas.openxmlformats.org/drawingml/2006/main">
              <a:ext uri="{FF2B5EF4-FFF2-40B4-BE49-F238E27FC236}">
                <a16:creationId xmlns:a16="http://schemas.microsoft.com/office/drawing/2014/main" id="{ECF05D08-A5CD-4A99-8FB6-40F608727D94}"/>
              </a:ext>
            </a:extLst>
          </p:cNvPr>
          <p:cNvSpPr>
            <a:spLocks xmlns:a="http://schemas.openxmlformats.org/drawingml/2006/main" noGrp="1"/>
          </p:cNvSpPr>
          <p:nvPr>
            <p:ph type="sldNum" idx="4"/>
          </p:nvPr>
        </p:nvSpPr>
        <p:spPr>
          <a:xfrm xmlns:a="http://schemas.openxmlformats.org/drawingml/2006/main">
            <a:off x="8631238" y="195263"/>
            <a:ext cx="512762" cy="163552"/>
          </a:xfrm>
          <a:prstGeom xmlns:a="http://schemas.openxmlformats.org/drawingml/2006/main" prst="rect">
            <a:avLst/>
          </a:prstGeom>
        </p:spPr>
        <p:txBody>
          <a:bodyPr xmlns:a="http://schemas.openxmlformats.org/drawingml/2006/main" vert="horz" lIns="90000" tIns="0" rIns="90000" bIns="0" anchor="t"/>
          <a:lstStyle xmlns:a="http://schemas.openxmlformats.org/drawingml/2006/main">
            <a:lvl1pPr algn="ctr">
              <a:buNone/>
              <a:defRPr sz="700" b="1">
                <a:solidFill>
                  <a:schemeClr val="tx1"/>
                </a:solidFill>
                <a:latin typeface="+mj-lt"/>
                <a:ea typeface="+mj-lt"/>
                <a:cs typeface="+mj-lt"/>
              </a:defRPr>
            </a:lvl1pPr>
          </a:lstStyle>
          <a:p xmlns:a="http://schemas.openxmlformats.org/drawingml/2006/main">
            <a:fld id="{E1E1CD7C-2161-7D43-862E-CE4C333CD873}" type="slidenum">
              <a:t>‹N°›</a:t>
            </a:fld>
          </a:p>
        </p:txBody>
      </p:sp>
      <p:pic>
        <p:nvPicPr>
          <p:cNvPr id="21" name="Image 12"/>
          <p:cNvPicPr>
            <a:picLocks xmlns:a="http://schemas.openxmlformats.org/drawingml/2006/main" noChangeAspect="1"/>
          </p:cNvPicPr>
          <p:nvPr/>
        </p:nvPicPr>
        <p:blipFill>
          <a:blip xmlns:r="http://schemas.openxmlformats.org/officeDocument/2006/relationships" xmlns:a="http://schemas.openxmlformats.org/drawingml/2006/main" r:embed="Rc9ac6b2841274d57"/>
          <a:stretch xmlns:a="http://schemas.openxmlformats.org/drawingml/2006/main">
            <a:fillRect l="0" t="0" r="0" b="0"/>
          </a:stretch>
        </p:blipFill>
        <p:spPr>
          <a:xfrm xmlns:a="http://schemas.openxmlformats.org/drawingml/2006/main">
            <a:off x="130273" y="132334"/>
            <a:ext cx="653952" cy="283022"/>
          </a:xfrm>
          <a:prstGeom xmlns:a="http://schemas.openxmlformats.org/drawingml/2006/main" prst="rect">
            <a:avLst/>
          </a:prstGeom>
        </p:spPr>
      </p:pic>
      <p:sp>
        <p:nvSpPr>
          <p:cNvPr id="14" name="Rectangle 13">
            <a:extLst xmlns:a="http://schemas.openxmlformats.org/drawingml/2006/main">
              <a:ext uri="{FF2B5EF4-FFF2-40B4-BE49-F238E27FC236}">
                <a16:creationId xmlns:a16="http://schemas.microsoft.com/office/drawing/2014/main" id="{75D7A1C0-94CD-D94F-A99F-21847E542637}"/>
              </a:ext>
            </a:extLst>
          </p:cNvPr>
          <p:cNvSpPr>
            <a:spLocks xmlns:a="http://schemas.openxmlformats.org/drawingml/2006/main" noGrp="1"/>
          </p:cNvSpPr>
          <p:nvPr/>
        </p:nvSpPr>
        <p:spPr>
          <a:xfrm xmlns:a="http://schemas.openxmlformats.org/drawingml/2006/main" rot="16200000">
            <a:off x="430003" y="4897709"/>
            <a:ext cx="45719" cy="59782"/>
          </a:xfrm>
          <a:prstGeom xmlns:a="http://schemas.openxmlformats.org/drawingml/2006/main" prst="rect">
            <a:avLst/>
          </a:pr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3abe757f6604004"/>
    <p:sldLayoutId xmlns:r="http://schemas.openxmlformats.org/officeDocument/2006/relationships" id="2147483650" r:id="Rb524a67333ea49ab"/>
    <p:sldLayoutId xmlns:r="http://schemas.openxmlformats.org/officeDocument/2006/relationships" id="2147483651" r:id="Ree2c379ace8245d6"/>
    <p:sldLayoutId xmlns:r="http://schemas.openxmlformats.org/officeDocument/2006/relationships" id="2147483652" r:id="R272d84e197d049d8"/>
    <p:sldLayoutId xmlns:r="http://schemas.openxmlformats.org/officeDocument/2006/relationships" id="2147483653" r:id="R95a67ce21ed5490d"/>
    <p:sldLayoutId xmlns:r="http://schemas.openxmlformats.org/officeDocument/2006/relationships" id="2147483654" r:id="R69a99a43f58c48db"/>
    <p:sldLayoutId xmlns:r="http://schemas.openxmlformats.org/officeDocument/2006/relationships" id="2147483655" r:id="R6370fd6261434e5e"/>
    <p:sldLayoutId xmlns:r="http://schemas.openxmlformats.org/officeDocument/2006/relationships" id="2147483656" r:id="R1f7607a8eaff4fa3"/>
    <p:sldLayoutId xmlns:r="http://schemas.openxmlformats.org/officeDocument/2006/relationships" id="2147483657" r:id="R9b25f46de2d74a7f"/>
    <p:sldLayoutId xmlns:r="http://schemas.openxmlformats.org/officeDocument/2006/relationships" id="2147483658" r:id="R399e1e80fdbf481e"/>
    <p:sldLayoutId xmlns:r="http://schemas.openxmlformats.org/officeDocument/2006/relationships" id="2147483659" r:id="R5673b1dfe84347a7"/>
    <p:sldLayoutId xmlns:r="http://schemas.openxmlformats.org/officeDocument/2006/relationships" id="2147483660" r:id="R724b56cdb3de45f9"/>
    <p:sldLayoutId xmlns:r="http://schemas.openxmlformats.org/officeDocument/2006/relationships" id="2147483661" r:id="Re594e0a28f7443a9"/>
    <p:sldLayoutId xmlns:r="http://schemas.openxmlformats.org/officeDocument/2006/relationships" id="2147483662" r:id="R5d65d6f8b37d4c50"/>
    <p:sldLayoutId xmlns:r="http://schemas.openxmlformats.org/officeDocument/2006/relationships" id="2147483663" r:id="R3e4f04e2ad724e11"/>
    <p:sldLayoutId xmlns:r="http://schemas.openxmlformats.org/officeDocument/2006/relationships" id="2147483664" r:id="R847b20a519c842af"/>
    <p:sldLayoutId xmlns:r="http://schemas.openxmlformats.org/officeDocument/2006/relationships" id="2147483665" r:id="R5818ad6295cf44ce"/>
  </p:sldLayoutIdLst>
  <p:hf hdr="0"/>
  <p:txStyles>
    <p:titleStyle>
      <a:lvl1pPr xmlns:a="http://schemas.openxmlformats.org/drawingml/2006/main" algn="l" defTabSz="685800">
        <a:lnSpc>
          <a:spcPct val="80000"/>
        </a:lnSpc>
        <a:spcBef>
          <a:spcPct val="0"/>
        </a:spcBef>
        <a:buNone/>
        <a:defRPr sz="3200" b="1" i="0" kern="1000" spc="-70" baseline="0">
          <a:solidFill>
            <a:schemeClr val="tx1"/>
          </a:solidFill>
          <a:latin typeface="Franklin Gothic Demi Cond"/>
          <a:ea typeface="Franklin Gothic Demi Cond"/>
          <a:cs typeface="Franklin Gothic Demi Cond"/>
        </a:defRPr>
      </a:lvl1pPr>
    </p:titleStyle>
    <p:bodyStyle>
      <a:lvl1pPr xmlns:a="http://schemas.openxmlformats.org/drawingml/2006/main" marL="171450" indent="-171450" algn="l" defTabSz="685800">
        <a:lnSpc>
          <a:spcPct val="90000"/>
        </a:lnSpc>
        <a:spcBef>
          <a:spcPts val="750"/>
        </a:spcBef>
        <a:buClr>
          <a:schemeClr val="accent1"/>
        </a:buClr>
        <a:buSzPct val="90000"/>
        <a:buFont typeface="Wingdings"/>
        <a:buChar char="§"/>
        <a:defRPr sz="1800" b="0" i="0" kern="1200">
          <a:solidFill>
            <a:schemeClr val="tx1"/>
          </a:solidFill>
          <a:latin typeface="Arial"/>
          <a:ea typeface="Arial"/>
          <a:cs typeface="Arial"/>
        </a:defRPr>
      </a:lvl1pPr>
      <a:lvl2pPr xmlns:a="http://schemas.openxmlformats.org/drawingml/2006/main" marL="514350" indent="-171450" algn="l" defTabSz="685800">
        <a:lnSpc>
          <a:spcPct val="90000"/>
        </a:lnSpc>
        <a:spcBef>
          <a:spcPts val="375"/>
        </a:spcBef>
        <a:buClr>
          <a:schemeClr val="accent1"/>
        </a:buClr>
        <a:buSzPct val="100000"/>
        <a:buFont typeface="Arial"/>
        <a:buChar char="•"/>
        <a:defRPr sz="1600" b="0" i="0" kern="1200">
          <a:solidFill>
            <a:schemeClr val="tx1"/>
          </a:solidFill>
          <a:latin typeface="Arial"/>
          <a:ea typeface="Arial"/>
          <a:cs typeface="Arial"/>
        </a:defRPr>
      </a:lvl2pPr>
      <a:lvl3pPr xmlns:a="http://schemas.openxmlformats.org/drawingml/2006/main" marL="857250" indent="-171450" algn="l" defTabSz="685800">
        <a:lnSpc>
          <a:spcPct val="90000"/>
        </a:lnSpc>
        <a:spcBef>
          <a:spcPts val="375"/>
        </a:spcBef>
        <a:buSzPct val="90000"/>
        <a:buFont typeface="Wingdings"/>
        <a:buChar char="§"/>
        <a:defRPr sz="1500" b="0" i="0" kern="1200">
          <a:solidFill>
            <a:schemeClr val="tx1"/>
          </a:solidFill>
          <a:latin typeface="Arial"/>
          <a:ea typeface="Arial"/>
          <a:cs typeface="Arial"/>
        </a:defRPr>
      </a:lvl3pPr>
      <a:lvl4pPr xmlns:a="http://schemas.openxmlformats.org/drawingml/2006/main" marL="1200150" indent="-171450" algn="l" defTabSz="685800">
        <a:lnSpc>
          <a:spcPct val="90000"/>
        </a:lnSpc>
        <a:spcBef>
          <a:spcPts val="375"/>
        </a:spcBef>
        <a:buFont typeface="Arial"/>
        <a:buChar char="•"/>
        <a:defRPr sz="1350" kern="1200">
          <a:solidFill>
            <a:schemeClr val="tx1"/>
          </a:solidFill>
          <a:latin typeface="+mn-lt"/>
          <a:ea typeface="+mn-lt"/>
          <a:cs typeface="+mn-lt"/>
        </a:defRPr>
      </a:lvl4pPr>
      <a:lvl5pPr xmlns:a="http://schemas.openxmlformats.org/drawingml/2006/main" marL="1543050" indent="-171450" algn="l" defTabSz="685800">
        <a:lnSpc>
          <a:spcPct val="90000"/>
        </a:lnSpc>
        <a:spcBef>
          <a:spcPts val="375"/>
        </a:spcBef>
        <a:buFont typeface="Arial"/>
        <a:buChar char="•"/>
        <a:defRPr sz="1350" kern="1200">
          <a:solidFill>
            <a:schemeClr val="tx1"/>
          </a:solidFill>
          <a:latin typeface="+mn-lt"/>
          <a:ea typeface="+mn-lt"/>
          <a:cs typeface="+mn-lt"/>
        </a:defRPr>
      </a:lvl5pPr>
      <a:lvl6pPr xmlns:a="http://schemas.openxmlformats.org/drawingml/2006/main" marL="1885950" indent="-171450" algn="l" defTabSz="685800">
        <a:lnSpc>
          <a:spcPct val="90000"/>
        </a:lnSpc>
        <a:spcBef>
          <a:spcPts val="375"/>
        </a:spcBef>
        <a:buFont typeface="Arial"/>
        <a:buChar char="•"/>
        <a:defRPr sz="1350" kern="1200">
          <a:solidFill>
            <a:schemeClr val="tx1"/>
          </a:solidFill>
          <a:latin typeface="+mn-lt"/>
          <a:ea typeface="+mn-lt"/>
          <a:cs typeface="+mn-lt"/>
        </a:defRPr>
      </a:lvl6pPr>
      <a:lvl7pPr xmlns:a="http://schemas.openxmlformats.org/drawingml/2006/main" marL="2228850" indent="-171450" algn="l" defTabSz="685800">
        <a:lnSpc>
          <a:spcPct val="90000"/>
        </a:lnSpc>
        <a:spcBef>
          <a:spcPts val="375"/>
        </a:spcBef>
        <a:buFont typeface="Arial"/>
        <a:buChar char="•"/>
        <a:defRPr sz="1350" kern="1200">
          <a:solidFill>
            <a:schemeClr val="tx1"/>
          </a:solidFill>
          <a:latin typeface="+mn-lt"/>
          <a:ea typeface="+mn-lt"/>
          <a:cs typeface="+mn-lt"/>
        </a:defRPr>
      </a:lvl7pPr>
      <a:lvl8pPr xmlns:a="http://schemas.openxmlformats.org/drawingml/2006/main" marL="2571750" indent="-171450" algn="l" defTabSz="685800">
        <a:lnSpc>
          <a:spcPct val="90000"/>
        </a:lnSpc>
        <a:spcBef>
          <a:spcPts val="375"/>
        </a:spcBef>
        <a:buFont typeface="Arial"/>
        <a:buChar char="•"/>
        <a:defRPr sz="1350" kern="1200">
          <a:solidFill>
            <a:schemeClr val="tx1"/>
          </a:solidFill>
          <a:latin typeface="+mn-lt"/>
          <a:ea typeface="+mn-lt"/>
          <a:cs typeface="+mn-lt"/>
        </a:defRPr>
      </a:lvl8pPr>
      <a:lvl9pPr xmlns:a="http://schemas.openxmlformats.org/drawingml/2006/main" marL="2914650" indent="-171450" algn="l" defTabSz="685800">
        <a:lnSpc>
          <a:spcPct val="90000"/>
        </a:lnSpc>
        <a:spcBef>
          <a:spcPts val="375"/>
        </a:spcBef>
        <a:buFont typeface="Arial"/>
        <a:buChar char="•"/>
        <a:defRPr sz="1350" kern="1200">
          <a:solidFill>
            <a:schemeClr val="tx1"/>
          </a:solidFill>
          <a:latin typeface="+mn-lt"/>
          <a:ea typeface="+mn-lt"/>
          <a:cs typeface="+mn-lt"/>
        </a:defRPr>
      </a:lvl9pPr>
    </p:bodyStyle>
    <p:otherStyle>
      <a:lvl1pPr xmlns:a="http://schemas.openxmlformats.org/drawingml/2006/main" marL="0" algn="l" defTabSz="685800">
        <a:buNone/>
        <a:defRPr sz="1350" kern="1200">
          <a:solidFill>
            <a:schemeClr val="tx1"/>
          </a:solidFill>
          <a:latin typeface="+mn-lt"/>
          <a:ea typeface="+mn-lt"/>
          <a:cs typeface="+mn-lt"/>
        </a:defRPr>
      </a:lvl1pPr>
      <a:lvl2pPr xmlns:a="http://schemas.openxmlformats.org/drawingml/2006/main" marL="342900" algn="l" defTabSz="685800">
        <a:buNone/>
        <a:defRPr sz="1350" kern="1200">
          <a:solidFill>
            <a:schemeClr val="tx1"/>
          </a:solidFill>
          <a:latin typeface="+mn-lt"/>
          <a:ea typeface="+mn-lt"/>
          <a:cs typeface="+mn-lt"/>
        </a:defRPr>
      </a:lvl2pPr>
      <a:lvl3pPr xmlns:a="http://schemas.openxmlformats.org/drawingml/2006/main" marL="685800" algn="l" defTabSz="685800">
        <a:buNone/>
        <a:defRPr sz="1350" kern="1200">
          <a:solidFill>
            <a:schemeClr val="tx1"/>
          </a:solidFill>
          <a:latin typeface="+mn-lt"/>
          <a:ea typeface="+mn-lt"/>
          <a:cs typeface="+mn-lt"/>
        </a:defRPr>
      </a:lvl3pPr>
      <a:lvl4pPr xmlns:a="http://schemas.openxmlformats.org/drawingml/2006/main" marL="1028700" algn="l" defTabSz="685800">
        <a:buNone/>
        <a:defRPr sz="1350" kern="1200">
          <a:solidFill>
            <a:schemeClr val="tx1"/>
          </a:solidFill>
          <a:latin typeface="+mn-lt"/>
          <a:ea typeface="+mn-lt"/>
          <a:cs typeface="+mn-lt"/>
        </a:defRPr>
      </a:lvl4pPr>
      <a:lvl5pPr xmlns:a="http://schemas.openxmlformats.org/drawingml/2006/main" marL="1371600" algn="l" defTabSz="685800">
        <a:buNone/>
        <a:defRPr sz="1350" kern="1200">
          <a:solidFill>
            <a:schemeClr val="tx1"/>
          </a:solidFill>
          <a:latin typeface="+mn-lt"/>
          <a:ea typeface="+mn-lt"/>
          <a:cs typeface="+mn-lt"/>
        </a:defRPr>
      </a:lvl5pPr>
      <a:lvl6pPr xmlns:a="http://schemas.openxmlformats.org/drawingml/2006/main" marL="1714500" algn="l" defTabSz="685800">
        <a:buNone/>
        <a:defRPr sz="1350" kern="1200">
          <a:solidFill>
            <a:schemeClr val="tx1"/>
          </a:solidFill>
          <a:latin typeface="+mn-lt"/>
          <a:ea typeface="+mn-lt"/>
          <a:cs typeface="+mn-lt"/>
        </a:defRPr>
      </a:lvl6pPr>
      <a:lvl7pPr xmlns:a="http://schemas.openxmlformats.org/drawingml/2006/main" marL="2057400" algn="l" defTabSz="685800">
        <a:buNone/>
        <a:defRPr sz="1350" kern="1200">
          <a:solidFill>
            <a:schemeClr val="tx1"/>
          </a:solidFill>
          <a:latin typeface="+mn-lt"/>
          <a:ea typeface="+mn-lt"/>
          <a:cs typeface="+mn-lt"/>
        </a:defRPr>
      </a:lvl7pPr>
      <a:lvl8pPr xmlns:a="http://schemas.openxmlformats.org/drawingml/2006/main" marL="2400300" algn="l" defTabSz="685800">
        <a:buNone/>
        <a:defRPr sz="1350" kern="1200">
          <a:solidFill>
            <a:schemeClr val="tx1"/>
          </a:solidFill>
          <a:latin typeface="+mn-lt"/>
          <a:ea typeface="+mn-lt"/>
          <a:cs typeface="+mn-lt"/>
        </a:defRPr>
      </a:lvl8pPr>
      <a:lvl9pPr xmlns:a="http://schemas.openxmlformats.org/drawingml/2006/main" marL="2743200" algn="l" defTabSz="685800">
        <a:buNone/>
        <a:defRPr sz="1350" kern="1200">
          <a:solidFill>
            <a:schemeClr val="tx1"/>
          </a:solidFill>
          <a:latin typeface="+mn-lt"/>
          <a:ea typeface="+mn-lt"/>
          <a:cs typeface="+mn-lt"/>
        </a:defRPr>
      </a:lvl9pPr>
    </p:otherStyle>
  </p:txStyles>
  <p:extLst>
    <p:ext uri="{27BBF7A9-308A-43DC-89C8-2F10F3537804}">
      <p15:sldGuideLst xmlns:p15="http://schemas.microsoft.com/office/powerpoint/2012/main">
        <p15:guide id="1" orient="horz" pos="1620" userDrawn="1">
          <p15:clr>
            <a:srgbClr xmlns:a="http://schemas.openxmlformats.org/drawingml/2006/main" val="F26B43"/>
          </p15:clr>
        </p15:guide>
        <p15:guide id="2" pos="126" userDrawn="1">
          <p15:clr>
            <a:srgbClr xmlns:a="http://schemas.openxmlformats.org/drawingml/2006/main" val="F26B43"/>
          </p15:clr>
        </p15:guide>
        <p15:guide id="3" pos="5602" userDrawn="1">
          <p15:clr>
            <a:srgbClr xmlns:a="http://schemas.openxmlformats.org/drawingml/2006/main" val="F26B43"/>
          </p15:clr>
        </p15:guide>
        <p15:guide id="4" pos="2880" userDrawn="1">
          <p15:clr>
            <a:srgbClr xmlns:a="http://schemas.openxmlformats.org/drawingml/2006/main" val="F26B43"/>
          </p15:clr>
        </p15:guide>
        <p15:guide id="5" orient="horz" pos="123" userDrawn="1">
          <p15:clr>
            <a:srgbClr xmlns:a="http://schemas.openxmlformats.org/drawingml/2006/main" val="F26B43"/>
          </p15:clr>
        </p15:guide>
        <p15:guide id="6" orient="horz" pos="3117" userDrawn="1">
          <p15:clr>
            <a:srgbClr xmlns:a="http://schemas.openxmlformats.org/drawingml/2006/main" val="F26B43"/>
          </p15:clr>
        </p15:guide>
        <p15:guide id="7" pos="570" userDrawn="1">
          <p15:clr>
            <a:srgbClr xmlns:a="http://schemas.openxmlformats.org/drawingml/2006/main" val="F26B43"/>
          </p15:clr>
        </p15:guide>
        <p15:guide id="8" pos="1155" userDrawn="1">
          <p15:clr>
            <a:srgbClr xmlns:a="http://schemas.openxmlformats.org/drawingml/2006/main" val="F26B43"/>
          </p15:clr>
        </p15:guide>
        <p15:guide id="9" pos="1728" userDrawn="1">
          <p15:clr>
            <a:srgbClr xmlns:a="http://schemas.openxmlformats.org/drawingml/2006/main" val="F26B43"/>
          </p15:clr>
        </p15:guide>
        <p15:guide id="10" pos="2304" userDrawn="1">
          <p15:clr>
            <a:srgbClr xmlns:a="http://schemas.openxmlformats.org/drawingml/2006/main" val="F26B43"/>
          </p15:clr>
        </p15:guide>
        <p15:guide id="11" pos="3456" userDrawn="1">
          <p15:clr>
            <a:srgbClr xmlns:a="http://schemas.openxmlformats.org/drawingml/2006/main" val="F26B43"/>
          </p15:clr>
        </p15:guide>
        <p15:guide id="12" pos="4035" userDrawn="1">
          <p15:clr>
            <a:srgbClr xmlns:a="http://schemas.openxmlformats.org/drawingml/2006/main" val="F26B43"/>
          </p15:clr>
        </p15:guide>
        <p15:guide id="13" pos="4608" userDrawn="1">
          <p15:clr>
            <a:srgbClr xmlns:a="http://schemas.openxmlformats.org/drawingml/2006/main" val="F26B43"/>
          </p15:clr>
        </p15:guide>
        <p15:guide id="14" pos="5180" userDrawn="1">
          <p15:clr>
            <a:srgbClr xmlns:a="http://schemas.openxmlformats.org/drawingml/2006/main" val="F26B43"/>
          </p15:clr>
        </p15:guide>
        <p15:guide id="15" orient="horz" pos="490" userDrawn="1">
          <p15:clr>
            <a:srgbClr xmlns:a="http://schemas.openxmlformats.org/drawingml/2006/main" val="F26B43"/>
          </p15:clr>
        </p15:guide>
        <p15:guide id="16" orient="horz" pos="985" userDrawn="1">
          <p15:clr>
            <a:srgbClr xmlns:a="http://schemas.openxmlformats.org/drawingml/2006/main" val="F26B43"/>
          </p15:clr>
        </p15:guide>
        <p15:guide id="17" orient="horz" pos="1475" userDrawn="1">
          <p15:clr>
            <a:srgbClr xmlns:a="http://schemas.openxmlformats.org/drawingml/2006/main" val="F26B43"/>
          </p15:clr>
        </p15:guide>
        <p15:guide id="18" orient="horz" pos="1962" userDrawn="1">
          <p15:clr>
            <a:srgbClr xmlns:a="http://schemas.openxmlformats.org/drawingml/2006/main" val="F26B43"/>
          </p15:clr>
        </p15:guide>
        <p15:guide id="19" orient="horz" pos="2458" userDrawn="1">
          <p15:clr>
            <a:srgbClr xmlns:a="http://schemas.openxmlformats.org/drawingml/2006/main" val="F26B43"/>
          </p15:clr>
        </p15:guide>
        <p15:guide id="20" orient="horz" pos="2950" userDrawn="1">
          <p15:clr>
            <a:srgbClr xmlns:a="http://schemas.openxmlformats.org/drawingml/2006/main" val="F26B43"/>
          </p15:clr>
        </p15:guide>
        <p15:guide id="21" pos="5437" userDrawn="1">
          <p15:clr>
            <a:srgbClr xmlns:a="http://schemas.openxmlformats.org/drawingml/2006/main" val="F26B43"/>
          </p15:clr>
        </p15:guide>
        <p15:guide id="22" orient="horz" userDrawn="1">
          <p15:clr>
            <a:srgbClr xmlns:a="http://schemas.openxmlformats.org/drawingml/2006/main" val="F26B43"/>
          </p15:clr>
        </p15:guide>
        <p15:guide id="23" pos="5760" userDrawn="1">
          <p15:clr>
            <a:srgbClr xmlns:a="http://schemas.openxmlformats.org/drawingml/2006/main" val="F26B43"/>
          </p15:clr>
        </p15:guide>
        <p15:guide id="24" orient="horz" pos="3240" userDrawn="1">
          <p15:clr>
            <a:srgbClr xmlns:a="http://schemas.openxmlformats.org/drawingml/2006/main" val="F26B43"/>
          </p15:clr>
        </p15:guide>
        <p15:guide id="25" userDrawn="1">
          <p15:clr>
            <a:srgbClr xmlns:a="http://schemas.openxmlformats.org/drawingml/2006/main" val="F26B43"/>
          </p15:clr>
        </p15:guide>
      </p15:sldGuideLst>
    </p:ext>
  </p:extLst>
</p:sldMaster>
</file>

<file path=ppt/slideMasters/theme/theme2.xml><?xml version="1.0" encoding="utf-8"?>
<a:theme xmlns:a="http://schemas.openxmlformats.org/drawingml/2006/main" name="Thème Office">
  <a:themeElements>
    <a:clrScheme name="EPFL - New Colors 2019">
      <a:dk1>
        <a:srgbClr val="413C3A"/>
      </a:dk1>
      <a:lt1>
        <a:srgbClr val="FFFFFF"/>
      </a:lt1>
      <a:dk2>
        <a:srgbClr val="413C3A"/>
      </a:dk2>
      <a:lt2>
        <a:srgbClr val="CAC7C7"/>
      </a:lt2>
      <a:accent1>
        <a:srgbClr val="E30613"/>
      </a:accent1>
      <a:accent2>
        <a:srgbClr val="00A79F"/>
      </a:accent2>
      <a:accent3>
        <a:srgbClr val="413C3A"/>
      </a:accent3>
      <a:accent4>
        <a:srgbClr val="007480"/>
      </a:accent4>
      <a:accent5>
        <a:srgbClr val="F39869"/>
      </a:accent5>
      <a:accent6>
        <a:srgbClr val="B51F1F"/>
      </a:accent6>
      <a:hlink>
        <a:srgbClr val="ED6E9C"/>
      </a:hlink>
      <a:folHlink>
        <a:srgbClr val="4F8FCC"/>
      </a:folHlink>
    </a:clrScheme>
    <a:fontScheme name="EPFL_Beta2">
      <a:majorFont>
        <a:latin typeface="Franklin Gothic Demi Cond"/>
        <a:ea typeface=""/>
        <a:cs typeface=""/>
      </a:majorFont>
      <a:minorFont>
        <a:latin typeface="Arial"/>
        <a:ea typeface=""/>
        <a:cs typeface=""/>
      </a:minorFont>
    </a:fontScheme>
    <a:fmtScheme name="EPFL - New Colors 2019">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dafae3dead54ca4" /><Relationship Type="http://schemas.openxmlformats.org/officeDocument/2006/relationships/image" Target="/ppt/media/image.gif" Id="R119afa6f0ac848d4" /><Relationship Type="http://schemas.openxmlformats.org/officeDocument/2006/relationships/image" Target="/ppt/media/image3.png" Id="R16a60bdcc11c4e3a" /><Relationship Type="http://schemas.openxmlformats.org/officeDocument/2006/relationships/image" Target="/ppt/media/image4.png" Id="R96645371fd25485d" /><Relationship Type="http://schemas.openxmlformats.org/officeDocument/2006/relationships/notesSlide" Target="/ppt/notesSlides/notesSlide1.xml" Id="R95184c11141a49e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2.xml" Id="R8b5bc50c44444715" /><Relationship Type="http://schemas.openxmlformats.org/officeDocument/2006/relationships/image" Target="/ppt/media/image4.png" Id="R870b41908abf4612" /><Relationship Type="http://schemas.openxmlformats.org/officeDocument/2006/relationships/notesSlide" Target="/ppt/notesSlides/notesSlide2.xml" Id="R57cd1d23a9dd435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2.xml" Id="R4967ab142a1b429e" /><Relationship Type="http://schemas.openxmlformats.org/officeDocument/2006/relationships/image" Target="/ppt/media/image4.png" Id="Rd96d17fc2b7b4bf3" /><Relationship Type="http://schemas.openxmlformats.org/officeDocument/2006/relationships/image" Target="/ppt/media/image5.png" Id="R37a5d26fd33e4278" /><Relationship Type="http://schemas.openxmlformats.org/officeDocument/2006/relationships/image" Target="/ppt/media/image6.png" Id="Rb39f66b3c9044dac" /><Relationship Type="http://schemas.openxmlformats.org/officeDocument/2006/relationships/image" Target="/ppt/media/image7.png" Id="Rafd205c2db7d446d" /><Relationship Type="http://schemas.openxmlformats.org/officeDocument/2006/relationships/image" Target="/ppt/media/image8.png" Id="R64c9609b058c479f" /><Relationship Type="http://schemas.openxmlformats.org/officeDocument/2006/relationships/notesSlide" Target="/ppt/notesSlides/notesSlide3.xml" Id="R9a46cc608907455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2.xml" Id="Rc68a31f60c054a0b" /><Relationship Type="http://schemas.openxmlformats.org/officeDocument/2006/relationships/image" Target="/ppt/media/image4.png" Id="R6325617cdec2491a" /><Relationship Type="http://schemas.openxmlformats.org/officeDocument/2006/relationships/image" Target="/ppt/media/image9.png" Id="Rd825725095d44781" /><Relationship Type="http://schemas.openxmlformats.org/officeDocument/2006/relationships/notesSlide" Target="/ppt/notesSlides/notesSlide4.xml" Id="R5344fdc4ad29469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2.xml" Id="Ra0f61bf91be642eb" /><Relationship Type="http://schemas.openxmlformats.org/officeDocument/2006/relationships/image" Target="/ppt/media/image10.png" Id="R9c60a7ee684b41cc" /><Relationship Type="http://schemas.openxmlformats.org/officeDocument/2006/relationships/image" Target="/ppt/media/image4.png" Id="Rdd75f75718e244c5" /><Relationship Type="http://schemas.openxmlformats.org/officeDocument/2006/relationships/notesSlide" Target="/ppt/notesSlides/notesSlide5.xml" Id="Rcf6ac1b54e0c414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2.xml" Id="R1823fd36288d4104" /><Relationship Type="http://schemas.openxmlformats.org/officeDocument/2006/relationships/image" Target="/ppt/media/image4.png" Id="R3253aec755b14437" /><Relationship Type="http://schemas.openxmlformats.org/officeDocument/2006/relationships/notesSlide" Target="/ppt/notesSlides/notesSlide6.xml" Id="Rb6d8887976e54ab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2.xml" Id="R896a380266c1462f" /><Relationship Type="http://schemas.openxmlformats.org/officeDocument/2006/relationships/image" Target="/ppt/media/image4.png" Id="Ra3c4a8007ee047b7" /><Relationship Type="http://schemas.openxmlformats.org/officeDocument/2006/relationships/notesSlide" Target="/ppt/notesSlides/notesSlide7.xml" Id="R30602a98b85341e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2.xml" Id="Rad5f8173bcf6499b" /><Relationship Type="http://schemas.openxmlformats.org/officeDocument/2006/relationships/image" Target="/ppt/media/image4.png" Id="Rc12e8089758f4edb" /><Relationship Type="http://schemas.openxmlformats.org/officeDocument/2006/relationships/notesSlide" Target="/ppt/notesSlides/notesSlide8.xml" Id="R8a261aa51d6c44b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2.xml" Id="Rd85736b4045e4db1" /><Relationship Type="http://schemas.openxmlformats.org/officeDocument/2006/relationships/image" Target="/ppt/media/image11.png" Id="Rd17a9e6ad0854bfd" /><Relationship Type="http://schemas.openxmlformats.org/officeDocument/2006/relationships/image" Target="/ppt/media/image4.png" Id="R018f0c2e6f0640e3" /><Relationship Type="http://schemas.openxmlformats.org/officeDocument/2006/relationships/notesSlide" Target="/ppt/notesSlides/notesSlide9.xml" Id="R64d9d521fc604d2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2.xml" Id="R04349112c9e44090" /><Relationship Type="http://schemas.openxmlformats.org/officeDocument/2006/relationships/image" Target="/ppt/media/image4.png" Id="R0ce5eda923ea4177" /><Relationship Type="http://schemas.openxmlformats.org/officeDocument/2006/relationships/image" Target="/ppt/media/image12.png" Id="Ra5fe9eb8efda4146" /><Relationship Type="http://schemas.openxmlformats.org/officeDocument/2006/relationships/notesSlide" Target="/ppt/notesSlides/notesSlide10.xml" Id="Rf1e7802258b0499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2.xml" Id="R4010c316c08e4c4e" /><Relationship Type="http://schemas.openxmlformats.org/officeDocument/2006/relationships/image" Target="/ppt/media/image13.png" Id="R9e637a0f9d884278" /><Relationship Type="http://schemas.openxmlformats.org/officeDocument/2006/relationships/image" Target="/ppt/media/image4.png" Id="Ra80f8db5a3c5457f" /><Relationship Type="http://schemas.openxmlformats.org/officeDocument/2006/relationships/notesSlide" Target="/ppt/notesSlides/notesSlide11.xml" Id="R9b71dbd07af6492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2.xml" Id="Re85567ccbc3c46e8" /><Relationship Type="http://schemas.openxmlformats.org/officeDocument/2006/relationships/image" Target="/ppt/media/image14.png" Id="R52e13a3956684dd2" /><Relationship Type="http://schemas.openxmlformats.org/officeDocument/2006/relationships/image" Target="/ppt/media/image4.png" Id="R7d1a92f8f7264463" /><Relationship Type="http://schemas.openxmlformats.org/officeDocument/2006/relationships/notesSlide" Target="/ppt/notesSlides/notesSlide12.xml" Id="R4463a69fec8d4fc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2.xml" Id="R1effd112af484b16" /><Relationship Type="http://schemas.openxmlformats.org/officeDocument/2006/relationships/image" Target="/ppt/media/image15.png" Id="R182e1ebf1ceb4a27" /><Relationship Type="http://schemas.openxmlformats.org/officeDocument/2006/relationships/image" Target="/ppt/media/image4.png" Id="R815659c9e5824a12" /><Relationship Type="http://schemas.openxmlformats.org/officeDocument/2006/relationships/notesSlide" Target="/ppt/notesSlides/notesSlide13.xml" Id="R7805f25af4f943c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2.xml" Id="Rec2550684ddd4158" /><Relationship Type="http://schemas.openxmlformats.org/officeDocument/2006/relationships/image" Target="/ppt/media/image4.png" Id="Rd53e71c6447243fc" /><Relationship Type="http://schemas.openxmlformats.org/officeDocument/2006/relationships/image" Target="/ppt/media/image16.png" Id="Re621f635ba204240" /><Relationship Type="http://schemas.openxmlformats.org/officeDocument/2006/relationships/image" Target="/ppt/media/image17.png" Id="Re2de3715d87447bf" /><Relationship Type="http://schemas.openxmlformats.org/officeDocument/2006/relationships/image" Target="/ppt/media/image18.png" Id="R64850c2336484cfd" /><Relationship Type="http://schemas.openxmlformats.org/officeDocument/2006/relationships/image" Target="/ppt/media/image19.png" Id="Rea38cda477144604" /><Relationship Type="http://schemas.openxmlformats.org/officeDocument/2006/relationships/image" Target="/ppt/media/image20.png" Id="R0785e5c67b7944fa" /><Relationship Type="http://schemas.openxmlformats.org/officeDocument/2006/relationships/image" Target="/ppt/media/image21.png" Id="Rf6248137e115421c" /><Relationship Type="http://schemas.openxmlformats.org/officeDocument/2006/relationships/image" Target="/ppt/media/image22.png" Id="R30389237c736451d" /><Relationship Type="http://schemas.openxmlformats.org/officeDocument/2006/relationships/notesSlide" Target="/ppt/notesSlides/notesSlide14.xml" Id="R3ca91755421a45d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2.xml" Id="R6c149850addc4850" /><Relationship Type="http://schemas.openxmlformats.org/officeDocument/2006/relationships/image" Target="/ppt/media/image4.png" Id="Rf831def126ca4759" /><Relationship Type="http://schemas.openxmlformats.org/officeDocument/2006/relationships/image" Target="/ppt/media/image23.png" Id="Rd0d56f90b9814d9e" /><Relationship Type="http://schemas.openxmlformats.org/officeDocument/2006/relationships/image" Target="/ppt/media/image24.png" Id="Rb4984e99c4bb4697" /><Relationship Type="http://schemas.openxmlformats.org/officeDocument/2006/relationships/image" Target="/ppt/media/image25.png" Id="R92e06eebe0344f56" /><Relationship Type="http://schemas.openxmlformats.org/officeDocument/2006/relationships/image" Target="/ppt/media/image26.png" Id="Rc052f098ef924851" /><Relationship Type="http://schemas.openxmlformats.org/officeDocument/2006/relationships/image" Target="/ppt/media/image27.png" Id="Rdea4cafb33fe4977" /><Relationship Type="http://schemas.openxmlformats.org/officeDocument/2006/relationships/image" Target="/ppt/media/image28.png" Id="R5ba010ea814b45e3" /><Relationship Type="http://schemas.openxmlformats.org/officeDocument/2006/relationships/image" Target="/ppt/media/image29.png" Id="R1f00369d56014db0" /><Relationship Type="http://schemas.openxmlformats.org/officeDocument/2006/relationships/image" Target="/ppt/media/image30.png" Id="Rff02d05b98424601" /><Relationship Type="http://schemas.openxmlformats.org/officeDocument/2006/relationships/notesSlide" Target="/ppt/notesSlides/notesSlide15.xml" Id="Rc1705b9252a8401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2.xml" Id="Radbbca41f7a64578" /><Relationship Type="http://schemas.openxmlformats.org/officeDocument/2006/relationships/image" Target="/ppt/media/image31.png" Id="R4cae6a17528c4863" /><Relationship Type="http://schemas.openxmlformats.org/officeDocument/2006/relationships/image" Target="/ppt/media/image32.png" Id="R03e78383b3de4287" /><Relationship Type="http://schemas.openxmlformats.org/officeDocument/2006/relationships/image" Target="/ppt/media/image33.png" Id="R67684d639aba46a0" /><Relationship Type="http://schemas.openxmlformats.org/officeDocument/2006/relationships/image" Target="/ppt/media/image4.png" Id="Ra1da3713402e45b7" /><Relationship Type="http://schemas.openxmlformats.org/officeDocument/2006/relationships/notesSlide" Target="/ppt/notesSlides/notesSlide16.xml" Id="R80c4ff618708450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2.xml" Id="Rfd5a3ecd293d411c" /><Relationship Type="http://schemas.openxmlformats.org/officeDocument/2006/relationships/image" Target="/ppt/media/image34.png" Id="R28fee177402e4f6d" /><Relationship Type="http://schemas.openxmlformats.org/officeDocument/2006/relationships/image" Target="/ppt/media/image35.png" Id="R2716341e5f7c433a" /><Relationship Type="http://schemas.openxmlformats.org/officeDocument/2006/relationships/image" Target="/ppt/media/image36.png" Id="R620e2ee343e84a30" /><Relationship Type="http://schemas.openxmlformats.org/officeDocument/2006/relationships/image" Target="/ppt/media/image4.png" Id="R72519253ba814402" /><Relationship Type="http://schemas.openxmlformats.org/officeDocument/2006/relationships/notesSlide" Target="/ppt/notesSlides/notesSlide17.xml" Id="R38f7ad1acbfd4bb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2.xml" Id="Rf7a02c1db54a4bd0" /><Relationship Type="http://schemas.openxmlformats.org/officeDocument/2006/relationships/image" Target="/ppt/media/image37.png" Id="R946aa0b2ac834e17" /><Relationship Type="http://schemas.openxmlformats.org/officeDocument/2006/relationships/image" Target="/ppt/media/image38.png" Id="Ra42ca2f39641428f" /><Relationship Type="http://schemas.openxmlformats.org/officeDocument/2006/relationships/image" Target="/ppt/media/image39.png" Id="R931aca9a4ea94caf" /><Relationship Type="http://schemas.openxmlformats.org/officeDocument/2006/relationships/image" Target="/ppt/media/image40.png" Id="R4e0fbdc7d84a41ea" /><Relationship Type="http://schemas.openxmlformats.org/officeDocument/2006/relationships/image" Target="/ppt/media/image4.png" Id="R0bb538e53161498c" /><Relationship Type="http://schemas.openxmlformats.org/officeDocument/2006/relationships/notesSlide" Target="/ppt/notesSlides/notesSlide18.xml" Id="Rec0bdbc4dd4a48f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2.xml" Id="R1a58be0ee217494c" /><Relationship Type="http://schemas.openxmlformats.org/officeDocument/2006/relationships/image" Target="/ppt/media/image41.png" Id="R72c0b949c9a748e8" /><Relationship Type="http://schemas.openxmlformats.org/officeDocument/2006/relationships/image" Target="/ppt/media/image42.png" Id="Raa5222f5ad774826" /><Relationship Type="http://schemas.openxmlformats.org/officeDocument/2006/relationships/image" Target="/ppt/media/image38.png" Id="R6f145831ac1f40ee" /><Relationship Type="http://schemas.openxmlformats.org/officeDocument/2006/relationships/image" Target="/ppt/media/image4.png" Id="R85f61c6094b746b5" /><Relationship Type="http://schemas.openxmlformats.org/officeDocument/2006/relationships/notesSlide" Target="/ppt/notesSlides/notesSlide19.xml" Id="Rb0d65cccffd54c6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2.xml" Id="R5923022d27e24060" /><Relationship Type="http://schemas.openxmlformats.org/officeDocument/2006/relationships/image" Target="/ppt/media/image43.png" Id="R22a51b94629b4f47" /><Relationship Type="http://schemas.openxmlformats.org/officeDocument/2006/relationships/image" Target="/ppt/media/image44.png" Id="Rebcce22ab5eb4311" /><Relationship Type="http://schemas.openxmlformats.org/officeDocument/2006/relationships/image" Target="/ppt/media/image45.png" Id="R5565ab53a7b74622" /><Relationship Type="http://schemas.openxmlformats.org/officeDocument/2006/relationships/image" Target="/ppt/media/image4.png" Id="R689d0b31f6954809" /><Relationship Type="http://schemas.openxmlformats.org/officeDocument/2006/relationships/notesSlide" Target="/ppt/notesSlides/notesSlide20.xml" Id="Rde2e3a0f6a9b4fef"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2.xml" Id="R878c9a4ed743497c" /><Relationship Type="http://schemas.openxmlformats.org/officeDocument/2006/relationships/image" Target="/ppt/media/image46.png" Id="R50b604e2c3b1487a" /><Relationship Type="http://schemas.openxmlformats.org/officeDocument/2006/relationships/image" Target="/ppt/media/image47.png" Id="R0ed06c0ed05e4aa1" /><Relationship Type="http://schemas.openxmlformats.org/officeDocument/2006/relationships/image" Target="/ppt/media/image4.png" Id="R9096f9a0c67e4944" /><Relationship Type="http://schemas.openxmlformats.org/officeDocument/2006/relationships/notesSlide" Target="/ppt/notesSlides/notesSlide21.xml" Id="R89abd21e48e9459b"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2.xml" Id="Rcb5793825d5c4ec7" /><Relationship Type="http://schemas.openxmlformats.org/officeDocument/2006/relationships/image" Target="/ppt/media/image48.png" Id="R067f5c651b6c4e5c" /><Relationship Type="http://schemas.openxmlformats.org/officeDocument/2006/relationships/image" Target="/ppt/media/image4.png" Id="Rd9bc591505714309" /><Relationship Type="http://schemas.openxmlformats.org/officeDocument/2006/relationships/image" Target="/ppt/media/image49.png" Id="R248442b8b2e946af" /><Relationship Type="http://schemas.openxmlformats.org/officeDocument/2006/relationships/image" Target="/ppt/media/image50.png" Id="R01652daf66e6493c" /><Relationship Type="http://schemas.openxmlformats.org/officeDocument/2006/relationships/image" Target="/ppt/media/image51.png" Id="R88b06930cfd84545" /><Relationship Type="http://schemas.openxmlformats.org/officeDocument/2006/relationships/image" Target="/ppt/media/image52.png" Id="R6a16c95e4f634ec4" /><Relationship Type="http://schemas.openxmlformats.org/officeDocument/2006/relationships/image" Target="/ppt/media/image53.png" Id="R994d9a121a574706" /><Relationship Type="http://schemas.openxmlformats.org/officeDocument/2006/relationships/image" Target="/ppt/media/image54.png" Id="R31f30c1caac44093" /><Relationship Type="http://schemas.openxmlformats.org/officeDocument/2006/relationships/image" Target="/ppt/media/image55.png" Id="Re7097b84b0f64c30" /><Relationship Type="http://schemas.openxmlformats.org/officeDocument/2006/relationships/image" Target="/ppt/media/image56.png" Id="R2194a72a67cc4142" /><Relationship Type="http://schemas.openxmlformats.org/officeDocument/2006/relationships/notesSlide" Target="/ppt/notesSlides/notesSlide22.xml" Id="R8687151fb7ed4478"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2.xml" Id="R8153b0381c5a4a33" /><Relationship Type="http://schemas.openxmlformats.org/officeDocument/2006/relationships/image" Target="/ppt/media/image57.png" Id="R29198462dcca4cad" /><Relationship Type="http://schemas.openxmlformats.org/officeDocument/2006/relationships/image" Target="/ppt/media/image4.png" Id="R5d8ce8858bbd4785" /><Relationship Type="http://schemas.openxmlformats.org/officeDocument/2006/relationships/notesSlide" Target="/ppt/notesSlides/notesSlide23.xml" Id="Rdd718021e572437d"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2.xml" Id="Ra25f46a9ae6e417b" /><Relationship Type="http://schemas.openxmlformats.org/officeDocument/2006/relationships/image" Target="/ppt/media/image58.png" Id="R778f63983031489e" /><Relationship Type="http://schemas.openxmlformats.org/officeDocument/2006/relationships/image" Target="/ppt/media/image4.png" Id="R05bd11acdb0340ce" /><Relationship Type="http://schemas.openxmlformats.org/officeDocument/2006/relationships/notesSlide" Target="/ppt/notesSlides/notesSlide24.xml" Id="Rd3d6dcce50b64a92"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2.xml" Id="R85644baf40ee4ea4" /><Relationship Type="http://schemas.openxmlformats.org/officeDocument/2006/relationships/image" Target="/ppt/media/image59.png" Id="R18ac0220da9d4a7d" /><Relationship Type="http://schemas.openxmlformats.org/officeDocument/2006/relationships/image" Target="/ppt/media/image60.png" Id="Rc2bc399da4a541a2" /><Relationship Type="http://schemas.openxmlformats.org/officeDocument/2006/relationships/image" Target="/ppt/media/image4.png" Id="R4192f417c7ed4792" /><Relationship Type="http://schemas.openxmlformats.org/officeDocument/2006/relationships/notesSlide" Target="/ppt/notesSlides/notesSlide25.xml" Id="R2d69cad3e9684dd6"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2.xml" Id="R7af5ff86e0624f4b" /><Relationship Type="http://schemas.openxmlformats.org/officeDocument/2006/relationships/image" Target="/ppt/media/image61.png" Id="R9d8575f53b06490c" /><Relationship Type="http://schemas.openxmlformats.org/officeDocument/2006/relationships/image" Target="/ppt/media/image4.png" Id="Ra7bfc2f57fee4488" /><Relationship Type="http://schemas.openxmlformats.org/officeDocument/2006/relationships/notesSlide" Target="/ppt/notesSlides/notesSlide26.xml" Id="R901099765a4c437a"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2.xml" Id="Rda42a38f83e7453c" /><Relationship Type="http://schemas.openxmlformats.org/officeDocument/2006/relationships/image" Target="/ppt/media/image4.png" Id="R8cf30e4891714ca4" /><Relationship Type="http://schemas.openxmlformats.org/officeDocument/2006/relationships/notesSlide" Target="/ppt/notesSlides/notesSlide27.xml" Id="R8b2d6ac17b554dc5"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4" name="Picture 4"/>
          <p:cNvPicPr>
            <a:picLocks xmlns:a="http://schemas.openxmlformats.org/drawingml/2006/main" noChangeAspect="1"/>
          </p:cNvPicPr>
          <p:nvPr/>
        </p:nvPicPr>
        <p:blipFill>
          <a:blip xmlns:r="http://schemas.openxmlformats.org/officeDocument/2006/relationships" xmlns:a="http://schemas.openxmlformats.org/drawingml/2006/main" r:embed="R119afa6f0ac848d4"/>
          <a:srcRect xmlns:a="http://schemas.openxmlformats.org/drawingml/2006/main" l="0" t="0" r="0" b="0"/>
          <a:stretch xmlns:a="http://schemas.openxmlformats.org/drawingml/2006/main">
            <a:fillRect l="0" t="0" r="0" b="0"/>
          </a:stretch>
        </p:blipFill>
        <p:spPr>
          <a:xfrm xmlns:a="http://schemas.openxmlformats.org/drawingml/2006/main">
            <a:off x="-1" y="0"/>
            <a:ext cx="9144000" cy="5143500"/>
          </a:xfrm>
          <a:prstGeom xmlns:a="http://schemas.openxmlformats.org/drawingml/2006/main" prst="rect">
            <a:avLst/>
          </a:prstGeom>
        </p:spPr>
      </p:pic>
      <p:sp>
        <p:nvSpPr>
          <p:cNvPr id="4" name="Rectangle 3">
            <a:extLst xmlns:a="http://schemas.openxmlformats.org/drawingml/2006/main">
              <a:ext uri="{FF2B5EF4-FFF2-40B4-BE49-F238E27FC236}">
                <a16:creationId xmlns:a16="http://schemas.microsoft.com/office/drawing/2014/main" id="{BD3C1E31-AAE6-8A00-C89A-EA45A9C52241}"/>
              </a:ext>
            </a:extLst>
          </p:cNvPr>
          <p:cNvSpPr>
            <a:spLocks xmlns:a="http://schemas.openxmlformats.org/drawingml/2006/main" noGrp="1"/>
          </p:cNvSpPr>
          <p:nvPr/>
        </p:nvSpPr>
        <p:spPr>
          <a:xfrm xmlns:a="http://schemas.openxmlformats.org/drawingml/2006/main">
            <a:off x="-1" y="167951"/>
            <a:ext cx="1360891" cy="1905008"/>
          </a:xfrm>
          <a:prstGeom xmlns:a="http://schemas.openxmlformats.org/drawingml/2006/main" prst="rect">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16" name="Picture 12"/>
          <p:cNvPicPr>
            <a:picLocks xmlns:a="http://schemas.openxmlformats.org/drawingml/2006/main" noChangeAspect="1"/>
          </p:cNvPicPr>
          <p:nvPr/>
        </p:nvPicPr>
        <p:blipFill>
          <a:blip xmlns:r="http://schemas.openxmlformats.org/officeDocument/2006/relationships" xmlns:a="http://schemas.openxmlformats.org/drawingml/2006/main" r:embed="R16a60bdcc11c4e3a"/>
          <a:srcRect xmlns:a="http://schemas.openxmlformats.org/drawingml/2006/main" l="0" t="0" r="0" b="0"/>
          <a:stretch xmlns:a="http://schemas.openxmlformats.org/drawingml/2006/main">
            <a:fillRect l="0" t="0" r="0" b="0"/>
          </a:stretch>
        </p:blipFill>
        <p:spPr>
          <a:xfrm xmlns:a="http://schemas.openxmlformats.org/drawingml/2006/main">
            <a:off x="0" y="0"/>
            <a:ext cx="1360891" cy="765501"/>
          </a:xfrm>
          <a:prstGeom xmlns:a="http://schemas.openxmlformats.org/drawingml/2006/main" prst="rect">
            <a:avLst/>
          </a:prstGeom>
        </p:spPr>
      </p:pic>
      <p:sp>
        <p:nvSpPr>
          <p:cNvPr id="9" name="Titre 8">
            <a:extLst xmlns:a="http://schemas.openxmlformats.org/drawingml/2006/main">
              <a:ext uri="{FF2B5EF4-FFF2-40B4-BE49-F238E27FC236}">
                <a16:creationId xmlns:a16="http://schemas.microsoft.com/office/drawing/2014/main" id="{6AF2DA65-CF00-774A-9D7C-EEFA627B218F}"/>
              </a:ext>
            </a:extLst>
          </p:cNvPr>
          <p:cNvSpPr>
            <a:spLocks xmlns:a="http://schemas.openxmlformats.org/drawingml/2006/main" noGrp="1"/>
          </p:cNvSpPr>
          <p:nvPr>
            <p:ph type="ctrTitle" idx="0"/>
          </p:nvPr>
        </p:nvSpPr>
        <p:spPr>
          <a:xfrm xmlns:a="http://schemas.openxmlformats.org/drawingml/2006/main">
            <a:off x="386499" y="785335"/>
            <a:ext cx="4430598" cy="1920159"/>
          </a:xfrm>
        </p:spPr>
        <p:txBody>
          <a:bodyPr xmlns:a="http://schemas.openxmlformats.org/drawingml/2006/main" anchor="ctr">
            <a:noAutofit/>
          </a:bodyPr>
          <a:lstStyle xmlns:a="http://schemas.openxmlformats.org/drawingml/2006/main"/>
          <a:p xmlns:a="http://schemas.openxmlformats.org/drawingml/2006/main">
            <a:pPr defTabSz="914400">
              <a:lnSpc>
                <a:spcPct val="100000"/>
              </a:lnSpc>
              <a:spcAft>
                <a:spcPct val="0"/>
              </a:spcAft>
              <a:buNone/>
            </a:pPr>
            <a:r>
              <a:rPr sz="3200" b="0"/>
              <a:t>Multi-Agent </a:t>
            </a:r>
            <a:r>
              <a:rPr sz="3200" b="0"/>
              <a:t>Reinforcement</a:t>
            </a:r>
            <a:r>
              <a:rPr sz="3200" b="0"/>
              <a:t> Learning for Power </a:t>
            </a:r>
            <a:r>
              <a:rPr sz="3200" b="0"/>
              <a:t>Grid</a:t>
            </a:r>
            <a:r>
              <a:rPr sz="3200" b="0"/>
              <a:t> </a:t>
            </a:r>
            <a:r>
              <a:rPr sz="3200" b="0"/>
              <a:t>Topology</a:t>
            </a:r>
            <a:r>
              <a:rPr sz="3200" b="0"/>
              <a:t> Control</a:t>
            </a:r>
          </a:p>
        </p:txBody>
      </p:sp>
      <p:sp>
        <p:nvSpPr>
          <p:cNvPr id="10" name="Sous-titre 9">
            <a:extLst xmlns:a="http://schemas.openxmlformats.org/drawingml/2006/main">
              <a:ext uri="{FF2B5EF4-FFF2-40B4-BE49-F238E27FC236}">
                <a16:creationId xmlns:a16="http://schemas.microsoft.com/office/drawing/2014/main" id="{2F4A7CFE-65FA-E249-9125-D938BCA44079}"/>
              </a:ext>
            </a:extLst>
          </p:cNvPr>
          <p:cNvSpPr>
            <a:spLocks xmlns:a="http://schemas.openxmlformats.org/drawingml/2006/main" noGrp="1"/>
          </p:cNvSpPr>
          <p:nvPr>
            <p:ph type="subTitle" idx="1"/>
          </p:nvPr>
        </p:nvSpPr>
        <p:spPr>
          <a:xfrm xmlns:a="http://schemas.openxmlformats.org/drawingml/2006/main">
            <a:off x="4817097" y="2705494"/>
            <a:ext cx="1828800" cy="1568450"/>
          </a:xfrm>
        </p:spPr>
        <p:txBody>
          <a:bodyPr xmlns:a="http://schemas.openxmlformats.org/drawingml/2006/main" lIns="90000" anchor="ctr">
            <a:normAutofit/>
          </a:bodyPr>
          <a:lstStyle xmlns:a="http://schemas.openxmlformats.org/drawingml/2006/main"/>
          <a:p xmlns:a="http://schemas.openxmlformats.org/drawingml/2006/main">
            <a:r>
              <a:rPr b="1"/>
              <a:t>Corentin Plumet</a:t>
            </a:r>
          </a:p>
          <a:p xmlns:a="http://schemas.openxmlformats.org/drawingml/2006/main">
            <a:r>
              <a:rPr b="1"/>
              <a:t>Supervised by:</a:t>
            </a:r>
          </a:p>
          <a:p xmlns:a="http://schemas.openxmlformats.org/drawingml/2006/main">
            <a:pPr>
              <a:lnSpc>
                <a:spcPct val="100000"/>
              </a:lnSpc>
              <a:spcBef>
                <a:spcPts val="0"/>
              </a:spcBef>
              <a:buNone/>
            </a:pPr>
            <a:r>
              <a:rPr b="1"/>
              <a:t>Dr. Nejjar</a:t>
            </a:r>
          </a:p>
          <a:p xmlns:a="http://schemas.openxmlformats.org/drawingml/2006/main">
            <a:pPr>
              <a:lnSpc>
                <a:spcPct val="100000"/>
              </a:lnSpc>
              <a:spcBef>
                <a:spcPts val="0"/>
              </a:spcBef>
              <a:buNone/>
            </a:pPr>
            <a:r>
              <a:rPr b="1"/>
              <a:t>Prof. Peng</a:t>
            </a:r>
          </a:p>
        </p:txBody>
      </p:sp>
      <p:sp>
        <p:nvSpPr>
          <p:cNvPr id="3" name="Espace réservé du texte 2">
            <a:extLst xmlns:a="http://schemas.openxmlformats.org/drawingml/2006/main">
              <a:ext uri="{FF2B5EF4-FFF2-40B4-BE49-F238E27FC236}">
                <a16:creationId xmlns:a16="http://schemas.microsoft.com/office/drawing/2014/main" id="{2AF0A55C-66AB-F046-AA02-AFC919A1C191}"/>
              </a:ext>
            </a:extLst>
          </p:cNvPr>
          <p:cNvSpPr>
            <a:spLocks xmlns:a="http://schemas.openxmlformats.org/drawingml/2006/main" noGrp="1"/>
          </p:cNvSpPr>
          <p:nvPr>
            <p:ph type="body" idx="11"/>
          </p:nvPr>
        </p:nvSpPr>
        <p:spPr>
          <a:xfrm xmlns:a="http://schemas.openxmlformats.org/drawingml/2006/main">
            <a:off x="5204317" y="4683125"/>
            <a:ext cx="1054359" cy="460375"/>
          </a:xfrm>
        </p:spPr>
        <p:txBody>
          <a:bodyPr xmlns:a="http://schemas.openxmlformats.org/drawingml/2006/main" anchor="ctr">
            <a:normAutofit/>
          </a:bodyPr>
          <a:lstStyle xmlns:a="http://schemas.openxmlformats.org/drawingml/2006/main"/>
          <a:p xmlns:a="http://schemas.openxmlformats.org/drawingml/2006/main">
            <a:r>
              <a:rPr b="1"/>
              <a:t>July 2026</a:t>
            </a:r>
          </a:p>
        </p:txBody>
      </p:sp>
      <p:pic>
        <p:nvPicPr>
          <p:cNvPr id="20" name="Picture 2"/>
          <p:cNvPicPr>
            <a:picLocks xmlns:a="http://schemas.openxmlformats.org/drawingml/2006/main" noChangeAspect="1"/>
          </p:cNvPicPr>
          <p:nvPr/>
        </p:nvPicPr>
        <p:blipFill>
          <a:blip xmlns:r="http://schemas.openxmlformats.org/officeDocument/2006/relationships" xmlns:a="http://schemas.openxmlformats.org/drawingml/2006/main" r:embed="R96645371fd25485d"/>
          <a:srcRect xmlns:a="http://schemas.openxmlformats.org/drawingml/2006/main" l="0" t="0" r="0" b="0"/>
          <a:stretch xmlns:a="http://schemas.openxmlformats.org/drawingml/2006/main">
            <a:fillRect l="0" t="0" r="0" b="0"/>
          </a:stretch>
        </p:blipFill>
        <p:spPr>
          <a:xfrm xmlns:a="http://schemas.openxmlformats.org/drawingml/2006/main">
            <a:off x="1198414" y="77771"/>
            <a:ext cx="1002784" cy="557102"/>
          </a:xfrm>
          <a:prstGeom xmlns:a="http://schemas.openxmlformats.org/drawingml/2006/main" prst="rect">
            <a:avLst/>
          </a:prstGeom>
        </p:spPr>
      </p:pic>
    </p:spTree>
    <p:extLst>
      <p:ext uri="{BB962C8B-B14F-4D97-AF65-F5344CB8AC3E}">
        <p14:creationId xmlns:p14="http://schemas.microsoft.com/office/powerpoint/2010/main" val="2130171528"/>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Titre 1">
            <a:extLst xmlns:a="http://schemas.openxmlformats.org/drawingml/2006/main">
              <a:ext uri="{FF2B5EF4-FFF2-40B4-BE49-F238E27FC236}">
                <a16:creationId xmlns:a16="http://schemas.microsoft.com/office/drawing/2014/main" id="{7A6E8B52-9E99-EC82-06F1-E15ECF19401B}"/>
              </a:ext>
            </a:extLst>
          </p:cNvPr>
          <p:cNvSpPr>
            <a:spLocks xmlns:a="http://schemas.openxmlformats.org/drawingml/2006/main" noGrp="1"/>
          </p:cNvSpPr>
          <p:nvPr>
            <p:ph type="title" idx="0"/>
          </p:nvPr>
        </p:nvSpPr>
        <p:spPr>
          <a:xfrm xmlns:a="http://schemas.openxmlformats.org/drawingml/2006/main">
            <a:off x="904875" y="252828"/>
            <a:ext cx="7532115" cy="601301"/>
          </a:xfrm>
        </p:spPr>
        <p:txBody>
          <a:bodyPr xmlns:a="http://schemas.openxmlformats.org/drawingml/2006/main">
            <a:normAutofit/>
          </a:bodyPr>
          <a:lstStyle xmlns:a="http://schemas.openxmlformats.org/drawingml/2006/main"/>
          <a:p xmlns:a="http://schemas.openxmlformats.org/drawingml/2006/main">
            <a:r>
              <a:t>Motivation</a:t>
            </a:r>
          </a:p>
        </p:txBody>
      </p:sp>
      <p:sp>
        <p:nvSpPr>
          <p:cNvPr id="5" name="Espace réservé du numéro de diapositive 4">
            <a:extLst xmlns:a="http://schemas.openxmlformats.org/drawingml/2006/main">
              <a:ext uri="{FF2B5EF4-FFF2-40B4-BE49-F238E27FC236}">
                <a16:creationId xmlns:a16="http://schemas.microsoft.com/office/drawing/2014/main" id="{ADD36B0A-6D13-5700-9201-3EFC5085E627}"/>
              </a:ext>
            </a:extLst>
          </p:cNvPr>
          <p:cNvSpPr>
            <a:spLocks xmlns:a="http://schemas.openxmlformats.org/drawingml/2006/main" noGrp="1"/>
          </p:cNvSpPr>
          <p:nvPr>
            <p:ph type="sldNum" idx="12"/>
          </p:nvPr>
        </p:nvSpPr>
        <p:spPr>
          <a:xfrm xmlns:a="http://schemas.openxmlformats.org/drawingml/2006/main">
            <a:off x="8641177" y="195263"/>
            <a:ext cx="512762" cy="163552"/>
          </a:xfrm>
        </p:spPr>
        <p:txBody>
          <a:bodyPr xmlns:a="http://schemas.openxmlformats.org/drawingml/2006/main"/>
          <a:lstStyle xmlns:a="http://schemas.openxmlformats.org/drawingml/2006/main"/>
          <a:p xmlns:a="http://schemas.openxmlformats.org/drawingml/2006/main">
            <a:r>
              <a:t>2</a:t>
            </a:r>
          </a:p>
          <a:p xmlns:a="http://schemas.openxmlformats.org/drawingml/2006/main"/>
        </p:txBody>
      </p:sp>
      <p:sp>
        <p:nvSpPr>
          <p:cNvPr id="4" name="ZoneTexte 3">
            <a:extLst xmlns:a="http://schemas.openxmlformats.org/drawingml/2006/main">
              <a:ext uri="{FF2B5EF4-FFF2-40B4-BE49-F238E27FC236}">
                <a16:creationId xmlns:a16="http://schemas.microsoft.com/office/drawing/2014/main" id="{84DA45E1-08B4-7455-D2B5-79A6A6F76366}"/>
              </a:ext>
            </a:extLst>
          </p:cNvPr>
          <p:cNvSpPr>
            <a:spLocks xmlns:a="http://schemas.openxmlformats.org/drawingml/2006/main" noGrp="1"/>
          </p:cNvSpPr>
          <p:nvPr/>
        </p:nvSpPr>
        <p:spPr>
          <a:xfrm xmlns:a="http://schemas.openxmlformats.org/drawingml/2006/main">
            <a:off x="547694" y="732371"/>
            <a:ext cx="8048612" cy="2442270"/>
          </a:xfrm>
          <a:prstGeom xmlns:a="http://schemas.openxmlformats.org/drawingml/2006/main" prst="roundRect">
            <a:avLst>
              <a:gd name="adj" fmla="val 9656"/>
            </a:avLst>
          </a:prstGeom>
          <a:solidFill xmlns:a="http://schemas.openxmlformats.org/drawingml/2006/main">
            <a:schemeClr val="bg2">
              <a:lumMod val="20000"/>
              <a:lumOff val="80000"/>
            </a:schemeClr>
          </a:solidFill>
          <a:ln xmlns:a="http://schemas.openxmlformats.org/drawingml/2006/main" w="9525"/>
        </p:spPr>
        <p:style>
          <a:lnRef xmlns:a="http://schemas.openxmlformats.org/drawingml/2006/main" idx="2">
            <a:schemeClr val="dk1"/>
          </a:lnRef>
          <a:fillRef xmlns:a="http://schemas.openxmlformats.org/drawingml/2006/main" idx="1">
            <a:schemeClr val="lt1"/>
          </a:fillRef>
          <a:effectRef xmlns:a="http://schemas.openxmlformats.org/drawingml/2006/main" idx="0">
            <a:schemeClr val="dk1"/>
          </a:effectRef>
          <a:fontRef xmlns:a="http://schemas.openxmlformats.org/drawingml/2006/main" idx="minor">
            <a:schemeClr val="dk1"/>
          </a:fontRef>
        </p:style>
        <p:txBody>
          <a:bodyPr xmlns:a="http://schemas.openxmlformats.org/drawingml/2006/main" wrap="square">
            <a:spAutoFit/>
          </a:bodyPr>
          <a:lstStyle xmlns:a="http://schemas.openxmlformats.org/drawingml/2006/main"/>
          <a:p xmlns:a="http://schemas.openxmlformats.org/drawingml/2006/main">
            <a:pPr>
              <a:buClr>
                <a:schemeClr val="accent1"/>
              </a:buClr>
              <a:buNone/>
            </a:pPr>
            <a:r>
              <a:rPr sz="1200" b="1" u="sng"/>
              <a:t>Purpose</a:t>
            </a:r>
          </a:p>
          <a:p xmlns:a="http://schemas.openxmlformats.org/drawingml/2006/main">
            <a:pPr marL="628650" indent="-285750">
              <a:buClr>
                <a:schemeClr val="accent1"/>
              </a:buClr>
              <a:buFont typeface="Wingdings"/>
              <a:buChar char="§"/>
            </a:pPr>
            <a:r>
              <a:rPr sz="1200"/>
              <a:t>TSO need fast congestion management under renewable variability and unforeseen events.</a:t>
            </a:r>
          </a:p>
          <a:p xmlns:a="http://schemas.openxmlformats.org/drawingml/2006/main">
            <a:pPr marL="628650" indent="-285750">
              <a:buClr>
                <a:schemeClr val="accent1"/>
              </a:buClr>
              <a:buFont typeface="Wingdings"/>
              <a:buChar char="§"/>
            </a:pPr>
            <a:r>
              <a:rPr sz="1200"/>
              <a:t>Topology actions are attractive because they can reroute flows before using costly redispatch.</a:t>
            </a:r>
          </a:p>
          <a:p xmlns:a="http://schemas.openxmlformats.org/drawingml/2006/main">
            <a:pPr marL="628650" indent="-285750">
              <a:buClr>
                <a:schemeClr val="accent1"/>
              </a:buClr>
              <a:buFont typeface="Wingdings"/>
              <a:buChar char="§"/>
            </a:pPr>
          </a:p>
          <a:p xmlns:a="http://schemas.openxmlformats.org/drawingml/2006/main">
            <a:pPr>
              <a:buClr>
                <a:schemeClr val="accent1"/>
              </a:buClr>
              <a:buNone/>
            </a:pPr>
            <a:r>
              <a:rPr sz="1200" b="1" u="sng"/>
              <a:t>Problem Statement:</a:t>
            </a:r>
            <a:r>
              <a:rPr sz="1200" b="1"/>
              <a:t> Power grid operation requires:</a:t>
            </a:r>
          </a:p>
          <a:p xmlns:a="http://schemas.openxmlformats.org/drawingml/2006/main">
            <a:pPr marL="628650" indent="-285750">
              <a:buClr>
                <a:schemeClr val="accent1"/>
              </a:buClr>
              <a:buFont typeface="Wingdings"/>
              <a:buChar char="§"/>
            </a:pPr>
            <a:r>
              <a:rPr sz="1200"/>
              <a:t>Real-time decisions under uncertainty</a:t>
            </a:r>
          </a:p>
          <a:p xmlns:a="http://schemas.openxmlformats.org/drawingml/2006/main">
            <a:pPr marL="628650" indent="-285750">
              <a:buClr>
                <a:schemeClr val="accent1"/>
              </a:buClr>
              <a:buFont typeface="Wingdings"/>
              <a:buChar char="§"/>
            </a:pPr>
            <a:r>
              <a:rPr sz="1200"/>
              <a:t>Maintaining safety constraints (line limits, demand balance)</a:t>
            </a:r>
          </a:p>
          <a:p xmlns:a="http://schemas.openxmlformats.org/drawingml/2006/main">
            <a:pPr marL="628650" indent="-285750">
              <a:buClr>
                <a:schemeClr val="accent1"/>
              </a:buClr>
              <a:buFont typeface="Wingdings"/>
              <a:buChar char="§"/>
            </a:pPr>
            <a:r>
              <a:rPr sz="1200"/>
              <a:t>Operating over large, combinatorial action spaces</a:t>
            </a:r>
          </a:p>
          <a:p xmlns:a="http://schemas.openxmlformats.org/drawingml/2006/main">
            <a:pPr marL="628650" indent="-285750">
              <a:buClr>
                <a:schemeClr val="accent1"/>
              </a:buClr>
              <a:buFont typeface="Wingdings"/>
              <a:buChar char="§"/>
            </a:pPr>
          </a:p>
          <a:p xmlns:a="http://schemas.openxmlformats.org/drawingml/2006/main">
            <a:pPr>
              <a:buClr>
                <a:schemeClr val="accent1"/>
              </a:buClr>
              <a:buNone/>
            </a:pPr>
            <a:r>
              <a:rPr sz="1200" b="1" u="sng"/>
              <a:t>Limitations of current approaches</a:t>
            </a:r>
          </a:p>
          <a:p xmlns:a="http://schemas.openxmlformats.org/drawingml/2006/main">
            <a:pPr marL="628650" indent="-285750">
              <a:buClr>
                <a:schemeClr val="accent1"/>
              </a:buClr>
              <a:buFont typeface="Wingdings"/>
              <a:buChar char="§"/>
            </a:pPr>
            <a:r>
              <a:rPr sz="1200"/>
              <a:t>Optimization (OPF) is not scalable and too slow</a:t>
            </a:r>
          </a:p>
          <a:p xmlns:a="http://schemas.openxmlformats.org/drawingml/2006/main">
            <a:pPr marL="628650" indent="-285750">
              <a:buClr>
                <a:schemeClr val="accent1"/>
              </a:buClr>
              <a:buFont typeface="Wingdings"/>
              <a:buChar char="§"/>
            </a:pPr>
            <a:r>
              <a:rPr sz="1200"/>
              <a:t>Single-Agent RL: ignores decentralization </a:t>
            </a:r>
          </a:p>
        </p:txBody>
      </p:sp>
      <p:pic>
        <p:nvPicPr>
          <p:cNvPr id="13" name="Picture 2"/>
          <p:cNvPicPr>
            <a:picLocks xmlns:a="http://schemas.openxmlformats.org/drawingml/2006/main" noChangeAspect="1"/>
          </p:cNvPicPr>
          <p:nvPr/>
        </p:nvPicPr>
        <p:blipFill>
          <a:blip xmlns:r="http://schemas.openxmlformats.org/officeDocument/2006/relationships" xmlns:a="http://schemas.openxmlformats.org/drawingml/2006/main" r:embed="R870b41908abf4612"/>
          <a:srcRect xmlns:a="http://schemas.openxmlformats.org/drawingml/2006/main" l="0" t="0" r="0" b="0"/>
          <a:stretch xmlns:a="http://schemas.openxmlformats.org/drawingml/2006/main">
            <a:fillRect l="0" t="0" r="0" b="0"/>
          </a:stretch>
        </p:blipFill>
        <p:spPr>
          <a:xfrm xmlns:a="http://schemas.openxmlformats.org/drawingml/2006/main">
            <a:off x="158055" y="379734"/>
            <a:ext cx="587504" cy="326391"/>
          </a:xfrm>
          <a:prstGeom xmlns:a="http://schemas.openxmlformats.org/drawingml/2006/main" prst="rect">
            <a:avLst/>
          </a:prstGeom>
        </p:spPr>
      </p:pic>
      <p:sp>
        <p:nvSpPr>
          <p:cNvPr id="8" name="ZoneTexte 7">
            <a:extLst xmlns:a="http://schemas.openxmlformats.org/drawingml/2006/main">
              <a:ext uri="{FF2B5EF4-FFF2-40B4-BE49-F238E27FC236}">
                <a16:creationId xmlns:a16="http://schemas.microsoft.com/office/drawing/2014/main" id="{0E9A0574-EC40-8D34-A977-B5AB14EE623E}"/>
              </a:ext>
            </a:extLst>
          </p:cNvPr>
          <p:cNvSpPr>
            <a:spLocks xmlns:a="http://schemas.openxmlformats.org/drawingml/2006/main" noGrp="1"/>
          </p:cNvSpPr>
          <p:nvPr/>
        </p:nvSpPr>
        <p:spPr>
          <a:xfrm xmlns:a="http://schemas.openxmlformats.org/drawingml/2006/main">
            <a:off x="547694" y="3442053"/>
            <a:ext cx="8048612" cy="1208842"/>
          </a:xfrm>
          <a:prstGeom xmlns:a="http://schemas.openxmlformats.org/drawingml/2006/main" prst="roundRect">
            <a:avLst/>
          </a:prstGeom>
          <a:solidFill xmlns:a="http://schemas.openxmlformats.org/drawingml/2006/main">
            <a:srgbClr val="FEC9CC">
              <a:alpha val="20000"/>
            </a:srgbClr>
          </a:solidFill>
          <a:ln xmlns:a="http://schemas.openxmlformats.org/drawingml/2006/main" w="9525"/>
        </p:spPr>
        <p:style>
          <a:lnRef xmlns:a="http://schemas.openxmlformats.org/drawingml/2006/main" idx="2">
            <a:schemeClr val="accent1"/>
          </a:lnRef>
          <a:fillRef xmlns:a="http://schemas.openxmlformats.org/drawingml/2006/main" idx="1">
            <a:schemeClr val="lt1"/>
          </a:fillRef>
          <a:effectRef xmlns:a="http://schemas.openxmlformats.org/drawingml/2006/main" idx="0">
            <a:schemeClr val="accent1"/>
          </a:effectRef>
          <a:fontRef xmlns:a="http://schemas.openxmlformats.org/drawingml/2006/main" idx="minor">
            <a:schemeClr val="dk1"/>
          </a:fontRef>
        </p:style>
        <p:txBody>
          <a:bodyPr xmlns:a="http://schemas.openxmlformats.org/drawingml/2006/main" wrap="square">
            <a:spAutoFit/>
          </a:bodyPr>
          <a:lstStyle xmlns:a="http://schemas.openxmlformats.org/drawingml/2006/main"/>
          <a:p xmlns:a="http://schemas.openxmlformats.org/drawingml/2006/main">
            <a:pPr>
              <a:spcAft>
                <a:spcPts val="600"/>
              </a:spcAft>
              <a:buClr>
                <a:schemeClr val="accent1"/>
              </a:buClr>
              <a:buNone/>
            </a:pPr>
            <a:r>
              <a:rPr sz="1200" b="1" u="sng">
                <a:solidFill>
                  <a:schemeClr val="tx1"/>
                </a:solidFill>
              </a:rPr>
              <a:t>Research Questions:</a:t>
            </a:r>
          </a:p>
          <a:p xmlns:a="http://schemas.openxmlformats.org/drawingml/2006/main">
            <a:pPr marL="685800" indent="-342900" defTabSz="914400">
              <a:spcBef>
                <a:spcPct val="0"/>
              </a:spcBef>
              <a:buClr>
                <a:schemeClr val="accent1"/>
              </a:buClr>
              <a:buFont typeface="+mj-lt"/>
              <a:buAutoNum type="arabicPeriod"/>
            </a:pPr>
            <a:r>
              <a:rPr sz="1200">
                <a:solidFill>
                  <a:schemeClr val="tx1"/>
                </a:solidFill>
              </a:rPr>
              <a:t>Does</a:t>
            </a:r>
            <a:r>
              <a:rPr sz="1200">
                <a:solidFill>
                  <a:schemeClr val="tx1"/>
                </a:solidFill>
              </a:rPr>
              <a:t> a GNN encoder </a:t>
            </a:r>
            <a:r>
              <a:rPr sz="1200">
                <a:solidFill>
                  <a:schemeClr val="tx1"/>
                </a:solidFill>
              </a:rPr>
              <a:t>improve</a:t>
            </a:r>
            <a:r>
              <a:rPr sz="1200">
                <a:solidFill>
                  <a:schemeClr val="tx1"/>
                </a:solidFill>
              </a:rPr>
              <a:t> performance vs standard MARL </a:t>
            </a:r>
            <a:r>
              <a:rPr sz="1200">
                <a:solidFill>
                  <a:schemeClr val="tx1"/>
                </a:solidFill>
              </a:rPr>
              <a:t>baselines</a:t>
            </a:r>
            <a:r>
              <a:rPr sz="1200">
                <a:solidFill>
                  <a:schemeClr val="tx1"/>
                </a:solidFill>
              </a:rPr>
              <a:t>?</a:t>
            </a:r>
          </a:p>
          <a:p xmlns:a="http://schemas.openxmlformats.org/drawingml/2006/main">
            <a:pPr marL="685800" indent="-342900" defTabSz="914400">
              <a:spcBef>
                <a:spcPct val="0"/>
              </a:spcBef>
              <a:buClr>
                <a:schemeClr val="accent1"/>
              </a:buClr>
              <a:buFont typeface="+mj-lt"/>
              <a:buAutoNum type="arabicPeriod"/>
            </a:pPr>
            <a:r>
              <a:rPr sz="1200">
                <a:solidFill>
                  <a:schemeClr val="tx1"/>
                </a:solidFill>
              </a:rPr>
              <a:t>Can a Multi agent </a:t>
            </a:r>
            <a:r>
              <a:rPr sz="1200">
                <a:solidFill>
                  <a:schemeClr val="tx1"/>
                </a:solidFill>
              </a:rPr>
              <a:t>approach</a:t>
            </a:r>
            <a:r>
              <a:rPr sz="1200">
                <a:solidFill>
                  <a:schemeClr val="tx1"/>
                </a:solidFill>
              </a:rPr>
              <a:t>/match single agent </a:t>
            </a:r>
            <a:r>
              <a:rPr sz="1200">
                <a:solidFill>
                  <a:schemeClr val="tx1"/>
                </a:solidFill>
              </a:rPr>
              <a:t>approach</a:t>
            </a:r>
            <a:r>
              <a:rPr sz="1200">
                <a:solidFill>
                  <a:schemeClr val="tx1"/>
                </a:solidFill>
              </a:rPr>
              <a:t> </a:t>
            </a:r>
            <a:r>
              <a:rPr sz="1200">
                <a:solidFill>
                  <a:schemeClr val="tx1"/>
                </a:solidFill>
              </a:rPr>
              <a:t>under</a:t>
            </a:r>
            <a:r>
              <a:rPr sz="1200">
                <a:solidFill>
                  <a:schemeClr val="tx1"/>
                </a:solidFill>
              </a:rPr>
              <a:t> partial </a:t>
            </a:r>
            <a:r>
              <a:rPr sz="1200">
                <a:solidFill>
                  <a:schemeClr val="tx1"/>
                </a:solidFill>
              </a:rPr>
              <a:t>observability</a:t>
            </a:r>
            <a:r>
              <a:rPr sz="1200">
                <a:solidFill>
                  <a:schemeClr val="tx1"/>
                </a:solidFill>
              </a:rPr>
              <a:t>?</a:t>
            </a:r>
          </a:p>
          <a:p xmlns:a="http://schemas.openxmlformats.org/drawingml/2006/main">
            <a:pPr marL="685800" indent="-342900" defTabSz="914400">
              <a:spcBef>
                <a:spcPct val="0"/>
              </a:spcBef>
              <a:buClr>
                <a:schemeClr val="accent1"/>
              </a:buClr>
              <a:buFont typeface="+mj-lt"/>
              <a:buAutoNum type="arabicPeriod"/>
            </a:pPr>
            <a:r>
              <a:rPr sz="1200">
                <a:solidFill>
                  <a:schemeClr val="tx1"/>
                </a:solidFill>
              </a:rPr>
              <a:t>Does</a:t>
            </a:r>
            <a:r>
              <a:rPr sz="1200">
                <a:solidFill>
                  <a:schemeClr val="tx1"/>
                </a:solidFill>
              </a:rPr>
              <a:t> </a:t>
            </a:r>
            <a:r>
              <a:rPr sz="1200">
                <a:solidFill>
                  <a:schemeClr val="tx1"/>
                </a:solidFill>
              </a:rPr>
              <a:t>any</a:t>
            </a:r>
            <a:r>
              <a:rPr sz="1200">
                <a:solidFill>
                  <a:schemeClr val="tx1"/>
                </a:solidFill>
              </a:rPr>
              <a:t> </a:t>
            </a:r>
            <a:r>
              <a:rPr sz="1200">
                <a:solidFill>
                  <a:schemeClr val="tx1"/>
                </a:solidFill>
              </a:rPr>
              <a:t>improvements</a:t>
            </a:r>
            <a:r>
              <a:rPr sz="1200">
                <a:solidFill>
                  <a:schemeClr val="tx1"/>
                </a:solidFill>
              </a:rPr>
              <a:t> </a:t>
            </a:r>
            <a:r>
              <a:rPr sz="1200">
                <a:solidFill>
                  <a:schemeClr val="tx1"/>
                </a:solidFill>
              </a:rPr>
              <a:t>generalize</a:t>
            </a:r>
            <a:r>
              <a:rPr sz="1200">
                <a:solidFill>
                  <a:schemeClr val="tx1"/>
                </a:solidFill>
              </a:rPr>
              <a:t> to </a:t>
            </a:r>
            <a:r>
              <a:rPr sz="1200">
                <a:solidFill>
                  <a:schemeClr val="tx1"/>
                </a:solidFill>
              </a:rPr>
              <a:t>larger</a:t>
            </a:r>
            <a:r>
              <a:rPr sz="1200">
                <a:solidFill>
                  <a:schemeClr val="tx1"/>
                </a:solidFill>
              </a:rPr>
              <a:t> </a:t>
            </a:r>
            <a:r>
              <a:rPr sz="1200">
                <a:solidFill>
                  <a:schemeClr val="tx1"/>
                </a:solidFill>
              </a:rPr>
              <a:t>grid</a:t>
            </a:r>
            <a:r>
              <a:rPr sz="1200">
                <a:solidFill>
                  <a:schemeClr val="tx1"/>
                </a:solidFill>
              </a:rPr>
              <a:t> (bus14 to bus 36)?</a:t>
            </a:r>
          </a:p>
          <a:p xmlns:a="http://schemas.openxmlformats.org/drawingml/2006/main">
            <a:pPr marL="685800" indent="-342900" defTabSz="914400">
              <a:spcBef>
                <a:spcPct val="0"/>
              </a:spcBef>
              <a:buClr>
                <a:schemeClr val="accent1"/>
              </a:buClr>
              <a:buFont typeface="+mj-lt"/>
              <a:buAutoNum type="arabicPeriod"/>
            </a:pPr>
            <a:r>
              <a:rPr sz="1200">
                <a:solidFill>
                  <a:schemeClr val="tx1"/>
                </a:solidFill>
              </a:rPr>
              <a:t>Can the agents </a:t>
            </a:r>
            <a:r>
              <a:rPr sz="1200">
                <a:solidFill>
                  <a:schemeClr val="tx1"/>
                </a:solidFill>
              </a:rPr>
              <a:t>learn</a:t>
            </a:r>
            <a:r>
              <a:rPr sz="1200">
                <a:solidFill>
                  <a:schemeClr val="tx1"/>
                </a:solidFill>
              </a:rPr>
              <a:t> how to </a:t>
            </a:r>
            <a:r>
              <a:rPr sz="1200">
                <a:solidFill>
                  <a:schemeClr val="tx1"/>
                </a:solidFill>
              </a:rPr>
              <a:t>behave</a:t>
            </a:r>
            <a:r>
              <a:rPr sz="1200">
                <a:solidFill>
                  <a:schemeClr val="tx1"/>
                </a:solidFill>
              </a:rPr>
              <a:t> in a « </a:t>
            </a:r>
            <a:r>
              <a:rPr sz="1200">
                <a:solidFill>
                  <a:schemeClr val="tx1"/>
                </a:solidFill>
              </a:rPr>
              <a:t>human</a:t>
            </a:r>
            <a:r>
              <a:rPr sz="1200">
                <a:solidFill>
                  <a:schemeClr val="tx1"/>
                </a:solidFill>
              </a:rPr>
              <a:t> </a:t>
            </a:r>
            <a:r>
              <a:rPr sz="1200">
                <a:solidFill>
                  <a:schemeClr val="tx1"/>
                </a:solidFill>
              </a:rPr>
              <a:t>operator</a:t>
            </a:r>
            <a:r>
              <a:rPr sz="1200">
                <a:solidFill>
                  <a:schemeClr val="tx1"/>
                </a:solidFill>
              </a:rPr>
              <a:t> » </a:t>
            </a:r>
            <a:r>
              <a:rPr sz="1200">
                <a:solidFill>
                  <a:schemeClr val="tx1"/>
                </a:solidFill>
              </a:rPr>
              <a:t>way</a:t>
            </a:r>
            <a:r>
              <a:rPr sz="1200">
                <a:solidFill>
                  <a:schemeClr val="tx1"/>
                </a:solidFill>
              </a:rPr>
              <a:t> ?</a:t>
            </a:r>
          </a:p>
        </p:txBody>
      </p:sp>
    </p:spTree>
    <p:extLst>
      <p:ext uri="{BB962C8B-B14F-4D97-AF65-F5344CB8AC3E}">
        <p14:creationId xmlns:p14="http://schemas.microsoft.com/office/powerpoint/2010/main" val="870542407"/>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Titre 1">
            <a:extLst xmlns:a="http://schemas.openxmlformats.org/drawingml/2006/main">
              <a:ext uri="{FF2B5EF4-FFF2-40B4-BE49-F238E27FC236}">
                <a16:creationId xmlns:a16="http://schemas.microsoft.com/office/drawing/2014/main" id="{25FF85F2-43E1-5BC9-F6FC-4BC0D12BF163}"/>
              </a:ext>
            </a:extLst>
          </p:cNvPr>
          <p:cNvSpPr>
            <a:spLocks xmlns:a="http://schemas.openxmlformats.org/drawingml/2006/main" noGrp="1"/>
          </p:cNvSpPr>
          <p:nvPr>
            <p:ph type="title" idx="0"/>
          </p:nvPr>
        </p:nvSpPr>
        <p:spPr>
          <a:xfrm xmlns:a="http://schemas.openxmlformats.org/drawingml/2006/main">
            <a:off x="904875" y="252828"/>
            <a:ext cx="7532115" cy="601301"/>
          </a:xfrm>
        </p:spPr>
        <p:txBody>
          <a:bodyPr xmlns:a="http://schemas.openxmlformats.org/drawingml/2006/main">
            <a:normAutofit fontScale="93547"/>
          </a:bodyPr>
          <a:lstStyle xmlns:a="http://schemas.openxmlformats.org/drawingml/2006/main"/>
          <a:p xmlns:a="http://schemas.openxmlformats.org/drawingml/2006/main">
            <a:r>
              <a:t>Literature Review: Control Architectures</a:t>
            </a:r>
          </a:p>
        </p:txBody>
      </p:sp>
      <p:sp>
        <p:nvSpPr>
          <p:cNvPr id="5" name="Espace réservé du numéro de diapositive 4">
            <a:extLst xmlns:a="http://schemas.openxmlformats.org/drawingml/2006/main">
              <a:ext uri="{FF2B5EF4-FFF2-40B4-BE49-F238E27FC236}">
                <a16:creationId xmlns:a16="http://schemas.microsoft.com/office/drawing/2014/main" id="{A11857BD-5FE2-E831-3D06-DD78DD8A82A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r>
              <a:t>3</a:t>
            </a:r>
          </a:p>
          <a:p xmlns:a="http://schemas.openxmlformats.org/drawingml/2006/main"/>
        </p:txBody>
      </p:sp>
      <p:pic>
        <p:nvPicPr>
          <p:cNvPr id="39" name="Picture 2"/>
          <p:cNvPicPr>
            <a:picLocks xmlns:a="http://schemas.openxmlformats.org/drawingml/2006/main" noChangeAspect="1"/>
          </p:cNvPicPr>
          <p:nvPr/>
        </p:nvPicPr>
        <p:blipFill>
          <a:blip xmlns:r="http://schemas.openxmlformats.org/officeDocument/2006/relationships" xmlns:a="http://schemas.openxmlformats.org/drawingml/2006/main" r:embed="Rd96d17fc2b7b4bf3"/>
          <a:srcRect xmlns:a="http://schemas.openxmlformats.org/drawingml/2006/main" l="0" t="0" r="0" b="0"/>
          <a:stretch xmlns:a="http://schemas.openxmlformats.org/drawingml/2006/main">
            <a:fillRect l="0" t="0" r="0" b="0"/>
          </a:stretch>
        </p:blipFill>
        <p:spPr>
          <a:xfrm xmlns:a="http://schemas.openxmlformats.org/drawingml/2006/main">
            <a:off x="158055" y="379734"/>
            <a:ext cx="587504" cy="326391"/>
          </a:xfrm>
          <a:prstGeom xmlns:a="http://schemas.openxmlformats.org/drawingml/2006/main" prst="rect">
            <a:avLst/>
          </a:prstGeom>
        </p:spPr>
      </p:pic>
      <p:sp>
        <p:nvSpPr>
          <p:cNvPr id="9" name="single-agent-block">
            <a:extLst xmlns:a="http://schemas.openxmlformats.org/drawingml/2006/main">
              <a:ext uri="{FF2B5EF4-FFF2-40B4-BE49-F238E27FC236}">
                <a16:creationId xmlns:a16="http://schemas.microsoft.com/office/drawing/2014/main" id="{FE52CEB0-59C9-4912-B26B-4CEC11E3F5BF}"/>
              </a:ext>
            </a:extLst>
          </p:cNvPr>
          <p:cNvSpPr>
            <a:spLocks xmlns:a="http://schemas.openxmlformats.org/drawingml/2006/main" noGrp="1"/>
          </p:cNvSpPr>
          <p:nvPr/>
        </p:nvSpPr>
        <p:spPr>
          <a:xfrm xmlns:a="http://schemas.openxmlformats.org/drawingml/2006/main">
            <a:off x="600075" y="847725"/>
            <a:ext cx="3981450" cy="1809750"/>
          </a:xfrm>
          <a:prstGeom xmlns:a="http://schemas.openxmlformats.org/drawingml/2006/main" prst="roundRect">
            <a:avLst>
              <a:gd name="adj" fmla="val 4211"/>
            </a:avLst>
          </a:prstGeom>
          <a:solidFill xmlns:a="http://schemas.openxmlformats.org/drawingml/2006/main">
            <a:srgbClr val="FFF7F7"/>
          </a:solidFill>
          <a:ln xmlns:a="http://schemas.openxmlformats.org/drawingml/2006/main" w="10478">
            <a:solidFill>
              <a:srgbClr val="E7B9BC"/>
            </a:solidFill>
            <a:prstDash val="solid"/>
          </a:ln>
        </p:spPr>
      </p:sp>
      <p:sp>
        <p:nvSpPr>
          <p:cNvPr id="10" name="single-agent-accent">
            <a:extLst xmlns:a="http://schemas.openxmlformats.org/drawingml/2006/main">
              <a:ext uri="{FF2B5EF4-FFF2-40B4-BE49-F238E27FC236}">
                <a16:creationId xmlns:a16="http://schemas.microsoft.com/office/drawing/2014/main" id="{0AFD0421-09FD-4C88-8D85-19B70DBE26F4}"/>
              </a:ext>
            </a:extLst>
          </p:cNvPr>
          <p:cNvSpPr>
            <a:spLocks xmlns:a="http://schemas.openxmlformats.org/drawingml/2006/main" noGrp="1"/>
          </p:cNvSpPr>
          <p:nvPr/>
        </p:nvSpPr>
        <p:spPr>
          <a:xfrm xmlns:a="http://schemas.openxmlformats.org/drawingml/2006/main">
            <a:off x="600075" y="847725"/>
            <a:ext cx="57150" cy="1809750"/>
          </a:xfrm>
          <a:prstGeom xmlns:a="http://schemas.openxmlformats.org/drawingml/2006/main" prst="rect">
            <a:avLst/>
          </a:prstGeom>
          <a:solidFill xmlns:a="http://schemas.openxmlformats.org/drawingml/2006/main">
            <a:srgbClr val="B51F1F"/>
          </a:solidFill>
          <a:ln xmlns:a="http://schemas.openxmlformats.org/drawingml/2006/main" w="0">
            <a:solidFill>
              <a:srgbClr val="B51F1F"/>
            </a:solidFill>
            <a:prstDash val="solid"/>
          </a:ln>
        </p:spPr>
      </p:sp>
      <p:sp>
        <p:nvSpPr>
          <p:cNvPr id="11" name="single-agent-title">
            <a:extLst xmlns:a="http://schemas.openxmlformats.org/drawingml/2006/main">
              <a:ext uri="{FF2B5EF4-FFF2-40B4-BE49-F238E27FC236}">
                <a16:creationId xmlns:a16="http://schemas.microsoft.com/office/drawing/2014/main" id="{AEEF28E2-78A8-45E6-9231-02A310D1DE79}"/>
              </a:ext>
            </a:extLst>
          </p:cNvPr>
          <p:cNvSpPr>
            <a:spLocks xmlns:a="http://schemas.openxmlformats.org/drawingml/2006/main" noGrp="1"/>
          </p:cNvSpPr>
          <p:nvPr/>
        </p:nvSpPr>
        <p:spPr>
          <a:xfrm xmlns:a="http://schemas.openxmlformats.org/drawingml/2006/main">
            <a:off x="762000" y="942975"/>
            <a:ext cx="36957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413C3A"/>
                </a:solidFill>
                <a:latin typeface="Arial"/>
                <a:ea typeface="Arial"/>
                <a:cs typeface="Arial"/>
              </a:defRPr>
            </a:pPr>
            <a:r>
              <a:rPr sz="1350" b="1">
                <a:solidFill>
                  <a:srgbClr val="413C3A"/>
                </a:solidFill>
                <a:latin typeface="Arial"/>
                <a:ea typeface="Arial"/>
                <a:cs typeface="Arial"/>
              </a:rPr>
              <a:t>Single Agent</a:t>
            </a:r>
          </a:p>
        </p:txBody>
      </p:sp>
      <p:pic>
        <p:nvPicPr>
          <p:cNvPr id="43" name=""/>
          <p:cNvPicPr>
            <a:picLocks xmlns:a="http://schemas.openxmlformats.org/drawingml/2006/main" noChangeAspect="1"/>
          </p:cNvPicPr>
          <p:nvPr/>
        </p:nvPicPr>
        <p:blipFill>
          <a:blip xmlns:r="http://schemas.openxmlformats.org/officeDocument/2006/relationships" xmlns:a="http://schemas.openxmlformats.org/drawingml/2006/main" r:embed="R37a5d26fd33e4278"/>
          <a:stretch xmlns:a="http://schemas.openxmlformats.org/drawingml/2006/main"/>
        </p:blipFill>
        <p:spPr>
          <a:xfrm xmlns:a="http://schemas.openxmlformats.org/drawingml/2006/main">
            <a:off x="949836" y="1247775"/>
            <a:ext cx="1348353" cy="1104900"/>
          </a:xfrm>
          <a:prstGeom xmlns:a="http://schemas.openxmlformats.org/drawingml/2006/main" prst="roundRect">
            <a:avLst>
              <a:gd name="adj" fmla="val 5172"/>
            </a:avLst>
          </a:prstGeom>
        </p:spPr>
      </p:pic>
      <p:sp>
        <p:nvSpPr>
          <p:cNvPr id="13" name="single-agent-summary">
            <a:extLst xmlns:a="http://schemas.openxmlformats.org/drawingml/2006/main">
              <a:ext uri="{FF2B5EF4-FFF2-40B4-BE49-F238E27FC236}">
                <a16:creationId xmlns:a16="http://schemas.microsoft.com/office/drawing/2014/main" id="{AB1D5755-6284-4662-B6DF-443EAEAA8C0D}"/>
              </a:ext>
            </a:extLst>
          </p:cNvPr>
          <p:cNvSpPr>
            <a:spLocks xmlns:a="http://schemas.openxmlformats.org/drawingml/2006/main" noGrp="1"/>
          </p:cNvSpPr>
          <p:nvPr/>
        </p:nvSpPr>
        <p:spPr>
          <a:xfrm xmlns:a="http://schemas.openxmlformats.org/drawingml/2006/main">
            <a:off x="2609850" y="1266825"/>
            <a:ext cx="1819275"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05">
                <a:solidFill>
                  <a:srgbClr val="413C3A"/>
                </a:solidFill>
                <a:latin typeface="Arial"/>
                <a:ea typeface="Arial"/>
                <a:cs typeface="Arial"/>
              </a:defRPr>
            </a:pPr>
            <a:r>
              <a:rPr sz="1005">
                <a:solidFill>
                  <a:srgbClr val="413C3A"/>
                </a:solidFill>
                <a:latin typeface="Arial"/>
                <a:ea typeface="Arial"/>
                <a:cs typeface="Arial"/>
              </a:rPr>
              <a:t>One policy observes and controls the complete network.</a:t>
            </a:r>
          </a:p>
        </p:txBody>
      </p:sp>
      <p:sp>
        <p:nvSpPr>
          <p:cNvPr id="14" name="single-agent-flow">
            <a:extLst xmlns:a="http://schemas.openxmlformats.org/drawingml/2006/main">
              <a:ext uri="{FF2B5EF4-FFF2-40B4-BE49-F238E27FC236}">
                <a16:creationId xmlns:a16="http://schemas.microsoft.com/office/drawing/2014/main" id="{82E21971-83A5-406B-BC54-CCDC70408AB6}"/>
              </a:ext>
            </a:extLst>
          </p:cNvPr>
          <p:cNvSpPr>
            <a:spLocks xmlns:a="http://schemas.openxmlformats.org/drawingml/2006/main" noGrp="1"/>
          </p:cNvSpPr>
          <p:nvPr/>
        </p:nvSpPr>
        <p:spPr>
          <a:xfrm xmlns:a="http://schemas.openxmlformats.org/drawingml/2006/main">
            <a:off x="2609850" y="1943100"/>
            <a:ext cx="18192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45" b="1">
                <a:solidFill>
                  <a:srgbClr val="B51F1F"/>
                </a:solidFill>
                <a:latin typeface="Arial"/>
                <a:ea typeface="Arial"/>
                <a:cs typeface="Arial"/>
              </a:defRPr>
            </a:pPr>
            <a:r>
              <a:rPr sz="945" b="1">
                <a:solidFill>
                  <a:srgbClr val="B51F1F"/>
                </a:solidFill>
                <a:latin typeface="Arial"/>
                <a:ea typeface="Arial"/>
                <a:cs typeface="Arial"/>
              </a:rPr>
              <a:t>Global state  →  one grid action</a:t>
            </a:r>
          </a:p>
        </p:txBody>
      </p:sp>
      <p:sp>
        <p:nvSpPr>
          <p:cNvPr id="15" name="single-agent-reference">
            <a:extLst xmlns:a="http://schemas.openxmlformats.org/drawingml/2006/main">
              <a:ext uri="{FF2B5EF4-FFF2-40B4-BE49-F238E27FC236}">
                <a16:creationId xmlns:a16="http://schemas.microsoft.com/office/drawing/2014/main" id="{7D1693F2-FDF9-4A1C-921E-F2F90A015BE0}"/>
              </a:ext>
            </a:extLst>
          </p:cNvPr>
          <p:cNvSpPr>
            <a:spLocks xmlns:a="http://schemas.openxmlformats.org/drawingml/2006/main" noGrp="1"/>
          </p:cNvSpPr>
          <p:nvPr/>
        </p:nvSpPr>
        <p:spPr>
          <a:xfrm xmlns:a="http://schemas.openxmlformats.org/drawingml/2006/main">
            <a:off x="2609850" y="2257425"/>
            <a:ext cx="18192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28" i="1">
                <a:solidFill>
                  <a:srgbClr val="696361"/>
                </a:solidFill>
                <a:latin typeface="Arial"/>
                <a:ea typeface="Arial"/>
                <a:cs typeface="Arial"/>
              </a:defRPr>
            </a:pPr>
            <a:r>
              <a:rPr sz="728" i="1">
                <a:solidFill>
                  <a:srgbClr val="696361"/>
                </a:solidFill>
                <a:latin typeface="Arial"/>
                <a:ea typeface="Arial"/>
                <a:cs typeface="Arial"/>
              </a:rPr>
              <a:t>Yoon et al., ICLR 2021 (SMAAC)</a:t>
            </a:r>
          </a:p>
        </p:txBody>
      </p:sp>
      <p:sp>
        <p:nvSpPr>
          <p:cNvPr id="16" name="hybrid-agent-block">
            <a:extLst xmlns:a="http://schemas.openxmlformats.org/drawingml/2006/main">
              <a:ext uri="{FF2B5EF4-FFF2-40B4-BE49-F238E27FC236}">
                <a16:creationId xmlns:a16="http://schemas.microsoft.com/office/drawing/2014/main" id="{FC77C92F-21A9-4A4B-BD1B-8B3E2F54AF74}"/>
              </a:ext>
            </a:extLst>
          </p:cNvPr>
          <p:cNvSpPr>
            <a:spLocks xmlns:a="http://schemas.openxmlformats.org/drawingml/2006/main" noGrp="1"/>
          </p:cNvSpPr>
          <p:nvPr/>
        </p:nvSpPr>
        <p:spPr>
          <a:xfrm xmlns:a="http://schemas.openxmlformats.org/drawingml/2006/main">
            <a:off x="4733925" y="847725"/>
            <a:ext cx="3981450" cy="1809750"/>
          </a:xfrm>
          <a:prstGeom xmlns:a="http://schemas.openxmlformats.org/drawingml/2006/main" prst="roundRect">
            <a:avLst>
              <a:gd name="adj" fmla="val 4211"/>
            </a:avLst>
          </a:prstGeom>
          <a:solidFill xmlns:a="http://schemas.openxmlformats.org/drawingml/2006/main">
            <a:srgbClr val="FFF9F5"/>
          </a:solidFill>
          <a:ln xmlns:a="http://schemas.openxmlformats.org/drawingml/2006/main" w="10478">
            <a:solidFill>
              <a:srgbClr val="F2C7AE"/>
            </a:solidFill>
            <a:prstDash val="solid"/>
          </a:ln>
        </p:spPr>
      </p:sp>
      <p:sp>
        <p:nvSpPr>
          <p:cNvPr id="17" name="hybrid-agent-accent">
            <a:extLst xmlns:a="http://schemas.openxmlformats.org/drawingml/2006/main">
              <a:ext uri="{FF2B5EF4-FFF2-40B4-BE49-F238E27FC236}">
                <a16:creationId xmlns:a16="http://schemas.microsoft.com/office/drawing/2014/main" id="{D76572EB-DD77-4AA0-B851-64493B36DC63}"/>
              </a:ext>
            </a:extLst>
          </p:cNvPr>
          <p:cNvSpPr>
            <a:spLocks xmlns:a="http://schemas.openxmlformats.org/drawingml/2006/main" noGrp="1"/>
          </p:cNvSpPr>
          <p:nvPr/>
        </p:nvSpPr>
        <p:spPr>
          <a:xfrm xmlns:a="http://schemas.openxmlformats.org/drawingml/2006/main">
            <a:off x="4733925" y="847725"/>
            <a:ext cx="57150" cy="1809750"/>
          </a:xfrm>
          <a:prstGeom xmlns:a="http://schemas.openxmlformats.org/drawingml/2006/main" prst="rect">
            <a:avLst/>
          </a:prstGeom>
          <a:solidFill xmlns:a="http://schemas.openxmlformats.org/drawingml/2006/main">
            <a:srgbClr val="D87845"/>
          </a:solidFill>
          <a:ln xmlns:a="http://schemas.openxmlformats.org/drawingml/2006/main" w="0">
            <a:solidFill>
              <a:srgbClr val="D87845"/>
            </a:solidFill>
            <a:prstDash val="solid"/>
          </a:ln>
        </p:spPr>
      </p:sp>
      <p:sp>
        <p:nvSpPr>
          <p:cNvPr id="18" name="hybrid-agent-title">
            <a:extLst xmlns:a="http://schemas.openxmlformats.org/drawingml/2006/main">
              <a:ext uri="{FF2B5EF4-FFF2-40B4-BE49-F238E27FC236}">
                <a16:creationId xmlns:a16="http://schemas.microsoft.com/office/drawing/2014/main" id="{54CE3323-A95A-4D29-A3D7-224217F8AFB0}"/>
              </a:ext>
            </a:extLst>
          </p:cNvPr>
          <p:cNvSpPr>
            <a:spLocks xmlns:a="http://schemas.openxmlformats.org/drawingml/2006/main" noGrp="1"/>
          </p:cNvSpPr>
          <p:nvPr/>
        </p:nvSpPr>
        <p:spPr>
          <a:xfrm xmlns:a="http://schemas.openxmlformats.org/drawingml/2006/main">
            <a:off x="4895850" y="942975"/>
            <a:ext cx="36957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413C3A"/>
                </a:solidFill>
                <a:latin typeface="Arial"/>
                <a:ea typeface="Arial"/>
                <a:cs typeface="Arial"/>
              </a:defRPr>
            </a:pPr>
            <a:r>
              <a:rPr sz="1350" b="1">
                <a:solidFill>
                  <a:srgbClr val="413C3A"/>
                </a:solidFill>
                <a:latin typeface="Arial"/>
                <a:ea typeface="Arial"/>
                <a:cs typeface="Arial"/>
              </a:rPr>
              <a:t>Single Agent + Heuristic</a:t>
            </a:r>
          </a:p>
        </p:txBody>
      </p:sp>
      <p:pic>
        <p:nvPicPr>
          <p:cNvPr id="50" name=""/>
          <p:cNvPicPr>
            <a:picLocks xmlns:a="http://schemas.openxmlformats.org/drawingml/2006/main" noChangeAspect="1"/>
          </p:cNvPicPr>
          <p:nvPr/>
        </p:nvPicPr>
        <p:blipFill>
          <a:blip xmlns:r="http://schemas.openxmlformats.org/officeDocument/2006/relationships" xmlns:a="http://schemas.openxmlformats.org/drawingml/2006/main" r:embed="Rb39f66b3c9044dac"/>
          <a:stretch xmlns:a="http://schemas.openxmlformats.org/drawingml/2006/main"/>
        </p:blipFill>
        <p:spPr>
          <a:xfrm xmlns:a="http://schemas.openxmlformats.org/drawingml/2006/main">
            <a:off x="4895850" y="1603388"/>
            <a:ext cx="1724025" cy="393675"/>
          </a:xfrm>
          <a:prstGeom xmlns:a="http://schemas.openxmlformats.org/drawingml/2006/main" prst="roundRect">
            <a:avLst>
              <a:gd name="adj" fmla="val 5172"/>
            </a:avLst>
          </a:prstGeom>
        </p:spPr>
      </p:pic>
      <p:sp>
        <p:nvSpPr>
          <p:cNvPr id="20" name="hybrid-agent-summary">
            <a:extLst xmlns:a="http://schemas.openxmlformats.org/drawingml/2006/main">
              <a:ext uri="{FF2B5EF4-FFF2-40B4-BE49-F238E27FC236}">
                <a16:creationId xmlns:a16="http://schemas.microsoft.com/office/drawing/2014/main" id="{23135E2C-4D74-49AC-BA86-832E2E643A38}"/>
              </a:ext>
            </a:extLst>
          </p:cNvPr>
          <p:cNvSpPr>
            <a:spLocks xmlns:a="http://schemas.openxmlformats.org/drawingml/2006/main" noGrp="1"/>
          </p:cNvSpPr>
          <p:nvPr/>
        </p:nvSpPr>
        <p:spPr>
          <a:xfrm xmlns:a="http://schemas.openxmlformats.org/drawingml/2006/main">
            <a:off x="6743700" y="1266825"/>
            <a:ext cx="1819275"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05">
                <a:solidFill>
                  <a:srgbClr val="413C3A"/>
                </a:solidFill>
                <a:latin typeface="Arial"/>
                <a:ea typeface="Arial"/>
                <a:cs typeface="Arial"/>
              </a:defRPr>
            </a:pPr>
            <a:r>
              <a:rPr sz="1005">
                <a:solidFill>
                  <a:srgbClr val="413C3A"/>
                </a:solidFill>
                <a:latin typeface="Arial"/>
                <a:ea typeface="Arial"/>
                <a:cs typeface="Arial"/>
              </a:rPr>
              <a:t>Rules trigger intervention; RL selects from a reduced action space.</a:t>
            </a:r>
          </a:p>
        </p:txBody>
      </p:sp>
      <p:sp>
        <p:nvSpPr>
          <p:cNvPr id="21" name="hybrid-agent-flow">
            <a:extLst xmlns:a="http://schemas.openxmlformats.org/drawingml/2006/main">
              <a:ext uri="{FF2B5EF4-FFF2-40B4-BE49-F238E27FC236}">
                <a16:creationId xmlns:a16="http://schemas.microsoft.com/office/drawing/2014/main" id="{2274B156-4A66-482C-B2F4-EF6C4510DC17}"/>
              </a:ext>
            </a:extLst>
          </p:cNvPr>
          <p:cNvSpPr>
            <a:spLocks xmlns:a="http://schemas.openxmlformats.org/drawingml/2006/main" noGrp="1"/>
          </p:cNvSpPr>
          <p:nvPr/>
        </p:nvSpPr>
        <p:spPr>
          <a:xfrm xmlns:a="http://schemas.openxmlformats.org/drawingml/2006/main">
            <a:off x="6743700" y="1943100"/>
            <a:ext cx="18192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45" b="1">
                <a:solidFill>
                  <a:srgbClr val="D87845"/>
                </a:solidFill>
                <a:latin typeface="Arial"/>
                <a:ea typeface="Arial"/>
                <a:cs typeface="Arial"/>
              </a:defRPr>
            </a:pPr>
            <a:r>
              <a:rPr sz="945" b="1">
                <a:solidFill>
                  <a:srgbClr val="D87845"/>
                </a:solidFill>
                <a:latin typeface="Arial"/>
                <a:ea typeface="Arial"/>
                <a:cs typeface="Arial"/>
              </a:rPr>
              <a:t>Heuristic gate  →  RL action</a:t>
            </a:r>
          </a:p>
        </p:txBody>
      </p:sp>
      <p:sp>
        <p:nvSpPr>
          <p:cNvPr id="22" name="hybrid-agent-reference">
            <a:extLst xmlns:a="http://schemas.openxmlformats.org/drawingml/2006/main">
              <a:ext uri="{FF2B5EF4-FFF2-40B4-BE49-F238E27FC236}">
                <a16:creationId xmlns:a16="http://schemas.microsoft.com/office/drawing/2014/main" id="{B813864C-1CCF-4329-BDC3-1E7DE20B172E}"/>
              </a:ext>
            </a:extLst>
          </p:cNvPr>
          <p:cNvSpPr>
            <a:spLocks xmlns:a="http://schemas.openxmlformats.org/drawingml/2006/main" noGrp="1"/>
          </p:cNvSpPr>
          <p:nvPr/>
        </p:nvSpPr>
        <p:spPr>
          <a:xfrm xmlns:a="http://schemas.openxmlformats.org/drawingml/2006/main">
            <a:off x="6743700" y="2257425"/>
            <a:ext cx="18192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28" i="1">
                <a:solidFill>
                  <a:srgbClr val="696361"/>
                </a:solidFill>
                <a:latin typeface="Arial"/>
                <a:ea typeface="Arial"/>
                <a:cs typeface="Arial"/>
              </a:defRPr>
            </a:pPr>
            <a:r>
              <a:rPr sz="728" i="1">
                <a:solidFill>
                  <a:srgbClr val="696361"/>
                </a:solidFill>
                <a:latin typeface="Arial"/>
                <a:ea typeface="Arial"/>
                <a:cs typeface="Arial"/>
              </a:rPr>
              <a:t>Chauhan et al., AAAI 2023 (PowRL)</a:t>
            </a:r>
          </a:p>
        </p:txBody>
      </p:sp>
      <p:sp>
        <p:nvSpPr>
          <p:cNvPr id="23" name="coordinated-marl-block">
            <a:extLst xmlns:a="http://schemas.openxmlformats.org/drawingml/2006/main">
              <a:ext uri="{FF2B5EF4-FFF2-40B4-BE49-F238E27FC236}">
                <a16:creationId xmlns:a16="http://schemas.microsoft.com/office/drawing/2014/main" id="{C905BABE-84B1-4DCD-BD66-27427A73D394}"/>
              </a:ext>
            </a:extLst>
          </p:cNvPr>
          <p:cNvSpPr>
            <a:spLocks xmlns:a="http://schemas.openxmlformats.org/drawingml/2006/main" noGrp="1"/>
          </p:cNvSpPr>
          <p:nvPr/>
        </p:nvSpPr>
        <p:spPr>
          <a:xfrm xmlns:a="http://schemas.openxmlformats.org/drawingml/2006/main">
            <a:off x="600075" y="2800350"/>
            <a:ext cx="3981450" cy="1809750"/>
          </a:xfrm>
          <a:prstGeom xmlns:a="http://schemas.openxmlformats.org/drawingml/2006/main" prst="roundRect">
            <a:avLst>
              <a:gd name="adj" fmla="val 4211"/>
            </a:avLst>
          </a:prstGeom>
          <a:solidFill xmlns:a="http://schemas.openxmlformats.org/drawingml/2006/main">
            <a:srgbClr val="F4FBFC"/>
          </a:solidFill>
          <a:ln xmlns:a="http://schemas.openxmlformats.org/drawingml/2006/main" w="10478">
            <a:solidFill>
              <a:srgbClr val="A9D4D8"/>
            </a:solidFill>
            <a:prstDash val="solid"/>
          </a:ln>
        </p:spPr>
      </p:sp>
      <p:sp>
        <p:nvSpPr>
          <p:cNvPr id="24" name="coordinated-marl-accent">
            <a:extLst xmlns:a="http://schemas.openxmlformats.org/drawingml/2006/main">
              <a:ext uri="{FF2B5EF4-FFF2-40B4-BE49-F238E27FC236}">
                <a16:creationId xmlns:a16="http://schemas.microsoft.com/office/drawing/2014/main" id="{7A76CAC2-B1CB-4764-BFC6-AD68A55BCF40}"/>
              </a:ext>
            </a:extLst>
          </p:cNvPr>
          <p:cNvSpPr>
            <a:spLocks xmlns:a="http://schemas.openxmlformats.org/drawingml/2006/main" noGrp="1"/>
          </p:cNvSpPr>
          <p:nvPr/>
        </p:nvSpPr>
        <p:spPr>
          <a:xfrm xmlns:a="http://schemas.openxmlformats.org/drawingml/2006/main">
            <a:off x="600075" y="2800350"/>
            <a:ext cx="57150" cy="1809750"/>
          </a:xfrm>
          <a:prstGeom xmlns:a="http://schemas.openxmlformats.org/drawingml/2006/main" prst="rect">
            <a:avLst/>
          </a:prstGeom>
          <a:solidFill xmlns:a="http://schemas.openxmlformats.org/drawingml/2006/main">
            <a:srgbClr val="007480"/>
          </a:solidFill>
          <a:ln xmlns:a="http://schemas.openxmlformats.org/drawingml/2006/main" w="0">
            <a:solidFill>
              <a:srgbClr val="007480"/>
            </a:solidFill>
            <a:prstDash val="solid"/>
          </a:ln>
        </p:spPr>
      </p:sp>
      <p:sp>
        <p:nvSpPr>
          <p:cNvPr id="25" name="coordinated-marl-title">
            <a:extLst xmlns:a="http://schemas.openxmlformats.org/drawingml/2006/main">
              <a:ext uri="{FF2B5EF4-FFF2-40B4-BE49-F238E27FC236}">
                <a16:creationId xmlns:a16="http://schemas.microsoft.com/office/drawing/2014/main" id="{6EF4FEF4-E897-4D40-9031-D7042FE762E1}"/>
              </a:ext>
            </a:extLst>
          </p:cNvPr>
          <p:cNvSpPr>
            <a:spLocks xmlns:a="http://schemas.openxmlformats.org/drawingml/2006/main" noGrp="1"/>
          </p:cNvSpPr>
          <p:nvPr/>
        </p:nvSpPr>
        <p:spPr>
          <a:xfrm xmlns:a="http://schemas.openxmlformats.org/drawingml/2006/main">
            <a:off x="762000" y="2895600"/>
            <a:ext cx="36957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413C3A"/>
                </a:solidFill>
                <a:latin typeface="Arial"/>
                <a:ea typeface="Arial"/>
                <a:cs typeface="Arial"/>
              </a:defRPr>
            </a:pPr>
            <a:r>
              <a:rPr sz="1350" b="1">
                <a:solidFill>
                  <a:srgbClr val="413C3A"/>
                </a:solidFill>
                <a:latin typeface="Arial"/>
                <a:ea typeface="Arial"/>
                <a:cs typeface="Arial"/>
              </a:rPr>
              <a:t>Multi-Agent — Coordinated</a:t>
            </a:r>
          </a:p>
        </p:txBody>
      </p:sp>
      <p:pic>
        <p:nvPicPr>
          <p:cNvPr id="57" name=""/>
          <p:cNvPicPr>
            <a:picLocks xmlns:a="http://schemas.openxmlformats.org/drawingml/2006/main" noChangeAspect="1"/>
          </p:cNvPicPr>
          <p:nvPr/>
        </p:nvPicPr>
        <p:blipFill>
          <a:blip xmlns:r="http://schemas.openxmlformats.org/officeDocument/2006/relationships" xmlns:a="http://schemas.openxmlformats.org/drawingml/2006/main" r:embed="Rafd205c2db7d446d"/>
          <a:stretch xmlns:a="http://schemas.openxmlformats.org/drawingml/2006/main"/>
        </p:blipFill>
        <p:spPr>
          <a:xfrm xmlns:a="http://schemas.openxmlformats.org/drawingml/2006/main">
            <a:off x="762000" y="3427562"/>
            <a:ext cx="1724025" cy="650575"/>
          </a:xfrm>
          <a:prstGeom xmlns:a="http://schemas.openxmlformats.org/drawingml/2006/main" prst="roundRect">
            <a:avLst>
              <a:gd name="adj" fmla="val 5172"/>
            </a:avLst>
          </a:prstGeom>
        </p:spPr>
      </p:pic>
      <p:sp>
        <p:nvSpPr>
          <p:cNvPr id="27" name="coordinated-marl-summary">
            <a:extLst xmlns:a="http://schemas.openxmlformats.org/drawingml/2006/main">
              <a:ext uri="{FF2B5EF4-FFF2-40B4-BE49-F238E27FC236}">
                <a16:creationId xmlns:a16="http://schemas.microsoft.com/office/drawing/2014/main" id="{E4F5CDFD-E73A-466E-AACE-8A0E67A84A17}"/>
              </a:ext>
            </a:extLst>
          </p:cNvPr>
          <p:cNvSpPr>
            <a:spLocks xmlns:a="http://schemas.openxmlformats.org/drawingml/2006/main" noGrp="1"/>
          </p:cNvSpPr>
          <p:nvPr/>
        </p:nvSpPr>
        <p:spPr>
          <a:xfrm xmlns:a="http://schemas.openxmlformats.org/drawingml/2006/main">
            <a:off x="2609850" y="3219450"/>
            <a:ext cx="1819275"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05">
                <a:solidFill>
                  <a:srgbClr val="413C3A"/>
                </a:solidFill>
                <a:latin typeface="Arial"/>
                <a:ea typeface="Arial"/>
                <a:cs typeface="Arial"/>
              </a:defRPr>
            </a:pPr>
            <a:r>
              <a:rPr sz="1005">
                <a:solidFill>
                  <a:srgbClr val="413C3A"/>
                </a:solidFill>
                <a:latin typeface="Arial"/>
                <a:ea typeface="Arial"/>
                <a:cs typeface="Arial"/>
              </a:rPr>
              <a:t>Regional agents propose actions; a central coordinator chooses one.</a:t>
            </a:r>
          </a:p>
        </p:txBody>
      </p:sp>
      <p:sp>
        <p:nvSpPr>
          <p:cNvPr id="28" name="coordinated-marl-flow">
            <a:extLst xmlns:a="http://schemas.openxmlformats.org/drawingml/2006/main">
              <a:ext uri="{FF2B5EF4-FFF2-40B4-BE49-F238E27FC236}">
                <a16:creationId xmlns:a16="http://schemas.microsoft.com/office/drawing/2014/main" id="{3D52AE8B-C57E-4C56-BDD1-306688696924}"/>
              </a:ext>
            </a:extLst>
          </p:cNvPr>
          <p:cNvSpPr>
            <a:spLocks xmlns:a="http://schemas.openxmlformats.org/drawingml/2006/main" noGrp="1"/>
          </p:cNvSpPr>
          <p:nvPr/>
        </p:nvSpPr>
        <p:spPr>
          <a:xfrm xmlns:a="http://schemas.openxmlformats.org/drawingml/2006/main">
            <a:off x="2609850" y="3895725"/>
            <a:ext cx="18192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45" b="1">
                <a:solidFill>
                  <a:srgbClr val="007480"/>
                </a:solidFill>
                <a:latin typeface="Arial"/>
                <a:ea typeface="Arial"/>
                <a:cs typeface="Arial"/>
              </a:defRPr>
            </a:pPr>
            <a:r>
              <a:rPr sz="945" b="1">
                <a:solidFill>
                  <a:srgbClr val="007480"/>
                </a:solidFill>
                <a:latin typeface="Arial"/>
                <a:ea typeface="Arial"/>
                <a:cs typeface="Arial"/>
              </a:rPr>
              <a:t>Local proposals  →  coordinator</a:t>
            </a:r>
          </a:p>
        </p:txBody>
      </p:sp>
      <p:sp>
        <p:nvSpPr>
          <p:cNvPr id="29" name="coordinated-marl-reference">
            <a:extLst xmlns:a="http://schemas.openxmlformats.org/drawingml/2006/main">
              <a:ext uri="{FF2B5EF4-FFF2-40B4-BE49-F238E27FC236}">
                <a16:creationId xmlns:a16="http://schemas.microsoft.com/office/drawing/2014/main" id="{C5BE278C-4CD0-4B85-B1CF-2A3A954FED63}"/>
              </a:ext>
            </a:extLst>
          </p:cNvPr>
          <p:cNvSpPr>
            <a:spLocks xmlns:a="http://schemas.openxmlformats.org/drawingml/2006/main" noGrp="1"/>
          </p:cNvSpPr>
          <p:nvPr/>
        </p:nvSpPr>
        <p:spPr>
          <a:xfrm xmlns:a="http://schemas.openxmlformats.org/drawingml/2006/main">
            <a:off x="2609850" y="4210050"/>
            <a:ext cx="18192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28" i="1">
                <a:solidFill>
                  <a:srgbClr val="696361"/>
                </a:solidFill>
                <a:latin typeface="Arial"/>
                <a:ea typeface="Arial"/>
                <a:cs typeface="Arial"/>
              </a:defRPr>
            </a:pPr>
            <a:r>
              <a:rPr sz="728" i="1">
                <a:solidFill>
                  <a:srgbClr val="696361"/>
                </a:solidFill>
                <a:latin typeface="Arial"/>
                <a:ea typeface="Arial"/>
                <a:cs typeface="Arial"/>
              </a:rPr>
              <a:t>de Mol et al., ACM e-Energy 2025</a:t>
            </a:r>
          </a:p>
        </p:txBody>
      </p:sp>
      <p:sp>
        <p:nvSpPr>
          <p:cNvPr id="30" name="decentralized-marl-block">
            <a:extLst xmlns:a="http://schemas.openxmlformats.org/drawingml/2006/main">
              <a:ext uri="{FF2B5EF4-FFF2-40B4-BE49-F238E27FC236}">
                <a16:creationId xmlns:a16="http://schemas.microsoft.com/office/drawing/2014/main" id="{4780A909-7C8B-45BE-AB98-2648C9822144}"/>
              </a:ext>
            </a:extLst>
          </p:cNvPr>
          <p:cNvSpPr>
            <a:spLocks xmlns:a="http://schemas.openxmlformats.org/drawingml/2006/main" noGrp="1"/>
          </p:cNvSpPr>
          <p:nvPr/>
        </p:nvSpPr>
        <p:spPr>
          <a:xfrm xmlns:a="http://schemas.openxmlformats.org/drawingml/2006/main">
            <a:off x="4733925" y="2800350"/>
            <a:ext cx="3981450" cy="1809750"/>
          </a:xfrm>
          <a:prstGeom xmlns:a="http://schemas.openxmlformats.org/drawingml/2006/main" prst="roundRect">
            <a:avLst>
              <a:gd name="adj" fmla="val 4211"/>
            </a:avLst>
          </a:prstGeom>
          <a:solidFill xmlns:a="http://schemas.openxmlformats.org/drawingml/2006/main">
            <a:srgbClr val="F3FCFB"/>
          </a:solidFill>
          <a:ln xmlns:a="http://schemas.openxmlformats.org/drawingml/2006/main" w="10478">
            <a:solidFill>
              <a:srgbClr val="A9DED9"/>
            </a:solidFill>
            <a:prstDash val="solid"/>
          </a:ln>
        </p:spPr>
      </p:sp>
      <p:sp>
        <p:nvSpPr>
          <p:cNvPr id="31" name="decentralized-marl-accent">
            <a:extLst xmlns:a="http://schemas.openxmlformats.org/drawingml/2006/main">
              <a:ext uri="{FF2B5EF4-FFF2-40B4-BE49-F238E27FC236}">
                <a16:creationId xmlns:a16="http://schemas.microsoft.com/office/drawing/2014/main" id="{01B640FC-B554-48CE-81F0-1BFC440C47CA}"/>
              </a:ext>
            </a:extLst>
          </p:cNvPr>
          <p:cNvSpPr>
            <a:spLocks xmlns:a="http://schemas.openxmlformats.org/drawingml/2006/main" noGrp="1"/>
          </p:cNvSpPr>
          <p:nvPr/>
        </p:nvSpPr>
        <p:spPr>
          <a:xfrm xmlns:a="http://schemas.openxmlformats.org/drawingml/2006/main">
            <a:off x="4733925" y="2800350"/>
            <a:ext cx="57150" cy="1809750"/>
          </a:xfrm>
          <a:prstGeom xmlns:a="http://schemas.openxmlformats.org/drawingml/2006/main" prst="rect">
            <a:avLst/>
          </a:prstGeom>
          <a:solidFill xmlns:a="http://schemas.openxmlformats.org/drawingml/2006/main">
            <a:srgbClr val="00A79F"/>
          </a:solidFill>
          <a:ln xmlns:a="http://schemas.openxmlformats.org/drawingml/2006/main" w="0">
            <a:solidFill>
              <a:srgbClr val="00A79F"/>
            </a:solidFill>
            <a:prstDash val="solid"/>
          </a:ln>
        </p:spPr>
      </p:sp>
      <p:sp>
        <p:nvSpPr>
          <p:cNvPr id="32" name="decentralized-marl-title">
            <a:extLst xmlns:a="http://schemas.openxmlformats.org/drawingml/2006/main">
              <a:ext uri="{FF2B5EF4-FFF2-40B4-BE49-F238E27FC236}">
                <a16:creationId xmlns:a16="http://schemas.microsoft.com/office/drawing/2014/main" id="{3BA324AE-B037-4E28-8C3F-F3CEDCC9D2ED}"/>
              </a:ext>
            </a:extLst>
          </p:cNvPr>
          <p:cNvSpPr>
            <a:spLocks xmlns:a="http://schemas.openxmlformats.org/drawingml/2006/main" noGrp="1"/>
          </p:cNvSpPr>
          <p:nvPr/>
        </p:nvSpPr>
        <p:spPr>
          <a:xfrm xmlns:a="http://schemas.openxmlformats.org/drawingml/2006/main">
            <a:off x="4895850" y="2895600"/>
            <a:ext cx="36957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413C3A"/>
                </a:solidFill>
                <a:latin typeface="Arial"/>
                <a:ea typeface="Arial"/>
                <a:cs typeface="Arial"/>
              </a:defRPr>
            </a:pPr>
            <a:r>
              <a:rPr sz="1350" b="1">
                <a:solidFill>
                  <a:srgbClr val="413C3A"/>
                </a:solidFill>
                <a:latin typeface="Arial"/>
                <a:ea typeface="Arial"/>
                <a:cs typeface="Arial"/>
              </a:rPr>
              <a:t>Multi-Agent — Decentralized</a:t>
            </a:r>
          </a:p>
        </p:txBody>
      </p:sp>
      <p:pic>
        <p:nvPicPr>
          <p:cNvPr id="64" name=""/>
          <p:cNvPicPr>
            <a:picLocks xmlns:a="http://schemas.openxmlformats.org/drawingml/2006/main" noChangeAspect="1"/>
          </p:cNvPicPr>
          <p:nvPr/>
        </p:nvPicPr>
        <p:blipFill>
          <a:blip xmlns:r="http://schemas.openxmlformats.org/officeDocument/2006/relationships" xmlns:a="http://schemas.openxmlformats.org/drawingml/2006/main" r:embed="R64c9609b058c479f"/>
          <a:stretch xmlns:a="http://schemas.openxmlformats.org/drawingml/2006/main"/>
        </p:blipFill>
        <p:spPr>
          <a:xfrm xmlns:a="http://schemas.openxmlformats.org/drawingml/2006/main">
            <a:off x="4963110" y="3200400"/>
            <a:ext cx="1589505" cy="1104900"/>
          </a:xfrm>
          <a:prstGeom xmlns:a="http://schemas.openxmlformats.org/drawingml/2006/main" prst="roundRect">
            <a:avLst>
              <a:gd name="adj" fmla="val 5172"/>
            </a:avLst>
          </a:prstGeom>
        </p:spPr>
      </p:pic>
      <p:sp>
        <p:nvSpPr>
          <p:cNvPr id="34" name="decentralized-marl-summary">
            <a:extLst xmlns:a="http://schemas.openxmlformats.org/drawingml/2006/main">
              <a:ext uri="{FF2B5EF4-FFF2-40B4-BE49-F238E27FC236}">
                <a16:creationId xmlns:a16="http://schemas.microsoft.com/office/drawing/2014/main" id="{53E08B50-947B-44BD-81F7-2B5B932A9475}"/>
              </a:ext>
            </a:extLst>
          </p:cNvPr>
          <p:cNvSpPr>
            <a:spLocks xmlns:a="http://schemas.openxmlformats.org/drawingml/2006/main" noGrp="1"/>
          </p:cNvSpPr>
          <p:nvPr/>
        </p:nvSpPr>
        <p:spPr>
          <a:xfrm xmlns:a="http://schemas.openxmlformats.org/drawingml/2006/main">
            <a:off x="6743700" y="3219450"/>
            <a:ext cx="1819275"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05">
                <a:solidFill>
                  <a:srgbClr val="413C3A"/>
                </a:solidFill>
                <a:latin typeface="Arial"/>
                <a:ea typeface="Arial"/>
                <a:cs typeface="Arial"/>
              </a:defRPr>
            </a:pPr>
            <a:r>
              <a:rPr sz="1005">
                <a:solidFill>
                  <a:srgbClr val="413C3A"/>
                </a:solidFill>
                <a:latin typeface="Arial"/>
                <a:ea typeface="Arial"/>
                <a:cs typeface="Arial"/>
              </a:rPr>
              <a:t>Local policies control assigned regions and execute a joint grid decision.</a:t>
            </a:r>
          </a:p>
        </p:txBody>
      </p:sp>
      <p:sp>
        <p:nvSpPr>
          <p:cNvPr id="35" name="decentralized-marl-flow">
            <a:extLst xmlns:a="http://schemas.openxmlformats.org/drawingml/2006/main">
              <a:ext uri="{FF2B5EF4-FFF2-40B4-BE49-F238E27FC236}">
                <a16:creationId xmlns:a16="http://schemas.microsoft.com/office/drawing/2014/main" id="{F96024B1-FA1B-401D-853F-8284BEA8D189}"/>
              </a:ext>
            </a:extLst>
          </p:cNvPr>
          <p:cNvSpPr>
            <a:spLocks xmlns:a="http://schemas.openxmlformats.org/drawingml/2006/main" noGrp="1"/>
          </p:cNvSpPr>
          <p:nvPr/>
        </p:nvSpPr>
        <p:spPr>
          <a:xfrm xmlns:a="http://schemas.openxmlformats.org/drawingml/2006/main">
            <a:off x="6743700" y="3895725"/>
            <a:ext cx="18192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45" b="1">
                <a:solidFill>
                  <a:srgbClr val="00A79F"/>
                </a:solidFill>
                <a:latin typeface="Arial"/>
                <a:ea typeface="Arial"/>
                <a:cs typeface="Arial"/>
              </a:defRPr>
            </a:pPr>
            <a:r>
              <a:rPr sz="945" b="1">
                <a:solidFill>
                  <a:srgbClr val="00A79F"/>
                </a:solidFill>
                <a:latin typeface="Arial"/>
                <a:ea typeface="Arial"/>
                <a:cs typeface="Arial"/>
              </a:rPr>
              <a:t>Local observations  →  joint action</a:t>
            </a:r>
          </a:p>
        </p:txBody>
      </p:sp>
      <p:sp>
        <p:nvSpPr>
          <p:cNvPr id="36" name="decentralized-marl-reference">
            <a:extLst xmlns:a="http://schemas.openxmlformats.org/drawingml/2006/main">
              <a:ext uri="{FF2B5EF4-FFF2-40B4-BE49-F238E27FC236}">
                <a16:creationId xmlns:a16="http://schemas.microsoft.com/office/drawing/2014/main" id="{3C8107DA-07DF-41D4-BBDC-79A6BF9B47B4}"/>
              </a:ext>
            </a:extLst>
          </p:cNvPr>
          <p:cNvSpPr>
            <a:spLocks xmlns:a="http://schemas.openxmlformats.org/drawingml/2006/main" noGrp="1"/>
          </p:cNvSpPr>
          <p:nvPr/>
        </p:nvSpPr>
        <p:spPr>
          <a:xfrm xmlns:a="http://schemas.openxmlformats.org/drawingml/2006/main">
            <a:off x="6743700" y="4210050"/>
            <a:ext cx="18192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28" i="1">
                <a:solidFill>
                  <a:srgbClr val="696361"/>
                </a:solidFill>
                <a:latin typeface="Arial"/>
                <a:ea typeface="Arial"/>
                <a:cs typeface="Arial"/>
              </a:defRPr>
            </a:pPr>
            <a:r>
              <a:rPr sz="728" i="1">
                <a:solidFill>
                  <a:srgbClr val="696361"/>
                </a:solidFill>
                <a:latin typeface="Arial"/>
                <a:ea typeface="Arial"/>
                <a:cs typeface="Arial"/>
              </a:rPr>
              <a:t>van der Sar et al., 2023; Marchesini et al., ICLR 2026</a:t>
            </a:r>
          </a:p>
        </p:txBody>
      </p:sp>
    </p:spTree>
    <p:extLst>
      <p:ext uri="{BB962C8B-B14F-4D97-AF65-F5344CB8AC3E}">
        <p14:creationId xmlns:p14="http://schemas.microsoft.com/office/powerpoint/2010/main" val="1936989636"/>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Titre 1">
            <a:extLst xmlns:a="http://schemas.openxmlformats.org/drawingml/2006/main">
              <a:ext uri="{FF2B5EF4-FFF2-40B4-BE49-F238E27FC236}">
                <a16:creationId xmlns:a16="http://schemas.microsoft.com/office/drawing/2014/main" id="{8DE877BB-B63A-01AA-7630-A8104B9ADE7F}"/>
              </a:ext>
            </a:extLst>
          </p:cNvPr>
          <p:cNvSpPr>
            <a:spLocks xmlns:a="http://schemas.openxmlformats.org/drawingml/2006/main" noGrp="1"/>
          </p:cNvSpPr>
          <p:nvPr>
            <p:ph type="title" idx="0"/>
          </p:nvPr>
        </p:nvSpPr>
        <p:spPr>
          <a:xfrm xmlns:a="http://schemas.openxmlformats.org/drawingml/2006/main">
            <a:off x="904875" y="252828"/>
            <a:ext cx="7532115" cy="601301"/>
          </a:xfrm>
        </p:spPr>
        <p:txBody>
          <a:bodyPr xmlns:a="http://schemas.openxmlformats.org/drawingml/2006/main">
            <a:normAutofit/>
          </a:bodyPr>
          <a:lstStyle xmlns:a="http://schemas.openxmlformats.org/drawingml/2006/main"/>
          <a:p xmlns:a="http://schemas.openxmlformats.org/drawingml/2006/main">
            <a:r>
              <a:t>General Data Splitting and Actions</a:t>
            </a:r>
          </a:p>
        </p:txBody>
      </p:sp>
      <p:sp>
        <p:nvSpPr>
          <p:cNvPr id="5" name="Espace réservé du numéro de diapositive 4">
            <a:extLst xmlns:a="http://schemas.openxmlformats.org/drawingml/2006/main">
              <a:ext uri="{FF2B5EF4-FFF2-40B4-BE49-F238E27FC236}">
                <a16:creationId xmlns:a16="http://schemas.microsoft.com/office/drawing/2014/main" id="{4D9646DF-EE8C-D9E7-BDEC-F127993C2DA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r>
              <a:t>4</a:t>
            </a:r>
          </a:p>
          <a:p xmlns:a="http://schemas.openxmlformats.org/drawingml/2006/main"/>
        </p:txBody>
      </p:sp>
      <p:pic>
        <p:nvPicPr>
          <p:cNvPr id="10" name="Picture 2"/>
          <p:cNvPicPr>
            <a:picLocks xmlns:a="http://schemas.openxmlformats.org/drawingml/2006/main" noChangeAspect="1"/>
          </p:cNvPicPr>
          <p:nvPr/>
        </p:nvPicPr>
        <p:blipFill>
          <a:blip xmlns:r="http://schemas.openxmlformats.org/officeDocument/2006/relationships" xmlns:a="http://schemas.openxmlformats.org/drawingml/2006/main" r:embed="R6325617cdec2491a"/>
          <a:srcRect xmlns:a="http://schemas.openxmlformats.org/drawingml/2006/main" l="0" t="0" r="0" b="0"/>
          <a:stretch xmlns:a="http://schemas.openxmlformats.org/drawingml/2006/main">
            <a:fillRect l="0" t="0" r="0" b="0"/>
          </a:stretch>
        </p:blipFill>
        <p:spPr>
          <a:xfrm xmlns:a="http://schemas.openxmlformats.org/drawingml/2006/main">
            <a:off x="158055" y="379734"/>
            <a:ext cx="587504" cy="326391"/>
          </a:xfrm>
          <a:prstGeom xmlns:a="http://schemas.openxmlformats.org/drawingml/2006/main" prst="rect">
            <a:avLst/>
          </a:prstGeom>
        </p:spPr>
      </p:pic>
      <p:pic>
        <p:nvPicPr>
          <p:cNvPr id="11" name="Image 7"/>
          <p:cNvPicPr>
            <a:picLocks xmlns:a="http://schemas.openxmlformats.org/drawingml/2006/main" noChangeAspect="1"/>
          </p:cNvPicPr>
          <p:nvPr/>
        </p:nvPicPr>
        <p:blipFill>
          <a:blip xmlns:r="http://schemas.openxmlformats.org/officeDocument/2006/relationships" xmlns:a="http://schemas.openxmlformats.org/drawingml/2006/main" r:embed="Rd825725095d44781"/>
          <a:stretch xmlns:a="http://schemas.openxmlformats.org/drawingml/2006/main">
            <a:fillRect l="0" t="0" r="0" b="0"/>
          </a:stretch>
        </p:blipFill>
        <p:spPr>
          <a:xfrm xmlns:a="http://schemas.openxmlformats.org/drawingml/2006/main">
            <a:off x="229776" y="727223"/>
            <a:ext cx="8684447" cy="4036543"/>
          </a:xfrm>
          <a:prstGeom xmlns:a="http://schemas.openxmlformats.org/drawingml/2006/main" prst="rect">
            <a:avLst/>
          </a:prstGeom>
        </p:spPr>
      </p:pic>
    </p:spTree>
    <p:extLst>
      <p:ext uri="{BB962C8B-B14F-4D97-AF65-F5344CB8AC3E}">
        <p14:creationId xmlns:p14="http://schemas.microsoft.com/office/powerpoint/2010/main" val="2768566316"/>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Titre 1">
            <a:extLst xmlns:a="http://schemas.openxmlformats.org/drawingml/2006/main">
              <a:ext uri="{FF2B5EF4-FFF2-40B4-BE49-F238E27FC236}">
                <a16:creationId xmlns:a16="http://schemas.microsoft.com/office/drawing/2014/main" id="{6207702B-B513-D5D2-1B82-F66608F05626}"/>
              </a:ext>
            </a:extLst>
          </p:cNvPr>
          <p:cNvSpPr>
            <a:spLocks xmlns:a="http://schemas.openxmlformats.org/drawingml/2006/main" noGrp="1"/>
          </p:cNvSpPr>
          <p:nvPr>
            <p:ph type="title" idx="0"/>
          </p:nvPr>
        </p:nvSpPr>
        <p:spPr>
          <a:xfrm xmlns:a="http://schemas.openxmlformats.org/drawingml/2006/main">
            <a:off x="904875" y="252828"/>
            <a:ext cx="7532115" cy="601301"/>
          </a:xfrm>
        </p:spPr>
        <p:txBody>
          <a:bodyPr xmlns:a="http://schemas.openxmlformats.org/drawingml/2006/main">
            <a:normAutofit/>
          </a:bodyPr>
          <a:lstStyle xmlns:a="http://schemas.openxmlformats.org/drawingml/2006/main"/>
          <a:p xmlns:a="http://schemas.openxmlformats.org/drawingml/2006/main">
            <a:r>
              <a:t>IEEE 14: environment setup</a:t>
            </a:r>
          </a:p>
        </p:txBody>
      </p:sp>
      <p:sp>
        <p:nvSpPr>
          <p:cNvPr id="5" name="Espace réservé du numéro de diapositive 4">
            <a:extLst xmlns:a="http://schemas.openxmlformats.org/drawingml/2006/main">
              <a:ext uri="{FF2B5EF4-FFF2-40B4-BE49-F238E27FC236}">
                <a16:creationId xmlns:a16="http://schemas.microsoft.com/office/drawing/2014/main" id="{CB0B4397-783A-8F4C-DCA5-A01E63B921AA}"/>
              </a:ext>
            </a:extLst>
          </p:cNvPr>
          <p:cNvSpPr>
            <a:spLocks xmlns:a="http://schemas.openxmlformats.org/drawingml/2006/main" noGrp="1"/>
          </p:cNvSpPr>
          <p:nvPr>
            <p:ph type="sldNum" idx="12"/>
          </p:nvPr>
        </p:nvSpPr>
        <p:spPr>
          <a:xfrm xmlns:a="http://schemas.openxmlformats.org/drawingml/2006/main">
            <a:off x="8631238" y="227470"/>
            <a:ext cx="512762" cy="163552"/>
          </a:xfrm>
        </p:spPr>
        <p:txBody>
          <a:bodyPr xmlns:a="http://schemas.openxmlformats.org/drawingml/2006/main"/>
          <a:lstStyle xmlns:a="http://schemas.openxmlformats.org/drawingml/2006/main"/>
          <a:p xmlns:a="http://schemas.openxmlformats.org/drawingml/2006/main">
            <a:r>
              <a:t>5</a:t>
            </a:r>
          </a:p>
        </p:txBody>
      </p:sp>
      <p:graphicFrame>
        <p:nvGraphicFramePr>
          <p:cNvPr id="23" name="Tableau 2"/>
          <p:cNvGraphicFramePr/>
          <p:nvPr/>
        </p:nvGraphicFramePr>
        <p:xfrm>
          <a:off xmlns:a="http://schemas.openxmlformats.org/drawingml/2006/main" x="413974" y="2143669"/>
          <a:ext xmlns:a="http://schemas.openxmlformats.org/drawingml/2006/main" cx="4158026" cy="1280160"/>
        </p:xfrm>
        <a:graphic xmlns:a="http://schemas.openxmlformats.org/drawingml/2006/main">
          <a:graphicData uri="http://schemas.openxmlformats.org/drawingml/2006/table">
            <a:tbl>
              <a:tblPr>
                <a:tableStyleId>{9D7B26C5-4107-4FEC-AEDC-1716B250A1EF}</a:tableStyleId>
              </a:tblPr>
              <a:tblGrid>
                <a:gridCol w="848577"/>
                <a:gridCol w="1567672"/>
                <a:gridCol w="1741777"/>
              </a:tblGrid>
              <a:tr h="228725">
                <a:tc>
                  <a:txBody>
                    <a:bodyPr/>
                    <a:lstStyle/>
                    <a:p>
                      <a:pPr>
                        <a:buNone/>
                      </a:pPr>
                      <a:r>
                        <a:rPr sz="1200" b="1"/>
                        <a:t>Agent</a:t>
                      </a:r>
                    </a:p>
                  </a:txBody>
                  <a:tcPr marL="91440" marR="91440" marT="45720" marB="45720" anchor="ctr"/>
                </a:tc>
                <a:tc>
                  <a:txBody>
                    <a:bodyPr/>
                    <a:lstStyle/>
                    <a:p>
                      <a:pPr>
                        <a:buNone/>
                      </a:pPr>
                      <a:r>
                        <a:rPr sz="1200" b="1"/>
                        <a:t>Controlled</a:t>
                      </a:r>
                      <a:r>
                        <a:rPr sz="1200" b="1"/>
                        <a:t> </a:t>
                      </a:r>
                      <a:r>
                        <a:rPr sz="1200" b="1"/>
                        <a:t>substations</a:t>
                      </a:r>
                    </a:p>
                  </a:txBody>
                  <a:tcPr marL="91440" marR="91440" marT="45720" marB="45720" anchor="ctr"/>
                </a:tc>
                <a:tc>
                  <a:txBody>
                    <a:bodyPr/>
                    <a:lstStyle/>
                    <a:p>
                      <a:pPr>
                        <a:buNone/>
                      </a:pPr>
                      <a:r>
                        <a:rPr sz="1200" b="1"/>
                        <a:t>Local action </a:t>
                      </a:r>
                      <a:r>
                        <a:rPr sz="1200" b="1"/>
                        <a:t>space</a:t>
                      </a:r>
                    </a:p>
                  </a:txBody>
                  <a:tcPr marL="91440" marR="91440" marT="45720" marB="45720" anchor="ctr"/>
                </a:tc>
              </a:tr>
              <a:tr h="228725">
                <a:tc>
                  <a:txBody>
                    <a:bodyPr/>
                    <a:lstStyle/>
                    <a:p>
                      <a:pPr>
                        <a:buNone/>
                      </a:pPr>
                      <a:r>
                        <a:rPr sz="1200" b="1">
                          <a:solidFill>
                            <a:schemeClr val="tx1"/>
                          </a:solidFill>
                        </a:rPr>
                        <a:t>Agent 0</a:t>
                      </a:r>
                    </a:p>
                  </a:txBody>
                  <a:tcPr marL="91440" marR="91440" marT="45720" marB="45720" anchor="ctr">
                    <a:solidFill>
                      <a:schemeClr val="accent1">
                        <a:lumMod val="20000"/>
                        <a:lumOff val="80000"/>
                      </a:schemeClr>
                    </a:solidFill>
                  </a:tcPr>
                </a:tc>
                <a:tc>
                  <a:txBody>
                    <a:bodyPr/>
                    <a:lstStyle/>
                    <a:p>
                      <a:pPr>
                        <a:buNone/>
                      </a:pPr>
                      <a:r>
                        <a:rPr sz="1200"/>
                        <a:t>0, 1, 2, 4</a:t>
                      </a:r>
                    </a:p>
                  </a:txBody>
                  <a:tcPr marL="91440" marR="91440" marT="45720" marB="45720" anchor="ctr">
                    <a:solidFill>
                      <a:schemeClr val="accent1">
                        <a:lumMod val="20000"/>
                        <a:lumOff val="80000"/>
                      </a:schemeClr>
                    </a:solidFill>
                  </a:tcPr>
                </a:tc>
                <a:tc>
                  <a:txBody>
                    <a:bodyPr/>
                    <a:lstStyle/>
                    <a:p>
                      <a:pPr>
                        <a:buNone/>
                      </a:pPr>
                      <a:r>
                        <a:rPr sz="1200"/>
                        <a:t>61 actions</a:t>
                      </a:r>
                    </a:p>
                  </a:txBody>
                  <a:tcPr marL="91440" marR="91440" marT="45720" marB="45720" anchor="ctr">
                    <a:solidFill>
                      <a:schemeClr val="accent1">
                        <a:lumMod val="20000"/>
                        <a:lumOff val="80000"/>
                      </a:schemeClr>
                    </a:solidFill>
                  </a:tcPr>
                </a:tc>
              </a:tr>
              <a:tr h="228725">
                <a:tc>
                  <a:txBody>
                    <a:bodyPr/>
                    <a:lstStyle/>
                    <a:p>
                      <a:pPr>
                        <a:buNone/>
                      </a:pPr>
                      <a:r>
                        <a:rPr sz="1200" b="1">
                          <a:solidFill>
                            <a:schemeClr val="tx1"/>
                          </a:solidFill>
                        </a:rPr>
                        <a:t>Agent 1</a:t>
                      </a:r>
                    </a:p>
                  </a:txBody>
                  <a:tcPr marL="91440" marR="91440" marT="45720" marB="45720" anchor="ctr">
                    <a:solidFill>
                      <a:schemeClr val="accent5">
                        <a:lumMod val="20000"/>
                        <a:lumOff val="80000"/>
                      </a:schemeClr>
                    </a:solidFill>
                  </a:tcPr>
                </a:tc>
                <a:tc>
                  <a:txBody>
                    <a:bodyPr/>
                    <a:lstStyle/>
                    <a:p>
                      <a:pPr>
                        <a:buNone/>
                      </a:pPr>
                      <a:r>
                        <a:rPr sz="1200"/>
                        <a:t>3, 6, 7, 8</a:t>
                      </a:r>
                    </a:p>
                  </a:txBody>
                  <a:tcPr marL="91440" marR="91440" marT="45720" marB="45720" anchor="ctr">
                    <a:solidFill>
                      <a:schemeClr val="accent5">
                        <a:lumMod val="20000"/>
                        <a:lumOff val="80000"/>
                      </a:schemeClr>
                    </a:solidFill>
                  </a:tcPr>
                </a:tc>
                <a:tc>
                  <a:txBody>
                    <a:bodyPr/>
                    <a:lstStyle/>
                    <a:p>
                      <a:pPr>
                        <a:buNone/>
                      </a:pPr>
                      <a:r>
                        <a:rPr sz="1200"/>
                        <a:t>55 actions</a:t>
                      </a:r>
                    </a:p>
                  </a:txBody>
                  <a:tcPr marL="91440" marR="91440" marT="45720" marB="45720" anchor="ctr">
                    <a:solidFill>
                      <a:schemeClr val="accent5">
                        <a:lumMod val="20000"/>
                        <a:lumOff val="80000"/>
                      </a:schemeClr>
                    </a:solidFill>
                  </a:tcPr>
                </a:tc>
              </a:tr>
              <a:tr h="228725">
                <a:tc>
                  <a:txBody>
                    <a:bodyPr/>
                    <a:lstStyle/>
                    <a:p>
                      <a:pPr>
                        <a:buNone/>
                      </a:pPr>
                      <a:r>
                        <a:rPr sz="1200" b="1">
                          <a:solidFill>
                            <a:schemeClr val="tx1"/>
                          </a:solidFill>
                        </a:rPr>
                        <a:t>Agent 2</a:t>
                      </a:r>
                    </a:p>
                  </a:txBody>
                  <a:tcPr marL="91440" marR="91440" marT="45720" marB="45720" anchor="ctr">
                    <a:solidFill>
                      <a:srgbClr val="00A79F">
                        <a:alpha val="20000"/>
                      </a:srgbClr>
                    </a:solidFill>
                  </a:tcPr>
                </a:tc>
                <a:tc>
                  <a:txBody>
                    <a:bodyPr/>
                    <a:lstStyle/>
                    <a:p>
                      <a:pPr>
                        <a:buNone/>
                      </a:pPr>
                      <a:r>
                        <a:rPr sz="1200"/>
                        <a:t>5, 9, 10, 11, 12, 13</a:t>
                      </a:r>
                    </a:p>
                  </a:txBody>
                  <a:tcPr marL="91440" marR="91440" marT="45720" marB="45720" anchor="ctr">
                    <a:solidFill>
                      <a:srgbClr val="00A79F">
                        <a:alpha val="20000"/>
                      </a:srgbClr>
                    </a:solidFill>
                  </a:tcPr>
                </a:tc>
                <a:tc>
                  <a:txBody>
                    <a:bodyPr/>
                    <a:lstStyle/>
                    <a:p>
                      <a:pPr>
                        <a:buNone/>
                      </a:pPr>
                      <a:r>
                        <a:rPr sz="1200"/>
                        <a:t>89 actions</a:t>
                      </a:r>
                    </a:p>
                  </a:txBody>
                  <a:tcPr marL="91440" marR="91440" marT="45720" marB="45720" anchor="ctr">
                    <a:solidFill>
                      <a:srgbClr val="00A79F">
                        <a:alpha val="20000"/>
                      </a:srgbClr>
                    </a:solidFill>
                  </a:tcPr>
                </a:tc>
              </a:tr>
            </a:tbl>
          </a:graphicData>
        </a:graphic>
      </p:graphicFrame>
      <p:sp>
        <p:nvSpPr>
          <p:cNvPr id="16" name="ZoneTexte 15">
            <a:extLst xmlns:a="http://schemas.openxmlformats.org/drawingml/2006/main">
              <a:ext uri="{FF2B5EF4-FFF2-40B4-BE49-F238E27FC236}">
                <a16:creationId xmlns:a16="http://schemas.microsoft.com/office/drawing/2014/main" id="{384ADD36-2ADA-8EDC-A274-D485A962BDED}"/>
              </a:ext>
            </a:extLst>
          </p:cNvPr>
          <p:cNvSpPr>
            <a:spLocks xmlns:a="http://schemas.openxmlformats.org/drawingml/2006/main" noGrp="1"/>
          </p:cNvSpPr>
          <p:nvPr/>
        </p:nvSpPr>
        <p:spPr>
          <a:xfrm xmlns:a="http://schemas.openxmlformats.org/drawingml/2006/main">
            <a:off x="413975" y="3484195"/>
            <a:ext cx="4158025" cy="430887"/>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1100" b="1" i="1">
                <a:latin typeface="Times New Roman"/>
                <a:ea typeface="Times New Roman"/>
                <a:cs typeface="Times New Roman"/>
              </a:rPr>
              <a:t>Table 1: </a:t>
            </a:r>
            <a:r>
              <a:rPr sz="1100" b="1" i="1">
                <a:latin typeface="Times New Roman"/>
                <a:ea typeface="Times New Roman"/>
                <a:cs typeface="Times New Roman"/>
              </a:rPr>
              <a:t>Agent-to-</a:t>
            </a:r>
            <a:r>
              <a:rPr sz="1100" b="1" i="1">
                <a:latin typeface="Times New Roman"/>
                <a:ea typeface="Times New Roman"/>
                <a:cs typeface="Times New Roman"/>
              </a:rPr>
              <a:t>substation</a:t>
            </a:r>
            <a:r>
              <a:rPr sz="1100" b="1" i="1">
                <a:latin typeface="Times New Roman"/>
                <a:ea typeface="Times New Roman"/>
                <a:cs typeface="Times New Roman"/>
              </a:rPr>
              <a:t> </a:t>
            </a:r>
            <a:r>
              <a:rPr sz="1100" b="1" i="1">
                <a:latin typeface="Times New Roman"/>
                <a:ea typeface="Times New Roman"/>
                <a:cs typeface="Times New Roman"/>
              </a:rPr>
              <a:t>assignments</a:t>
            </a:r>
            <a:r>
              <a:rPr sz="1100" b="1" i="1">
                <a:latin typeface="Times New Roman"/>
                <a:ea typeface="Times New Roman"/>
                <a:cs typeface="Times New Roman"/>
              </a:rPr>
              <a:t> and action </a:t>
            </a:r>
            <a:r>
              <a:rPr sz="1100" b="1" i="1">
                <a:latin typeface="Times New Roman"/>
                <a:ea typeface="Times New Roman"/>
                <a:cs typeface="Times New Roman"/>
              </a:rPr>
              <a:t>space</a:t>
            </a:r>
            <a:r>
              <a:rPr sz="1100" b="1" i="1">
                <a:latin typeface="Times New Roman"/>
                <a:ea typeface="Times New Roman"/>
                <a:cs typeface="Times New Roman"/>
              </a:rPr>
              <a:t> for the local observation setup of bus14</a:t>
            </a:r>
          </a:p>
        </p:txBody>
      </p:sp>
      <p:pic>
        <p:nvPicPr>
          <p:cNvPr id="25" name="Picture 4"/>
          <p:cNvPicPr>
            <a:picLocks xmlns:a="http://schemas.openxmlformats.org/drawingml/2006/main" noChangeAspect="1"/>
          </p:cNvPicPr>
          <p:nvPr/>
        </p:nvPicPr>
        <p:blipFill>
          <a:blip xmlns:r="http://schemas.openxmlformats.org/officeDocument/2006/relationships" xmlns:a="http://schemas.openxmlformats.org/drawingml/2006/main" r:embed="R9c60a7ee684b41cc"/>
          <a:srcRect xmlns:a="http://schemas.openxmlformats.org/drawingml/2006/main" l="0" t="0" r="0" b="0"/>
          <a:stretch xmlns:a="http://schemas.openxmlformats.org/drawingml/2006/main">
            <a:fillRect l="0" t="0" r="0" b="0"/>
          </a:stretch>
        </p:blipFill>
        <p:spPr>
          <a:xfrm xmlns:a="http://schemas.openxmlformats.org/drawingml/2006/main" rot="0" flipH="0" flipV="0">
            <a:off x="5371232" y="1454762"/>
            <a:ext cx="3389210" cy="2360755"/>
          </a:xfrm>
          <a:prstGeom xmlns:a="http://schemas.openxmlformats.org/drawingml/2006/main" prst="rect">
            <a:avLst/>
          </a:prstGeom>
        </p:spPr>
      </p:pic>
      <p:sp>
        <p:nvSpPr>
          <p:cNvPr id="11" name="Ellipse 10">
            <a:extLst xmlns:a="http://schemas.openxmlformats.org/drawingml/2006/main">
              <a:ext uri="{FF2B5EF4-FFF2-40B4-BE49-F238E27FC236}">
                <a16:creationId xmlns:a16="http://schemas.microsoft.com/office/drawing/2014/main" id="{59F05358-FA7C-8A01-E6B2-808671617B24}"/>
              </a:ext>
            </a:extLst>
          </p:cNvPr>
          <p:cNvSpPr>
            <a:spLocks xmlns:a="http://schemas.openxmlformats.org/drawingml/2006/main" noGrp="1"/>
          </p:cNvSpPr>
          <p:nvPr/>
        </p:nvSpPr>
        <p:spPr>
          <a:xfrm xmlns:a="http://schemas.openxmlformats.org/drawingml/2006/main" rot="382824" flipH="0" flipV="0">
            <a:off x="5052973" y="2674479"/>
            <a:ext cx="3305056" cy="1137142"/>
          </a:xfrm>
          <a:prstGeom xmlns:a="http://schemas.openxmlformats.org/drawingml/2006/main" prst="ellipse">
            <a:avLst/>
          </a:prstGeom>
          <a:solidFill xmlns:a="http://schemas.openxmlformats.org/drawingml/2006/main">
            <a:srgbClr val="E30613">
              <a:alpha val="20000"/>
            </a:srgbClr>
          </a:solidFill>
          <a:ln xmlns:a="http://schemas.openxmlformats.org/drawingml/2006/main" w="38100"/>
        </p:spPr>
        <p:style>
          <a:lnRef xmlns:a="http://schemas.openxmlformats.org/drawingml/2006/main" idx="2">
            <a:schemeClr val="accent6"/>
          </a:lnRef>
          <a:fillRef xmlns:a="http://schemas.openxmlformats.org/drawingml/2006/main" idx="1">
            <a:schemeClr val="lt1"/>
          </a:fillRef>
          <a:effectRef xmlns:a="http://schemas.openxmlformats.org/drawingml/2006/main" idx="0">
            <a:schemeClr val="accent6"/>
          </a:effectRef>
          <a:fontRef xmlns:a="http://schemas.openxmlformats.org/drawingml/2006/main" idx="minor">
            <a:schemeClr val="dk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Ellipse 11">
            <a:extLst xmlns:a="http://schemas.openxmlformats.org/drawingml/2006/main">
              <a:ext uri="{FF2B5EF4-FFF2-40B4-BE49-F238E27FC236}">
                <a16:creationId xmlns:a16="http://schemas.microsoft.com/office/drawing/2014/main" id="{79833AAD-52F8-33A9-B062-355D86F3E6DC}"/>
              </a:ext>
            </a:extLst>
          </p:cNvPr>
          <p:cNvSpPr>
            <a:spLocks xmlns:a="http://schemas.openxmlformats.org/drawingml/2006/main" noGrp="1"/>
          </p:cNvSpPr>
          <p:nvPr/>
        </p:nvSpPr>
        <p:spPr>
          <a:xfrm xmlns:a="http://schemas.openxmlformats.org/drawingml/2006/main" rot="382824" flipH="0" flipV="0">
            <a:off x="7347899" y="2317457"/>
            <a:ext cx="1505389" cy="701748"/>
          </a:xfrm>
          <a:prstGeom xmlns:a="http://schemas.openxmlformats.org/drawingml/2006/main" prst="ellipse">
            <a:avLst/>
          </a:prstGeom>
          <a:solidFill xmlns:a="http://schemas.openxmlformats.org/drawingml/2006/main">
            <a:schemeClr val="accent5">
              <a:alpha val="20000"/>
            </a:schemeClr>
          </a:solidFill>
          <a:ln xmlns:a="http://schemas.openxmlformats.org/drawingml/2006/main" w="38100">
            <a:solidFill>
              <a:schemeClr val="accent5"/>
            </a:solidFill>
          </a:ln>
        </p:spPr>
        <p:style>
          <a:lnRef xmlns:a="http://schemas.openxmlformats.org/drawingml/2006/main" idx="2">
            <a:schemeClr val="accent6"/>
          </a:lnRef>
          <a:fillRef xmlns:a="http://schemas.openxmlformats.org/drawingml/2006/main" idx="1">
            <a:schemeClr val="lt1"/>
          </a:fillRef>
          <a:effectRef xmlns:a="http://schemas.openxmlformats.org/drawingml/2006/main" idx="0">
            <a:schemeClr val="accent6"/>
          </a:effectRef>
          <a:fontRef xmlns:a="http://schemas.openxmlformats.org/drawingml/2006/main" idx="minor">
            <a:schemeClr val="dk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Ellipse 12">
            <a:extLst xmlns:a="http://schemas.openxmlformats.org/drawingml/2006/main">
              <a:ext uri="{FF2B5EF4-FFF2-40B4-BE49-F238E27FC236}">
                <a16:creationId xmlns:a16="http://schemas.microsoft.com/office/drawing/2014/main" id="{2162AEE4-43B2-1A64-76F9-1CB43AC68F3F}"/>
              </a:ext>
            </a:extLst>
          </p:cNvPr>
          <p:cNvSpPr>
            <a:spLocks xmlns:a="http://schemas.openxmlformats.org/drawingml/2006/main" noGrp="1"/>
          </p:cNvSpPr>
          <p:nvPr/>
        </p:nvSpPr>
        <p:spPr>
          <a:xfrm xmlns:a="http://schemas.openxmlformats.org/drawingml/2006/main" rot="21446684" flipH="0" flipV="0">
            <a:off x="5306781" y="1443277"/>
            <a:ext cx="2458611" cy="1165836"/>
          </a:xfrm>
          <a:prstGeom xmlns:a="http://schemas.openxmlformats.org/drawingml/2006/main" prst="ellipse">
            <a:avLst/>
          </a:prstGeom>
          <a:solidFill xmlns:a="http://schemas.openxmlformats.org/drawingml/2006/main">
            <a:schemeClr val="accent2">
              <a:alpha val="20000"/>
            </a:schemeClr>
          </a:solidFill>
          <a:ln xmlns:a="http://schemas.openxmlformats.org/drawingml/2006/main" w="38100">
            <a:solidFill>
              <a:schemeClr val="accent2"/>
            </a:solidFill>
          </a:ln>
        </p:spPr>
        <p:style>
          <a:lnRef xmlns:a="http://schemas.openxmlformats.org/drawingml/2006/main" idx="2">
            <a:schemeClr val="accent6"/>
          </a:lnRef>
          <a:fillRef xmlns:a="http://schemas.openxmlformats.org/drawingml/2006/main" idx="1">
            <a:schemeClr val="lt1"/>
          </a:fillRef>
          <a:effectRef xmlns:a="http://schemas.openxmlformats.org/drawingml/2006/main" idx="0">
            <a:schemeClr val="accent6"/>
          </a:effectRef>
          <a:fontRef xmlns:a="http://schemas.openxmlformats.org/drawingml/2006/main" idx="minor">
            <a:schemeClr val="dk1"/>
          </a:fontRef>
        </p:style>
        <p:txBody>
          <a:bodyPr xmlns:a="http://schemas.openxmlformats.org/drawingml/2006/main" anchor="ctr"/>
          <a:lstStyle xmlns:a="http://schemas.openxmlformats.org/drawingml/2006/main"/>
          <a:p xmlns:a="http://schemas.openxmlformats.org/drawingml/2006/main">
            <a:pPr algn="ctr">
              <a:buNone/>
            </a:pPr>
          </a:p>
        </p:txBody>
      </p:sp>
      <p:sp>
        <p:nvSpPr>
          <p:cNvPr id="17" name="ZoneTexte 16">
            <a:extLst xmlns:a="http://schemas.openxmlformats.org/drawingml/2006/main">
              <a:ext uri="{FF2B5EF4-FFF2-40B4-BE49-F238E27FC236}">
                <a16:creationId xmlns:a16="http://schemas.microsoft.com/office/drawing/2014/main" id="{BCC9E87C-4691-8667-8E1A-52BDD1B298C0}"/>
              </a:ext>
            </a:extLst>
          </p:cNvPr>
          <p:cNvSpPr>
            <a:spLocks xmlns:a="http://schemas.openxmlformats.org/drawingml/2006/main" noGrp="1"/>
          </p:cNvSpPr>
          <p:nvPr/>
        </p:nvSpPr>
        <p:spPr>
          <a:xfrm xmlns:a="http://schemas.openxmlformats.org/drawingml/2006/main" rot="0" flipH="0" flipV="0">
            <a:off x="5000025" y="3915082"/>
            <a:ext cx="3887594" cy="430887"/>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1100" b="1" i="1">
                <a:latin typeface="Times New Roman"/>
                <a:ea typeface="Times New Roman"/>
                <a:cs typeface="Times New Roman"/>
              </a:rPr>
              <a:t>Fig 1: </a:t>
            </a:r>
            <a:r>
              <a:rPr sz="1100" b="1" i="1">
                <a:latin typeface="Times New Roman"/>
                <a:ea typeface="Times New Roman"/>
                <a:cs typeface="Times New Roman"/>
              </a:rPr>
              <a:t>Substations</a:t>
            </a:r>
            <a:r>
              <a:rPr sz="1100" b="1" i="1">
                <a:latin typeface="Times New Roman"/>
                <a:ea typeface="Times New Roman"/>
                <a:cs typeface="Times New Roman"/>
              </a:rPr>
              <a:t> </a:t>
            </a:r>
            <a:r>
              <a:rPr sz="1100" b="1" i="1">
                <a:latin typeface="Times New Roman"/>
                <a:ea typeface="Times New Roman"/>
                <a:cs typeface="Times New Roman"/>
              </a:rPr>
              <a:t>controlled</a:t>
            </a:r>
            <a:r>
              <a:rPr sz="1100" b="1" i="1">
                <a:latin typeface="Times New Roman"/>
                <a:ea typeface="Times New Roman"/>
                <a:cs typeface="Times New Roman"/>
              </a:rPr>
              <a:t> by </a:t>
            </a:r>
            <a:r>
              <a:rPr sz="1100" b="1" i="1">
                <a:latin typeface="Times New Roman"/>
                <a:ea typeface="Times New Roman"/>
                <a:cs typeface="Times New Roman"/>
              </a:rPr>
              <a:t>each</a:t>
            </a:r>
            <a:r>
              <a:rPr sz="1100" b="1" i="1">
                <a:latin typeface="Times New Roman"/>
                <a:ea typeface="Times New Roman"/>
                <a:cs typeface="Times New Roman"/>
              </a:rPr>
              <a:t> agents, l2rpn_sandbox </a:t>
            </a:r>
            <a:r>
              <a:rPr sz="1100" b="1" i="1">
                <a:latin typeface="Times New Roman"/>
                <a:ea typeface="Times New Roman"/>
                <a:cs typeface="Times New Roman"/>
              </a:rPr>
              <a:t>environment</a:t>
            </a:r>
          </a:p>
        </p:txBody>
      </p:sp>
      <p:pic>
        <p:nvPicPr>
          <p:cNvPr id="30" name="Picture 2"/>
          <p:cNvPicPr>
            <a:picLocks xmlns:a="http://schemas.openxmlformats.org/drawingml/2006/main" noChangeAspect="1"/>
          </p:cNvPicPr>
          <p:nvPr/>
        </p:nvPicPr>
        <p:blipFill>
          <a:blip xmlns:r="http://schemas.openxmlformats.org/officeDocument/2006/relationships" xmlns:a="http://schemas.openxmlformats.org/drawingml/2006/main" r:embed="Rdd75f75718e244c5"/>
          <a:srcRect xmlns:a="http://schemas.openxmlformats.org/drawingml/2006/main" l="0" t="0" r="0" b="0"/>
          <a:stretch xmlns:a="http://schemas.openxmlformats.org/drawingml/2006/main">
            <a:fillRect l="0" t="0" r="0" b="0"/>
          </a:stretch>
        </p:blipFill>
        <p:spPr>
          <a:xfrm xmlns:a="http://schemas.openxmlformats.org/drawingml/2006/main">
            <a:off x="158055" y="379734"/>
            <a:ext cx="587504" cy="326391"/>
          </a:xfrm>
          <a:prstGeom xmlns:a="http://schemas.openxmlformats.org/drawingml/2006/main" prst="rect">
            <a:avLst/>
          </a:prstGeom>
        </p:spPr>
      </p:pic>
    </p:spTree>
    <p:extLst>
      <p:ext uri="{BB962C8B-B14F-4D97-AF65-F5344CB8AC3E}">
        <p14:creationId xmlns:p14="http://schemas.microsoft.com/office/powerpoint/2010/main" val="2782289410"/>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Titre 1">
            <a:extLst xmlns:a="http://schemas.openxmlformats.org/drawingml/2006/main">
              <a:ext uri="{FF2B5EF4-FFF2-40B4-BE49-F238E27FC236}">
                <a16:creationId xmlns:a16="http://schemas.microsoft.com/office/drawing/2014/main" id="{10EA0D2E-C29B-B6B6-C524-2AD48170DF66}"/>
              </a:ext>
            </a:extLst>
          </p:cNvPr>
          <p:cNvSpPr>
            <a:spLocks xmlns:a="http://schemas.openxmlformats.org/drawingml/2006/main" noGrp="1"/>
          </p:cNvSpPr>
          <p:nvPr>
            <p:ph type="title" idx="0"/>
          </p:nvPr>
        </p:nvSpPr>
        <p:spPr>
          <a:xfrm xmlns:a="http://schemas.openxmlformats.org/drawingml/2006/main">
            <a:off x="904875" y="252828"/>
            <a:ext cx="7532115" cy="601301"/>
          </a:xfrm>
        </p:spPr>
        <p:txBody>
          <a:bodyPr xmlns:a="http://schemas.openxmlformats.org/drawingml/2006/main">
            <a:normAutofit/>
          </a:bodyPr>
          <a:lstStyle xmlns:a="http://schemas.openxmlformats.org/drawingml/2006/main"/>
          <a:p xmlns:a="http://schemas.openxmlformats.org/drawingml/2006/main">
            <a:r>
              <a:t>IEEE 14: Baseline, Original Hyperparameters</a:t>
            </a:r>
          </a:p>
        </p:txBody>
      </p:sp>
      <p:sp>
        <p:nvSpPr>
          <p:cNvPr id="5" name="Espace réservé du numéro de diapositive 4">
            <a:extLst xmlns:a="http://schemas.openxmlformats.org/drawingml/2006/main">
              <a:ext uri="{FF2B5EF4-FFF2-40B4-BE49-F238E27FC236}">
                <a16:creationId xmlns:a16="http://schemas.microsoft.com/office/drawing/2014/main" id="{9F001702-6D56-EF0F-70AD-4407FF053C5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r>
              <a:t>6</a:t>
            </a:r>
          </a:p>
        </p:txBody>
      </p:sp>
      <p:pic>
        <p:nvPicPr>
          <p:cNvPr id="18" name="Picture 2"/>
          <p:cNvPicPr>
            <a:picLocks xmlns:a="http://schemas.openxmlformats.org/drawingml/2006/main" noChangeAspect="1"/>
          </p:cNvPicPr>
          <p:nvPr/>
        </p:nvPicPr>
        <p:blipFill>
          <a:blip xmlns:r="http://schemas.openxmlformats.org/officeDocument/2006/relationships" xmlns:a="http://schemas.openxmlformats.org/drawingml/2006/main" r:embed="R3253aec755b14437"/>
          <a:srcRect xmlns:a="http://schemas.openxmlformats.org/drawingml/2006/main" l="0" t="0" r="0" b="0"/>
          <a:stretch xmlns:a="http://schemas.openxmlformats.org/drawingml/2006/main">
            <a:fillRect l="0" t="0" r="0" b="0"/>
          </a:stretch>
        </p:blipFill>
        <p:spPr>
          <a:xfrm xmlns:a="http://schemas.openxmlformats.org/drawingml/2006/main">
            <a:off x="158055" y="379734"/>
            <a:ext cx="587504" cy="326391"/>
          </a:xfrm>
          <a:prstGeom xmlns:a="http://schemas.openxmlformats.org/drawingml/2006/main" prst="rect">
            <a:avLst/>
          </a:prstGeom>
        </p:spPr>
      </p:pic>
      <p:sp>
        <p:nvSpPr>
          <p:cNvPr id="3" name="training-network-table-frame">
            <a:extLst xmlns:a="http://schemas.openxmlformats.org/drawingml/2006/main">
              <a:ext uri="{FF2B5EF4-FFF2-40B4-BE49-F238E27FC236}">
                <a16:creationId xmlns:a16="http://schemas.microsoft.com/office/drawing/2014/main" id="{11287035-067B-55CE-4106-2D39832D892D}"/>
              </a:ext>
            </a:extLst>
          </p:cNvPr>
          <p:cNvSpPr>
            <a:spLocks xmlns:a="http://schemas.openxmlformats.org/drawingml/2006/main" noGrp="1"/>
          </p:cNvSpPr>
          <p:nvPr/>
        </p:nvSpPr>
        <p:spPr>
          <a:xfrm xmlns:a="http://schemas.openxmlformats.org/drawingml/2006/main">
            <a:off x="1000837" y="725677"/>
            <a:ext cx="3318401" cy="3943350"/>
          </a:xfrm>
          <a:prstGeom xmlns:a="http://schemas.openxmlformats.org/drawingml/2006/main" prst="roundRect">
            <a:avLst>
              <a:gd name="adj" fmla="val 2703"/>
            </a:avLst>
          </a:prstGeom>
          <a:solidFill xmlns:a="http://schemas.openxmlformats.org/drawingml/2006/main">
            <a:srgbClr val="FBFCFD"/>
          </a:solidFill>
          <a:ln xmlns:a="http://schemas.openxmlformats.org/drawingml/2006/main" w="9525">
            <a:solidFill>
              <a:srgbClr val="DDE4E8"/>
            </a:solidFill>
            <a:prstDash val="solid"/>
          </a:ln>
        </p:spPr>
        <p:txBody>
          <a:bodyPr xmlns:a="http://schemas.openxmlformats.org/drawingml/2006/main"/>
          <a:lstStyle xmlns:a="http://schemas.openxmlformats.org/drawingml/2006/main"/>
          <a:p xmlns:a="http://schemas.openxmlformats.org/drawingml/2006/main"/>
        </p:txBody>
      </p:sp>
      <p:sp>
        <p:nvSpPr>
          <p:cNvPr id="8" name="ppo-table-frame">
            <a:extLst xmlns:a="http://schemas.openxmlformats.org/drawingml/2006/main">
              <a:ext uri="{FF2B5EF4-FFF2-40B4-BE49-F238E27FC236}">
                <a16:creationId xmlns:a16="http://schemas.microsoft.com/office/drawing/2014/main" id="{C6498A86-D25A-2D82-CCB4-3902014DE4F1}"/>
              </a:ext>
            </a:extLst>
          </p:cNvPr>
          <p:cNvSpPr>
            <a:spLocks xmlns:a="http://schemas.openxmlformats.org/drawingml/2006/main" noGrp="1"/>
          </p:cNvSpPr>
          <p:nvPr/>
        </p:nvSpPr>
        <p:spPr>
          <a:xfrm xmlns:a="http://schemas.openxmlformats.org/drawingml/2006/main">
            <a:off x="4572000" y="725677"/>
            <a:ext cx="3726146" cy="3943350"/>
          </a:xfrm>
          <a:prstGeom xmlns:a="http://schemas.openxmlformats.org/drawingml/2006/main" prst="roundRect">
            <a:avLst>
              <a:gd name="adj" fmla="val 2703"/>
            </a:avLst>
          </a:prstGeom>
          <a:solidFill xmlns:a="http://schemas.openxmlformats.org/drawingml/2006/main">
            <a:srgbClr val="FBFCFD"/>
          </a:solidFill>
          <a:ln xmlns:a="http://schemas.openxmlformats.org/drawingml/2006/main" w="9525">
            <a:solidFill>
              <a:srgbClr val="DDE4E8"/>
            </a:solidFill>
            <a:prstDash val="solid"/>
          </a:ln>
        </p:spPr>
        <p:txBody>
          <a:bodyPr xmlns:a="http://schemas.openxmlformats.org/drawingml/2006/main"/>
          <a:lstStyle xmlns:a="http://schemas.openxmlformats.org/drawingml/2006/main"/>
          <a:p xmlns:a="http://schemas.openxmlformats.org/drawingml/2006/main"/>
        </p:txBody>
      </p:sp>
      <p:graphicFrame>
        <p:nvGraphicFramePr>
          <p:cNvPr id="21" name="Tableau 8"/>
          <p:cNvGraphicFramePr/>
          <p:nvPr/>
        </p:nvGraphicFramePr>
        <p:xfrm>
          <a:off xmlns:a="http://schemas.openxmlformats.org/drawingml/2006/main" x="1158851" y="854129"/>
          <a:ext xmlns:a="http://schemas.openxmlformats.org/drawingml/2006/main" cx="2985944" cy="3686445"/>
        </p:xfrm>
        <a:graphic xmlns:a="http://schemas.openxmlformats.org/drawingml/2006/main">
          <a:graphicData uri="http://schemas.openxmlformats.org/drawingml/2006/table">
            <a:tbl>
              <a:tblPr/>
              <a:tblGrid>
                <a:gridCol w="1916267"/>
                <a:gridCol w="1069677"/>
              </a:tblGrid>
              <a:tr h="363885">
                <a:tc>
                  <a:txBody>
                    <a:bodyPr/>
                    <a:lstStyle/>
                    <a:p>
                      <a:r>
                        <a:rPr sz="1125" b="1">
                          <a:solidFill>
                            <a:srgbClr val="263641"/>
                          </a:solidFill>
                        </a:rPr>
                        <a:t>Hyperparameter</a:t>
                      </a:r>
                    </a:p>
                  </a:txBody>
                  <a:tcPr marL="91440" marR="91440" marT="45720" marB="45720">
                    <a:solidFill>
                      <a:srgbClr val="F1F4F6"/>
                    </a:solidFill>
                  </a:tcPr>
                </a:tc>
                <a:tc>
                  <a:txBody>
                    <a:bodyPr/>
                    <a:lstStyle/>
                    <a:p>
                      <a:r>
                        <a:rPr sz="1125" b="1">
                          <a:solidFill>
                            <a:srgbClr val="263641"/>
                          </a:solidFill>
                        </a:rPr>
                        <a:t>Value</a:t>
                      </a:r>
                    </a:p>
                  </a:txBody>
                  <a:tcPr marL="91440" marR="91440" marT="45720" marB="45720">
                    <a:solidFill>
                      <a:srgbClr val="F1F4F6"/>
                    </a:solidFill>
                  </a:tcPr>
                </a:tc>
              </a:tr>
              <a:tr h="363885">
                <a:tc gridSpan="2">
                  <a:txBody>
                    <a:bodyPr/>
                    <a:lstStyle/>
                    <a:p>
                      <a:r>
                        <a:rPr sz="1050" b="1">
                          <a:solidFill>
                            <a:srgbClr val="A75A24"/>
                          </a:solidFill>
                        </a:rPr>
                        <a:t>TRAINING</a:t>
                      </a:r>
                    </a:p>
                  </a:txBody>
                  <a:tcPr marL="91440" marR="91440" marT="45720" marB="45720">
                    <a:solidFill>
                      <a:srgbClr val="FFF2E8"/>
                    </a:solidFill>
                  </a:tcPr>
                </a:tc>
                <a:tc hMerge="1">
                  <a:txBody>
                    <a:bodyPr/>
                    <a:lstStyle/>
                    <a:p/>
                  </a:txBody>
                  <a:tcPr marL="91440" marR="91440" marT="45720" marB="45720">
                    <a:solidFill>
                      <a:srgbClr val="FFFFFF"/>
                    </a:solidFill>
                  </a:tcPr>
                </a:tc>
              </a:tr>
              <a:tr h="363885">
                <a:tc>
                  <a:txBody>
                    <a:bodyPr/>
                    <a:lstStyle/>
                    <a:p>
                      <a:r>
                        <a:rPr sz="1050" b="0">
                          <a:solidFill>
                            <a:srgbClr val="415466"/>
                          </a:solidFill>
                        </a:rPr>
                        <a:t>Total timesteps</a:t>
                      </a:r>
                    </a:p>
                  </a:txBody>
                  <a:tcPr marL="91440" marR="91440" marT="45720" marB="45720">
                    <a:solidFill>
                      <a:srgbClr val="FFFFFF"/>
                    </a:solidFill>
                  </a:tcPr>
                </a:tc>
                <a:tc>
                  <a:txBody>
                    <a:bodyPr/>
                    <a:lstStyle/>
                    <a:p>
                      <a:r>
                        <a:rPr sz="1125" b="0">
                          <a:solidFill>
                            <a:schemeClr val="tx1"/>
                          </a:solidFill>
                        </a:rPr>
                        <a:t>25M</a:t>
                      </a:r>
                    </a:p>
                  </a:txBody>
                  <a:tcPr marL="91440" marR="91440" marT="45720" marB="45720">
                    <a:solidFill>
                      <a:srgbClr val="FFFFFF"/>
                    </a:solidFill>
                  </a:tcPr>
                </a:tc>
              </a:tr>
              <a:tr h="363885">
                <a:tc>
                  <a:txBody>
                    <a:bodyPr/>
                    <a:lstStyle/>
                    <a:p>
                      <a:r>
                        <a:rPr sz="1050" b="0">
                          <a:solidFill>
                            <a:srgbClr val="415466"/>
                          </a:solidFill>
                        </a:rPr>
                        <a:t>Rollout steps per environment</a:t>
                      </a:r>
                    </a:p>
                  </a:txBody>
                  <a:tcPr marL="91440" marR="91440" marT="45720" marB="45720">
                    <a:solidFill>
                      <a:srgbClr val="FFFFFF"/>
                    </a:solidFill>
                  </a:tcPr>
                </a:tc>
                <a:tc>
                  <a:txBody>
                    <a:bodyPr/>
                    <a:lstStyle/>
                    <a:p>
                      <a:r>
                        <a:rPr sz="1050" b="0">
                          <a:solidFill>
                            <a:srgbClr val="415466"/>
                          </a:solidFill>
                        </a:rPr>
                        <a:t>2,000</a:t>
                      </a:r>
                    </a:p>
                  </a:txBody>
                  <a:tcPr marL="91440" marR="91440" marT="45720" marB="45720">
                    <a:solidFill>
                      <a:srgbClr val="FFFFFF"/>
                    </a:solidFill>
                  </a:tcPr>
                </a:tc>
              </a:tr>
              <a:tr h="363885">
                <a:tc>
                  <a:txBody>
                    <a:bodyPr/>
                    <a:lstStyle/>
                    <a:p>
                      <a:r>
                        <a:rPr sz="1050" b="0">
                          <a:solidFill>
                            <a:srgbClr val="415466"/>
                          </a:solidFill>
                        </a:rPr>
                        <a:t>Total rollout batch</a:t>
                      </a:r>
                    </a:p>
                  </a:txBody>
                  <a:tcPr marL="91440" marR="91440" marT="45720" marB="45720">
                    <a:solidFill>
                      <a:srgbClr val="FFFFFF"/>
                    </a:solidFill>
                  </a:tcPr>
                </a:tc>
                <a:tc>
                  <a:txBody>
                    <a:bodyPr/>
                    <a:lstStyle/>
                    <a:p>
                      <a:r>
                        <a:rPr sz="1125" b="0">
                          <a:solidFill>
                            <a:schemeClr val="tx1"/>
                          </a:solidFill>
                        </a:rPr>
                        <a:t>20,000</a:t>
                      </a:r>
                    </a:p>
                  </a:txBody>
                  <a:tcPr marL="91440" marR="91440" marT="45720" marB="45720">
                    <a:solidFill>
                      <a:srgbClr val="FFFFFF"/>
                    </a:solidFill>
                  </a:tcPr>
                </a:tc>
              </a:tr>
              <a:tr h="363885">
                <a:tc>
                  <a:txBody>
                    <a:bodyPr/>
                    <a:lstStyle/>
                    <a:p>
                      <a:r>
                        <a:rPr sz="1050" b="0">
                          <a:solidFill>
                            <a:srgbClr val="415466"/>
                          </a:solidFill>
                        </a:rPr>
                        <a:t>Evaluation frequency</a:t>
                      </a:r>
                    </a:p>
                  </a:txBody>
                  <a:tcPr marL="91440" marR="91440" marT="45720" marB="45720">
                    <a:solidFill>
                      <a:srgbClr val="FFFFFF"/>
                    </a:solidFill>
                  </a:tcPr>
                </a:tc>
                <a:tc>
                  <a:txBody>
                    <a:bodyPr/>
                    <a:lstStyle/>
                    <a:p>
                      <a:r>
                        <a:rPr sz="1050" b="0">
                          <a:solidFill>
                            <a:srgbClr val="415466"/>
                          </a:solidFill>
                        </a:rPr>
                        <a:t>80,000</a:t>
                      </a:r>
                    </a:p>
                  </a:txBody>
                  <a:tcPr marL="91440" marR="91440" marT="45720" marB="45720">
                    <a:solidFill>
                      <a:srgbClr val="FFFFFF"/>
                    </a:solidFill>
                  </a:tcPr>
                </a:tc>
              </a:tr>
              <a:tr h="363885">
                <a:tc gridSpan="2">
                  <a:txBody>
                    <a:bodyPr/>
                    <a:lstStyle/>
                    <a:p>
                      <a:r>
                        <a:rPr sz="1050" b="1">
                          <a:solidFill>
                            <a:srgbClr val="276F9A"/>
                          </a:solidFill>
                        </a:rPr>
                        <a:t>NETWORK</a:t>
                      </a:r>
                    </a:p>
                  </a:txBody>
                  <a:tcPr marL="91440" marR="91440" marT="45720" marB="45720">
                    <a:solidFill>
                      <a:srgbClr val="EAF3FA"/>
                    </a:solidFill>
                  </a:tcPr>
                </a:tc>
                <a:tc hMerge="1">
                  <a:txBody>
                    <a:bodyPr/>
                    <a:lstStyle/>
                    <a:p/>
                  </a:txBody>
                  <a:tcPr marL="91440" marR="91440" marT="45720" marB="45720">
                    <a:solidFill>
                      <a:srgbClr val="FFFFFF"/>
                    </a:solidFill>
                  </a:tcPr>
                </a:tc>
              </a:tr>
              <a:tr h="363885">
                <a:tc>
                  <a:txBody>
                    <a:bodyPr/>
                    <a:lstStyle/>
                    <a:p>
                      <a:r>
                        <a:rPr sz="1050" b="0">
                          <a:solidFill>
                            <a:srgbClr val="415466"/>
                          </a:solidFill>
                        </a:rPr>
                        <a:t>Actor architecture</a:t>
                      </a:r>
                    </a:p>
                  </a:txBody>
                  <a:tcPr marL="91440" marR="91440" marT="45720" marB="45720">
                    <a:solidFill>
                      <a:srgbClr val="FFFFFF"/>
                    </a:solidFill>
                  </a:tcPr>
                </a:tc>
                <a:tc>
                  <a:txBody>
                    <a:bodyPr/>
                    <a:lstStyle/>
                    <a:p>
                      <a:r>
                        <a:rPr sz="1050" b="0">
                          <a:solidFill>
                            <a:srgbClr val="415466"/>
                          </a:solidFill>
                        </a:rPr>
                        <a:t>MLP · 256 × 3</a:t>
                      </a:r>
                    </a:p>
                  </a:txBody>
                  <a:tcPr marL="91440" marR="91440" marT="45720" marB="45720">
                    <a:solidFill>
                      <a:srgbClr val="FFFFFF"/>
                    </a:solidFill>
                  </a:tcPr>
                </a:tc>
              </a:tr>
              <a:tr h="363885">
                <a:tc>
                  <a:txBody>
                    <a:bodyPr/>
                    <a:lstStyle/>
                    <a:p>
                      <a:r>
                        <a:rPr sz="1050" b="0">
                          <a:solidFill>
                            <a:srgbClr val="415466"/>
                          </a:solidFill>
                        </a:rPr>
                        <a:t>Critic architecture</a:t>
                      </a:r>
                    </a:p>
                  </a:txBody>
                  <a:tcPr marL="91440" marR="91440" marT="45720" marB="45720">
                    <a:solidFill>
                      <a:srgbClr val="FFFFFF"/>
                    </a:solidFill>
                  </a:tcPr>
                </a:tc>
                <a:tc>
                  <a:txBody>
                    <a:bodyPr/>
                    <a:lstStyle/>
                    <a:p>
                      <a:r>
                        <a:rPr sz="1050" b="0">
                          <a:solidFill>
                            <a:srgbClr val="415466"/>
                          </a:solidFill>
                        </a:rPr>
                        <a:t>MLP · 256 × 3</a:t>
                      </a:r>
                    </a:p>
                  </a:txBody>
                  <a:tcPr marL="91440" marR="91440" marT="45720" marB="45720">
                    <a:solidFill>
                      <a:srgbClr val="FFFFFF"/>
                    </a:solidFill>
                  </a:tcPr>
                </a:tc>
              </a:tr>
              <a:tr h="363885">
                <a:tc>
                  <a:txBody>
                    <a:bodyPr/>
                    <a:lstStyle/>
                    <a:p>
                      <a:r>
                        <a:rPr sz="1050" b="0">
                          <a:solidFill>
                            <a:srgbClr val="415466"/>
                          </a:solidFill>
                        </a:rPr>
                        <a:t>Activation</a:t>
                      </a:r>
                    </a:p>
                  </a:txBody>
                  <a:tcPr marL="91440" marR="91440" marT="45720" marB="45720">
                    <a:solidFill>
                      <a:srgbClr val="FFFFFF"/>
                    </a:solidFill>
                  </a:tcPr>
                </a:tc>
                <a:tc>
                  <a:txBody>
                    <a:bodyPr/>
                    <a:lstStyle/>
                    <a:p>
                      <a:r>
                        <a:rPr sz="1050" b="0">
                          <a:solidFill>
                            <a:srgbClr val="415466"/>
                          </a:solidFill>
                        </a:rPr>
                        <a:t>ReLU</a:t>
                      </a:r>
                    </a:p>
                  </a:txBody>
                  <a:tcPr marL="91440" marR="91440" marT="45720" marB="45720">
                    <a:solidFill>
                      <a:srgbClr val="FFFFFF"/>
                    </a:solidFill>
                  </a:tcPr>
                </a:tc>
              </a:tr>
            </a:tbl>
          </a:graphicData>
        </a:graphic>
      </p:graphicFrame>
      <p:graphicFrame>
        <p:nvGraphicFramePr>
          <p:cNvPr id="22" name="Tableau 9"/>
          <p:cNvGraphicFramePr/>
          <p:nvPr/>
        </p:nvGraphicFramePr>
        <p:xfrm>
          <a:off xmlns:a="http://schemas.openxmlformats.org/drawingml/2006/main" x="4724399" y="887601"/>
          <a:ext xmlns:a="http://schemas.openxmlformats.org/drawingml/2006/main" cx="3409239" cy="3644784"/>
        </p:xfrm>
        <a:graphic xmlns:a="http://schemas.openxmlformats.org/drawingml/2006/main">
          <a:graphicData uri="http://schemas.openxmlformats.org/drawingml/2006/table">
            <a:tbl>
              <a:tblPr/>
              <a:tblGrid>
                <a:gridCol w="2185117"/>
                <a:gridCol w="1224122"/>
              </a:tblGrid>
              <a:tr h="259917">
                <a:tc>
                  <a:txBody>
                    <a:bodyPr/>
                    <a:lstStyle/>
                    <a:p>
                      <a:r>
                        <a:rPr sz="1125" b="1">
                          <a:solidFill>
                            <a:srgbClr val="263641"/>
                          </a:solidFill>
                        </a:rPr>
                        <a:t>Hyperparameter</a:t>
                      </a:r>
                    </a:p>
                  </a:txBody>
                  <a:tcPr marL="91440" marR="91440" marT="45720" marB="45720">
                    <a:solidFill>
                      <a:srgbClr val="F1F4F6"/>
                    </a:solidFill>
                  </a:tcPr>
                </a:tc>
                <a:tc>
                  <a:txBody>
                    <a:bodyPr/>
                    <a:lstStyle/>
                    <a:p>
                      <a:r>
                        <a:rPr sz="1125" b="1">
                          <a:solidFill>
                            <a:srgbClr val="263641"/>
                          </a:solidFill>
                        </a:rPr>
                        <a:t>Value</a:t>
                      </a:r>
                    </a:p>
                  </a:txBody>
                  <a:tcPr marL="91440" marR="91440" marT="45720" marB="45720">
                    <a:solidFill>
                      <a:srgbClr val="F1F4F6"/>
                    </a:solidFill>
                  </a:tcPr>
                </a:tc>
              </a:tr>
              <a:tr h="259917">
                <a:tc gridSpan="2">
                  <a:txBody>
                    <a:bodyPr/>
                    <a:lstStyle/>
                    <a:p>
                      <a:r>
                        <a:rPr sz="1050" b="1">
                          <a:solidFill>
                            <a:srgbClr val="80579E"/>
                          </a:solidFill>
                        </a:rPr>
                        <a:t>PPO OPTIMIZATION</a:t>
                      </a:r>
                    </a:p>
                  </a:txBody>
                  <a:tcPr marL="91440" marR="91440" marT="45720" marB="45720">
                    <a:solidFill>
                      <a:srgbClr val="F2EAF8"/>
                    </a:solidFill>
                  </a:tcPr>
                </a:tc>
                <a:tc hMerge="1">
                  <a:txBody>
                    <a:bodyPr/>
                    <a:lstStyle/>
                    <a:p/>
                  </a:txBody>
                  <a:tcPr marL="91440" marR="91440" marT="45720" marB="45720">
                    <a:solidFill>
                      <a:srgbClr val="FFFFFF"/>
                    </a:solidFill>
                  </a:tcPr>
                </a:tc>
              </a:tr>
              <a:tr h="259917">
                <a:tc>
                  <a:txBody>
                    <a:bodyPr/>
                    <a:lstStyle/>
                    <a:p>
                      <a:r>
                        <a:rPr sz="1050" b="0">
                          <a:solidFill>
                            <a:srgbClr val="415466"/>
                          </a:solidFill>
                        </a:rPr>
                        <a:t>Actor learning rate</a:t>
                      </a:r>
                    </a:p>
                  </a:txBody>
                  <a:tcPr marL="91440" marR="91440" marT="45720" marB="45720">
                    <a:solidFill>
                      <a:srgbClr val="FFFFFF"/>
                    </a:solidFill>
                  </a:tcPr>
                </a:tc>
                <a:tc>
                  <a:txBody>
                    <a:bodyPr/>
                    <a:lstStyle/>
                    <a:p>
                      <a:r>
                        <a:rPr sz="1050" b="0">
                          <a:solidFill>
                            <a:srgbClr val="415466"/>
                          </a:solidFill>
                        </a:rPr>
                        <a:t>3 × 10⁻⁵</a:t>
                      </a:r>
                    </a:p>
                  </a:txBody>
                  <a:tcPr marL="91440" marR="91440" marT="45720" marB="45720">
                    <a:solidFill>
                      <a:srgbClr val="FFFFFF"/>
                    </a:solidFill>
                  </a:tcPr>
                </a:tc>
              </a:tr>
              <a:tr h="259917">
                <a:tc>
                  <a:txBody>
                    <a:bodyPr/>
                    <a:lstStyle/>
                    <a:p>
                      <a:r>
                        <a:rPr sz="1050" b="0">
                          <a:solidFill>
                            <a:srgbClr val="415466"/>
                          </a:solidFill>
                        </a:rPr>
                        <a:t>Critic learning rate</a:t>
                      </a:r>
                    </a:p>
                  </a:txBody>
                  <a:tcPr marL="91440" marR="91440" marT="45720" marB="45720">
                    <a:solidFill>
                      <a:srgbClr val="FFFFFF"/>
                    </a:solidFill>
                  </a:tcPr>
                </a:tc>
                <a:tc>
                  <a:txBody>
                    <a:bodyPr/>
                    <a:lstStyle/>
                    <a:p>
                      <a:r>
                        <a:rPr sz="1050" b="0">
                          <a:solidFill>
                            <a:srgbClr val="415466"/>
                          </a:solidFill>
                        </a:rPr>
                        <a:t>3 × 10⁻⁵</a:t>
                      </a:r>
                    </a:p>
                  </a:txBody>
                  <a:tcPr marL="91440" marR="91440" marT="45720" marB="45720">
                    <a:solidFill>
                      <a:srgbClr val="FFFFFF"/>
                    </a:solidFill>
                  </a:tcPr>
                </a:tc>
              </a:tr>
              <a:tr h="259917">
                <a:tc>
                  <a:txBody>
                    <a:bodyPr/>
                    <a:lstStyle/>
                    <a:p>
                      <a:r>
                        <a:rPr sz="1050" b="0">
                          <a:solidFill>
                            <a:srgbClr val="415466"/>
                          </a:solidFill>
                        </a:rPr>
                        <a:t>Learning-rate schedule</a:t>
                      </a:r>
                    </a:p>
                  </a:txBody>
                  <a:tcPr marL="91440" marR="91440" marT="45720" marB="45720">
                    <a:solidFill>
                      <a:srgbClr val="FFFFFF"/>
                    </a:solidFill>
                  </a:tcPr>
                </a:tc>
                <a:tc>
                  <a:txBody>
                    <a:bodyPr/>
                    <a:lstStyle/>
                    <a:p>
                      <a:r>
                        <a:rPr sz="1050" b="0">
                          <a:solidFill>
                            <a:srgbClr val="415466"/>
                          </a:solidFill>
                        </a:rPr>
                        <a:t>Linear decay</a:t>
                      </a:r>
                    </a:p>
                  </a:txBody>
                  <a:tcPr marL="91440" marR="91440" marT="45720" marB="45720">
                    <a:solidFill>
                      <a:srgbClr val="FFFFFF"/>
                    </a:solidFill>
                  </a:tcPr>
                </a:tc>
              </a:tr>
              <a:tr h="259917">
                <a:tc>
                  <a:txBody>
                    <a:bodyPr/>
                    <a:lstStyle/>
                    <a:p>
                      <a:r>
                        <a:rPr sz="1050" b="0">
                          <a:solidFill>
                            <a:srgbClr val="415466"/>
                          </a:solidFill>
                        </a:rPr>
                        <a:t>Discount factor  γ</a:t>
                      </a:r>
                    </a:p>
                  </a:txBody>
                  <a:tcPr marL="91440" marR="91440" marT="45720" marB="45720">
                    <a:solidFill>
                      <a:srgbClr val="FFFFFF"/>
                    </a:solidFill>
                  </a:tcPr>
                </a:tc>
                <a:tc>
                  <a:txBody>
                    <a:bodyPr/>
                    <a:lstStyle/>
                    <a:p>
                      <a:r>
                        <a:rPr sz="1050" b="0">
                          <a:solidFill>
                            <a:srgbClr val="415466"/>
                          </a:solidFill>
                        </a:rPr>
                        <a:t>0.99</a:t>
                      </a:r>
                    </a:p>
                  </a:txBody>
                  <a:tcPr marL="91440" marR="91440" marT="45720" marB="45720">
                    <a:solidFill>
                      <a:srgbClr val="FFFFFF"/>
                    </a:solidFill>
                  </a:tcPr>
                </a:tc>
              </a:tr>
              <a:tr h="259917">
                <a:tc>
                  <a:txBody>
                    <a:bodyPr/>
                    <a:lstStyle/>
                    <a:p>
                      <a:r>
                        <a:rPr sz="1050" b="0">
                          <a:solidFill>
                            <a:srgbClr val="415466"/>
                          </a:solidFill>
                        </a:rPr>
                        <a:t>GAE parameter  λ</a:t>
                      </a:r>
                    </a:p>
                  </a:txBody>
                  <a:tcPr marL="91440" marR="91440" marT="45720" marB="45720">
                    <a:solidFill>
                      <a:srgbClr val="FFFFFF"/>
                    </a:solidFill>
                  </a:tcPr>
                </a:tc>
                <a:tc>
                  <a:txBody>
                    <a:bodyPr/>
                    <a:lstStyle/>
                    <a:p>
                      <a:r>
                        <a:rPr sz="1050" b="0">
                          <a:solidFill>
                            <a:srgbClr val="415466"/>
                          </a:solidFill>
                        </a:rPr>
                        <a:t>0.95</a:t>
                      </a:r>
                    </a:p>
                  </a:txBody>
                  <a:tcPr marL="91440" marR="91440" marT="45720" marB="45720">
                    <a:solidFill>
                      <a:srgbClr val="FFFFFF"/>
                    </a:solidFill>
                  </a:tcPr>
                </a:tc>
              </a:tr>
              <a:tr h="259917">
                <a:tc>
                  <a:txBody>
                    <a:bodyPr/>
                    <a:lstStyle/>
                    <a:p>
                      <a:r>
                        <a:rPr sz="1050" b="0">
                          <a:solidFill>
                            <a:srgbClr val="415466"/>
                          </a:solidFill>
                        </a:rPr>
                        <a:t>Update epochs</a:t>
                      </a:r>
                    </a:p>
                  </a:txBody>
                  <a:tcPr marL="91440" marR="91440" marT="45720" marB="45720">
                    <a:solidFill>
                      <a:srgbClr val="FFFFFF"/>
                    </a:solidFill>
                  </a:tcPr>
                </a:tc>
                <a:tc>
                  <a:txBody>
                    <a:bodyPr/>
                    <a:lstStyle/>
                    <a:p>
                      <a:r>
                        <a:rPr sz="1125" b="0">
                          <a:solidFill>
                            <a:schemeClr val="tx1"/>
                          </a:solidFill>
                        </a:rPr>
                        <a:t>80</a:t>
                      </a:r>
                    </a:p>
                  </a:txBody>
                  <a:tcPr marL="91440" marR="91440" marT="45720" marB="45720">
                    <a:solidFill>
                      <a:srgbClr val="FFFFFF"/>
                    </a:solidFill>
                  </a:tcPr>
                </a:tc>
              </a:tr>
              <a:tr h="259917">
                <a:tc>
                  <a:txBody>
                    <a:bodyPr/>
                    <a:lstStyle/>
                    <a:p>
                      <a:r>
                        <a:rPr sz="1050" b="0">
                          <a:solidFill>
                            <a:srgbClr val="415466"/>
                          </a:solidFill>
                        </a:rPr>
                        <a:t>Minibatches</a:t>
                      </a:r>
                    </a:p>
                  </a:txBody>
                  <a:tcPr marL="91440" marR="91440" marT="45720" marB="45720">
                    <a:solidFill>
                      <a:srgbClr val="FFFFFF"/>
                    </a:solidFill>
                  </a:tcPr>
                </a:tc>
                <a:tc>
                  <a:txBody>
                    <a:bodyPr/>
                    <a:lstStyle/>
                    <a:p>
                      <a:r>
                        <a:rPr sz="1050" b="0">
                          <a:solidFill>
                            <a:srgbClr val="415466"/>
                          </a:solidFill>
                        </a:rPr>
                        <a:t>4</a:t>
                      </a:r>
                    </a:p>
                  </a:txBody>
                  <a:tcPr marL="91440" marR="91440" marT="45720" marB="45720">
                    <a:solidFill>
                      <a:srgbClr val="FFFFFF"/>
                    </a:solidFill>
                  </a:tcPr>
                </a:tc>
              </a:tr>
              <a:tr h="259917">
                <a:tc>
                  <a:txBody>
                    <a:bodyPr/>
                    <a:lstStyle/>
                    <a:p>
                      <a:r>
                        <a:rPr sz="1050" b="0">
                          <a:solidFill>
                            <a:srgbClr val="415466"/>
                          </a:solidFill>
                        </a:rPr>
                        <a:t>Clip coefficient  ε</a:t>
                      </a:r>
                    </a:p>
                  </a:txBody>
                  <a:tcPr marL="91440" marR="91440" marT="45720" marB="45720">
                    <a:solidFill>
                      <a:srgbClr val="FFFFFF"/>
                    </a:solidFill>
                  </a:tcPr>
                </a:tc>
                <a:tc>
                  <a:txBody>
                    <a:bodyPr/>
                    <a:lstStyle/>
                    <a:p>
                      <a:r>
                        <a:rPr sz="1050" b="0">
                          <a:solidFill>
                            <a:srgbClr val="415466"/>
                          </a:solidFill>
                        </a:rPr>
                        <a:t>0.20</a:t>
                      </a:r>
                    </a:p>
                  </a:txBody>
                  <a:tcPr marL="91440" marR="91440" marT="45720" marB="45720">
                    <a:solidFill>
                      <a:srgbClr val="FFFFFF"/>
                    </a:solidFill>
                  </a:tcPr>
                </a:tc>
              </a:tr>
              <a:tr h="259917">
                <a:tc>
                  <a:txBody>
                    <a:bodyPr/>
                    <a:lstStyle/>
                    <a:p>
                      <a:r>
                        <a:rPr sz="1050" b="0">
                          <a:solidFill>
                            <a:srgbClr val="415466"/>
                          </a:solidFill>
                        </a:rPr>
                        <a:t>Target KL</a:t>
                      </a:r>
                    </a:p>
                  </a:txBody>
                  <a:tcPr marL="91440" marR="91440" marT="45720" marB="45720">
                    <a:solidFill>
                      <a:srgbClr val="FFFFFF"/>
                    </a:solidFill>
                  </a:tcPr>
                </a:tc>
                <a:tc>
                  <a:txBody>
                    <a:bodyPr/>
                    <a:lstStyle/>
                    <a:p>
                      <a:r>
                        <a:rPr sz="1050" b="0">
                          <a:solidFill>
                            <a:srgbClr val="415466"/>
                          </a:solidFill>
                        </a:rPr>
                        <a:t>0.02</a:t>
                      </a:r>
                    </a:p>
                  </a:txBody>
                  <a:tcPr marL="91440" marR="91440" marT="45720" marB="45720">
                    <a:solidFill>
                      <a:srgbClr val="FFFFFF"/>
                    </a:solidFill>
                  </a:tcPr>
                </a:tc>
              </a:tr>
              <a:tr h="259917">
                <a:tc>
                  <a:txBody>
                    <a:bodyPr/>
                    <a:lstStyle/>
                    <a:p>
                      <a:r>
                        <a:rPr sz="1050" b="0">
                          <a:solidFill>
                            <a:srgbClr val="415466"/>
                          </a:solidFill>
                        </a:rPr>
                        <a:t>Maximum gradient norm</a:t>
                      </a:r>
                    </a:p>
                  </a:txBody>
                  <a:tcPr marL="91440" marR="91440" marT="45720" marB="45720">
                    <a:solidFill>
                      <a:srgbClr val="FFFFFF"/>
                    </a:solidFill>
                  </a:tcPr>
                </a:tc>
                <a:tc>
                  <a:txBody>
                    <a:bodyPr/>
                    <a:lstStyle/>
                    <a:p>
                      <a:r>
                        <a:rPr sz="1050" b="0">
                          <a:solidFill>
                            <a:srgbClr val="415466"/>
                          </a:solidFill>
                        </a:rPr>
                        <a:t>10.0</a:t>
                      </a:r>
                    </a:p>
                  </a:txBody>
                  <a:tcPr marL="91440" marR="91440" marT="45720" marB="45720">
                    <a:solidFill>
                      <a:srgbClr val="FFFFFF"/>
                    </a:solidFill>
                  </a:tcPr>
                </a:tc>
              </a:tr>
              <a:tr h="259917">
                <a:tc>
                  <a:txBody>
                    <a:bodyPr/>
                    <a:lstStyle/>
                    <a:p>
                      <a:r>
                        <a:rPr sz="1050" b="0">
                          <a:solidFill>
                            <a:srgbClr val="415466"/>
                          </a:solidFill>
                        </a:rPr>
                        <a:t>Entropy coefficient</a:t>
                      </a:r>
                    </a:p>
                  </a:txBody>
                  <a:tcPr marL="91440" marR="91440" marT="45720" marB="45720">
                    <a:solidFill>
                      <a:srgbClr val="FFFFFF"/>
                    </a:solidFill>
                  </a:tcPr>
                </a:tc>
                <a:tc>
                  <a:txBody>
                    <a:bodyPr/>
                    <a:lstStyle/>
                    <a:p>
                      <a:r>
                        <a:rPr sz="1050" b="0">
                          <a:solidFill>
                            <a:srgbClr val="415466"/>
                          </a:solidFill>
                        </a:rPr>
                        <a:t>0.01</a:t>
                      </a:r>
                    </a:p>
                  </a:txBody>
                  <a:tcPr marL="91440" marR="91440" marT="45720" marB="45720">
                    <a:solidFill>
                      <a:srgbClr val="FFFFFF"/>
                    </a:solidFill>
                  </a:tcPr>
                </a:tc>
              </a:tr>
              <a:tr h="259917">
                <a:tc>
                  <a:txBody>
                    <a:bodyPr/>
                    <a:lstStyle/>
                    <a:p>
                      <a:r>
                        <a:rPr sz="1050" b="0">
                          <a:solidFill>
                            <a:srgbClr val="415466"/>
                          </a:solidFill>
                        </a:rPr>
                        <a:t>Value-loss coefficient</a:t>
                      </a:r>
                    </a:p>
                  </a:txBody>
                  <a:tcPr marL="91440" marR="91440" marT="45720" marB="45720">
                    <a:solidFill>
                      <a:srgbClr val="FFFFFF"/>
                    </a:solidFill>
                  </a:tcPr>
                </a:tc>
                <a:tc>
                  <a:txBody>
                    <a:bodyPr/>
                    <a:lstStyle/>
                    <a:p>
                      <a:r>
                        <a:rPr sz="1050" b="0">
                          <a:solidFill>
                            <a:srgbClr val="415466"/>
                          </a:solidFill>
                        </a:rPr>
                        <a:t>0.50</a:t>
                      </a:r>
                    </a:p>
                  </a:txBody>
                  <a:tcPr marL="91440" marR="91440" marT="45720" marB="45720">
                    <a:solidFill>
                      <a:srgbClr val="FFFFFF"/>
                    </a:solidFill>
                  </a:tcPr>
                </a:tc>
              </a:tr>
            </a:tbl>
          </a:graphicData>
        </a:graphic>
      </p:graphicFrame>
      <p:sp>
        <p:nvSpPr>
          <p:cNvPr id="11" name="slide3-source">
            <a:extLst xmlns:a="http://schemas.openxmlformats.org/drawingml/2006/main">
              <a:ext uri="{FF2B5EF4-FFF2-40B4-BE49-F238E27FC236}">
                <a16:creationId xmlns:a16="http://schemas.microsoft.com/office/drawing/2014/main" id="{779E0984-960F-2D8D-B2A4-A9D357F72930}"/>
              </a:ext>
            </a:extLst>
          </p:cNvPr>
          <p:cNvSpPr>
            <a:spLocks xmlns:a="http://schemas.openxmlformats.org/drawingml/2006/main" noGrp="1"/>
          </p:cNvSpPr>
          <p:nvPr/>
        </p:nvSpPr>
        <p:spPr>
          <a:xfrm xmlns:a="http://schemas.openxmlformats.org/drawingml/2006/main">
            <a:off x="443593" y="6024358"/>
            <a:ext cx="4004140" cy="1598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825" b="0">
                <a:solidFill>
                  <a:srgbClr val="77838C"/>
                </a:solidFill>
              </a:defRPr>
            </a:pPr>
            <a:r>
              <a:rPr sz="825" b="0">
                <a:solidFill>
                  <a:srgbClr val="77838C"/>
                </a:solidFill>
              </a:rPr>
              <a:t>Source: original IEEE-14 MAPPO baseline hyperparameters</a:t>
            </a:r>
          </a:p>
        </p:txBody>
      </p:sp>
      <p:sp>
        <p:nvSpPr>
          <p:cNvPr id="12" name="ZoneTexte 11">
            <a:extLst xmlns:a="http://schemas.openxmlformats.org/drawingml/2006/main">
              <a:ext uri="{FF2B5EF4-FFF2-40B4-BE49-F238E27FC236}">
                <a16:creationId xmlns:a16="http://schemas.microsoft.com/office/drawing/2014/main" id="{E8085237-4A98-1100-32E8-BD1A1B971CF5}"/>
              </a:ext>
            </a:extLst>
          </p:cNvPr>
          <p:cNvSpPr>
            <a:spLocks xmlns:a="http://schemas.openxmlformats.org/drawingml/2006/main" noGrp="1"/>
          </p:cNvSpPr>
          <p:nvPr/>
        </p:nvSpPr>
        <p:spPr>
          <a:xfrm xmlns:a="http://schemas.openxmlformats.org/drawingml/2006/main">
            <a:off x="1000837" y="4702499"/>
            <a:ext cx="7297309" cy="2616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1100" b="1" i="1">
                <a:latin typeface="Times New Roman"/>
                <a:ea typeface="Times New Roman"/>
                <a:cs typeface="Times New Roman"/>
              </a:rPr>
              <a:t>Table 2: </a:t>
            </a:r>
            <a:r>
              <a:rPr sz="1100" b="1" i="1">
                <a:latin typeface="Times New Roman"/>
                <a:ea typeface="Times New Roman"/>
                <a:cs typeface="Times New Roman"/>
              </a:rPr>
              <a:t>Original </a:t>
            </a:r>
            <a:r>
              <a:rPr sz="1100" b="1" i="1">
                <a:latin typeface="Times New Roman"/>
                <a:ea typeface="Times New Roman"/>
                <a:cs typeface="Times New Roman"/>
              </a:rPr>
              <a:t>parameters</a:t>
            </a:r>
            <a:r>
              <a:rPr sz="1100" b="1" i="1">
                <a:latin typeface="Times New Roman"/>
                <a:ea typeface="Times New Roman"/>
                <a:cs typeface="Times New Roman"/>
              </a:rPr>
              <a:t> of the </a:t>
            </a:r>
            <a:r>
              <a:rPr sz="1100" b="1" i="1">
                <a:latin typeface="Times New Roman"/>
                <a:ea typeface="Times New Roman"/>
                <a:cs typeface="Times New Roman"/>
              </a:rPr>
              <a:t>baseline</a:t>
            </a:r>
            <a:r>
              <a:rPr sz="1100" b="1" i="1">
                <a:latin typeface="Times New Roman"/>
                <a:ea typeface="Times New Roman"/>
                <a:cs typeface="Times New Roman"/>
              </a:rPr>
              <a:t> </a:t>
            </a:r>
            <a:r>
              <a:rPr sz="1100" b="1" i="1">
                <a:latin typeface="Times New Roman"/>
                <a:ea typeface="Times New Roman"/>
                <a:cs typeface="Times New Roman"/>
              </a:rPr>
              <a:t>paper</a:t>
            </a:r>
            <a:r>
              <a:rPr sz="1100" b="1" i="1">
                <a:latin typeface="Times New Roman"/>
                <a:ea typeface="Times New Roman"/>
                <a:cs typeface="Times New Roman"/>
              </a:rPr>
              <a:t> for MAPPO training</a:t>
            </a:r>
          </a:p>
        </p:txBody>
      </p:sp>
    </p:spTree>
    <p:extLst>
      <p:ext uri="{BB962C8B-B14F-4D97-AF65-F5344CB8AC3E}">
        <p14:creationId xmlns:p14="http://schemas.microsoft.com/office/powerpoint/2010/main" val="375139590"/>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Titre 1">
            <a:extLst xmlns:a="http://schemas.openxmlformats.org/drawingml/2006/main">
              <a:ext uri="{FF2B5EF4-FFF2-40B4-BE49-F238E27FC236}">
                <a16:creationId xmlns:a16="http://schemas.microsoft.com/office/drawing/2014/main" id="{6F6CE0B2-DC77-BF95-C7D7-4555FD7EA8A6}"/>
              </a:ext>
            </a:extLst>
          </p:cNvPr>
          <p:cNvSpPr>
            <a:spLocks xmlns:a="http://schemas.openxmlformats.org/drawingml/2006/main" noGrp="1"/>
          </p:cNvSpPr>
          <p:nvPr>
            <p:ph type="title" idx="0"/>
          </p:nvPr>
        </p:nvSpPr>
        <p:spPr>
          <a:xfrm xmlns:a="http://schemas.openxmlformats.org/drawingml/2006/main">
            <a:off x="904875" y="252828"/>
            <a:ext cx="7532115" cy="601301"/>
          </a:xfrm>
        </p:spPr>
        <p:txBody>
          <a:bodyPr xmlns:a="http://schemas.openxmlformats.org/drawingml/2006/main">
            <a:normAutofit/>
          </a:bodyPr>
          <a:lstStyle xmlns:a="http://schemas.openxmlformats.org/drawingml/2006/main"/>
          <a:p xmlns:a="http://schemas.openxmlformats.org/drawingml/2006/main">
            <a:r>
              <a:t>IEEE 14: Baseline, New Hyperparameters</a:t>
            </a:r>
          </a:p>
        </p:txBody>
      </p:sp>
      <p:sp>
        <p:nvSpPr>
          <p:cNvPr id="5" name="Espace réservé du numéro de diapositive 4">
            <a:extLst xmlns:a="http://schemas.openxmlformats.org/drawingml/2006/main">
              <a:ext uri="{FF2B5EF4-FFF2-40B4-BE49-F238E27FC236}">
                <a16:creationId xmlns:a16="http://schemas.microsoft.com/office/drawing/2014/main" id="{5A0664C5-A31A-B317-7639-715439E0809C}"/>
              </a:ext>
            </a:extLst>
          </p:cNvPr>
          <p:cNvSpPr>
            <a:spLocks xmlns:a="http://schemas.openxmlformats.org/drawingml/2006/main" noGrp="1"/>
          </p:cNvSpPr>
          <p:nvPr>
            <p:ph type="sldNum" idx="12"/>
          </p:nvPr>
        </p:nvSpPr>
        <p:spPr>
          <a:xfrm xmlns:a="http://schemas.openxmlformats.org/drawingml/2006/main">
            <a:off x="8639864" y="195263"/>
            <a:ext cx="512762" cy="163552"/>
          </a:xfrm>
        </p:spPr>
        <p:txBody>
          <a:bodyPr xmlns:a="http://schemas.openxmlformats.org/drawingml/2006/main"/>
          <a:lstStyle xmlns:a="http://schemas.openxmlformats.org/drawingml/2006/main"/>
          <a:p xmlns:a="http://schemas.openxmlformats.org/drawingml/2006/main">
            <a:r>
              <a:t>7</a:t>
            </a:r>
          </a:p>
        </p:txBody>
      </p:sp>
      <p:pic>
        <p:nvPicPr>
          <p:cNvPr id="18" name="Picture 2"/>
          <p:cNvPicPr>
            <a:picLocks xmlns:a="http://schemas.openxmlformats.org/drawingml/2006/main" noChangeAspect="1"/>
          </p:cNvPicPr>
          <p:nvPr/>
        </p:nvPicPr>
        <p:blipFill>
          <a:blip xmlns:r="http://schemas.openxmlformats.org/officeDocument/2006/relationships" xmlns:a="http://schemas.openxmlformats.org/drawingml/2006/main" r:embed="Ra3c4a8007ee047b7"/>
          <a:srcRect xmlns:a="http://schemas.openxmlformats.org/drawingml/2006/main" l="0" t="0" r="0" b="0"/>
          <a:stretch xmlns:a="http://schemas.openxmlformats.org/drawingml/2006/main">
            <a:fillRect l="0" t="0" r="0" b="0"/>
          </a:stretch>
        </p:blipFill>
        <p:spPr>
          <a:xfrm xmlns:a="http://schemas.openxmlformats.org/drawingml/2006/main">
            <a:off x="158055" y="379734"/>
            <a:ext cx="587504" cy="326391"/>
          </a:xfrm>
          <a:prstGeom xmlns:a="http://schemas.openxmlformats.org/drawingml/2006/main" prst="rect">
            <a:avLst/>
          </a:prstGeom>
        </p:spPr>
      </p:pic>
      <p:sp>
        <p:nvSpPr>
          <p:cNvPr id="3" name="training-network-table-frame">
            <a:extLst xmlns:a="http://schemas.openxmlformats.org/drawingml/2006/main">
              <a:ext uri="{FF2B5EF4-FFF2-40B4-BE49-F238E27FC236}">
                <a16:creationId xmlns:a16="http://schemas.microsoft.com/office/drawing/2014/main" id="{6D5872DE-B72B-114E-8406-62777918D4E7}"/>
              </a:ext>
            </a:extLst>
          </p:cNvPr>
          <p:cNvSpPr>
            <a:spLocks xmlns:a="http://schemas.openxmlformats.org/drawingml/2006/main" noGrp="1"/>
          </p:cNvSpPr>
          <p:nvPr/>
        </p:nvSpPr>
        <p:spPr>
          <a:xfrm xmlns:a="http://schemas.openxmlformats.org/drawingml/2006/main">
            <a:off x="377773" y="1014127"/>
            <a:ext cx="4906187" cy="3123947"/>
          </a:xfrm>
          <a:prstGeom xmlns:a="http://schemas.openxmlformats.org/drawingml/2006/main" prst="roundRect">
            <a:avLst>
              <a:gd name="adj" fmla="val 2703"/>
            </a:avLst>
          </a:prstGeom>
          <a:solidFill xmlns:a="http://schemas.openxmlformats.org/drawingml/2006/main">
            <a:srgbClr val="FBFCFD"/>
          </a:solidFill>
          <a:ln xmlns:a="http://schemas.openxmlformats.org/drawingml/2006/main" w="9525">
            <a:solidFill>
              <a:srgbClr val="DDE4E8"/>
            </a:solidFill>
            <a:prstDash val="solid"/>
          </a:ln>
        </p:spPr>
        <p:txBody>
          <a:bodyPr xmlns:a="http://schemas.openxmlformats.org/drawingml/2006/main"/>
          <a:lstStyle xmlns:a="http://schemas.openxmlformats.org/drawingml/2006/main"/>
          <a:p xmlns:a="http://schemas.openxmlformats.org/drawingml/2006/main"/>
        </p:txBody>
      </p:sp>
      <p:graphicFrame>
        <p:nvGraphicFramePr>
          <p:cNvPr id="20" name="Tableau 8"/>
          <p:cNvGraphicFramePr/>
          <p:nvPr/>
        </p:nvGraphicFramePr>
        <p:xfrm>
          <a:off xmlns:a="http://schemas.openxmlformats.org/drawingml/2006/main" x="535786" y="1142579"/>
          <a:ext xmlns:a="http://schemas.openxmlformats.org/drawingml/2006/main" cx="4601870" cy="2858339"/>
        </p:xfrm>
        <a:graphic xmlns:a="http://schemas.openxmlformats.org/drawingml/2006/main">
          <a:graphicData uri="http://schemas.openxmlformats.org/drawingml/2006/table">
            <a:tbl>
              <a:tblPr/>
              <a:tblGrid>
                <a:gridCol w="2399034"/>
                <a:gridCol w="1050692"/>
                <a:gridCol w="1152144"/>
              </a:tblGrid>
              <a:tr h="259849">
                <a:tc>
                  <a:txBody>
                    <a:bodyPr/>
                    <a:lstStyle/>
                    <a:p>
                      <a:r>
                        <a:rPr sz="1000" b="1">
                          <a:solidFill>
                            <a:srgbClr val="263641"/>
                          </a:solidFill>
                        </a:rPr>
                        <a:t>Hyperparameter</a:t>
                      </a:r>
                    </a:p>
                  </a:txBody>
                  <a:tcPr marL="91440" marR="91440" marT="45720" marB="45720">
                    <a:solidFill>
                      <a:srgbClr val="F1F4F6"/>
                    </a:solidFill>
                  </a:tcPr>
                </a:tc>
                <a:tc>
                  <a:txBody>
                    <a:bodyPr/>
                    <a:lstStyle/>
                    <a:p>
                      <a:r>
                        <a:rPr sz="1000" b="1">
                          <a:solidFill>
                            <a:srgbClr val="263641"/>
                          </a:solidFill>
                        </a:rPr>
                        <a:t>New </a:t>
                      </a:r>
                      <a:r>
                        <a:rPr sz="1000" b="1">
                          <a:solidFill>
                            <a:srgbClr val="263641"/>
                          </a:solidFill>
                        </a:rPr>
                        <a:t>Value</a:t>
                      </a:r>
                    </a:p>
                  </a:txBody>
                  <a:tcPr marL="91440" marR="91440" marT="45720" marB="45720">
                    <a:solidFill>
                      <a:srgbClr val="F1F4F6"/>
                    </a:solidFill>
                  </a:tcPr>
                </a:tc>
                <a:tc>
                  <a:txBody>
                    <a:bodyPr/>
                    <a:lstStyle/>
                    <a:p>
                      <a:r>
                        <a:rPr sz="1000" b="1">
                          <a:solidFill>
                            <a:srgbClr val="263641"/>
                          </a:solidFill>
                        </a:rPr>
                        <a:t>Paper Baseline</a:t>
                      </a:r>
                    </a:p>
                  </a:txBody>
                  <a:tcPr marL="91440" marR="91440" marT="45720" marB="45720">
                    <a:solidFill>
                      <a:srgbClr val="F1F4F6"/>
                    </a:solidFill>
                  </a:tcPr>
                </a:tc>
              </a:tr>
              <a:tr h="259849">
                <a:tc gridSpan="3">
                  <a:txBody>
                    <a:bodyPr/>
                    <a:lstStyle/>
                    <a:p>
                      <a:r>
                        <a:rPr sz="1000" b="1">
                          <a:solidFill>
                            <a:srgbClr val="A75A24"/>
                          </a:solidFill>
                        </a:rPr>
                        <a:t>ENVIRONMENT</a:t>
                      </a:r>
                    </a:p>
                  </a:txBody>
                  <a:tcPr marL="91440" marR="91440" marT="45720" marB="45720">
                    <a:solidFill>
                      <a:srgbClr val="BFD730">
                        <a:alpha val="20000"/>
                      </a:srgbClr>
                    </a:solidFill>
                  </a:tcPr>
                </a:tc>
                <a:tc hMerge="1">
                  <a:txBody>
                    <a:bodyPr/>
                    <a:lstStyle/>
                    <a:p/>
                  </a:txBody>
                  <a:tcPr marL="91440" marR="91440" marT="45720" marB="45720">
                    <a:solidFill>
                      <a:srgbClr val="FFFFFF"/>
                    </a:solidFill>
                  </a:tcPr>
                </a:tc>
                <a:tc hMerge="1">
                  <a:txBody>
                    <a:bodyPr/>
                    <a:lstStyle/>
                    <a:p/>
                  </a:txBody>
                  <a:tcPr marL="91440" marR="91440" marT="45720" marB="45720"/>
                </a:tc>
              </a:tr>
              <a:tr h="259849">
                <a:tc>
                  <a:txBody>
                    <a:bodyPr/>
                    <a:lstStyle/>
                    <a:p>
                      <a:r>
                        <a:rPr sz="1000" b="0">
                          <a:solidFill>
                            <a:srgbClr val="415466"/>
                          </a:solidFill>
                        </a:rPr>
                        <a:t>n_envs</a:t>
                      </a:r>
                      <a:r>
                        <a:rPr sz="1000" b="0">
                          <a:solidFill>
                            <a:srgbClr val="415466"/>
                          </a:solidFill>
                        </a:rPr>
                        <a:t> (</a:t>
                      </a:r>
                      <a:r>
                        <a:rPr sz="1000" b="0">
                          <a:solidFill>
                            <a:srgbClr val="415466"/>
                          </a:solidFill>
                        </a:rPr>
                        <a:t>number</a:t>
                      </a:r>
                      <a:r>
                        <a:rPr sz="1000" b="0">
                          <a:solidFill>
                            <a:srgbClr val="415466"/>
                          </a:solidFill>
                        </a:rPr>
                        <a:t> </a:t>
                      </a:r>
                      <a:r>
                        <a:rPr sz="1000" b="0">
                          <a:solidFill>
                            <a:srgbClr val="415466"/>
                          </a:solidFill>
                        </a:rPr>
                        <a:t>parallel</a:t>
                      </a:r>
                      <a:r>
                        <a:rPr sz="1000" b="0">
                          <a:solidFill>
                            <a:srgbClr val="415466"/>
                          </a:solidFill>
                        </a:rPr>
                        <a:t> </a:t>
                      </a:r>
                      <a:r>
                        <a:rPr sz="1000" b="0">
                          <a:solidFill>
                            <a:srgbClr val="415466"/>
                          </a:solidFill>
                        </a:rPr>
                        <a:t>environment</a:t>
                      </a:r>
                      <a:r>
                        <a:rPr sz="1000" b="0">
                          <a:solidFill>
                            <a:srgbClr val="415466"/>
                          </a:solidFill>
                        </a:rPr>
                        <a:t>)</a:t>
                      </a:r>
                    </a:p>
                  </a:txBody>
                  <a:tcPr marL="91440" marR="91440" marT="45720" marB="45720">
                    <a:solidFill>
                      <a:srgbClr val="FFFFFF"/>
                    </a:solidFill>
                  </a:tcPr>
                </a:tc>
                <a:tc>
                  <a:txBody>
                    <a:bodyPr/>
                    <a:lstStyle/>
                    <a:p>
                      <a:r>
                        <a:rPr sz="1000" b="0">
                          <a:solidFill>
                            <a:schemeClr val="tx1"/>
                          </a:solidFill>
                        </a:rPr>
                        <a:t>20</a:t>
                      </a:r>
                    </a:p>
                  </a:txBody>
                  <a:tcPr marL="91440" marR="91440" marT="45720" marB="45720">
                    <a:solidFill>
                      <a:srgbClr val="FFFFFF"/>
                    </a:solidFill>
                  </a:tcPr>
                </a:tc>
                <a:tc>
                  <a:txBody>
                    <a:bodyPr/>
                    <a:lstStyle/>
                    <a:p>
                      <a:r>
                        <a:rPr sz="1000" b="0">
                          <a:solidFill>
                            <a:schemeClr val="tx1"/>
                          </a:solidFill>
                        </a:rPr>
                        <a:t>10</a:t>
                      </a:r>
                    </a:p>
                  </a:txBody>
                  <a:tcPr marL="91440" marR="91440" marT="45720" marB="45720">
                    <a:solidFill>
                      <a:srgbClr val="FFFFFF"/>
                    </a:solidFill>
                  </a:tcPr>
                </a:tc>
              </a:tr>
              <a:tr h="259849">
                <a:tc gridSpan="3">
                  <a:txBody>
                    <a:bodyPr/>
                    <a:lstStyle/>
                    <a:p>
                      <a:r>
                        <a:rPr sz="1000" b="1">
                          <a:solidFill>
                            <a:srgbClr val="80579E"/>
                          </a:solidFill>
                        </a:rPr>
                        <a:t>PPO OPTIMIZATION</a:t>
                      </a:r>
                    </a:p>
                  </a:txBody>
                  <a:tcPr marL="91440" marR="91440" marT="45720" marB="45720">
                    <a:solidFill>
                      <a:srgbClr val="7030A0">
                        <a:alpha val="9804"/>
                      </a:srgbClr>
                    </a:solidFill>
                  </a:tcPr>
                </a:tc>
                <a:tc hMerge="1">
                  <a:txBody>
                    <a:bodyPr/>
                    <a:lstStyle/>
                    <a:p/>
                  </a:txBody>
                  <a:tcPr marL="91440" marR="91440" marT="45720" marB="45720">
                    <a:solidFill>
                      <a:srgbClr val="FFFFFF"/>
                    </a:solidFill>
                  </a:tcPr>
                </a:tc>
                <a:tc hMerge="1">
                  <a:txBody>
                    <a:bodyPr/>
                    <a:lstStyle/>
                    <a:p/>
                  </a:txBody>
                  <a:tcPr marL="91440" marR="91440" marT="45720" marB="45720"/>
                </a:tc>
              </a:tr>
              <a:tr h="259849">
                <a:tc>
                  <a:txBody>
                    <a:bodyPr/>
                    <a:lstStyle/>
                    <a:p>
                      <a:r>
                        <a:rPr sz="1000" b="0">
                          <a:solidFill>
                            <a:srgbClr val="415466"/>
                          </a:solidFill>
                        </a:rPr>
                        <a:t>Total </a:t>
                      </a:r>
                      <a:r>
                        <a:rPr sz="1000" b="0">
                          <a:solidFill>
                            <a:srgbClr val="415466"/>
                          </a:solidFill>
                        </a:rPr>
                        <a:t>time </a:t>
                      </a:r>
                      <a:r>
                        <a:rPr sz="1000" b="0">
                          <a:solidFill>
                            <a:srgbClr val="415466"/>
                          </a:solidFill>
                        </a:rPr>
                        <a:t>step</a:t>
                      </a:r>
                    </a:p>
                  </a:txBody>
                  <a:tcPr marL="91440" marR="91440" marT="45720" marB="45720">
                    <a:solidFill>
                      <a:srgbClr val="FFFFFF"/>
                    </a:solidFill>
                  </a:tcPr>
                </a:tc>
                <a:tc>
                  <a:txBody>
                    <a:bodyPr/>
                    <a:lstStyle/>
                    <a:p>
                      <a:r>
                        <a:rPr sz="1000" b="0">
                          <a:solidFill>
                            <a:schemeClr val="tx1"/>
                          </a:solidFill>
                        </a:rPr>
                        <a:t>20,000</a:t>
                      </a:r>
                      <a:r>
                        <a:rPr sz="1000" b="0">
                          <a:solidFill>
                            <a:schemeClr val="tx1"/>
                          </a:solidFill>
                        </a:rPr>
                        <a:t>,000</a:t>
                      </a:r>
                    </a:p>
                  </a:txBody>
                  <a:tcPr marL="91440" marR="91440" marT="45720" marB="45720">
                    <a:solidFill>
                      <a:srgbClr val="FFFFFF"/>
                    </a:solidFill>
                  </a:tcPr>
                </a:tc>
                <a:tc>
                  <a:txBody>
                    <a:bodyPr/>
                    <a:lstStyle/>
                    <a:p>
                      <a:r>
                        <a:rPr sz="1000" b="0">
                          <a:solidFill>
                            <a:schemeClr val="tx1"/>
                          </a:solidFill>
                        </a:rPr>
                        <a:t>25,000,000</a:t>
                      </a:r>
                    </a:p>
                  </a:txBody>
                  <a:tcPr marL="91440" marR="91440" marT="45720" marB="45720">
                    <a:solidFill>
                      <a:srgbClr val="FFFFFF"/>
                    </a:solidFill>
                  </a:tcPr>
                </a:tc>
              </a:tr>
              <a:tr h="259849">
                <a:tc>
                  <a:txBody>
                    <a:bodyPr/>
                    <a:lstStyle/>
                    <a:p>
                      <a:r>
                        <a:rPr sz="1000" b="0">
                          <a:solidFill>
                            <a:srgbClr val="415466"/>
                          </a:solidFill>
                        </a:rPr>
                        <a:t>Actor </a:t>
                      </a:r>
                      <a:r>
                        <a:rPr sz="1000" b="0">
                          <a:solidFill>
                            <a:srgbClr val="415466"/>
                          </a:solidFill>
                        </a:rPr>
                        <a:t>learning</a:t>
                      </a:r>
                      <a:r>
                        <a:rPr sz="1000" b="0">
                          <a:solidFill>
                            <a:srgbClr val="415466"/>
                          </a:solidFill>
                        </a:rPr>
                        <a:t> rate</a:t>
                      </a:r>
                    </a:p>
                  </a:txBody>
                  <a:tcPr marL="91440" marR="91440" marT="45720" marB="45720">
                    <a:solidFill>
                      <a:srgbClr val="FFFFFF"/>
                    </a:solidFill>
                  </a:tcPr>
                </a:tc>
                <a:tc>
                  <a:txBody>
                    <a:bodyPr/>
                    <a:lstStyle/>
                    <a:p>
                      <a:r>
                        <a:rPr sz="1000" b="0">
                          <a:solidFill>
                            <a:srgbClr val="415466"/>
                          </a:solidFill>
                        </a:rPr>
                        <a:t>1e-4</a:t>
                      </a:r>
                    </a:p>
                  </a:txBody>
                  <a:tcPr marL="91440" marR="91440" marT="45720" marB="45720">
                    <a:solidFill>
                      <a:srgbClr val="FFFFFF"/>
                    </a:solidFill>
                  </a:tcPr>
                </a:tc>
                <a:tc>
                  <a:txBody>
                    <a:bodyPr/>
                    <a:lstStyle/>
                    <a:p>
                      <a:r>
                        <a:rPr sz="1000" b="0">
                          <a:solidFill>
                            <a:srgbClr val="415466"/>
                          </a:solidFill>
                        </a:rPr>
                        <a:t>3e-5</a:t>
                      </a:r>
                    </a:p>
                  </a:txBody>
                  <a:tcPr marL="91440" marR="91440" marT="45720" marB="45720">
                    <a:solidFill>
                      <a:srgbClr val="FFFFFF"/>
                    </a:solidFill>
                  </a:tcPr>
                </a:tc>
              </a:tr>
              <a:tr h="259849">
                <a:tc>
                  <a:txBody>
                    <a:bodyPr/>
                    <a:lstStyle/>
                    <a:p>
                      <a:r>
                        <a:rPr sz="1000" b="0">
                          <a:solidFill>
                            <a:srgbClr val="415466"/>
                          </a:solidFill>
                        </a:rPr>
                        <a:t>Critic</a:t>
                      </a:r>
                      <a:r>
                        <a:rPr sz="1000" b="0">
                          <a:solidFill>
                            <a:srgbClr val="415466"/>
                          </a:solidFill>
                        </a:rPr>
                        <a:t> architecture</a:t>
                      </a:r>
                    </a:p>
                  </a:txBody>
                  <a:tcPr marL="91440" marR="91440" marT="45720" marB="45720">
                    <a:solidFill>
                      <a:srgbClr val="FFFFFF"/>
                    </a:solidFill>
                  </a:tcPr>
                </a:tc>
                <a:tc>
                  <a:txBody>
                    <a:bodyPr/>
                    <a:lstStyle/>
                    <a:p>
                      <a:r>
                        <a:rPr sz="1000" b="0">
                          <a:solidFill>
                            <a:srgbClr val="415466"/>
                          </a:solidFill>
                        </a:rPr>
                        <a:t>1e-4</a:t>
                      </a:r>
                    </a:p>
                  </a:txBody>
                  <a:tcPr marL="91440" marR="91440" marT="45720" marB="45720">
                    <a:solidFill>
                      <a:srgbClr val="FFFFFF"/>
                    </a:solidFill>
                  </a:tcPr>
                </a:tc>
                <a:tc>
                  <a:txBody>
                    <a:bodyPr/>
                    <a:lstStyle/>
                    <a:p>
                      <a:r>
                        <a:rPr sz="1000" b="0">
                          <a:solidFill>
                            <a:srgbClr val="415466"/>
                          </a:solidFill>
                        </a:rPr>
                        <a:t>3e-5</a:t>
                      </a:r>
                    </a:p>
                  </a:txBody>
                  <a:tcPr marL="91440" marR="91440" marT="45720" marB="45720">
                    <a:solidFill>
                      <a:srgbClr val="FFFFFF"/>
                    </a:solidFill>
                  </a:tcPr>
                </a:tc>
              </a:tr>
              <a:tr h="259849">
                <a:tc>
                  <a:txBody>
                    <a:bodyPr/>
                    <a:lstStyle/>
                    <a:p>
                      <a:r>
                        <a:rPr sz="1000" b="0">
                          <a:solidFill>
                            <a:srgbClr val="415466"/>
                          </a:solidFill>
                        </a:rPr>
                        <a:t>Gamma</a:t>
                      </a:r>
                    </a:p>
                  </a:txBody>
                  <a:tcPr marL="91440" marR="91440" marT="45720" marB="45720">
                    <a:solidFill>
                      <a:srgbClr val="FFFFFF"/>
                    </a:solidFill>
                  </a:tcPr>
                </a:tc>
                <a:tc>
                  <a:txBody>
                    <a:bodyPr/>
                    <a:lstStyle/>
                    <a:p>
                      <a:r>
                        <a:rPr sz="1000" b="0">
                          <a:solidFill>
                            <a:srgbClr val="415466"/>
                          </a:solidFill>
                        </a:rPr>
                        <a:t>0.9</a:t>
                      </a:r>
                    </a:p>
                  </a:txBody>
                  <a:tcPr marL="91440" marR="91440" marT="45720" marB="45720">
                    <a:solidFill>
                      <a:srgbClr val="FFFFFF"/>
                    </a:solidFill>
                  </a:tcPr>
                </a:tc>
                <a:tc>
                  <a:txBody>
                    <a:bodyPr/>
                    <a:lstStyle/>
                    <a:p>
                      <a:r>
                        <a:rPr sz="1000" b="0">
                          <a:solidFill>
                            <a:srgbClr val="415466"/>
                          </a:solidFill>
                        </a:rPr>
                        <a:t>0.99</a:t>
                      </a:r>
                    </a:p>
                  </a:txBody>
                  <a:tcPr marL="91440" marR="91440" marT="45720" marB="45720">
                    <a:solidFill>
                      <a:srgbClr val="FFFFFF"/>
                    </a:solidFill>
                  </a:tcPr>
                </a:tc>
              </a:tr>
              <a:tr h="259849">
                <a:tc>
                  <a:txBody>
                    <a:bodyPr/>
                    <a:lstStyle/>
                    <a:p>
                      <a:r>
                        <a:rPr sz="1000" b="0">
                          <a:solidFill>
                            <a:srgbClr val="415466"/>
                          </a:solidFill>
                        </a:rPr>
                        <a:t>Update </a:t>
                      </a:r>
                      <a:r>
                        <a:rPr sz="1000" b="0">
                          <a:solidFill>
                            <a:srgbClr val="415466"/>
                          </a:solidFill>
                        </a:rPr>
                        <a:t>epochs</a:t>
                      </a:r>
                    </a:p>
                  </a:txBody>
                  <a:tcPr marL="91440" marR="91440" marT="45720" marB="45720">
                    <a:solidFill>
                      <a:srgbClr val="FFFFFF"/>
                    </a:solidFill>
                  </a:tcPr>
                </a:tc>
                <a:tc>
                  <a:txBody>
                    <a:bodyPr/>
                    <a:lstStyle/>
                    <a:p>
                      <a:r>
                        <a:rPr sz="1000" b="0">
                          <a:solidFill>
                            <a:srgbClr val="415466"/>
                          </a:solidFill>
                        </a:rPr>
                        <a:t>10</a:t>
                      </a:r>
                    </a:p>
                  </a:txBody>
                  <a:tcPr marL="91440" marR="91440" marT="45720" marB="45720">
                    <a:solidFill>
                      <a:srgbClr val="FFFFFF"/>
                    </a:solidFill>
                  </a:tcPr>
                </a:tc>
                <a:tc>
                  <a:txBody>
                    <a:bodyPr/>
                    <a:lstStyle/>
                    <a:p>
                      <a:r>
                        <a:rPr sz="1000" b="0">
                          <a:solidFill>
                            <a:srgbClr val="415466"/>
                          </a:solidFill>
                        </a:rPr>
                        <a:t>80</a:t>
                      </a:r>
                    </a:p>
                  </a:txBody>
                  <a:tcPr marL="91440" marR="91440" marT="45720" marB="45720">
                    <a:solidFill>
                      <a:srgbClr val="FFFFFF"/>
                    </a:solidFill>
                  </a:tcPr>
                </a:tc>
              </a:tr>
              <a:tr h="259849">
                <a:tc>
                  <a:txBody>
                    <a:bodyPr/>
                    <a:lstStyle/>
                    <a:p>
                      <a:r>
                        <a:rPr sz="1000" b="0">
                          <a:solidFill>
                            <a:srgbClr val="415466"/>
                          </a:solidFill>
                        </a:rPr>
                        <a:t>Minibatches</a:t>
                      </a:r>
                    </a:p>
                  </a:txBody>
                  <a:tcPr marL="91440" marR="91440" marT="45720" marB="45720">
                    <a:solidFill>
                      <a:srgbClr val="FFFFFF"/>
                    </a:solidFill>
                  </a:tcPr>
                </a:tc>
                <a:tc>
                  <a:txBody>
                    <a:bodyPr/>
                    <a:lstStyle/>
                    <a:p>
                      <a:r>
                        <a:rPr sz="1000" b="0">
                          <a:solidFill>
                            <a:srgbClr val="415466"/>
                          </a:solidFill>
                        </a:rPr>
                        <a:t>16</a:t>
                      </a:r>
                    </a:p>
                  </a:txBody>
                  <a:tcPr marL="91440" marR="91440" marT="45720" marB="45720">
                    <a:solidFill>
                      <a:srgbClr val="FFFFFF"/>
                    </a:solidFill>
                  </a:tcPr>
                </a:tc>
                <a:tc>
                  <a:txBody>
                    <a:bodyPr/>
                    <a:lstStyle/>
                    <a:p>
                      <a:r>
                        <a:rPr sz="1000" b="0">
                          <a:solidFill>
                            <a:srgbClr val="415466"/>
                          </a:solidFill>
                        </a:rPr>
                        <a:t>4</a:t>
                      </a:r>
                    </a:p>
                  </a:txBody>
                  <a:tcPr marL="91440" marR="91440" marT="45720" marB="45720">
                    <a:solidFill>
                      <a:srgbClr val="FFFFFF"/>
                    </a:solidFill>
                  </a:tcPr>
                </a:tc>
              </a:tr>
              <a:tr h="259849">
                <a:tc>
                  <a:txBody>
                    <a:bodyPr/>
                    <a:lstStyle/>
                    <a:p>
                      <a:r>
                        <a:rPr sz="1000" b="0">
                          <a:solidFill>
                            <a:srgbClr val="415466"/>
                          </a:solidFill>
                        </a:rPr>
                        <a:t>Maximum gradient </a:t>
                      </a:r>
                      <a:r>
                        <a:rPr sz="1000" b="0">
                          <a:solidFill>
                            <a:srgbClr val="415466"/>
                          </a:solidFill>
                        </a:rPr>
                        <a:t>norm</a:t>
                      </a:r>
                    </a:p>
                  </a:txBody>
                  <a:tcPr marL="91440" marR="91440" marT="45720" marB="45720">
                    <a:solidFill>
                      <a:srgbClr val="FFFFFF"/>
                    </a:solidFill>
                  </a:tcPr>
                </a:tc>
                <a:tc>
                  <a:txBody>
                    <a:bodyPr/>
                    <a:lstStyle/>
                    <a:p>
                      <a:r>
                        <a:rPr sz="1000" b="0">
                          <a:solidFill>
                            <a:srgbClr val="415466"/>
                          </a:solidFill>
                        </a:rPr>
                        <a:t>1.0</a:t>
                      </a:r>
                    </a:p>
                  </a:txBody>
                  <a:tcPr marL="91440" marR="91440" marT="45720" marB="45720">
                    <a:solidFill>
                      <a:srgbClr val="FFFFFF"/>
                    </a:solidFill>
                  </a:tcPr>
                </a:tc>
                <a:tc>
                  <a:txBody>
                    <a:bodyPr/>
                    <a:lstStyle/>
                    <a:p>
                      <a:r>
                        <a:rPr sz="1000" b="0">
                          <a:solidFill>
                            <a:srgbClr val="415466"/>
                          </a:solidFill>
                        </a:rPr>
                        <a:t>10.0</a:t>
                      </a:r>
                    </a:p>
                  </a:txBody>
                  <a:tcPr marL="91440" marR="91440" marT="45720" marB="45720">
                    <a:solidFill>
                      <a:srgbClr val="FFFFFF"/>
                    </a:solidFill>
                  </a:tcPr>
                </a:tc>
              </a:tr>
            </a:tbl>
          </a:graphicData>
        </a:graphic>
      </p:graphicFrame>
      <p:sp>
        <p:nvSpPr>
          <p:cNvPr id="11" name="slide3-source">
            <a:extLst xmlns:a="http://schemas.openxmlformats.org/drawingml/2006/main">
              <a:ext uri="{FF2B5EF4-FFF2-40B4-BE49-F238E27FC236}">
                <a16:creationId xmlns:a16="http://schemas.microsoft.com/office/drawing/2014/main" id="{D36EFE27-96F7-5C96-76E7-6D01DAD19BAF}"/>
              </a:ext>
            </a:extLst>
          </p:cNvPr>
          <p:cNvSpPr>
            <a:spLocks xmlns:a="http://schemas.openxmlformats.org/drawingml/2006/main" noGrp="1"/>
          </p:cNvSpPr>
          <p:nvPr/>
        </p:nvSpPr>
        <p:spPr>
          <a:xfrm xmlns:a="http://schemas.openxmlformats.org/drawingml/2006/main">
            <a:off x="443593" y="6024358"/>
            <a:ext cx="4004140" cy="1598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825" b="0">
                <a:solidFill>
                  <a:srgbClr val="77838C"/>
                </a:solidFill>
              </a:defRPr>
            </a:pPr>
            <a:r>
              <a:rPr sz="825" b="0">
                <a:solidFill>
                  <a:srgbClr val="77838C"/>
                </a:solidFill>
              </a:rPr>
              <a:t>Source: original IEEE-14 MAPPO baseline hyperparameters</a:t>
            </a:r>
          </a:p>
        </p:txBody>
      </p:sp>
      <p:sp>
        <p:nvSpPr>
          <p:cNvPr id="6" name="ZoneTexte 5">
            <a:extLst xmlns:a="http://schemas.openxmlformats.org/drawingml/2006/main">
              <a:ext uri="{FF2B5EF4-FFF2-40B4-BE49-F238E27FC236}">
                <a16:creationId xmlns:a16="http://schemas.microsoft.com/office/drawing/2014/main" id="{5356D57D-B1F9-F9B7-28D7-C6729FBABBCA}"/>
              </a:ext>
            </a:extLst>
          </p:cNvPr>
          <p:cNvSpPr>
            <a:spLocks xmlns:a="http://schemas.openxmlformats.org/drawingml/2006/main" noGrp="1"/>
          </p:cNvSpPr>
          <p:nvPr/>
        </p:nvSpPr>
        <p:spPr>
          <a:xfrm xmlns:a="http://schemas.openxmlformats.org/drawingml/2006/main">
            <a:off x="377773" y="4138074"/>
            <a:ext cx="4906187" cy="2616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1100" b="1" i="1">
                <a:latin typeface="Times New Roman"/>
                <a:ea typeface="Times New Roman"/>
                <a:cs typeface="Times New Roman"/>
              </a:rPr>
              <a:t>Table 3: </a:t>
            </a:r>
            <a:r>
              <a:rPr sz="1100" b="1" i="1">
                <a:latin typeface="Times New Roman"/>
                <a:ea typeface="Times New Roman"/>
                <a:cs typeface="Times New Roman"/>
              </a:rPr>
              <a:t>New </a:t>
            </a:r>
            <a:r>
              <a:rPr sz="1100" b="1" i="1">
                <a:latin typeface="Times New Roman"/>
                <a:ea typeface="Times New Roman"/>
                <a:cs typeface="Times New Roman"/>
              </a:rPr>
              <a:t>hyperparameters</a:t>
            </a:r>
            <a:r>
              <a:rPr sz="1100" b="1" i="1">
                <a:latin typeface="Times New Roman"/>
                <a:ea typeface="Times New Roman"/>
                <a:cs typeface="Times New Roman"/>
              </a:rPr>
              <a:t> for MAPPO training </a:t>
            </a:r>
          </a:p>
        </p:txBody>
      </p:sp>
      <p:sp>
        <p:nvSpPr>
          <p:cNvPr id="13" name="ZoneTexte 12">
            <a:extLst xmlns:a="http://schemas.openxmlformats.org/drawingml/2006/main">
              <a:ext uri="{FF2B5EF4-FFF2-40B4-BE49-F238E27FC236}">
                <a16:creationId xmlns:a16="http://schemas.microsoft.com/office/drawing/2014/main" id="{F26CE563-2BDA-4FF4-C2FA-4A90B4AD8825}"/>
              </a:ext>
            </a:extLst>
          </p:cNvPr>
          <p:cNvSpPr>
            <a:spLocks xmlns:a="http://schemas.openxmlformats.org/drawingml/2006/main" noGrp="1"/>
          </p:cNvSpPr>
          <p:nvPr/>
        </p:nvSpPr>
        <p:spPr>
          <a:xfrm xmlns:a="http://schemas.openxmlformats.org/drawingml/2006/main">
            <a:off x="5497959" y="1448036"/>
            <a:ext cx="3220046" cy="2247424"/>
          </a:xfrm>
          <a:prstGeom xmlns:a="http://schemas.openxmlformats.org/drawingml/2006/main" prst="roundRect">
            <a:avLst/>
          </a:prstGeom>
          <a:solidFill xmlns:a="http://schemas.openxmlformats.org/drawingml/2006/main">
            <a:srgbClr val="FEC9CC">
              <a:alpha val="20000"/>
            </a:srgbClr>
          </a:solidFill>
          <a:ln xmlns:a="http://schemas.openxmlformats.org/drawingml/2006/main" w="9525"/>
        </p:spPr>
        <p:style>
          <a:lnRef xmlns:a="http://schemas.openxmlformats.org/drawingml/2006/main" idx="2">
            <a:schemeClr val="accent1"/>
          </a:lnRef>
          <a:fillRef xmlns:a="http://schemas.openxmlformats.org/drawingml/2006/main" idx="1">
            <a:schemeClr val="lt1"/>
          </a:fillRef>
          <a:effectRef xmlns:a="http://schemas.openxmlformats.org/drawingml/2006/main" idx="0">
            <a:schemeClr val="accent1"/>
          </a:effectRef>
          <a:fontRef xmlns:a="http://schemas.openxmlformats.org/drawingml/2006/main" idx="minor">
            <a:schemeClr val="dk1"/>
          </a:fontRef>
        </p:style>
        <p:txBody>
          <a:bodyPr xmlns:a="http://schemas.openxmlformats.org/drawingml/2006/main" wrap="square">
            <a:spAutoFit/>
          </a:bodyPr>
          <a:lstStyle xmlns:a="http://schemas.openxmlformats.org/drawingml/2006/main"/>
          <a:p xmlns:a="http://schemas.openxmlformats.org/drawingml/2006/main">
            <a:pPr>
              <a:buClr>
                <a:schemeClr val="accent1"/>
              </a:buClr>
              <a:buNone/>
            </a:pPr>
            <a:r>
              <a:rPr sz="1400" b="1" u="sng"/>
              <a:t>Structural changes</a:t>
            </a:r>
          </a:p>
          <a:p xmlns:a="http://schemas.openxmlformats.org/drawingml/2006/main">
            <a:pPr marL="628650" indent="-285750">
              <a:buClr>
                <a:schemeClr val="accent1"/>
              </a:buClr>
              <a:buFont typeface="Wingdings"/>
              <a:buChar char="§"/>
            </a:pPr>
          </a:p>
          <a:p xmlns:a="http://schemas.openxmlformats.org/drawingml/2006/main">
            <a:pPr marL="628650" indent="-285750">
              <a:buClr>
                <a:schemeClr val="accent1"/>
              </a:buClr>
              <a:buFont typeface="Wingdings"/>
              <a:buChar char="§"/>
            </a:pPr>
            <a:r>
              <a:rPr sz="1400"/>
              <a:t>Reward Normalization</a:t>
            </a:r>
          </a:p>
          <a:p xmlns:a="http://schemas.openxmlformats.org/drawingml/2006/main">
            <a:pPr marL="628650" indent="-285750">
              <a:buClr>
                <a:schemeClr val="accent1"/>
              </a:buClr>
              <a:buFont typeface="Wingdings"/>
              <a:buChar char="§"/>
            </a:pPr>
          </a:p>
          <a:p xmlns:a="http://schemas.openxmlformats.org/drawingml/2006/main">
            <a:pPr marL="628650" indent="-285750">
              <a:buClr>
                <a:schemeClr val="accent1"/>
              </a:buClr>
              <a:buFont typeface="Wingdings"/>
              <a:buChar char="§"/>
            </a:pPr>
            <a:r>
              <a:rPr sz="1400"/>
              <a:t>Do-Nothing initialization prior</a:t>
            </a:r>
          </a:p>
          <a:p xmlns:a="http://schemas.openxmlformats.org/drawingml/2006/main">
            <a:pPr marL="628650" indent="-285750">
              <a:buClr>
                <a:schemeClr val="accent1"/>
              </a:buClr>
              <a:buFont typeface="Wingdings"/>
              <a:buChar char="§"/>
            </a:pPr>
          </a:p>
          <a:p xmlns:a="http://schemas.openxmlformats.org/drawingml/2006/main">
            <a:pPr marL="628650" indent="-285750">
              <a:buClr>
                <a:schemeClr val="accent1"/>
              </a:buClr>
              <a:buFont typeface="Wingdings"/>
              <a:buChar char="§"/>
            </a:pPr>
            <a:r>
              <a:rPr sz="1400"/>
              <a:t>1 c</a:t>
            </a:r>
            <a:r>
              <a:rPr sz="1400"/>
              <a:t>ritic</a:t>
            </a:r>
            <a:r>
              <a:rPr sz="1400"/>
              <a:t> update per batch instead of </a:t>
            </a:r>
            <a:r>
              <a:rPr sz="1400"/>
              <a:t>n_agent</a:t>
            </a:r>
          </a:p>
        </p:txBody>
      </p:sp>
    </p:spTree>
    <p:extLst>
      <p:ext uri="{BB962C8B-B14F-4D97-AF65-F5344CB8AC3E}">
        <p14:creationId xmlns:p14="http://schemas.microsoft.com/office/powerpoint/2010/main" val="563722387"/>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pic>
        <p:nvPicPr>
          <p:cNvPr id="13" name="Picture 2"/>
          <p:cNvPicPr>
            <a:picLocks xmlns:a="http://schemas.openxmlformats.org/drawingml/2006/main" noChangeAspect="1"/>
          </p:cNvPicPr>
          <p:nvPr/>
        </p:nvPicPr>
        <p:blipFill>
          <a:blip xmlns:r="http://schemas.openxmlformats.org/officeDocument/2006/relationships" xmlns:a="http://schemas.openxmlformats.org/drawingml/2006/main" r:embed="Rc12e8089758f4edb"/>
          <a:srcRect xmlns:a="http://schemas.openxmlformats.org/drawingml/2006/main" l="0" t="0" r="0" b="0"/>
          <a:stretch xmlns:a="http://schemas.openxmlformats.org/drawingml/2006/main">
            <a:fillRect l="0" t="0" r="0" b="0"/>
          </a:stretch>
        </p:blipFill>
        <p:spPr>
          <a:xfrm xmlns:a="http://schemas.openxmlformats.org/drawingml/2006/main">
            <a:off x="158055" y="379734"/>
            <a:ext cx="587504" cy="326391"/>
          </a:xfrm>
          <a:prstGeom xmlns:a="http://schemas.openxmlformats.org/drawingml/2006/main" prst="rect">
            <a:avLst/>
          </a:prstGeom>
        </p:spPr>
      </p:pic>
      <p:sp>
        <p:nvSpPr>
          <p:cNvPr id="10" name="training-network-table-frame">
            <a:extLst xmlns:a="http://schemas.openxmlformats.org/drawingml/2006/main">
              <a:ext uri="{FF2B5EF4-FFF2-40B4-BE49-F238E27FC236}">
                <a16:creationId xmlns:a16="http://schemas.microsoft.com/office/drawing/2014/main" id="{7F9EEECA-031F-23BC-9421-F14BA558B315}"/>
              </a:ext>
            </a:extLst>
          </p:cNvPr>
          <p:cNvSpPr>
            <a:spLocks xmlns:a="http://schemas.openxmlformats.org/drawingml/2006/main" noGrp="1"/>
          </p:cNvSpPr>
          <p:nvPr/>
        </p:nvSpPr>
        <p:spPr>
          <a:xfrm xmlns:a="http://schemas.openxmlformats.org/drawingml/2006/main">
            <a:off x="707010" y="684471"/>
            <a:ext cx="7924228" cy="4068973"/>
          </a:xfrm>
          <a:prstGeom xmlns:a="http://schemas.openxmlformats.org/drawingml/2006/main" prst="roundRect">
            <a:avLst>
              <a:gd name="adj" fmla="val 2703"/>
            </a:avLst>
          </a:prstGeom>
          <a:solidFill xmlns:a="http://schemas.openxmlformats.org/drawingml/2006/main">
            <a:srgbClr val="FBFCFD"/>
          </a:solidFill>
          <a:ln xmlns:a="http://schemas.openxmlformats.org/drawingml/2006/main" w="9525">
            <a:solidFill>
              <a:srgbClr val="DDE4E8"/>
            </a:solidFill>
            <a:prstDash val="solid"/>
          </a:ln>
        </p:spPr>
        <p:txBody>
          <a:bodyPr xmlns:a="http://schemas.openxmlformats.org/drawingml/2006/main"/>
          <a:lstStyle xmlns:a="http://schemas.openxmlformats.org/drawingml/2006/main"/>
          <a:p xmlns:a="http://schemas.openxmlformats.org/drawingml/2006/main"/>
        </p:txBody>
      </p:sp>
      <p:sp>
        <p:nvSpPr>
          <p:cNvPr id="2" name="Titre 1">
            <a:extLst xmlns:a="http://schemas.openxmlformats.org/drawingml/2006/main">
              <a:ext uri="{FF2B5EF4-FFF2-40B4-BE49-F238E27FC236}">
                <a16:creationId xmlns:a16="http://schemas.microsoft.com/office/drawing/2014/main" id="{9D9612A4-0B12-1517-06D3-E39843A07631}"/>
              </a:ext>
            </a:extLst>
          </p:cNvPr>
          <p:cNvSpPr>
            <a:spLocks xmlns:a="http://schemas.openxmlformats.org/drawingml/2006/main" noGrp="1"/>
          </p:cNvSpPr>
          <p:nvPr>
            <p:ph type="title" idx="0"/>
          </p:nvPr>
        </p:nvSpPr>
        <p:spPr>
          <a:xfrm xmlns:a="http://schemas.openxmlformats.org/drawingml/2006/main">
            <a:off x="904875" y="252828"/>
            <a:ext cx="7532115" cy="601301"/>
          </a:xfrm>
        </p:spPr>
        <p:txBody>
          <a:bodyPr xmlns:a="http://schemas.openxmlformats.org/drawingml/2006/main">
            <a:normAutofit/>
          </a:bodyPr>
          <a:lstStyle xmlns:a="http://schemas.openxmlformats.org/drawingml/2006/main"/>
          <a:p xmlns:a="http://schemas.openxmlformats.org/drawingml/2006/main">
            <a:r>
              <a:t>Observation features</a:t>
            </a:r>
          </a:p>
        </p:txBody>
      </p:sp>
      <p:sp>
        <p:nvSpPr>
          <p:cNvPr id="5" name="Espace réservé du numéro de diapositive 4">
            <a:extLst xmlns:a="http://schemas.openxmlformats.org/drawingml/2006/main">
              <a:ext uri="{FF2B5EF4-FFF2-40B4-BE49-F238E27FC236}">
                <a16:creationId xmlns:a16="http://schemas.microsoft.com/office/drawing/2014/main" id="{249F4045-02EE-BC22-914F-19B7E3ADE5B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r>
              <a:t>8</a:t>
            </a:r>
          </a:p>
        </p:txBody>
      </p:sp>
      <p:graphicFrame>
        <p:nvGraphicFramePr>
          <p:cNvPr id="17" name="Tableau 5"/>
          <p:cNvGraphicFramePr/>
          <p:nvPr/>
        </p:nvGraphicFramePr>
        <p:xfrm>
          <a:off xmlns:a="http://schemas.openxmlformats.org/drawingml/2006/main" x="903066" y="832894"/>
          <a:ext xmlns:a="http://schemas.openxmlformats.org/drawingml/2006/main" cx="7532115" cy="3790119"/>
        </p:xfrm>
        <a:graphic xmlns:a="http://schemas.openxmlformats.org/drawingml/2006/main">
          <a:graphicData uri="http://schemas.openxmlformats.org/drawingml/2006/table">
            <a:tbl>
              <a:tblPr>
                <a:tableStyleId>{9D7B26C5-4107-4FEC-AEDC-1716B250A1EF}</a:tableStyleId>
              </a:tblPr>
              <a:tblGrid>
                <a:gridCol w="2073399"/>
                <a:gridCol w="2948011"/>
                <a:gridCol w="2510705"/>
              </a:tblGrid>
              <a:tr h="223732">
                <a:tc>
                  <a:txBody>
                    <a:bodyPr/>
                    <a:lstStyle/>
                    <a:p>
                      <a:pPr>
                        <a:buNone/>
                      </a:pPr>
                      <a:r>
                        <a:rPr sz="1150" b="1"/>
                        <a:t>Feature</a:t>
                      </a:r>
                      <a:r>
                        <a:rPr sz="1150" b="1"/>
                        <a:t> </a:t>
                      </a:r>
                      <a:r>
                        <a:rPr sz="1150" b="1"/>
                        <a:t>category</a:t>
                      </a:r>
                    </a:p>
                  </a:txBody>
                  <a:tcPr marL="30575" marR="30575" marT="15287" marB="15287" anchor="ctr">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solidFill>
                      <a:srgbClr val="FEC9CC">
                        <a:alpha val="20000"/>
                      </a:srgbClr>
                    </a:solidFill>
                  </a:tcPr>
                </a:tc>
                <a:tc>
                  <a:txBody>
                    <a:bodyPr/>
                    <a:lstStyle/>
                    <a:p>
                      <a:pPr>
                        <a:buNone/>
                      </a:pPr>
                      <a:r>
                        <a:rPr sz="1150" b="1"/>
                        <a:t>Observation variables, MLP </a:t>
                      </a:r>
                    </a:p>
                  </a:txBody>
                  <a:tcPr marL="30575" marR="30575" marT="15287" marB="15287" anchor="ctr">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solidFill>
                      <a:srgbClr val="FEC9CC">
                        <a:alpha val="20000"/>
                      </a:srgbClr>
                    </a:solidFill>
                  </a:tcPr>
                </a:tc>
                <a:tc>
                  <a:txBody>
                    <a:bodyPr/>
                    <a:lstStyle/>
                    <a:p>
                      <a:pPr>
                        <a:buNone/>
                      </a:pPr>
                      <a:r>
                        <a:rPr sz="1150" b="1"/>
                        <a:t>Graph </a:t>
                      </a:r>
                      <a:r>
                        <a:rPr sz="1150" b="1"/>
                        <a:t>feature</a:t>
                      </a:r>
                      <a:r>
                        <a:rPr sz="1150" b="1"/>
                        <a:t> attribution</a:t>
                      </a:r>
                    </a:p>
                  </a:txBody>
                  <a:tcPr marL="30575" marR="30575" marT="15287" marB="15287" anchor="ctr">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solidFill>
                      <a:srgbClr val="FEC9CC">
                        <a:alpha val="20000"/>
                      </a:srgbClr>
                    </a:solidFill>
                  </a:tcPr>
                </a:tc>
              </a:tr>
              <a:tr h="223732">
                <a:tc>
                  <a:txBody>
                    <a:bodyPr/>
                    <a:lstStyle/>
                    <a:p>
                      <a:pPr>
                        <a:buNone/>
                      </a:pPr>
                      <a:r>
                        <a:rPr sz="1150" b="1"/>
                        <a:t>Generation</a:t>
                      </a:r>
                    </a:p>
                  </a:txBody>
                  <a:tcPr marL="30575" marR="30575" marT="15287" marB="15287" anchor="ctr">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solidFill>
                      <a:srgbClr val="FEC9CC">
                        <a:alpha val="20000"/>
                      </a:srgbClr>
                    </a:solidFill>
                  </a:tcPr>
                </a:tc>
                <a:tc>
                  <a:txBody>
                    <a:bodyPr/>
                    <a:lstStyle/>
                    <a:p>
                      <a:pPr>
                        <a:buNone/>
                      </a:pPr>
                      <a:r>
                        <a:rPr sz="1150">
                          <a:latin typeface="Consolas"/>
                          <a:ea typeface="Consolas"/>
                          <a:cs typeface="Consolas"/>
                        </a:rPr>
                        <a:t>gen_p</a:t>
                      </a:r>
                      <a:r>
                        <a:rPr sz="1150">
                          <a:latin typeface="Consolas"/>
                          <a:ea typeface="Consolas"/>
                          <a:cs typeface="Consolas"/>
                        </a:rPr>
                        <a:t>, </a:t>
                      </a:r>
                      <a:r>
                        <a:rPr sz="1150">
                          <a:latin typeface="Consolas"/>
                          <a:ea typeface="Consolas"/>
                          <a:cs typeface="Consolas"/>
                        </a:rPr>
                        <a:t>gen_theta</a:t>
                      </a:r>
                    </a:p>
                  </a:txBody>
                  <a:tcPr marL="30575" marR="30575" marT="15287" marB="15287" anchor="ctr">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tcPr>
                </a:tc>
                <a:tc>
                  <a:txBody>
                    <a:bodyPr/>
                    <a:lstStyle/>
                    <a:p>
                      <a:pPr>
                        <a:buNone/>
                      </a:pPr>
                      <a:r>
                        <a:rPr sz="1150"/>
                        <a:t>Node</a:t>
                      </a:r>
                    </a:p>
                  </a:txBody>
                  <a:tcPr marL="30575" marR="30575" marT="15287" marB="15287" anchor="ctr">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tcPr>
                </a:tc>
              </a:tr>
              <a:tr h="223732">
                <a:tc>
                  <a:txBody>
                    <a:bodyPr/>
                    <a:lstStyle/>
                    <a:p>
                      <a:pPr>
                        <a:buNone/>
                      </a:pPr>
                      <a:r>
                        <a:rPr sz="1150" b="1"/>
                        <a:t>Demand</a:t>
                      </a:r>
                    </a:p>
                  </a:txBody>
                  <a:tcPr marL="30575" marR="30575" marT="15287" marB="15287" anchor="ctr">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solidFill>
                      <a:srgbClr val="FEC9CC">
                        <a:alpha val="20000"/>
                      </a:srgbClr>
                    </a:solidFill>
                  </a:tcPr>
                </a:tc>
                <a:tc>
                  <a:txBody>
                    <a:bodyPr/>
                    <a:lstStyle/>
                    <a:p>
                      <a:pPr>
                        <a:buNone/>
                      </a:pPr>
                      <a:r>
                        <a:rPr sz="1150">
                          <a:latin typeface="Consolas"/>
                          <a:ea typeface="Consolas"/>
                          <a:cs typeface="Consolas"/>
                        </a:rPr>
                        <a:t>load_p</a:t>
                      </a:r>
                      <a:r>
                        <a:rPr sz="1150">
                          <a:latin typeface="Consolas"/>
                          <a:ea typeface="Consolas"/>
                          <a:cs typeface="Consolas"/>
                        </a:rPr>
                        <a:t>, </a:t>
                      </a:r>
                      <a:r>
                        <a:rPr sz="1150">
                          <a:latin typeface="Consolas"/>
                          <a:ea typeface="Consolas"/>
                          <a:cs typeface="Consolas"/>
                        </a:rPr>
                        <a:t>load_theta</a:t>
                      </a:r>
                    </a:p>
                  </a:txBody>
                  <a:tcPr marL="30575" marR="30575" marT="15287" marB="15287" anchor="ctr">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tcPr>
                </a:tc>
                <a:tc>
                  <a:txBody>
                    <a:bodyPr/>
                    <a:lstStyle/>
                    <a:p>
                      <a:pPr>
                        <a:buNone/>
                      </a:pPr>
                      <a:r>
                        <a:rPr sz="1150"/>
                        <a:t>Node</a:t>
                      </a:r>
                    </a:p>
                  </a:txBody>
                  <a:tcPr marL="30575" marR="30575" marT="15287" marB="15287" anchor="ctr">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tcPr>
                </a:tc>
              </a:tr>
              <a:tr h="223732">
                <a:tc>
                  <a:txBody>
                    <a:bodyPr/>
                    <a:lstStyle/>
                    <a:p>
                      <a:pPr>
                        <a:buNone/>
                      </a:pPr>
                      <a:r>
                        <a:rPr sz="1150" b="1"/>
                        <a:t>Line </a:t>
                      </a:r>
                      <a:r>
                        <a:rPr sz="1150" b="1"/>
                        <a:t>loading</a:t>
                      </a:r>
                    </a:p>
                  </a:txBody>
                  <a:tcPr marL="30575" marR="30575" marT="15287" marB="15287" anchor="ctr">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solidFill>
                      <a:srgbClr val="FEC9CC">
                        <a:alpha val="20000"/>
                      </a:srgbClr>
                    </a:solidFill>
                  </a:tcPr>
                </a:tc>
                <a:tc>
                  <a:txBody>
                    <a:bodyPr/>
                    <a:lstStyle/>
                    <a:p>
                      <a:pPr>
                        <a:buNone/>
                      </a:pPr>
                      <a:r>
                        <a:rPr sz="1150">
                          <a:latin typeface="Consolas"/>
                          <a:ea typeface="Consolas"/>
                          <a:cs typeface="Consolas"/>
                        </a:rPr>
                        <a:t>rho</a:t>
                      </a:r>
                    </a:p>
                  </a:txBody>
                  <a:tcPr marL="30575" marR="30575" marT="15287" marB="15287" anchor="ctr">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tcPr>
                </a:tc>
                <a:tc>
                  <a:txBody>
                    <a:bodyPr/>
                    <a:lstStyle/>
                    <a:p>
                      <a:pPr>
                        <a:buNone/>
                      </a:pPr>
                      <a:r>
                        <a:rPr sz="1150"/>
                        <a:t>Edge</a:t>
                      </a:r>
                    </a:p>
                  </a:txBody>
                  <a:tcPr marL="30575" marR="30575" marT="15287" marB="15287" anchor="ctr">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tcPr>
                </a:tc>
              </a:tr>
              <a:tr h="223732">
                <a:tc>
                  <a:txBody>
                    <a:bodyPr/>
                    <a:lstStyle/>
                    <a:p>
                      <a:pPr>
                        <a:buNone/>
                      </a:pPr>
                      <a:r>
                        <a:rPr sz="1150" b="1"/>
                        <a:t>Line </a:t>
                      </a:r>
                      <a:r>
                        <a:rPr sz="1150" b="1"/>
                        <a:t>status</a:t>
                      </a:r>
                    </a:p>
                  </a:txBody>
                  <a:tcPr marL="30575" marR="30575" marT="15287" marB="15287" anchor="ctr">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solidFill>
                      <a:srgbClr val="FEC9CC">
                        <a:alpha val="20000"/>
                      </a:srgbClr>
                    </a:solidFill>
                  </a:tcPr>
                </a:tc>
                <a:tc>
                  <a:txBody>
                    <a:bodyPr/>
                    <a:lstStyle/>
                    <a:p>
                      <a:pPr>
                        <a:buNone/>
                      </a:pPr>
                      <a:r>
                        <a:rPr sz="1150">
                          <a:latin typeface="Consolas"/>
                          <a:ea typeface="Consolas"/>
                          <a:cs typeface="Consolas"/>
                        </a:rPr>
                        <a:t>line_status</a:t>
                      </a:r>
                    </a:p>
                  </a:txBody>
                  <a:tcPr marL="30575" marR="30575" marT="15287" marB="15287" anchor="ctr">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tcPr>
                </a:tc>
                <a:tc>
                  <a:txBody>
                    <a:bodyPr/>
                    <a:lstStyle/>
                    <a:p>
                      <a:pPr>
                        <a:buNone/>
                      </a:pPr>
                      <a:r>
                        <a:rPr sz="1150"/>
                        <a:t>Edge + mask</a:t>
                      </a:r>
                    </a:p>
                  </a:txBody>
                  <a:tcPr marL="30575" marR="30575" marT="15287" marB="15287" anchor="ctr">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tcPr>
                </a:tc>
              </a:tr>
              <a:tr h="223732">
                <a:tc>
                  <a:txBody>
                    <a:bodyPr/>
                    <a:lstStyle/>
                    <a:p>
                      <a:pPr>
                        <a:buNone/>
                      </a:pPr>
                      <a:r>
                        <a:rPr sz="1150" b="1"/>
                        <a:t>Overload</a:t>
                      </a:r>
                      <a:r>
                        <a:rPr sz="1150" b="1"/>
                        <a:t> duration</a:t>
                      </a:r>
                    </a:p>
                  </a:txBody>
                  <a:tcPr marL="30575" marR="30575" marT="15287" marB="15287" anchor="ctr">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solidFill>
                      <a:srgbClr val="FEC9CC">
                        <a:alpha val="20000"/>
                      </a:srgbClr>
                    </a:solidFill>
                  </a:tcPr>
                </a:tc>
                <a:tc>
                  <a:txBody>
                    <a:bodyPr/>
                    <a:lstStyle/>
                    <a:p>
                      <a:pPr>
                        <a:buNone/>
                      </a:pPr>
                      <a:r>
                        <a:rPr sz="1150">
                          <a:latin typeface="Consolas"/>
                          <a:ea typeface="Consolas"/>
                          <a:cs typeface="Consolas"/>
                        </a:rPr>
                        <a:t>timestep_overflow</a:t>
                      </a:r>
                    </a:p>
                  </a:txBody>
                  <a:tcPr marL="30575" marR="30575" marT="15287" marB="15287" anchor="ctr">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tcPr>
                </a:tc>
                <a:tc>
                  <a:txBody>
                    <a:bodyPr/>
                    <a:lstStyle/>
                    <a:p>
                      <a:pPr>
                        <a:buNone/>
                      </a:pPr>
                      <a:r>
                        <a:rPr sz="1150"/>
                        <a:t>Edge</a:t>
                      </a:r>
                    </a:p>
                  </a:txBody>
                  <a:tcPr marL="30575" marR="30575" marT="15287" marB="15287" anchor="ctr">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tcPr>
                </a:tc>
              </a:tr>
              <a:tr h="227872">
                <a:tc>
                  <a:txBody>
                    <a:bodyPr/>
                    <a:lstStyle/>
                    <a:p>
                      <a:pPr>
                        <a:buNone/>
                      </a:pPr>
                      <a:r>
                        <a:rPr sz="1150" b="1"/>
                        <a:t>Line </a:t>
                      </a:r>
                      <a:r>
                        <a:rPr sz="1150" b="1"/>
                        <a:t>cooldown</a:t>
                      </a:r>
                    </a:p>
                  </a:txBody>
                  <a:tcPr marL="30575" marR="30575" marT="15287" marB="15287" anchor="ctr">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solidFill>
                      <a:srgbClr val="FEC9CC">
                        <a:alpha val="20000"/>
                      </a:srgbClr>
                    </a:solidFill>
                  </a:tcPr>
                </a:tc>
                <a:tc>
                  <a:txBody>
                    <a:bodyPr/>
                    <a:lstStyle/>
                    <a:p>
                      <a:pPr>
                        <a:buNone/>
                      </a:pPr>
                      <a:r>
                        <a:rPr sz="1150">
                          <a:latin typeface="Consolas"/>
                          <a:ea typeface="Consolas"/>
                          <a:cs typeface="Consolas"/>
                        </a:rPr>
                        <a:t>time_before_cooldown_line</a:t>
                      </a:r>
                    </a:p>
                  </a:txBody>
                  <a:tcPr marL="30575" marR="30575" marT="15287" marB="15287" anchor="ctr">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tcPr>
                </a:tc>
                <a:tc>
                  <a:txBody>
                    <a:bodyPr/>
                    <a:lstStyle/>
                    <a:p>
                      <a:pPr>
                        <a:buNone/>
                      </a:pPr>
                      <a:r>
                        <a:rPr sz="1150"/>
                        <a:t>Edge</a:t>
                      </a:r>
                    </a:p>
                  </a:txBody>
                  <a:tcPr marL="30575" marR="30575" marT="15287" marB="15287" anchor="ctr">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tcPr>
                </a:tc>
              </a:tr>
              <a:tr h="227872">
                <a:tc>
                  <a:txBody>
                    <a:bodyPr/>
                    <a:lstStyle/>
                    <a:p>
                      <a:pPr>
                        <a:buNone/>
                      </a:pPr>
                      <a:r>
                        <a:rPr sz="1150" b="1"/>
                        <a:t>Substation</a:t>
                      </a:r>
                      <a:r>
                        <a:rPr sz="1150" b="1"/>
                        <a:t> </a:t>
                      </a:r>
                      <a:r>
                        <a:rPr sz="1150" b="1"/>
                        <a:t>cooldown</a:t>
                      </a:r>
                    </a:p>
                  </a:txBody>
                  <a:tcPr marL="30575" marR="30575" marT="15287" marB="15287" anchor="ctr">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solidFill>
                      <a:srgbClr val="FEC9CC">
                        <a:alpha val="20000"/>
                      </a:srgbClr>
                    </a:solidFill>
                  </a:tcPr>
                </a:tc>
                <a:tc>
                  <a:txBody>
                    <a:bodyPr/>
                    <a:lstStyle/>
                    <a:p>
                      <a:pPr>
                        <a:buNone/>
                      </a:pPr>
                      <a:r>
                        <a:rPr sz="1150">
                          <a:latin typeface="Consolas"/>
                          <a:ea typeface="Consolas"/>
                          <a:cs typeface="Consolas"/>
                        </a:rPr>
                        <a:t>time_before_cooldown_sub</a:t>
                      </a:r>
                    </a:p>
                  </a:txBody>
                  <a:tcPr marL="30575" marR="30575" marT="15287" marB="15287" anchor="ctr">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tcPr>
                </a:tc>
                <a:tc>
                  <a:txBody>
                    <a:bodyPr/>
                    <a:lstStyle/>
                    <a:p>
                      <a:pPr>
                        <a:buNone/>
                      </a:pPr>
                      <a:r>
                        <a:rPr sz="1150"/>
                        <a:t>Node</a:t>
                      </a:r>
                    </a:p>
                  </a:txBody>
                  <a:tcPr marL="30575" marR="30575" marT="15287" marB="15287" anchor="ctr">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tcPr>
                </a:tc>
              </a:tr>
              <a:tr h="223732">
                <a:tc>
                  <a:txBody>
                    <a:bodyPr/>
                    <a:lstStyle/>
                    <a:p>
                      <a:pPr>
                        <a:buNone/>
                      </a:pPr>
                      <a:r>
                        <a:rPr sz="1150" b="1"/>
                        <a:t>Topology</a:t>
                      </a:r>
                    </a:p>
                  </a:txBody>
                  <a:tcPr marL="30575" marR="30575" marT="15287" marB="15287" anchor="ctr">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solidFill>
                      <a:srgbClr val="FEC9CC">
                        <a:alpha val="20000"/>
                      </a:srgbClr>
                    </a:solidFill>
                  </a:tcPr>
                </a:tc>
                <a:tc>
                  <a:txBody>
                    <a:bodyPr/>
                    <a:lstStyle/>
                    <a:p>
                      <a:pPr>
                        <a:buNone/>
                      </a:pPr>
                      <a:r>
                        <a:rPr sz="1150">
                          <a:latin typeface="Consolas"/>
                          <a:ea typeface="Consolas"/>
                          <a:cs typeface="Consolas"/>
                        </a:rPr>
                        <a:t>topo_vect</a:t>
                      </a:r>
                    </a:p>
                  </a:txBody>
                  <a:tcPr marL="30575" marR="30575" marT="15287" marB="15287" anchor="ctr">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tcPr>
                </a:tc>
                <a:tc>
                  <a:txBody>
                    <a:bodyPr/>
                    <a:lstStyle/>
                    <a:p>
                      <a:pPr>
                        <a:buNone/>
                      </a:pPr>
                      <a:r>
                        <a:rPr sz="1150"/>
                        <a:t>Busbar</a:t>
                      </a:r>
                      <a:r>
                        <a:rPr sz="1150"/>
                        <a:t> </a:t>
                      </a:r>
                      <a:r>
                        <a:rPr sz="1150"/>
                        <a:t>nodes</a:t>
                      </a:r>
                      <a:r>
                        <a:rPr sz="1150"/>
                        <a:t> + </a:t>
                      </a:r>
                      <a:r>
                        <a:rPr sz="1150"/>
                        <a:t>edge</a:t>
                      </a:r>
                      <a:r>
                        <a:rPr sz="1150"/>
                        <a:t> </a:t>
                      </a:r>
                      <a:r>
                        <a:rPr sz="1150"/>
                        <a:t>mask</a:t>
                      </a:r>
                    </a:p>
                  </a:txBody>
                  <a:tcPr marL="30575" marR="30575" marT="15287" marB="15287" anchor="ctr">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tcPr>
                </a:tc>
              </a:tr>
              <a:tr h="426343">
                <a:tc>
                  <a:txBody>
                    <a:bodyPr/>
                    <a:lstStyle/>
                    <a:p>
                      <a:pPr>
                        <a:buNone/>
                      </a:pPr>
                      <a:r>
                        <a:rPr sz="1150" b="1"/>
                        <a:t>Maintenance </a:t>
                      </a:r>
                      <a:r>
                        <a:rPr sz="1150" b="1"/>
                        <a:t>forecast</a:t>
                      </a:r>
                    </a:p>
                  </a:txBody>
                  <a:tcPr marL="30575" marR="30575" marT="15287" marB="15287" anchor="ctr">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solidFill>
                      <a:srgbClr val="FEC9CC">
                        <a:alpha val="20000"/>
                      </a:srgbClr>
                    </a:solidFill>
                  </a:tcPr>
                </a:tc>
                <a:tc>
                  <a:txBody>
                    <a:bodyPr/>
                    <a:lstStyle/>
                    <a:p>
                      <a:pPr>
                        <a:buNone/>
                      </a:pPr>
                      <a:r>
                        <a:rPr sz="1150">
                          <a:latin typeface="Consolas"/>
                          <a:ea typeface="Consolas"/>
                          <a:cs typeface="Consolas"/>
                        </a:rPr>
                        <a:t>time_next_maintenance</a:t>
                      </a:r>
                      <a:r>
                        <a:rPr sz="1150">
                          <a:latin typeface="Consolas"/>
                          <a:ea typeface="Consolas"/>
                          <a:cs typeface="Consolas"/>
                        </a:rPr>
                        <a:t>, </a:t>
                      </a:r>
                      <a:r>
                        <a:rPr sz="1150">
                          <a:latin typeface="Consolas"/>
                          <a:ea typeface="Consolas"/>
                          <a:cs typeface="Consolas"/>
                        </a:rPr>
                        <a:t>duration_next_maintenance</a:t>
                      </a:r>
                    </a:p>
                  </a:txBody>
                  <a:tcPr marL="30575" marR="30575" marT="15287" marB="15287" anchor="ctr">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tcPr>
                </a:tc>
                <a:tc>
                  <a:txBody>
                    <a:bodyPr/>
                    <a:lstStyle/>
                    <a:p>
                      <a:pPr>
                        <a:buNone/>
                      </a:pPr>
                      <a:r>
                        <a:rPr sz="1150"/>
                        <a:t>Edge (for WCCI36)</a:t>
                      </a:r>
                    </a:p>
                  </a:txBody>
                  <a:tcPr marL="30575" marR="30575" marT="15287" marB="15287" anchor="ctr">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tcPr>
                </a:tc>
              </a:tr>
              <a:tr h="557018">
                <a:tc>
                  <a:txBody>
                    <a:bodyPr/>
                    <a:lstStyle/>
                    <a:p>
                      <a:pPr>
                        <a:buNone/>
                      </a:pPr>
                      <a:r>
                        <a:rPr sz="1150" b="1"/>
                        <a:t>Redispatch</a:t>
                      </a:r>
                      <a:r>
                        <a:rPr sz="1150" b="1"/>
                        <a:t> state (not </a:t>
                      </a:r>
                      <a:r>
                        <a:rPr sz="1150" b="1"/>
                        <a:t>used</a:t>
                      </a:r>
                      <a:r>
                        <a:rPr sz="1150" b="1"/>
                        <a:t>)</a:t>
                      </a:r>
                    </a:p>
                  </a:txBody>
                  <a:tcPr marL="30575" marR="30575" marT="15287" marB="15287" anchor="ctr">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solidFill>
                      <a:srgbClr val="FEC9CC">
                        <a:alpha val="20000"/>
                      </a:srgbClr>
                    </a:solidFill>
                  </a:tcPr>
                </a:tc>
                <a:tc>
                  <a:txBody>
                    <a:bodyPr/>
                    <a:lstStyle/>
                    <a:p>
                      <a:pPr>
                        <a:buNone/>
                      </a:pPr>
                      <a:r>
                        <a:rPr sz="1150">
                          <a:latin typeface="Consolas"/>
                          <a:ea typeface="Consolas"/>
                          <a:cs typeface="Consolas"/>
                        </a:rPr>
                        <a:t>target_dispatch</a:t>
                      </a:r>
                      <a:r>
                        <a:rPr sz="1150">
                          <a:latin typeface="Consolas"/>
                          <a:ea typeface="Consolas"/>
                          <a:cs typeface="Consolas"/>
                        </a:rPr>
                        <a:t>, </a:t>
                      </a:r>
                      <a:r>
                        <a:rPr sz="1150">
                          <a:latin typeface="Consolas"/>
                          <a:ea typeface="Consolas"/>
                          <a:cs typeface="Consolas"/>
                        </a:rPr>
                        <a:t>actual_dispatch</a:t>
                      </a:r>
                      <a:r>
                        <a:rPr sz="1150">
                          <a:latin typeface="Consolas"/>
                          <a:ea typeface="Consolas"/>
                          <a:cs typeface="Consolas"/>
                        </a:rPr>
                        <a:t>, </a:t>
                      </a:r>
                      <a:r>
                        <a:rPr sz="1150">
                          <a:latin typeface="Consolas"/>
                          <a:ea typeface="Consolas"/>
                          <a:cs typeface="Consolas"/>
                        </a:rPr>
                        <a:t>gen_margin_up</a:t>
                      </a:r>
                      <a:r>
                        <a:rPr sz="1150">
                          <a:latin typeface="Consolas"/>
                          <a:ea typeface="Consolas"/>
                          <a:cs typeface="Consolas"/>
                        </a:rPr>
                        <a:t>/down</a:t>
                      </a:r>
                    </a:p>
                  </a:txBody>
                  <a:tcPr marL="30575" marR="30575" marT="15287" marB="15287" anchor="ctr">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tcPr>
                </a:tc>
                <a:tc>
                  <a:txBody>
                    <a:bodyPr/>
                    <a:lstStyle/>
                    <a:p>
                      <a:pPr>
                        <a:buNone/>
                      </a:pPr>
                      <a:r>
                        <a:rPr sz="1150"/>
                        <a:t>—</a:t>
                      </a:r>
                    </a:p>
                  </a:txBody>
                  <a:tcPr marL="30575" marR="30575" marT="15287" marB="15287" anchor="ctr">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tcPr>
                </a:tc>
              </a:tr>
              <a:tr h="557018">
                <a:tc>
                  <a:txBody>
                    <a:bodyPr/>
                    <a:lstStyle/>
                    <a:p>
                      <a:pPr>
                        <a:buNone/>
                      </a:pPr>
                      <a:r>
                        <a:rPr sz="1150" b="1"/>
                        <a:t>Curtailment</a:t>
                      </a:r>
                      <a:r>
                        <a:rPr sz="1150" b="1"/>
                        <a:t> state (not </a:t>
                      </a:r>
                      <a:r>
                        <a:rPr sz="1150" b="1"/>
                        <a:t>used</a:t>
                      </a:r>
                      <a:r>
                        <a:rPr sz="1150" b="1"/>
                        <a:t>)</a:t>
                      </a:r>
                    </a:p>
                  </a:txBody>
                  <a:tcPr marL="30575" marR="30575" marT="15287" marB="15287" anchor="ctr">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solidFill>
                      <a:srgbClr val="FEC9CC">
                        <a:alpha val="20000"/>
                      </a:srgbClr>
                    </a:solidFill>
                  </a:tcPr>
                </a:tc>
                <a:tc>
                  <a:txBody>
                    <a:bodyPr/>
                    <a:lstStyle/>
                    <a:p>
                      <a:pPr>
                        <a:buNone/>
                      </a:pPr>
                      <a:r>
                        <a:rPr sz="1150">
                          <a:latin typeface="Consolas"/>
                          <a:ea typeface="Consolas"/>
                          <a:cs typeface="Consolas"/>
                        </a:rPr>
                        <a:t>gen_p_before_curtail</a:t>
                      </a:r>
                      <a:r>
                        <a:rPr sz="1150">
                          <a:latin typeface="Consolas"/>
                          <a:ea typeface="Consolas"/>
                          <a:cs typeface="Consolas"/>
                        </a:rPr>
                        <a:t>, </a:t>
                      </a:r>
                      <a:r>
                        <a:rPr sz="1150">
                          <a:latin typeface="Consolas"/>
                          <a:ea typeface="Consolas"/>
                          <a:cs typeface="Consolas"/>
                        </a:rPr>
                        <a:t>curtailment</a:t>
                      </a:r>
                      <a:r>
                        <a:rPr sz="1150">
                          <a:latin typeface="Consolas"/>
                          <a:ea typeface="Consolas"/>
                          <a:cs typeface="Consolas"/>
                        </a:rPr>
                        <a:t>, </a:t>
                      </a:r>
                      <a:r>
                        <a:rPr sz="1150">
                          <a:latin typeface="Consolas"/>
                          <a:ea typeface="Consolas"/>
                          <a:cs typeface="Consolas"/>
                        </a:rPr>
                        <a:t>curtailment_limit</a:t>
                      </a:r>
                    </a:p>
                  </a:txBody>
                  <a:tcPr marL="30575" marR="30575" marT="15287" marB="15287" anchor="ctr">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tcPr>
                </a:tc>
                <a:tc>
                  <a:txBody>
                    <a:bodyPr/>
                    <a:lstStyle/>
                    <a:p>
                      <a:pPr>
                        <a:buNone/>
                      </a:pPr>
                      <a:r>
                        <a:rPr sz="1150"/>
                        <a:t>—</a:t>
                      </a:r>
                    </a:p>
                  </a:txBody>
                  <a:tcPr marL="30575" marR="30575" marT="15287" marB="15287" anchor="ctr">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tcPr>
                </a:tc>
              </a:tr>
              <a:tr h="227872">
                <a:tc>
                  <a:txBody>
                    <a:bodyPr/>
                    <a:lstStyle/>
                    <a:p>
                      <a:pPr>
                        <a:buNone/>
                      </a:pPr>
                      <a:r>
                        <a:rPr sz="1150" b="1"/>
                        <a:t>Controlled</a:t>
                      </a:r>
                      <a:r>
                        <a:rPr sz="1150" b="1"/>
                        <a:t> </a:t>
                      </a:r>
                      <a:r>
                        <a:rPr sz="1150" b="1"/>
                        <a:t>region</a:t>
                      </a:r>
                    </a:p>
                  </a:txBody>
                  <a:tcPr marL="30575" marR="30575" marT="15287" marB="15287" anchor="ctr">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solidFill>
                      <a:srgbClr val="FEC9CC">
                        <a:alpha val="20000"/>
                      </a:srgbClr>
                    </a:solidFill>
                  </a:tcPr>
                </a:tc>
                <a:tc>
                  <a:txBody>
                    <a:bodyPr/>
                    <a:lstStyle/>
                    <a:p>
                      <a:pPr>
                        <a:buNone/>
                      </a:pPr>
                      <a:r>
                        <a:rPr sz="1150"/>
                        <a:t>Agent’s</a:t>
                      </a:r>
                      <a:r>
                        <a:rPr sz="1150"/>
                        <a:t> </a:t>
                      </a:r>
                      <a:r>
                        <a:rPr sz="1150"/>
                        <a:t>assigned</a:t>
                      </a:r>
                      <a:r>
                        <a:rPr sz="1150"/>
                        <a:t> </a:t>
                      </a:r>
                      <a:r>
                        <a:rPr sz="1150"/>
                        <a:t>substations</a:t>
                      </a:r>
                    </a:p>
                  </a:txBody>
                  <a:tcPr marL="30575" marR="30575" marT="15287" marB="15287" anchor="ctr">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tcPr>
                </a:tc>
                <a:tc>
                  <a:txBody>
                    <a:bodyPr/>
                    <a:lstStyle/>
                    <a:p>
                      <a:pPr>
                        <a:buNone/>
                      </a:pPr>
                      <a:r>
                        <a:rPr sz="1150"/>
                        <a:t>domain_mask</a:t>
                      </a:r>
                      <a:r>
                        <a:rPr sz="1150"/>
                        <a:t> </a:t>
                      </a:r>
                      <a:r>
                        <a:rPr sz="1150"/>
                        <a:t>node</a:t>
                      </a:r>
                      <a:r>
                        <a:rPr sz="1150"/>
                        <a:t> </a:t>
                      </a:r>
                      <a:r>
                        <a:rPr sz="1150"/>
                        <a:t>feature</a:t>
                      </a:r>
                    </a:p>
                  </a:txBody>
                  <a:tcPr marL="30575" marR="30575" marT="15287" marB="15287" anchor="ctr">
                    <a:lnL w="9525" cmpd="sng">
                      <a:solidFill>
                        <a:schemeClr val="tx1"/>
                      </a:solidFill>
                      <a:prstDash val="solid"/>
                    </a:lnL>
                    <a:lnR w="9525" cmpd="sng">
                      <a:solidFill>
                        <a:schemeClr val="tx1"/>
                      </a:solidFill>
                      <a:prstDash val="solid"/>
                    </a:lnR>
                    <a:lnT w="9525" cmpd="sng">
                      <a:solidFill>
                        <a:schemeClr val="tx1"/>
                      </a:solidFill>
                      <a:prstDash val="solid"/>
                    </a:lnT>
                    <a:lnB w="9525" cmpd="sng">
                      <a:solidFill>
                        <a:schemeClr val="tx1"/>
                      </a:solidFill>
                      <a:prstDash val="solid"/>
                    </a:lnB>
                  </a:tcPr>
                </a:tc>
              </a:tr>
            </a:tbl>
          </a:graphicData>
        </a:graphic>
      </p:graphicFrame>
      <p:sp>
        <p:nvSpPr>
          <p:cNvPr id="8" name="ZoneTexte 7">
            <a:extLst xmlns:a="http://schemas.openxmlformats.org/drawingml/2006/main">
              <a:ext uri="{FF2B5EF4-FFF2-40B4-BE49-F238E27FC236}">
                <a16:creationId xmlns:a16="http://schemas.microsoft.com/office/drawing/2014/main" id="{1D17DAA7-336D-AA1C-B7A0-83ACC3EA5589}"/>
              </a:ext>
            </a:extLst>
          </p:cNvPr>
          <p:cNvSpPr>
            <a:spLocks xmlns:a="http://schemas.openxmlformats.org/drawingml/2006/main" noGrp="1"/>
          </p:cNvSpPr>
          <p:nvPr/>
        </p:nvSpPr>
        <p:spPr>
          <a:xfrm xmlns:a="http://schemas.openxmlformats.org/drawingml/2006/main">
            <a:off x="805942" y="4773100"/>
            <a:ext cx="7532115" cy="2616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1100" b="1" i="1">
                <a:latin typeface="Times New Roman"/>
                <a:ea typeface="Times New Roman"/>
                <a:cs typeface="Times New Roman"/>
              </a:rPr>
              <a:t>Table 4: </a:t>
            </a:r>
            <a:r>
              <a:rPr sz="1100" b="1" i="1">
                <a:latin typeface="Times New Roman"/>
                <a:ea typeface="Times New Roman"/>
                <a:cs typeface="Times New Roman"/>
              </a:rPr>
              <a:t>Observation </a:t>
            </a:r>
            <a:r>
              <a:rPr sz="1100" b="1" i="1">
                <a:latin typeface="Times New Roman"/>
                <a:ea typeface="Times New Roman"/>
                <a:cs typeface="Times New Roman"/>
              </a:rPr>
              <a:t>features</a:t>
            </a:r>
            <a:r>
              <a:rPr sz="1100" b="1" i="1">
                <a:latin typeface="Times New Roman"/>
                <a:ea typeface="Times New Roman"/>
                <a:cs typeface="Times New Roman"/>
              </a:rPr>
              <a:t> </a:t>
            </a:r>
            <a:r>
              <a:rPr sz="1100" b="1" i="1">
                <a:latin typeface="Times New Roman"/>
                <a:ea typeface="Times New Roman"/>
                <a:cs typeface="Times New Roman"/>
              </a:rPr>
              <a:t>available</a:t>
            </a:r>
            <a:r>
              <a:rPr sz="1100" b="1" i="1">
                <a:latin typeface="Times New Roman"/>
                <a:ea typeface="Times New Roman"/>
                <a:cs typeface="Times New Roman"/>
              </a:rPr>
              <a:t> and how </a:t>
            </a:r>
            <a:r>
              <a:rPr sz="1100" b="1" i="1">
                <a:latin typeface="Times New Roman"/>
                <a:ea typeface="Times New Roman"/>
                <a:cs typeface="Times New Roman"/>
              </a:rPr>
              <a:t>they</a:t>
            </a:r>
            <a:r>
              <a:rPr sz="1100" b="1" i="1">
                <a:latin typeface="Times New Roman"/>
                <a:ea typeface="Times New Roman"/>
                <a:cs typeface="Times New Roman"/>
              </a:rPr>
              <a:t> are </a:t>
            </a:r>
            <a:r>
              <a:rPr sz="1100" b="1" i="1">
                <a:latin typeface="Times New Roman"/>
                <a:ea typeface="Times New Roman"/>
                <a:cs typeface="Times New Roman"/>
              </a:rPr>
              <a:t>used</a:t>
            </a:r>
            <a:r>
              <a:rPr sz="1100" b="1" i="1">
                <a:latin typeface="Times New Roman"/>
                <a:ea typeface="Times New Roman"/>
                <a:cs typeface="Times New Roman"/>
              </a:rPr>
              <a:t> in a graph </a:t>
            </a:r>
            <a:r>
              <a:rPr sz="1100" b="1" i="1">
                <a:latin typeface="Times New Roman"/>
                <a:ea typeface="Times New Roman"/>
                <a:cs typeface="Times New Roman"/>
              </a:rPr>
              <a:t>representation</a:t>
            </a:r>
            <a:r>
              <a:rPr sz="1100" b="1" i="1">
                <a:latin typeface="Times New Roman"/>
                <a:ea typeface="Times New Roman"/>
                <a:cs typeface="Times New Roman"/>
              </a:rPr>
              <a:t> </a:t>
            </a:r>
          </a:p>
        </p:txBody>
      </p:sp>
    </p:spTree>
    <p:extLst>
      <p:ext uri="{BB962C8B-B14F-4D97-AF65-F5344CB8AC3E}">
        <p14:creationId xmlns:p14="http://schemas.microsoft.com/office/powerpoint/2010/main" val="3710022493"/>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Titre 1">
            <a:extLst xmlns:a="http://schemas.openxmlformats.org/drawingml/2006/main">
              <a:ext uri="{FF2B5EF4-FFF2-40B4-BE49-F238E27FC236}">
                <a16:creationId xmlns:a16="http://schemas.microsoft.com/office/drawing/2014/main" id="{041C4B46-6311-755E-8A76-11FA60DF0081}"/>
              </a:ext>
            </a:extLst>
          </p:cNvPr>
          <p:cNvSpPr>
            <a:spLocks xmlns:a="http://schemas.openxmlformats.org/drawingml/2006/main" noGrp="1"/>
          </p:cNvSpPr>
          <p:nvPr>
            <p:ph type="title" idx="0"/>
          </p:nvPr>
        </p:nvSpPr>
        <p:spPr>
          <a:xfrm xmlns:a="http://schemas.openxmlformats.org/drawingml/2006/main">
            <a:off x="904875" y="252828"/>
            <a:ext cx="7532115" cy="601301"/>
          </a:xfrm>
        </p:spPr>
        <p:txBody>
          <a:bodyPr xmlns:a="http://schemas.openxmlformats.org/drawingml/2006/main">
            <a:normAutofit/>
          </a:bodyPr>
          <a:lstStyle xmlns:a="http://schemas.openxmlformats.org/drawingml/2006/main"/>
          <a:p xmlns:a="http://schemas.openxmlformats.org/drawingml/2006/main">
            <a:r>
              <a:t>IEEE 14: Baseline, Results</a:t>
            </a:r>
          </a:p>
        </p:txBody>
      </p:sp>
      <p:sp>
        <p:nvSpPr>
          <p:cNvPr id="5" name="Espace réservé du numéro de diapositive 4">
            <a:extLst xmlns:a="http://schemas.openxmlformats.org/drawingml/2006/main">
              <a:ext uri="{FF2B5EF4-FFF2-40B4-BE49-F238E27FC236}">
                <a16:creationId xmlns:a16="http://schemas.microsoft.com/office/drawing/2014/main" id="{C025C3BF-613C-FFBB-7690-00D4D28A095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r>
              <a:t>9</a:t>
            </a:r>
          </a:p>
        </p:txBody>
      </p:sp>
      <p:pic>
        <p:nvPicPr>
          <p:cNvPr id="14" name="Image 7"/>
          <p:cNvPicPr>
            <a:picLocks xmlns:a="http://schemas.openxmlformats.org/drawingml/2006/main" noChangeAspect="1"/>
          </p:cNvPicPr>
          <p:nvPr/>
        </p:nvPicPr>
        <p:blipFill>
          <a:blip xmlns:r="http://schemas.openxmlformats.org/officeDocument/2006/relationships" xmlns:a="http://schemas.openxmlformats.org/drawingml/2006/main" r:embed="Rd17a9e6ad0854bfd"/>
          <a:srcRect xmlns:a="http://schemas.openxmlformats.org/drawingml/2006/main" l="0" t="8482" r="0" b="0"/>
          <a:stretch xmlns:a="http://schemas.openxmlformats.org/drawingml/2006/main">
            <a:fillRect l="0" t="0" r="0" b="0"/>
          </a:stretch>
        </p:blipFill>
        <p:spPr>
          <a:xfrm xmlns:a="http://schemas.openxmlformats.org/drawingml/2006/main" rot="0" flipH="0" flipV="0">
            <a:off x="295626" y="942872"/>
            <a:ext cx="8552747" cy="3453687"/>
          </a:xfrm>
          <a:prstGeom xmlns:a="http://schemas.openxmlformats.org/drawingml/2006/main" prst="rect">
            <a:avLst/>
          </a:prstGeom>
        </p:spPr>
      </p:pic>
      <p:sp>
        <p:nvSpPr>
          <p:cNvPr id="9" name="ZoneTexte 8">
            <a:extLst xmlns:a="http://schemas.openxmlformats.org/drawingml/2006/main">
              <a:ext uri="{FF2B5EF4-FFF2-40B4-BE49-F238E27FC236}">
                <a16:creationId xmlns:a16="http://schemas.microsoft.com/office/drawing/2014/main" id="{A6EF4B83-36F1-3F91-AE8E-9879D34EC013}"/>
              </a:ext>
            </a:extLst>
          </p:cNvPr>
          <p:cNvSpPr>
            <a:spLocks xmlns:a="http://schemas.openxmlformats.org/drawingml/2006/main" noGrp="1"/>
          </p:cNvSpPr>
          <p:nvPr/>
        </p:nvSpPr>
        <p:spPr>
          <a:xfrm xmlns:a="http://schemas.openxmlformats.org/drawingml/2006/main" rot="0" flipH="0" flipV="0">
            <a:off x="295626" y="4396560"/>
            <a:ext cx="8651680" cy="2616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1100" b="1" i="1">
                <a:latin typeface="Times New Roman"/>
                <a:ea typeface="Times New Roman"/>
                <a:cs typeface="Times New Roman"/>
              </a:rPr>
              <a:t>Fig 2: </a:t>
            </a:r>
            <a:r>
              <a:rPr sz="1100" b="1" i="1">
                <a:latin typeface="Times New Roman"/>
                <a:ea typeface="Times New Roman"/>
                <a:cs typeface="Times New Roman"/>
              </a:rPr>
              <a:t>Episodic</a:t>
            </a:r>
            <a:r>
              <a:rPr sz="1100" b="1" i="1">
                <a:latin typeface="Times New Roman"/>
                <a:ea typeface="Times New Roman"/>
                <a:cs typeface="Times New Roman"/>
              </a:rPr>
              <a:t> </a:t>
            </a:r>
            <a:r>
              <a:rPr sz="1100" b="1" i="1">
                <a:latin typeface="Times New Roman"/>
                <a:ea typeface="Times New Roman"/>
                <a:cs typeface="Times New Roman"/>
              </a:rPr>
              <a:t>survival</a:t>
            </a:r>
            <a:r>
              <a:rPr sz="1100" b="1" i="1">
                <a:latin typeface="Times New Roman"/>
                <a:ea typeface="Times New Roman"/>
                <a:cs typeface="Times New Roman"/>
              </a:rPr>
              <a:t> </a:t>
            </a:r>
            <a:r>
              <a:rPr sz="1100" b="1" i="1">
                <a:latin typeface="Times New Roman"/>
                <a:ea typeface="Times New Roman"/>
                <a:cs typeface="Times New Roman"/>
              </a:rPr>
              <a:t>during</a:t>
            </a:r>
            <a:r>
              <a:rPr sz="1100" b="1" i="1">
                <a:latin typeface="Times New Roman"/>
                <a:ea typeface="Times New Roman"/>
                <a:cs typeface="Times New Roman"/>
              </a:rPr>
              <a:t> training of the </a:t>
            </a:r>
            <a:r>
              <a:rPr sz="1100" b="1" i="1">
                <a:latin typeface="Times New Roman"/>
                <a:ea typeface="Times New Roman"/>
                <a:cs typeface="Times New Roman"/>
              </a:rPr>
              <a:t>paper</a:t>
            </a:r>
            <a:r>
              <a:rPr sz="1100" b="1" i="1">
                <a:latin typeface="Times New Roman"/>
                <a:ea typeface="Times New Roman"/>
                <a:cs typeface="Times New Roman"/>
              </a:rPr>
              <a:t> </a:t>
            </a:r>
            <a:r>
              <a:rPr sz="1100" b="1" i="1">
                <a:latin typeface="Times New Roman"/>
                <a:ea typeface="Times New Roman"/>
                <a:cs typeface="Times New Roman"/>
              </a:rPr>
              <a:t>baseline</a:t>
            </a:r>
            <a:r>
              <a:rPr sz="1100" b="1" i="1">
                <a:latin typeface="Times New Roman"/>
                <a:ea typeface="Times New Roman"/>
                <a:cs typeface="Times New Roman"/>
              </a:rPr>
              <a:t> vs </a:t>
            </a:r>
            <a:r>
              <a:rPr sz="1100" b="1" i="1">
                <a:latin typeface="Times New Roman"/>
                <a:ea typeface="Times New Roman"/>
                <a:cs typeface="Times New Roman"/>
              </a:rPr>
              <a:t>our</a:t>
            </a:r>
            <a:r>
              <a:rPr sz="1100" b="1" i="1">
                <a:latin typeface="Times New Roman"/>
                <a:ea typeface="Times New Roman"/>
                <a:cs typeface="Times New Roman"/>
              </a:rPr>
              <a:t> </a:t>
            </a:r>
            <a:r>
              <a:rPr sz="1100" b="1" i="1">
                <a:latin typeface="Times New Roman"/>
                <a:ea typeface="Times New Roman"/>
                <a:cs typeface="Times New Roman"/>
              </a:rPr>
              <a:t>baselines</a:t>
            </a:r>
            <a:r>
              <a:rPr sz="1100" b="1" i="1">
                <a:latin typeface="Times New Roman"/>
                <a:ea typeface="Times New Roman"/>
                <a:cs typeface="Times New Roman"/>
              </a:rPr>
              <a:t> </a:t>
            </a:r>
            <a:r>
              <a:rPr sz="1100" b="1" i="1">
                <a:latin typeface="Times New Roman"/>
                <a:ea typeface="Times New Roman"/>
                <a:cs typeface="Times New Roman"/>
              </a:rPr>
              <a:t>with</a:t>
            </a:r>
            <a:r>
              <a:rPr sz="1100" b="1" i="1">
                <a:latin typeface="Times New Roman"/>
                <a:ea typeface="Times New Roman"/>
                <a:cs typeface="Times New Roman"/>
              </a:rPr>
              <a:t> new </a:t>
            </a:r>
            <a:r>
              <a:rPr sz="1100" b="1" i="1">
                <a:latin typeface="Times New Roman"/>
                <a:ea typeface="Times New Roman"/>
                <a:cs typeface="Times New Roman"/>
              </a:rPr>
              <a:t>hyperparameter</a:t>
            </a:r>
            <a:r>
              <a:rPr sz="1100" b="1" i="1">
                <a:latin typeface="Times New Roman"/>
                <a:ea typeface="Times New Roman"/>
                <a:cs typeface="Times New Roman"/>
              </a:rPr>
              <a:t> and structure</a:t>
            </a:r>
          </a:p>
        </p:txBody>
      </p:sp>
      <p:pic>
        <p:nvPicPr>
          <p:cNvPr id="16" name="Picture 2"/>
          <p:cNvPicPr>
            <a:picLocks xmlns:a="http://schemas.openxmlformats.org/drawingml/2006/main" noChangeAspect="1"/>
          </p:cNvPicPr>
          <p:nvPr/>
        </p:nvPicPr>
        <p:blipFill>
          <a:blip xmlns:r="http://schemas.openxmlformats.org/officeDocument/2006/relationships" xmlns:a="http://schemas.openxmlformats.org/drawingml/2006/main" r:embed="R018f0c2e6f0640e3"/>
          <a:srcRect xmlns:a="http://schemas.openxmlformats.org/drawingml/2006/main" l="0" t="0" r="0" b="0"/>
          <a:stretch xmlns:a="http://schemas.openxmlformats.org/drawingml/2006/main">
            <a:fillRect l="0" t="0" r="0" b="0"/>
          </a:stretch>
        </p:blipFill>
        <p:spPr>
          <a:xfrm xmlns:a="http://schemas.openxmlformats.org/drawingml/2006/main">
            <a:off x="158055" y="379734"/>
            <a:ext cx="587504" cy="326391"/>
          </a:xfrm>
          <a:prstGeom xmlns:a="http://schemas.openxmlformats.org/drawingml/2006/main" prst="rect">
            <a:avLst/>
          </a:prstGeom>
        </p:spPr>
      </p:pic>
    </p:spTree>
    <p:extLst>
      <p:ext uri="{BB962C8B-B14F-4D97-AF65-F5344CB8AC3E}">
        <p14:creationId xmlns:p14="http://schemas.microsoft.com/office/powerpoint/2010/main" val="3972167809"/>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Titre 1">
            <a:extLst xmlns:a="http://schemas.openxmlformats.org/drawingml/2006/main">
              <a:ext uri="{FF2B5EF4-FFF2-40B4-BE49-F238E27FC236}">
                <a16:creationId xmlns:a16="http://schemas.microsoft.com/office/drawing/2014/main" id="{F32187C4-56DF-7108-BD9C-65FC9DD82D58}"/>
              </a:ext>
            </a:extLst>
          </p:cNvPr>
          <p:cNvSpPr>
            <a:spLocks xmlns:a="http://schemas.openxmlformats.org/drawingml/2006/main" noGrp="1"/>
          </p:cNvSpPr>
          <p:nvPr>
            <p:ph type="title" idx="0"/>
          </p:nvPr>
        </p:nvSpPr>
        <p:spPr>
          <a:xfrm xmlns:a="http://schemas.openxmlformats.org/drawingml/2006/main">
            <a:off x="904875" y="252828"/>
            <a:ext cx="7532115" cy="601301"/>
          </a:xfrm>
        </p:spPr>
        <p:txBody>
          <a:bodyPr xmlns:a="http://schemas.openxmlformats.org/drawingml/2006/main">
            <a:normAutofit/>
          </a:bodyPr>
          <a:lstStyle xmlns:a="http://schemas.openxmlformats.org/drawingml/2006/main"/>
          <a:p xmlns:a="http://schemas.openxmlformats.org/drawingml/2006/main">
            <a:r>
              <a:t>IEEE 14: Graph variations, structure</a:t>
            </a:r>
          </a:p>
        </p:txBody>
      </p:sp>
      <p:sp>
        <p:nvSpPr>
          <p:cNvPr id="5" name="Espace réservé du numéro de diapositive 4">
            <a:extLst xmlns:a="http://schemas.openxmlformats.org/drawingml/2006/main">
              <a:ext uri="{FF2B5EF4-FFF2-40B4-BE49-F238E27FC236}">
                <a16:creationId xmlns:a16="http://schemas.microsoft.com/office/drawing/2014/main" id="{2701FA93-E4C4-035F-3BEE-7A685B206F6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r>
              <a:t>10</a:t>
            </a:r>
          </a:p>
        </p:txBody>
      </p:sp>
      <p:pic>
        <p:nvPicPr>
          <p:cNvPr id="10" name="Picture 2"/>
          <p:cNvPicPr>
            <a:picLocks xmlns:a="http://schemas.openxmlformats.org/drawingml/2006/main" noChangeAspect="1"/>
          </p:cNvPicPr>
          <p:nvPr/>
        </p:nvPicPr>
        <p:blipFill>
          <a:blip xmlns:r="http://schemas.openxmlformats.org/officeDocument/2006/relationships" xmlns:a="http://schemas.openxmlformats.org/drawingml/2006/main" r:embed="R0ce5eda923ea4177"/>
          <a:srcRect xmlns:a="http://schemas.openxmlformats.org/drawingml/2006/main" l="0" t="0" r="0" b="0"/>
          <a:stretch xmlns:a="http://schemas.openxmlformats.org/drawingml/2006/main">
            <a:fillRect l="0" t="0" r="0" b="0"/>
          </a:stretch>
        </p:blipFill>
        <p:spPr>
          <a:xfrm xmlns:a="http://schemas.openxmlformats.org/drawingml/2006/main">
            <a:off x="158055" y="379734"/>
            <a:ext cx="587504" cy="326391"/>
          </a:xfrm>
          <a:prstGeom xmlns:a="http://schemas.openxmlformats.org/drawingml/2006/main" prst="rect">
            <a:avLst/>
          </a:prstGeom>
        </p:spPr>
      </p:pic>
      <p:pic>
        <p:nvPicPr>
          <p:cNvPr id="11" name="Image 5143"/>
          <p:cNvPicPr>
            <a:picLocks xmlns:a="http://schemas.openxmlformats.org/drawingml/2006/main" noChangeAspect="1"/>
          </p:cNvPicPr>
          <p:nvPr/>
        </p:nvPicPr>
        <p:blipFill>
          <a:blip xmlns:r="http://schemas.openxmlformats.org/officeDocument/2006/relationships" xmlns:a="http://schemas.openxmlformats.org/drawingml/2006/main" r:embed="Ra5fe9eb8efda4146"/>
          <a:stretch xmlns:a="http://schemas.openxmlformats.org/drawingml/2006/main">
            <a:fillRect l="0" t="0" r="0" b="0"/>
          </a:stretch>
        </p:blipFill>
        <p:spPr>
          <a:xfrm xmlns:a="http://schemas.openxmlformats.org/drawingml/2006/main">
            <a:off x="210450" y="854129"/>
            <a:ext cx="8723100" cy="4070780"/>
          </a:xfrm>
          <a:prstGeom xmlns:a="http://schemas.openxmlformats.org/drawingml/2006/main" prst="rect">
            <a:avLst/>
          </a:prstGeom>
        </p:spPr>
      </p:pic>
    </p:spTree>
    <p:extLst>
      <p:ext uri="{BB962C8B-B14F-4D97-AF65-F5344CB8AC3E}">
        <p14:creationId xmlns:p14="http://schemas.microsoft.com/office/powerpoint/2010/main" val="98147148"/>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Titre 1">
            <a:extLst xmlns:a="http://schemas.openxmlformats.org/drawingml/2006/main">
              <a:ext uri="{FF2B5EF4-FFF2-40B4-BE49-F238E27FC236}">
                <a16:creationId xmlns:a16="http://schemas.microsoft.com/office/drawing/2014/main" id="{BD02504E-BA31-9D2D-7114-05C56BC4F6F8}"/>
              </a:ext>
            </a:extLst>
          </p:cNvPr>
          <p:cNvSpPr>
            <a:spLocks xmlns:a="http://schemas.openxmlformats.org/drawingml/2006/main" noGrp="1"/>
          </p:cNvSpPr>
          <p:nvPr>
            <p:ph type="title" idx="0"/>
          </p:nvPr>
        </p:nvSpPr>
        <p:spPr>
          <a:xfrm xmlns:a="http://schemas.openxmlformats.org/drawingml/2006/main">
            <a:off x="904875" y="252828"/>
            <a:ext cx="7532115" cy="601301"/>
          </a:xfrm>
        </p:spPr>
        <p:txBody>
          <a:bodyPr xmlns:a="http://schemas.openxmlformats.org/drawingml/2006/main">
            <a:normAutofit/>
          </a:bodyPr>
          <a:lstStyle xmlns:a="http://schemas.openxmlformats.org/drawingml/2006/main"/>
          <a:p xmlns:a="http://schemas.openxmlformats.org/drawingml/2006/main">
            <a:r>
              <a:t>IEEE 14: Graph variations, results</a:t>
            </a:r>
          </a:p>
        </p:txBody>
      </p:sp>
      <p:sp>
        <p:nvSpPr>
          <p:cNvPr id="5" name="Espace réservé du numéro de diapositive 4">
            <a:extLst xmlns:a="http://schemas.openxmlformats.org/drawingml/2006/main">
              <a:ext uri="{FF2B5EF4-FFF2-40B4-BE49-F238E27FC236}">
                <a16:creationId xmlns:a16="http://schemas.microsoft.com/office/drawing/2014/main" id="{73923868-B019-6134-ABA8-0CA2C18C5D0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r>
              <a:t>11</a:t>
            </a:r>
          </a:p>
        </p:txBody>
      </p:sp>
      <p:pic>
        <p:nvPicPr>
          <p:cNvPr id="23" name="Image 16"/>
          <p:cNvPicPr>
            <a:picLocks xmlns:a="http://schemas.openxmlformats.org/drawingml/2006/main" noChangeAspect="1"/>
          </p:cNvPicPr>
          <p:nvPr/>
        </p:nvPicPr>
        <p:blipFill>
          <a:blip xmlns:r="http://schemas.openxmlformats.org/officeDocument/2006/relationships" xmlns:a="http://schemas.openxmlformats.org/drawingml/2006/main" r:embed="R9e637a0f9d884278"/>
          <a:stretch xmlns:a="http://schemas.openxmlformats.org/drawingml/2006/main">
            <a:fillRect l="0" t="0" r="0" b="0"/>
          </a:stretch>
        </p:blipFill>
        <p:spPr>
          <a:xfrm xmlns:a="http://schemas.openxmlformats.org/drawingml/2006/main">
            <a:off x="368202" y="854129"/>
            <a:ext cx="8605459" cy="3796526"/>
          </a:xfrm>
          <a:prstGeom xmlns:a="http://schemas.openxmlformats.org/drawingml/2006/main" prst="rect">
            <a:avLst/>
          </a:prstGeom>
        </p:spPr>
      </p:pic>
      <p:sp>
        <p:nvSpPr>
          <p:cNvPr id="18" name="ZoneTexte 17">
            <a:extLst xmlns:a="http://schemas.openxmlformats.org/drawingml/2006/main">
              <a:ext uri="{FF2B5EF4-FFF2-40B4-BE49-F238E27FC236}">
                <a16:creationId xmlns:a16="http://schemas.microsoft.com/office/drawing/2014/main" id="{8DFD1DE1-AEE6-0B24-84CD-806B9375475E}"/>
              </a:ext>
            </a:extLst>
          </p:cNvPr>
          <p:cNvSpPr>
            <a:spLocks xmlns:a="http://schemas.openxmlformats.org/drawingml/2006/main" noGrp="1"/>
          </p:cNvSpPr>
          <p:nvPr/>
        </p:nvSpPr>
        <p:spPr>
          <a:xfrm xmlns:a="http://schemas.openxmlformats.org/drawingml/2006/main">
            <a:off x="368202" y="4650655"/>
            <a:ext cx="8605459" cy="2616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1100" b="1" i="1">
                <a:latin typeface="Times New Roman"/>
                <a:ea typeface="Times New Roman"/>
                <a:cs typeface="Times New Roman"/>
              </a:rPr>
              <a:t>Fig 3: </a:t>
            </a:r>
            <a:r>
              <a:rPr sz="1100" b="1" i="1">
                <a:latin typeface="Times New Roman"/>
                <a:ea typeface="Times New Roman"/>
                <a:cs typeface="Times New Roman"/>
              </a:rPr>
              <a:t>Episodic</a:t>
            </a:r>
            <a:r>
              <a:rPr sz="1100" b="1" i="1">
                <a:latin typeface="Times New Roman"/>
                <a:ea typeface="Times New Roman"/>
                <a:cs typeface="Times New Roman"/>
              </a:rPr>
              <a:t> </a:t>
            </a:r>
            <a:r>
              <a:rPr sz="1100" b="1" i="1">
                <a:latin typeface="Times New Roman"/>
                <a:ea typeface="Times New Roman"/>
                <a:cs typeface="Times New Roman"/>
              </a:rPr>
              <a:t>survival</a:t>
            </a:r>
            <a:r>
              <a:rPr sz="1100" b="1" i="1">
                <a:latin typeface="Times New Roman"/>
                <a:ea typeface="Times New Roman"/>
                <a:cs typeface="Times New Roman"/>
              </a:rPr>
              <a:t> </a:t>
            </a:r>
            <a:r>
              <a:rPr sz="1100" b="1" i="1">
                <a:latin typeface="Times New Roman"/>
                <a:ea typeface="Times New Roman"/>
                <a:cs typeface="Times New Roman"/>
              </a:rPr>
              <a:t>during</a:t>
            </a:r>
            <a:r>
              <a:rPr sz="1100" b="1" i="1">
                <a:latin typeface="Times New Roman"/>
                <a:ea typeface="Times New Roman"/>
                <a:cs typeface="Times New Roman"/>
              </a:rPr>
              <a:t> training of </a:t>
            </a:r>
            <a:r>
              <a:rPr sz="1100" b="1" i="1">
                <a:latin typeface="Times New Roman"/>
                <a:ea typeface="Times New Roman"/>
                <a:cs typeface="Times New Roman"/>
              </a:rPr>
              <a:t>different</a:t>
            </a:r>
            <a:r>
              <a:rPr sz="1100" b="1" i="1">
                <a:latin typeface="Times New Roman"/>
                <a:ea typeface="Times New Roman"/>
                <a:cs typeface="Times New Roman"/>
              </a:rPr>
              <a:t> GINE architecture </a:t>
            </a:r>
            <a:r>
              <a:rPr sz="1100" b="1" i="1">
                <a:latin typeface="Times New Roman"/>
                <a:ea typeface="Times New Roman"/>
                <a:cs typeface="Times New Roman"/>
              </a:rPr>
              <a:t>compared</a:t>
            </a:r>
            <a:r>
              <a:rPr sz="1100" b="1" i="1">
                <a:latin typeface="Times New Roman"/>
                <a:ea typeface="Times New Roman"/>
                <a:cs typeface="Times New Roman"/>
              </a:rPr>
              <a:t> to the </a:t>
            </a:r>
            <a:r>
              <a:rPr sz="1100" b="1" i="1">
                <a:latin typeface="Times New Roman"/>
                <a:ea typeface="Times New Roman"/>
                <a:cs typeface="Times New Roman"/>
              </a:rPr>
              <a:t>baseline</a:t>
            </a:r>
            <a:r>
              <a:rPr sz="1100" b="1" i="1">
                <a:latin typeface="Times New Roman"/>
                <a:ea typeface="Times New Roman"/>
                <a:cs typeface="Times New Roman"/>
              </a:rPr>
              <a:t> </a:t>
            </a:r>
          </a:p>
        </p:txBody>
      </p:sp>
      <p:pic>
        <p:nvPicPr>
          <p:cNvPr id="25" name="Picture 2"/>
          <p:cNvPicPr>
            <a:picLocks xmlns:a="http://schemas.openxmlformats.org/drawingml/2006/main" noChangeAspect="1"/>
          </p:cNvPicPr>
          <p:nvPr/>
        </p:nvPicPr>
        <p:blipFill>
          <a:blip xmlns:r="http://schemas.openxmlformats.org/officeDocument/2006/relationships" xmlns:a="http://schemas.openxmlformats.org/drawingml/2006/main" r:embed="Ra80f8db5a3c5457f"/>
          <a:srcRect xmlns:a="http://schemas.openxmlformats.org/drawingml/2006/main" l="0" t="0" r="0" b="0"/>
          <a:stretch xmlns:a="http://schemas.openxmlformats.org/drawingml/2006/main">
            <a:fillRect l="0" t="0" r="0" b="0"/>
          </a:stretch>
        </p:blipFill>
        <p:spPr>
          <a:xfrm xmlns:a="http://schemas.openxmlformats.org/drawingml/2006/main">
            <a:off x="158055" y="379734"/>
            <a:ext cx="587504" cy="326391"/>
          </a:xfrm>
          <a:prstGeom xmlns:a="http://schemas.openxmlformats.org/drawingml/2006/main" prst="rect">
            <a:avLst/>
          </a:prstGeom>
        </p:spPr>
      </p:pic>
    </p:spTree>
    <p:extLst>
      <p:ext uri="{BB962C8B-B14F-4D97-AF65-F5344CB8AC3E}">
        <p14:creationId xmlns:p14="http://schemas.microsoft.com/office/powerpoint/2010/main" val="841609806"/>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Titre 1">
            <a:extLst xmlns:a="http://schemas.openxmlformats.org/drawingml/2006/main">
              <a:ext uri="{FF2B5EF4-FFF2-40B4-BE49-F238E27FC236}">
                <a16:creationId xmlns:a16="http://schemas.microsoft.com/office/drawing/2014/main" id="{FEE0621E-9764-FBDE-B8B8-4FE37C12DB67}"/>
              </a:ext>
            </a:extLst>
          </p:cNvPr>
          <p:cNvSpPr>
            <a:spLocks xmlns:a="http://schemas.openxmlformats.org/drawingml/2006/main" noGrp="1"/>
          </p:cNvSpPr>
          <p:nvPr>
            <p:ph type="title" idx="0"/>
          </p:nvPr>
        </p:nvSpPr>
        <p:spPr>
          <a:xfrm xmlns:a="http://schemas.openxmlformats.org/drawingml/2006/main">
            <a:off x="904875" y="252828"/>
            <a:ext cx="7532115" cy="601301"/>
          </a:xfrm>
        </p:spPr>
        <p:txBody>
          <a:bodyPr xmlns:a="http://schemas.openxmlformats.org/drawingml/2006/main">
            <a:normAutofit/>
          </a:bodyPr>
          <a:lstStyle xmlns:a="http://schemas.openxmlformats.org/drawingml/2006/main"/>
          <a:p xmlns:a="http://schemas.openxmlformats.org/drawingml/2006/main">
            <a:r>
              <a:t>IEEE 14: Graph variations, results</a:t>
            </a:r>
          </a:p>
        </p:txBody>
      </p:sp>
      <p:sp>
        <p:nvSpPr>
          <p:cNvPr id="5" name="Espace réservé du numéro de diapositive 4">
            <a:extLst xmlns:a="http://schemas.openxmlformats.org/drawingml/2006/main">
              <a:ext uri="{FF2B5EF4-FFF2-40B4-BE49-F238E27FC236}">
                <a16:creationId xmlns:a16="http://schemas.microsoft.com/office/drawing/2014/main" id="{C55CD4A4-ED38-3F4A-4001-0CD2AD12CA1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r>
              <a:t>12</a:t>
            </a:r>
          </a:p>
        </p:txBody>
      </p:sp>
      <p:pic>
        <p:nvPicPr>
          <p:cNvPr id="10" name="Image 2"/>
          <p:cNvPicPr>
            <a:picLocks xmlns:a="http://schemas.openxmlformats.org/drawingml/2006/main" noChangeAspect="1"/>
          </p:cNvPicPr>
          <p:nvPr/>
        </p:nvPicPr>
        <p:blipFill>
          <a:blip xmlns:r="http://schemas.openxmlformats.org/officeDocument/2006/relationships" xmlns:a="http://schemas.openxmlformats.org/drawingml/2006/main" r:embed="R52e13a3956684dd2"/>
          <a:stretch xmlns:a="http://schemas.openxmlformats.org/drawingml/2006/main">
            <a:fillRect l="0" t="0" r="0" b="0"/>
          </a:stretch>
        </p:blipFill>
        <p:spPr>
          <a:xfrm xmlns:a="http://schemas.openxmlformats.org/drawingml/2006/main">
            <a:off x="711884" y="1026729"/>
            <a:ext cx="7725106" cy="3090042"/>
          </a:xfrm>
          <a:prstGeom xmlns:a="http://schemas.openxmlformats.org/drawingml/2006/main" prst="rect">
            <a:avLst/>
          </a:prstGeom>
        </p:spPr>
      </p:pic>
      <p:sp>
        <p:nvSpPr>
          <p:cNvPr id="4" name="ZoneTexte 3">
            <a:extLst xmlns:a="http://schemas.openxmlformats.org/drawingml/2006/main">
              <a:ext uri="{FF2B5EF4-FFF2-40B4-BE49-F238E27FC236}">
                <a16:creationId xmlns:a16="http://schemas.microsoft.com/office/drawing/2014/main" id="{F6707DE5-10FF-1679-D1AA-6F032805CB89}"/>
              </a:ext>
            </a:extLst>
          </p:cNvPr>
          <p:cNvSpPr>
            <a:spLocks xmlns:a="http://schemas.openxmlformats.org/drawingml/2006/main" noGrp="1"/>
          </p:cNvSpPr>
          <p:nvPr/>
        </p:nvSpPr>
        <p:spPr>
          <a:xfrm xmlns:a="http://schemas.openxmlformats.org/drawingml/2006/main">
            <a:off x="711885" y="4158566"/>
            <a:ext cx="7919354" cy="2616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1100" b="1" i="1">
                <a:latin typeface="Times New Roman"/>
                <a:ea typeface="Times New Roman"/>
                <a:cs typeface="Times New Roman"/>
              </a:rPr>
              <a:t>Fig 4: </a:t>
            </a:r>
            <a:r>
              <a:rPr sz="1100" b="1" i="1">
                <a:latin typeface="Times New Roman"/>
                <a:ea typeface="Times New Roman"/>
                <a:cs typeface="Times New Roman"/>
              </a:rPr>
              <a:t>Episodic</a:t>
            </a:r>
            <a:r>
              <a:rPr sz="1100" b="1" i="1">
                <a:latin typeface="Times New Roman"/>
                <a:ea typeface="Times New Roman"/>
                <a:cs typeface="Times New Roman"/>
              </a:rPr>
              <a:t> </a:t>
            </a:r>
            <a:r>
              <a:rPr sz="1100" b="1" i="1">
                <a:latin typeface="Times New Roman"/>
                <a:ea typeface="Times New Roman"/>
                <a:cs typeface="Times New Roman"/>
              </a:rPr>
              <a:t>survival</a:t>
            </a:r>
            <a:r>
              <a:rPr sz="1100" b="1" i="1">
                <a:latin typeface="Times New Roman"/>
                <a:ea typeface="Times New Roman"/>
                <a:cs typeface="Times New Roman"/>
              </a:rPr>
              <a:t> </a:t>
            </a:r>
            <a:r>
              <a:rPr sz="1100" b="1" i="1">
                <a:latin typeface="Times New Roman"/>
                <a:ea typeface="Times New Roman"/>
                <a:cs typeface="Times New Roman"/>
              </a:rPr>
              <a:t>during</a:t>
            </a:r>
            <a:r>
              <a:rPr sz="1100" b="1" i="1">
                <a:latin typeface="Times New Roman"/>
                <a:ea typeface="Times New Roman"/>
                <a:cs typeface="Times New Roman"/>
              </a:rPr>
              <a:t> training of </a:t>
            </a:r>
            <a:r>
              <a:rPr sz="1100" b="1" i="1">
                <a:latin typeface="Times New Roman"/>
                <a:ea typeface="Times New Roman"/>
                <a:cs typeface="Times New Roman"/>
              </a:rPr>
              <a:t>different</a:t>
            </a:r>
            <a:r>
              <a:rPr sz="1100" b="1" i="1">
                <a:latin typeface="Times New Roman"/>
                <a:ea typeface="Times New Roman"/>
                <a:cs typeface="Times New Roman"/>
              </a:rPr>
              <a:t> GINE architecture </a:t>
            </a:r>
            <a:r>
              <a:rPr sz="1100" b="1" i="1">
                <a:latin typeface="Times New Roman"/>
                <a:ea typeface="Times New Roman"/>
                <a:cs typeface="Times New Roman"/>
              </a:rPr>
              <a:t>compared</a:t>
            </a:r>
            <a:r>
              <a:rPr sz="1100" b="1" i="1">
                <a:latin typeface="Times New Roman"/>
                <a:ea typeface="Times New Roman"/>
                <a:cs typeface="Times New Roman"/>
              </a:rPr>
              <a:t> to the </a:t>
            </a:r>
            <a:r>
              <a:rPr sz="1100" b="1" i="1">
                <a:latin typeface="Times New Roman"/>
                <a:ea typeface="Times New Roman"/>
                <a:cs typeface="Times New Roman"/>
              </a:rPr>
              <a:t>baseline</a:t>
            </a:r>
            <a:r>
              <a:rPr sz="1100" b="1" i="1">
                <a:latin typeface="Times New Roman"/>
                <a:ea typeface="Times New Roman"/>
                <a:cs typeface="Times New Roman"/>
              </a:rPr>
              <a:t> </a:t>
            </a:r>
          </a:p>
        </p:txBody>
      </p:sp>
      <p:pic>
        <p:nvPicPr>
          <p:cNvPr id="12" name="Picture 2"/>
          <p:cNvPicPr>
            <a:picLocks xmlns:a="http://schemas.openxmlformats.org/drawingml/2006/main" noChangeAspect="1"/>
          </p:cNvPicPr>
          <p:nvPr/>
        </p:nvPicPr>
        <p:blipFill>
          <a:blip xmlns:r="http://schemas.openxmlformats.org/officeDocument/2006/relationships" xmlns:a="http://schemas.openxmlformats.org/drawingml/2006/main" r:embed="R7d1a92f8f7264463"/>
          <a:srcRect xmlns:a="http://schemas.openxmlformats.org/drawingml/2006/main" l="0" t="0" r="0" b="0"/>
          <a:stretch xmlns:a="http://schemas.openxmlformats.org/drawingml/2006/main">
            <a:fillRect l="0" t="0" r="0" b="0"/>
          </a:stretch>
        </p:blipFill>
        <p:spPr>
          <a:xfrm xmlns:a="http://schemas.openxmlformats.org/drawingml/2006/main">
            <a:off x="158055" y="379734"/>
            <a:ext cx="587504" cy="326391"/>
          </a:xfrm>
          <a:prstGeom xmlns:a="http://schemas.openxmlformats.org/drawingml/2006/main" prst="rect">
            <a:avLst/>
          </a:prstGeom>
        </p:spPr>
      </p:pic>
    </p:spTree>
    <p:extLst>
      <p:ext uri="{BB962C8B-B14F-4D97-AF65-F5344CB8AC3E}">
        <p14:creationId xmlns:p14="http://schemas.microsoft.com/office/powerpoint/2010/main" val="2042593823"/>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 name="Titre 1">
            <a:extLst xmlns:a="http://schemas.openxmlformats.org/drawingml/2006/main">
              <a:ext uri="{FF2B5EF4-FFF2-40B4-BE49-F238E27FC236}">
                <a16:creationId xmlns:a16="http://schemas.microsoft.com/office/drawing/2014/main" id="{348945A9-30C2-90A7-C06D-18DCA44C69AF}"/>
              </a:ext>
            </a:extLst>
          </p:cNvPr>
          <p:cNvSpPr>
            <a:spLocks xmlns:a="http://schemas.openxmlformats.org/drawingml/2006/main" noGrp="1"/>
          </p:cNvSpPr>
          <p:nvPr>
            <p:ph type="title" idx="0"/>
          </p:nvPr>
        </p:nvSpPr>
        <p:spPr>
          <a:xfrm xmlns:a="http://schemas.openxmlformats.org/drawingml/2006/main">
            <a:off x="904875" y="252828"/>
            <a:ext cx="7532115" cy="601301"/>
          </a:xfrm>
        </p:spPr>
        <p:txBody>
          <a:bodyPr xmlns:a="http://schemas.openxmlformats.org/drawingml/2006/main">
            <a:normAutofit/>
          </a:bodyPr>
          <a:lstStyle xmlns:a="http://schemas.openxmlformats.org/drawingml/2006/main"/>
          <a:p xmlns:a="http://schemas.openxmlformats.org/drawingml/2006/main">
            <a:r>
              <a:t>IEEE 14: Realistic behavior</a:t>
            </a:r>
          </a:p>
        </p:txBody>
      </p:sp>
      <p:sp>
        <p:nvSpPr>
          <p:cNvPr id="5" name="Espace réservé du numéro de diapositive 4">
            <a:extLst xmlns:a="http://schemas.openxmlformats.org/drawingml/2006/main">
              <a:ext uri="{FF2B5EF4-FFF2-40B4-BE49-F238E27FC236}">
                <a16:creationId xmlns:a16="http://schemas.microsoft.com/office/drawing/2014/main" id="{429CA700-ECA0-E0B8-1BA9-9708A2F1FF5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r>
              <a:t>13</a:t>
            </a:r>
          </a:p>
        </p:txBody>
      </p:sp>
      <p:sp>
        <p:nvSpPr>
          <p:cNvPr id="4" name="ZoneTexte 3">
            <a:extLst xmlns:a="http://schemas.openxmlformats.org/drawingml/2006/main">
              <a:ext uri="{FF2B5EF4-FFF2-40B4-BE49-F238E27FC236}">
                <a16:creationId xmlns:a16="http://schemas.microsoft.com/office/drawing/2014/main" id="{8E175029-1CFE-97C0-DD6F-E343EB5A65EF}"/>
              </a:ext>
            </a:extLst>
          </p:cNvPr>
          <p:cNvSpPr>
            <a:spLocks xmlns:a="http://schemas.openxmlformats.org/drawingml/2006/main" noGrp="1"/>
          </p:cNvSpPr>
          <p:nvPr/>
        </p:nvSpPr>
        <p:spPr>
          <a:xfrm xmlns:a="http://schemas.openxmlformats.org/drawingml/2006/main">
            <a:off x="582626" y="4366962"/>
            <a:ext cx="8048612" cy="510778"/>
          </a:xfrm>
          <a:prstGeom xmlns:a="http://schemas.openxmlformats.org/drawingml/2006/main" prst="roundRect">
            <a:avLst/>
          </a:prstGeom>
          <a:solidFill xmlns:a="http://schemas.openxmlformats.org/drawingml/2006/main">
            <a:srgbClr val="FEC9CC">
              <a:alpha val="20000"/>
            </a:srgbClr>
          </a:solidFill>
          <a:ln xmlns:a="http://schemas.openxmlformats.org/drawingml/2006/main" w="9525"/>
        </p:spPr>
        <p:style>
          <a:lnRef xmlns:a="http://schemas.openxmlformats.org/drawingml/2006/main" idx="2">
            <a:schemeClr val="accent1"/>
          </a:lnRef>
          <a:fillRef xmlns:a="http://schemas.openxmlformats.org/drawingml/2006/main" idx="1">
            <a:schemeClr val="lt1"/>
          </a:fillRef>
          <a:effectRef xmlns:a="http://schemas.openxmlformats.org/drawingml/2006/main" idx="0">
            <a:schemeClr val="accent1"/>
          </a:effectRef>
          <a:fontRef xmlns:a="http://schemas.openxmlformats.org/drawingml/2006/main" idx="minor">
            <a:schemeClr val="dk1"/>
          </a:fontRef>
        </p:style>
        <p:txBody>
          <a:bodyPr xmlns:a="http://schemas.openxmlformats.org/drawingml/2006/main" wrap="square">
            <a:spAutoFit/>
          </a:bodyPr>
          <a:lstStyle xmlns:a="http://schemas.openxmlformats.org/drawingml/2006/main"/>
          <a:p xmlns:a="http://schemas.openxmlformats.org/drawingml/2006/main">
            <a:pPr>
              <a:buClr>
                <a:schemeClr val="accent1"/>
              </a:buClr>
              <a:buNone/>
            </a:pPr>
            <a:r>
              <a:rPr sz="1200" b="1" u="sng"/>
              <a:t>Objective:</a:t>
            </a:r>
            <a:r>
              <a:rPr sz="1200"/>
              <a:t> </a:t>
            </a:r>
            <a:r>
              <a:rPr sz="1200"/>
              <a:t>Implement a learnable method that </a:t>
            </a:r>
            <a:r>
              <a:rPr sz="1200"/>
              <a:t>reduces the number of topology changes done by each agent, without lowering the performance</a:t>
            </a:r>
          </a:p>
        </p:txBody>
      </p:sp>
      <p:sp>
        <p:nvSpPr>
          <p:cNvPr id="6" name="ZoneTexte 5">
            <a:extLst xmlns:a="http://schemas.openxmlformats.org/drawingml/2006/main">
              <a:ext uri="{FF2B5EF4-FFF2-40B4-BE49-F238E27FC236}">
                <a16:creationId xmlns:a16="http://schemas.microsoft.com/office/drawing/2014/main" id="{A736EFB1-3544-1F91-D931-5DFE54E90BA6}"/>
              </a:ext>
            </a:extLst>
          </p:cNvPr>
          <p:cNvSpPr>
            <a:spLocks xmlns:a="http://schemas.openxmlformats.org/drawingml/2006/main" noGrp="1"/>
          </p:cNvSpPr>
          <p:nvPr/>
        </p:nvSpPr>
        <p:spPr>
          <a:xfrm xmlns:a="http://schemas.openxmlformats.org/drawingml/2006/main">
            <a:off x="582626" y="854129"/>
            <a:ext cx="8048612" cy="510778"/>
          </a:xfrm>
          <a:prstGeom xmlns:a="http://schemas.openxmlformats.org/drawingml/2006/main" prst="roundRect">
            <a:avLst/>
          </a:prstGeom>
          <a:solidFill xmlns:a="http://schemas.openxmlformats.org/drawingml/2006/main">
            <a:schemeClr val="bg2">
              <a:lumMod val="20000"/>
              <a:lumOff val="80000"/>
            </a:schemeClr>
          </a:solidFill>
          <a:ln xmlns:a="http://schemas.openxmlformats.org/drawingml/2006/main" w="9525"/>
        </p:spPr>
        <p:style>
          <a:lnRef xmlns:a="http://schemas.openxmlformats.org/drawingml/2006/main" idx="2">
            <a:schemeClr val="dk1"/>
          </a:lnRef>
          <a:fillRef xmlns:a="http://schemas.openxmlformats.org/drawingml/2006/main" idx="1">
            <a:schemeClr val="lt1"/>
          </a:fillRef>
          <a:effectRef xmlns:a="http://schemas.openxmlformats.org/drawingml/2006/main" idx="0">
            <a:schemeClr val="dk1"/>
          </a:effectRef>
          <a:fontRef xmlns:a="http://schemas.openxmlformats.org/drawingml/2006/main" idx="minor">
            <a:schemeClr val="dk1"/>
          </a:fontRef>
        </p:style>
        <p:txBody>
          <a:bodyPr xmlns:a="http://schemas.openxmlformats.org/drawingml/2006/main" wrap="square">
            <a:spAutoFit/>
          </a:bodyPr>
          <a:lstStyle xmlns:a="http://schemas.openxmlformats.org/drawingml/2006/main"/>
          <a:p xmlns:a="http://schemas.openxmlformats.org/drawingml/2006/main">
            <a:pPr>
              <a:buClr>
                <a:schemeClr val="accent1"/>
              </a:buClr>
              <a:buNone/>
            </a:pPr>
            <a:r>
              <a:rPr sz="1200" b="1" u="sng"/>
              <a:t>Statement:</a:t>
            </a:r>
            <a:r>
              <a:rPr sz="1200"/>
              <a:t> The simple MLP baseline might have good performances, but the agents change the topology too often, and it is not a sustainable behavior in a realistic scenario.</a:t>
            </a:r>
          </a:p>
        </p:txBody>
      </p:sp>
      <p:pic>
        <p:nvPicPr>
          <p:cNvPr id="19" name="Image 10"/>
          <p:cNvPicPr>
            <a:picLocks xmlns:a="http://schemas.openxmlformats.org/drawingml/2006/main" noChangeAspect="1"/>
          </p:cNvPicPr>
          <p:nvPr/>
        </p:nvPicPr>
        <p:blipFill>
          <a:blip xmlns:r="http://schemas.openxmlformats.org/officeDocument/2006/relationships" xmlns:a="http://schemas.openxmlformats.org/drawingml/2006/main" r:embed="R182e1ebf1ceb4a27"/>
          <a:srcRect xmlns:a="http://schemas.openxmlformats.org/drawingml/2006/main" l="0" t="11173" r="0" b="0"/>
          <a:stretch xmlns:a="http://schemas.openxmlformats.org/drawingml/2006/main">
            <a:fillRect l="0" t="0" r="0" b="0"/>
          </a:stretch>
        </p:blipFill>
        <p:spPr>
          <a:xfrm xmlns:a="http://schemas.openxmlformats.org/drawingml/2006/main" rot="0" flipH="0" flipV="0">
            <a:off x="2152667" y="1512911"/>
            <a:ext cx="4838663" cy="2289327"/>
          </a:xfrm>
          <a:prstGeom xmlns:a="http://schemas.openxmlformats.org/drawingml/2006/main" prst="rect">
            <a:avLst/>
          </a:prstGeom>
        </p:spPr>
      </p:pic>
      <p:sp>
        <p:nvSpPr>
          <p:cNvPr id="12" name="ZoneTexte 11">
            <a:extLst xmlns:a="http://schemas.openxmlformats.org/drawingml/2006/main">
              <a:ext uri="{FF2B5EF4-FFF2-40B4-BE49-F238E27FC236}">
                <a16:creationId xmlns:a16="http://schemas.microsoft.com/office/drawing/2014/main" id="{D7111ECB-756D-AB47-FDFE-3684F8E1C87E}"/>
              </a:ext>
            </a:extLst>
          </p:cNvPr>
          <p:cNvSpPr>
            <a:spLocks xmlns:a="http://schemas.openxmlformats.org/drawingml/2006/main" noGrp="1"/>
          </p:cNvSpPr>
          <p:nvPr/>
        </p:nvSpPr>
        <p:spPr>
          <a:xfrm xmlns:a="http://schemas.openxmlformats.org/drawingml/2006/main" rot="0" flipH="0" flipV="0">
            <a:off x="2152667" y="3766968"/>
            <a:ext cx="4838663" cy="430887"/>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1100" b="1" i="1">
                <a:latin typeface="Times New Roman"/>
                <a:ea typeface="Times New Roman"/>
                <a:cs typeface="Times New Roman"/>
              </a:rPr>
              <a:t>Fig 5: </a:t>
            </a:r>
            <a:r>
              <a:rPr sz="1100" b="1" i="1">
                <a:latin typeface="Times New Roman"/>
                <a:ea typeface="Times New Roman"/>
                <a:cs typeface="Times New Roman"/>
              </a:rPr>
              <a:t>Average</a:t>
            </a:r>
            <a:r>
              <a:rPr sz="1100" b="1" i="1">
                <a:latin typeface="Times New Roman"/>
                <a:ea typeface="Times New Roman"/>
                <a:cs typeface="Times New Roman"/>
              </a:rPr>
              <a:t> of the action 0 usage over </a:t>
            </a:r>
            <a:r>
              <a:rPr sz="1100" b="1" i="1">
                <a:latin typeface="Times New Roman"/>
                <a:ea typeface="Times New Roman"/>
                <a:cs typeface="Times New Roman"/>
              </a:rPr>
              <a:t>seeds</a:t>
            </a:r>
            <a:r>
              <a:rPr sz="1100" b="1" i="1">
                <a:latin typeface="Times New Roman"/>
                <a:ea typeface="Times New Roman"/>
                <a:cs typeface="Times New Roman"/>
              </a:rPr>
              <a:t> at best-checkpoints for the </a:t>
            </a:r>
            <a:r>
              <a:rPr sz="1100" b="1" i="1">
                <a:latin typeface="Times New Roman"/>
                <a:ea typeface="Times New Roman"/>
                <a:cs typeface="Times New Roman"/>
              </a:rPr>
              <a:t>mlp</a:t>
            </a:r>
            <a:r>
              <a:rPr sz="1100" b="1" i="1">
                <a:latin typeface="Times New Roman"/>
                <a:ea typeface="Times New Roman"/>
                <a:cs typeface="Times New Roman"/>
              </a:rPr>
              <a:t> </a:t>
            </a:r>
            <a:r>
              <a:rPr sz="1100" b="1" i="1">
                <a:latin typeface="Times New Roman"/>
                <a:ea typeface="Times New Roman"/>
                <a:cs typeface="Times New Roman"/>
              </a:rPr>
              <a:t>baseline</a:t>
            </a:r>
          </a:p>
        </p:txBody>
      </p:sp>
      <p:pic>
        <p:nvPicPr>
          <p:cNvPr id="21" name="Picture 2"/>
          <p:cNvPicPr>
            <a:picLocks xmlns:a="http://schemas.openxmlformats.org/drawingml/2006/main" noChangeAspect="1"/>
          </p:cNvPicPr>
          <p:nvPr/>
        </p:nvPicPr>
        <p:blipFill>
          <a:blip xmlns:r="http://schemas.openxmlformats.org/officeDocument/2006/relationships" xmlns:a="http://schemas.openxmlformats.org/drawingml/2006/main" r:embed="R815659c9e5824a12"/>
          <a:srcRect xmlns:a="http://schemas.openxmlformats.org/drawingml/2006/main" l="0" t="0" r="0" b="0"/>
          <a:stretch xmlns:a="http://schemas.openxmlformats.org/drawingml/2006/main">
            <a:fillRect l="0" t="0" r="0" b="0"/>
          </a:stretch>
        </p:blipFill>
        <p:spPr>
          <a:xfrm xmlns:a="http://schemas.openxmlformats.org/drawingml/2006/main">
            <a:off x="158055" y="379734"/>
            <a:ext cx="587504" cy="326391"/>
          </a:xfrm>
          <a:prstGeom xmlns:a="http://schemas.openxmlformats.org/drawingml/2006/main" prst="rect">
            <a:avLst/>
          </a:prstGeom>
        </p:spPr>
      </p:pic>
    </p:spTree>
    <p:extLst>
      <p:ext uri="{BB962C8B-B14F-4D97-AF65-F5344CB8AC3E}">
        <p14:creationId xmlns:p14="http://schemas.microsoft.com/office/powerpoint/2010/main" val="45278885"/>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pic>
        <p:nvPicPr>
          <p:cNvPr id="25" name="Picture 2"/>
          <p:cNvPicPr>
            <a:picLocks xmlns:a="http://schemas.openxmlformats.org/drawingml/2006/main" noChangeAspect="1"/>
          </p:cNvPicPr>
          <p:nvPr/>
        </p:nvPicPr>
        <p:blipFill>
          <a:blip xmlns:r="http://schemas.openxmlformats.org/officeDocument/2006/relationships" xmlns:a="http://schemas.openxmlformats.org/drawingml/2006/main" r:embed="Rd53e71c6447243fc"/>
          <a:srcRect xmlns:a="http://schemas.openxmlformats.org/drawingml/2006/main" l="0" t="0" r="0" b="0"/>
          <a:stretch xmlns:a="http://schemas.openxmlformats.org/drawingml/2006/main">
            <a:fillRect l="0" t="0" r="0" b="0"/>
          </a:stretch>
        </p:blipFill>
        <p:spPr>
          <a:xfrm xmlns:a="http://schemas.openxmlformats.org/drawingml/2006/main">
            <a:off x="158055" y="379734"/>
            <a:ext cx="587504" cy="326391"/>
          </a:xfrm>
          <a:prstGeom xmlns:a="http://schemas.openxmlformats.org/drawingml/2006/main" prst="rect">
            <a:avLst/>
          </a:prstGeom>
        </p:spPr>
      </p:pic>
      <p:sp>
        <p:nvSpPr>
          <p:cNvPr id="2" name="Titre 1">
            <a:extLst xmlns:a="http://schemas.openxmlformats.org/drawingml/2006/main">
              <a:ext uri="{FF2B5EF4-FFF2-40B4-BE49-F238E27FC236}">
                <a16:creationId xmlns:a16="http://schemas.microsoft.com/office/drawing/2014/main" id="{82A90E28-AED0-3F8D-1219-DD4B7EF8D9C2}"/>
              </a:ext>
            </a:extLst>
          </p:cNvPr>
          <p:cNvSpPr>
            <a:spLocks xmlns:a="http://schemas.openxmlformats.org/drawingml/2006/main" noGrp="1"/>
          </p:cNvSpPr>
          <p:nvPr>
            <p:ph type="title" idx="0"/>
          </p:nvPr>
        </p:nvSpPr>
        <p:spPr>
          <a:xfrm xmlns:a="http://schemas.openxmlformats.org/drawingml/2006/main">
            <a:off x="904875" y="252828"/>
            <a:ext cx="7532115" cy="601301"/>
          </a:xfrm>
        </p:spPr>
        <p:txBody>
          <a:bodyPr xmlns:a="http://schemas.openxmlformats.org/drawingml/2006/main">
            <a:normAutofit/>
          </a:bodyPr>
          <a:lstStyle xmlns:a="http://schemas.openxmlformats.org/drawingml/2006/main"/>
          <a:p xmlns:a="http://schemas.openxmlformats.org/drawingml/2006/main">
            <a:r>
              <a:t>IEEE 14: Realistic behavior, Models</a:t>
            </a:r>
          </a:p>
        </p:txBody>
      </p:sp>
      <p:sp>
        <p:nvSpPr>
          <p:cNvPr id="5" name="Espace réservé du numéro de diapositive 4">
            <a:extLst xmlns:a="http://schemas.openxmlformats.org/drawingml/2006/main">
              <a:ext uri="{FF2B5EF4-FFF2-40B4-BE49-F238E27FC236}">
                <a16:creationId xmlns:a16="http://schemas.microsoft.com/office/drawing/2014/main" id="{24752180-AD6F-AEF2-99EA-215F337B8EC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r>
              <a:t>14</a:t>
            </a:r>
          </a:p>
        </p:txBody>
      </p:sp>
      <p:sp>
        <p:nvSpPr>
          <p:cNvPr id="6" name="ZoneTexte 5">
            <a:extLst xmlns:a="http://schemas.openxmlformats.org/drawingml/2006/main">
              <a:ext uri="{FF2B5EF4-FFF2-40B4-BE49-F238E27FC236}">
                <a16:creationId xmlns:a16="http://schemas.microsoft.com/office/drawing/2014/main" id="{88721C37-0EDB-13F3-1AD4-60341822B9F8}"/>
              </a:ext>
            </a:extLst>
          </p:cNvPr>
          <p:cNvSpPr>
            <a:spLocks xmlns:a="http://schemas.openxmlformats.org/drawingml/2006/main" noGrp="1"/>
          </p:cNvSpPr>
          <p:nvPr/>
        </p:nvSpPr>
        <p:spPr>
          <a:xfrm xmlns:a="http://schemas.openxmlformats.org/drawingml/2006/main">
            <a:off x="582626" y="690808"/>
            <a:ext cx="8048612" cy="1113889"/>
          </a:xfrm>
          <a:prstGeom xmlns:a="http://schemas.openxmlformats.org/drawingml/2006/main" prst="roundRect">
            <a:avLst>
              <a:gd name="adj" fmla="val 16051"/>
            </a:avLst>
          </a:prstGeom>
          <a:noFill xmlns:a="http://schemas.openxmlformats.org/drawingml/2006/main"/>
          <a:ln xmlns:a="http://schemas.openxmlformats.org/drawingml/2006/main" w="9525"/>
        </p:spPr>
        <p:style>
          <a:lnRef xmlns:a="http://schemas.openxmlformats.org/drawingml/2006/main" idx="2">
            <a:schemeClr val="dk1"/>
          </a:lnRef>
          <a:fillRef xmlns:a="http://schemas.openxmlformats.org/drawingml/2006/main" idx="1">
            <a:schemeClr val="lt1"/>
          </a:fillRef>
          <a:effectRef xmlns:a="http://schemas.openxmlformats.org/drawingml/2006/main" idx="0">
            <a:schemeClr val="dk1"/>
          </a:effectRef>
          <a:fontRef xmlns:a="http://schemas.openxmlformats.org/drawingml/2006/main" idx="minor">
            <a:schemeClr val="dk1"/>
          </a:fontRef>
        </p:style>
        <p:txBody>
          <a:bodyPr xmlns:a="http://schemas.openxmlformats.org/drawingml/2006/main" wrap="square">
            <a:spAutoFit/>
          </a:bodyPr>
          <a:lstStyle xmlns:a="http://schemas.openxmlformats.org/drawingml/2006/main"/>
          <a:p xmlns:a="http://schemas.openxmlformats.org/drawingml/2006/main">
            <a:pPr>
              <a:buClr>
                <a:schemeClr val="accent1"/>
              </a:buClr>
              <a:buNone/>
            </a:pPr>
            <a:r>
              <a:rPr sz="1200" b="1" u="sng"/>
              <a:t>Flat, Heuristic:</a:t>
            </a:r>
          </a:p>
          <a:p xmlns:a="http://schemas.openxmlformats.org/drawingml/2006/main">
            <a:pPr>
              <a:buClr>
                <a:schemeClr val="accent1"/>
              </a:buClr>
              <a:buNone/>
            </a:pPr>
            <a:r>
              <a:rPr sz="1200"/>
              <a:t>Override the action chose by the agents by do nothing if </a:t>
            </a:r>
            <a14:m xmlns:a14="http://schemas.microsoft.com/office/drawing/2010/main">
              <m:oMathPara xmlns:m="http://schemas.openxmlformats.org/officeDocument/2006/math">
                <m:oMath>
                  <m:r>
                    <a:rPr xmlns:a="http://schemas.openxmlformats.org/drawingml/2006/main" lang="fr-CH" sz="1200" b="0" i="1">
                      <a:latin typeface="Cambria Math"/>
                      <a:ea typeface="Cambria Math"/>
                      <a:cs typeface="Cambria Math"/>
                    </a:rPr>
                    <m:t>max</m:t>
                  </m:r>
                  <m:r>
                    <a:rPr xmlns:a="http://schemas.openxmlformats.org/drawingml/2006/main" lang="fr-CH" sz="1200" b="0" i="1">
                      <a:latin typeface="Cambria Math"/>
                      <a:ea typeface="Cambria Math"/>
                      <a:cs typeface="Cambria Math"/>
                    </a:rPr>
                    <m:t xml:space="preserve"> </m:t>
                  </m:r>
                  <m:r>
                    <a:rPr xmlns:a="http://schemas.openxmlformats.org/drawingml/2006/main" lang="fr-CH" sz="1200" b="0" i="1">
                      <a:latin typeface="Cambria Math"/>
                      <a:ea typeface="Cambria Math"/>
                      <a:cs typeface="Cambria Math"/>
                    </a:rPr>
                    <m:t>ρ</m:t>
                  </m:r>
                  <m:r>
                    <a:rPr xmlns:a="http://schemas.openxmlformats.org/drawingml/2006/main" lang="fr-CH" sz="1200" b="0" i="1">
                      <a:latin typeface="Cambria Math"/>
                      <a:ea typeface="Cambria Math"/>
                      <a:cs typeface="Cambria Math"/>
                    </a:rPr>
                    <m:t xml:space="preserve"> &lt; 90%</m:t>
                  </m:r>
                </m:oMath>
              </m:oMathPara>
            </a14:m>
            <a:r>
              <a:rPr sz="1200"/>
              <a:t> localy or globally.</a:t>
            </a:r>
          </a:p>
          <a:p xmlns:a="http://schemas.openxmlformats.org/drawingml/2006/main">
            <a:pPr>
              <a:buClr>
                <a:schemeClr val="accent1"/>
              </a:buClr>
              <a:buNone/>
            </a:pPr>
          </a:p>
          <a:p xmlns:a="http://schemas.openxmlformats.org/drawingml/2006/main">
            <a:pPr>
              <a:buClr>
                <a:schemeClr val="accent1"/>
              </a:buClr>
              <a:buNone/>
            </a:pPr>
          </a:p>
          <a:p xmlns:a="http://schemas.openxmlformats.org/drawingml/2006/main">
            <a:pPr>
              <a:buClr>
                <a:schemeClr val="accent1"/>
              </a:buClr>
              <a:buNone/>
            </a:pPr>
          </a:p>
        </p:txBody>
      </p:sp>
      <p:pic>
        <p:nvPicPr>
          <p:cNvPr id="29" name="Image 12"/>
          <p:cNvPicPr>
            <a:picLocks xmlns:a="http://schemas.openxmlformats.org/drawingml/2006/main" noChangeAspect="1"/>
          </p:cNvPicPr>
          <p:nvPr/>
        </p:nvPicPr>
        <p:blipFill>
          <a:blip xmlns:r="http://schemas.openxmlformats.org/officeDocument/2006/relationships" xmlns:a="http://schemas.openxmlformats.org/drawingml/2006/main" r:embed="Re621f635ba204240"/>
          <a:stretch xmlns:a="http://schemas.openxmlformats.org/drawingml/2006/main">
            <a:fillRect l="0" t="0" r="0" b="0"/>
          </a:stretch>
        </p:blipFill>
        <p:spPr>
          <a:xfrm xmlns:a="http://schemas.openxmlformats.org/drawingml/2006/main">
            <a:off x="878778" y="1275960"/>
            <a:ext cx="1074900" cy="349113"/>
          </a:xfrm>
          <a:prstGeom xmlns:a="http://schemas.openxmlformats.org/drawingml/2006/main" prst="rect">
            <a:avLst/>
          </a:prstGeom>
        </p:spPr>
      </p:pic>
      <p:pic>
        <p:nvPicPr>
          <p:cNvPr id="30" name="Image 13"/>
          <p:cNvPicPr>
            <a:picLocks xmlns:a="http://schemas.openxmlformats.org/drawingml/2006/main" noChangeAspect="1"/>
          </p:cNvPicPr>
          <p:nvPr/>
        </p:nvPicPr>
        <p:blipFill>
          <a:blip xmlns:r="http://schemas.openxmlformats.org/officeDocument/2006/relationships" xmlns:a="http://schemas.openxmlformats.org/drawingml/2006/main" r:embed="Re2de3715d87447bf"/>
          <a:stretch xmlns:a="http://schemas.openxmlformats.org/drawingml/2006/main">
            <a:fillRect l="0" t="0" r="0" b="0"/>
          </a:stretch>
        </p:blipFill>
        <p:spPr>
          <a:xfrm xmlns:a="http://schemas.openxmlformats.org/drawingml/2006/main">
            <a:off x="2310345" y="1296076"/>
            <a:ext cx="1195592" cy="349113"/>
          </a:xfrm>
          <a:prstGeom xmlns:a="http://schemas.openxmlformats.org/drawingml/2006/main" prst="rect">
            <a:avLst/>
          </a:prstGeom>
        </p:spPr>
      </p:pic>
      <p:pic>
        <p:nvPicPr>
          <p:cNvPr id="31" name="Image 14"/>
          <p:cNvPicPr>
            <a:picLocks xmlns:a="http://schemas.openxmlformats.org/drawingml/2006/main" noChangeAspect="1"/>
          </p:cNvPicPr>
          <p:nvPr/>
        </p:nvPicPr>
        <p:blipFill>
          <a:blip xmlns:r="http://schemas.openxmlformats.org/officeDocument/2006/relationships" xmlns:a="http://schemas.openxmlformats.org/drawingml/2006/main" r:embed="R64850c2336484cfd"/>
          <a:stretch xmlns:a="http://schemas.openxmlformats.org/drawingml/2006/main">
            <a:fillRect l="0" t="0" r="0" b="0"/>
          </a:stretch>
        </p:blipFill>
        <p:spPr>
          <a:xfrm xmlns:a="http://schemas.openxmlformats.org/drawingml/2006/main">
            <a:off x="4670932" y="1173612"/>
            <a:ext cx="2848828" cy="560109"/>
          </a:xfrm>
          <a:prstGeom xmlns:a="http://schemas.openxmlformats.org/drawingml/2006/main" prst="rect">
            <a:avLst/>
          </a:prstGeom>
        </p:spPr>
      </p:pic>
      <p:sp>
        <p:nvSpPr>
          <p:cNvPr id="16" name="ZoneTexte 15">
            <a:extLst xmlns:a="http://schemas.openxmlformats.org/drawingml/2006/main">
              <a:ext uri="{FF2B5EF4-FFF2-40B4-BE49-F238E27FC236}">
                <a16:creationId xmlns:a16="http://schemas.microsoft.com/office/drawing/2014/main" id="{DE13E449-440A-6E84-1405-C65BF0206957}"/>
              </a:ext>
            </a:extLst>
          </p:cNvPr>
          <p:cNvSpPr>
            <a:spLocks xmlns:a="http://schemas.openxmlformats.org/drawingml/2006/main" noGrp="1"/>
          </p:cNvSpPr>
          <p:nvPr/>
        </p:nvSpPr>
        <p:spPr>
          <a:xfrm xmlns:a="http://schemas.openxmlformats.org/drawingml/2006/main">
            <a:off x="582626" y="1898537"/>
            <a:ext cx="8048612" cy="3188836"/>
          </a:xfrm>
          <a:prstGeom xmlns:a="http://schemas.openxmlformats.org/drawingml/2006/main" prst="roundRect">
            <a:avLst>
              <a:gd name="adj" fmla="val 7076"/>
            </a:avLst>
          </a:prstGeom>
          <a:noFill xmlns:a="http://schemas.openxmlformats.org/drawingml/2006/main"/>
          <a:ln xmlns:a="http://schemas.openxmlformats.org/drawingml/2006/main" w="9525"/>
        </p:spPr>
        <p:style>
          <a:lnRef xmlns:a="http://schemas.openxmlformats.org/drawingml/2006/main" idx="2">
            <a:schemeClr val="dk1"/>
          </a:lnRef>
          <a:fillRef xmlns:a="http://schemas.openxmlformats.org/drawingml/2006/main" idx="1">
            <a:schemeClr val="lt1"/>
          </a:fillRef>
          <a:effectRef xmlns:a="http://schemas.openxmlformats.org/drawingml/2006/main" idx="0">
            <a:schemeClr val="dk1"/>
          </a:effectRef>
          <a:fontRef xmlns:a="http://schemas.openxmlformats.org/drawingml/2006/main" idx="minor">
            <a:schemeClr val="dk1"/>
          </a:fontRef>
        </p:style>
        <p:txBody>
          <a:bodyPr xmlns:a="http://schemas.openxmlformats.org/drawingml/2006/main" wrap="square">
            <a:spAutoFit/>
          </a:bodyPr>
          <a:lstStyle xmlns:a="http://schemas.openxmlformats.org/drawingml/2006/main"/>
          <a:p xmlns:a="http://schemas.openxmlformats.org/drawingml/2006/main">
            <a:pPr>
              <a:buClr>
                <a:schemeClr val="accent1"/>
              </a:buClr>
              <a:buNone/>
            </a:pPr>
            <a:r>
              <a:rPr sz="1200" b="1" u="sng"/>
              <a:t>Gate:</a:t>
            </a:r>
            <a:r>
              <a:rPr sz="1200" b="1"/>
              <a:t> </a:t>
            </a:r>
            <a:r>
              <a:rPr sz="1200"/>
              <a:t>Manczak</a:t>
            </a:r>
            <a:r>
              <a:rPr sz="1200"/>
              <a:t> and al. (2023)</a:t>
            </a:r>
          </a:p>
          <a:p xmlns:a="http://schemas.openxmlformats.org/drawingml/2006/main">
            <a:pPr>
              <a:buClr>
                <a:schemeClr val="accent1"/>
              </a:buClr>
              <a:buNone/>
            </a:pPr>
            <a:r>
              <a:rPr sz="1200"/>
              <a:t>The actors have 2 MLP </a:t>
            </a:r>
            <a:r>
              <a:rPr sz="1200"/>
              <a:t>Head: </a:t>
            </a:r>
          </a:p>
          <a:p xmlns:a="http://schemas.openxmlformats.org/drawingml/2006/main">
            <a:pPr marL="285750" indent="-285750">
              <a:buClr>
                <a:schemeClr val="accent1"/>
              </a:buClr>
              <a:buFontTx/>
              <a:buChar char="-"/>
            </a:pPr>
            <a:r>
              <a:rPr sz="1200"/>
              <a:t>one with 2 outputs that predicts “act” vs “do nothing”</a:t>
            </a:r>
          </a:p>
          <a:p xmlns:a="http://schemas.openxmlformats.org/drawingml/2006/main">
            <a:pPr marL="285750" indent="-285750">
              <a:buClr>
                <a:schemeClr val="accent1"/>
              </a:buClr>
              <a:buFontTx/>
              <a:buChar char="-"/>
            </a:pPr>
            <a:r>
              <a:rPr sz="1200"/>
              <a:t>one </a:t>
            </a:r>
            <a:r>
              <a:rPr sz="1200"/>
              <a:t>n_action</a:t>
            </a:r>
            <a:r>
              <a:rPr sz="1200"/>
              <a:t> – 1 size that assign a score to each actions</a:t>
            </a:r>
          </a:p>
          <a:p xmlns:a="http://schemas.openxmlformats.org/drawingml/2006/main">
            <a:pPr>
              <a:buClr>
                <a:schemeClr val="accent1"/>
              </a:buClr>
              <a:buNone/>
            </a:pPr>
          </a:p>
          <a:p xmlns:a="http://schemas.openxmlformats.org/drawingml/2006/main">
            <a:pPr>
              <a:buClr>
                <a:schemeClr val="accent1"/>
              </a:buClr>
              <a:buNone/>
            </a:pPr>
          </a:p>
          <a:p xmlns:a="http://schemas.openxmlformats.org/drawingml/2006/main">
            <a:pPr>
              <a:buClr>
                <a:schemeClr val="accent1"/>
              </a:buClr>
              <a:buNone/>
            </a:pPr>
          </a:p>
          <a:p xmlns:a="http://schemas.openxmlformats.org/drawingml/2006/main">
            <a:pPr marL="171450" indent="-171450">
              <a:buClr>
                <a:schemeClr val="accent1"/>
              </a:buClr>
              <a:buFont typeface="Wingdings"/>
              <a:buChar char="è"/>
            </a:pPr>
            <a:r>
              <a:rPr sz="1200"/>
              <a:t>We have a MAP structure where the action depends on the combination of both scores:</a:t>
            </a:r>
          </a:p>
          <a:p xmlns:a="http://schemas.openxmlformats.org/drawingml/2006/main">
            <a:pPr marL="171450" indent="-171450">
              <a:buClr>
                <a:schemeClr val="accent1"/>
              </a:buClr>
              <a:buFont typeface="Wingdings"/>
              <a:buChar char="è"/>
            </a:pPr>
          </a:p>
          <a:p xmlns:a="http://schemas.openxmlformats.org/drawingml/2006/main">
            <a:pPr marL="171450" indent="-171450">
              <a:buClr>
                <a:schemeClr val="accent1"/>
              </a:buClr>
              <a:buFont typeface="Wingdings"/>
              <a:buChar char="è"/>
            </a:pPr>
          </a:p>
          <a:p xmlns:a="http://schemas.openxmlformats.org/drawingml/2006/main">
            <a:pPr marL="171450" indent="-171450">
              <a:buClr>
                <a:schemeClr val="accent1"/>
              </a:buClr>
              <a:buFont typeface="Wingdings"/>
              <a:buChar char="è"/>
            </a:pPr>
          </a:p>
          <a:p xmlns:a="http://schemas.openxmlformats.org/drawingml/2006/main">
            <a:pPr marL="171450" indent="-171450">
              <a:buClr>
                <a:schemeClr val="accent1"/>
              </a:buClr>
              <a:buFont typeface="Wingdings"/>
              <a:buChar char="è"/>
            </a:pPr>
            <a:r>
              <a:rPr sz="1200"/>
              <a:t>We have a Hierarchical structure where we look at each score sequentially:</a:t>
            </a:r>
          </a:p>
          <a:p xmlns:a="http://schemas.openxmlformats.org/drawingml/2006/main">
            <a:pPr marL="171450" indent="-171450">
              <a:buClr>
                <a:schemeClr val="accent1"/>
              </a:buClr>
              <a:buFont typeface="Wingdings"/>
              <a:buChar char="è"/>
            </a:pPr>
          </a:p>
          <a:p xmlns:a="http://schemas.openxmlformats.org/drawingml/2006/main">
            <a:pPr marL="171450" indent="-171450">
              <a:buClr>
                <a:schemeClr val="accent1"/>
              </a:buClr>
              <a:buFont typeface="Wingdings"/>
              <a:buChar char="è"/>
            </a:pPr>
          </a:p>
          <a:p xmlns:a="http://schemas.openxmlformats.org/drawingml/2006/main">
            <a:pPr marL="171450" indent="-171450">
              <a:buClr>
                <a:schemeClr val="accent1"/>
              </a:buClr>
              <a:buFont typeface="Wingdings"/>
              <a:buChar char="è"/>
            </a:pPr>
          </a:p>
          <a:p xmlns:a="http://schemas.openxmlformats.org/drawingml/2006/main">
            <a:pPr marL="171450" indent="-171450">
              <a:buClr>
                <a:schemeClr val="accent1"/>
              </a:buClr>
              <a:buFont typeface="Wingdings"/>
              <a:buChar char="è"/>
            </a:pPr>
          </a:p>
        </p:txBody>
      </p:sp>
      <p:pic>
        <p:nvPicPr>
          <p:cNvPr id="33" name="Image 16"/>
          <p:cNvPicPr>
            <a:picLocks xmlns:a="http://schemas.openxmlformats.org/drawingml/2006/main" noChangeAspect="1"/>
          </p:cNvPicPr>
          <p:nvPr/>
        </p:nvPicPr>
        <p:blipFill>
          <a:blip xmlns:r="http://schemas.openxmlformats.org/officeDocument/2006/relationships" xmlns:a="http://schemas.openxmlformats.org/drawingml/2006/main" r:embed="Rea38cda477144604"/>
          <a:stretch xmlns:a="http://schemas.openxmlformats.org/drawingml/2006/main">
            <a:fillRect l="0" t="0" r="0" b="0"/>
          </a:stretch>
        </p:blipFill>
        <p:spPr>
          <a:xfrm xmlns:a="http://schemas.openxmlformats.org/drawingml/2006/main">
            <a:off x="1369573" y="2893173"/>
            <a:ext cx="1881543" cy="299117"/>
          </a:xfrm>
          <a:prstGeom xmlns:a="http://schemas.openxmlformats.org/drawingml/2006/main" prst="rect">
            <a:avLst/>
          </a:prstGeom>
        </p:spPr>
      </p:pic>
      <p:pic>
        <p:nvPicPr>
          <p:cNvPr id="34" name="Image 17"/>
          <p:cNvPicPr>
            <a:picLocks xmlns:a="http://schemas.openxmlformats.org/drawingml/2006/main" noChangeAspect="1"/>
          </p:cNvPicPr>
          <p:nvPr/>
        </p:nvPicPr>
        <p:blipFill>
          <a:blip xmlns:r="http://schemas.openxmlformats.org/officeDocument/2006/relationships" xmlns:a="http://schemas.openxmlformats.org/drawingml/2006/main" r:embed="R0785e5c67b7944fa"/>
          <a:stretch xmlns:a="http://schemas.openxmlformats.org/drawingml/2006/main">
            <a:fillRect l="0" t="0" r="0" b="0"/>
          </a:stretch>
        </p:blipFill>
        <p:spPr>
          <a:xfrm xmlns:a="http://schemas.openxmlformats.org/drawingml/2006/main">
            <a:off x="4336368" y="2893172"/>
            <a:ext cx="3113036" cy="299117"/>
          </a:xfrm>
          <a:prstGeom xmlns:a="http://schemas.openxmlformats.org/drawingml/2006/main" prst="rect">
            <a:avLst/>
          </a:prstGeom>
        </p:spPr>
      </p:pic>
      <p:pic>
        <p:nvPicPr>
          <p:cNvPr id="35" name="Image 19"/>
          <p:cNvPicPr>
            <a:picLocks xmlns:a="http://schemas.openxmlformats.org/drawingml/2006/main" noChangeAspect="1"/>
          </p:cNvPicPr>
          <p:nvPr/>
        </p:nvPicPr>
        <p:blipFill>
          <a:blip xmlns:r="http://schemas.openxmlformats.org/officeDocument/2006/relationships" xmlns:a="http://schemas.openxmlformats.org/drawingml/2006/main" r:embed="Rf6248137e115421c"/>
          <a:stretch xmlns:a="http://schemas.openxmlformats.org/drawingml/2006/main">
            <a:fillRect l="0" t="0" r="0" b="0"/>
          </a:stretch>
        </p:blipFill>
        <p:spPr>
          <a:xfrm xmlns:a="http://schemas.openxmlformats.org/drawingml/2006/main">
            <a:off x="2982124" y="3615661"/>
            <a:ext cx="3179747" cy="228644"/>
          </a:xfrm>
          <a:prstGeom xmlns:a="http://schemas.openxmlformats.org/drawingml/2006/main" prst="rect">
            <a:avLst/>
          </a:prstGeom>
        </p:spPr>
      </p:pic>
      <p:pic>
        <p:nvPicPr>
          <p:cNvPr id="36" name="Image 21"/>
          <p:cNvPicPr>
            <a:picLocks xmlns:a="http://schemas.openxmlformats.org/drawingml/2006/main" noChangeAspect="1"/>
          </p:cNvPicPr>
          <p:nvPr/>
        </p:nvPicPr>
        <p:blipFill>
          <a:blip xmlns:r="http://schemas.openxmlformats.org/officeDocument/2006/relationships" xmlns:a="http://schemas.openxmlformats.org/drawingml/2006/main" r:embed="R30389237c736451d"/>
          <a:stretch xmlns:a="http://schemas.openxmlformats.org/drawingml/2006/main">
            <a:fillRect l="0" t="0" r="0" b="0"/>
          </a:stretch>
        </p:blipFill>
        <p:spPr>
          <a:xfrm xmlns:a="http://schemas.openxmlformats.org/drawingml/2006/main">
            <a:off x="2525265" y="4319427"/>
            <a:ext cx="4093469" cy="701737"/>
          </a:xfrm>
          <a:prstGeom xmlns:a="http://schemas.openxmlformats.org/drawingml/2006/main" prst="rect">
            <a:avLst/>
          </a:prstGeom>
        </p:spPr>
      </p:pic>
    </p:spTree>
    <p:extLst>
      <p:ext uri="{BB962C8B-B14F-4D97-AF65-F5344CB8AC3E}">
        <p14:creationId xmlns:p14="http://schemas.microsoft.com/office/powerpoint/2010/main" val="1532691768"/>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 name="Titre 1">
            <a:extLst xmlns:a="http://schemas.openxmlformats.org/drawingml/2006/main">
              <a:ext uri="{FF2B5EF4-FFF2-40B4-BE49-F238E27FC236}">
                <a16:creationId xmlns:a16="http://schemas.microsoft.com/office/drawing/2014/main" id="{1D18E922-4DC6-5889-E19B-2AAD277E4878}"/>
              </a:ext>
            </a:extLst>
          </p:cNvPr>
          <p:cNvSpPr>
            <a:spLocks xmlns:a="http://schemas.openxmlformats.org/drawingml/2006/main" noGrp="1"/>
          </p:cNvSpPr>
          <p:nvPr>
            <p:ph type="title" idx="0"/>
          </p:nvPr>
        </p:nvSpPr>
        <p:spPr>
          <a:xfrm xmlns:a="http://schemas.openxmlformats.org/drawingml/2006/main">
            <a:off x="904875" y="252828"/>
            <a:ext cx="7532115" cy="601301"/>
          </a:xfrm>
        </p:spPr>
        <p:txBody>
          <a:bodyPr xmlns:a="http://schemas.openxmlformats.org/drawingml/2006/main">
            <a:normAutofit/>
          </a:bodyPr>
          <a:lstStyle xmlns:a="http://schemas.openxmlformats.org/drawingml/2006/main"/>
          <a:p xmlns:a="http://schemas.openxmlformats.org/drawingml/2006/main">
            <a:r>
              <a:t>IEEE 14: Realistic behavior, Models</a:t>
            </a:r>
          </a:p>
        </p:txBody>
      </p:sp>
      <p:sp>
        <p:nvSpPr>
          <p:cNvPr id="5" name="Espace réservé du numéro de diapositive 4">
            <a:extLst xmlns:a="http://schemas.openxmlformats.org/drawingml/2006/main">
              <a:ext uri="{FF2B5EF4-FFF2-40B4-BE49-F238E27FC236}">
                <a16:creationId xmlns:a16="http://schemas.microsoft.com/office/drawing/2014/main" id="{4511BCF6-03EE-8C38-3A3B-EE35372E57B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r>
              <a:t>15</a:t>
            </a:r>
          </a:p>
        </p:txBody>
      </p:sp>
      <p:sp>
        <p:nvSpPr>
          <p:cNvPr id="6" name="ZoneTexte 5">
            <a:extLst xmlns:a="http://schemas.openxmlformats.org/drawingml/2006/main">
              <a:ext uri="{FF2B5EF4-FFF2-40B4-BE49-F238E27FC236}">
                <a16:creationId xmlns:a16="http://schemas.microsoft.com/office/drawing/2014/main" id="{5D6B4C04-E645-2510-8BB2-81C5781B3509}"/>
              </a:ext>
            </a:extLst>
          </p:cNvPr>
          <p:cNvSpPr>
            <a:spLocks xmlns:a="http://schemas.openxmlformats.org/drawingml/2006/main" noGrp="1"/>
          </p:cNvSpPr>
          <p:nvPr/>
        </p:nvSpPr>
        <p:spPr>
          <a:xfrm xmlns:a="http://schemas.openxmlformats.org/drawingml/2006/main">
            <a:off x="582626" y="758927"/>
            <a:ext cx="8048612" cy="1149251"/>
          </a:xfrm>
          <a:prstGeom xmlns:a="http://schemas.openxmlformats.org/drawingml/2006/main" prst="roundRect">
            <a:avLst/>
          </a:prstGeom>
          <a:noFill xmlns:a="http://schemas.openxmlformats.org/drawingml/2006/main"/>
          <a:ln xmlns:a="http://schemas.openxmlformats.org/drawingml/2006/main" w="9525"/>
        </p:spPr>
        <p:style>
          <a:lnRef xmlns:a="http://schemas.openxmlformats.org/drawingml/2006/main" idx="2">
            <a:schemeClr val="dk1"/>
          </a:lnRef>
          <a:fillRef xmlns:a="http://schemas.openxmlformats.org/drawingml/2006/main" idx="1">
            <a:schemeClr val="lt1"/>
          </a:fillRef>
          <a:effectRef xmlns:a="http://schemas.openxmlformats.org/drawingml/2006/main" idx="0">
            <a:schemeClr val="dk1"/>
          </a:effectRef>
          <a:fontRef xmlns:a="http://schemas.openxmlformats.org/drawingml/2006/main" idx="minor">
            <a:schemeClr val="dk1"/>
          </a:fontRef>
        </p:style>
        <p:txBody>
          <a:bodyPr xmlns:a="http://schemas.openxmlformats.org/drawingml/2006/main" wrap="square">
            <a:spAutoFit/>
          </a:bodyPr>
          <a:lstStyle xmlns:a="http://schemas.openxmlformats.org/drawingml/2006/main"/>
          <a:p xmlns:a="http://schemas.openxmlformats.org/drawingml/2006/main">
            <a:pPr>
              <a:buClr>
                <a:schemeClr val="accent1"/>
              </a:buClr>
              <a:buNone/>
            </a:pPr>
            <a:r>
              <a:rPr sz="1200" b="1" u="sng"/>
              <a:t>Topology Cost:</a:t>
            </a:r>
            <a:r>
              <a:rPr sz="1200" b="1"/>
              <a:t> </a:t>
            </a:r>
            <a:r>
              <a:rPr sz="1200"/>
              <a:t>Lautenbacher</a:t>
            </a:r>
            <a:r>
              <a:rPr sz="1200"/>
              <a:t> and al. (2025)</a:t>
            </a:r>
          </a:p>
          <a:p xmlns:a="http://schemas.openxmlformats.org/drawingml/2006/main">
            <a:pPr>
              <a:buClr>
                <a:schemeClr val="accent1"/>
              </a:buClr>
              <a:buNone/>
            </a:pPr>
            <a:r>
              <a:rPr sz="1200"/>
              <a:t>Each time an agent takes an action, we subtract a constant value to the reward for this step.</a:t>
            </a:r>
          </a:p>
          <a:p xmlns:a="http://schemas.openxmlformats.org/drawingml/2006/main">
            <a:pPr>
              <a:buClr>
                <a:schemeClr val="accent1"/>
              </a:buClr>
              <a:buNone/>
            </a:pPr>
          </a:p>
          <a:p xmlns:a="http://schemas.openxmlformats.org/drawingml/2006/main">
            <a:pPr>
              <a:buClr>
                <a:schemeClr val="accent1"/>
              </a:buClr>
              <a:buNone/>
            </a:pPr>
          </a:p>
          <a:p xmlns:a="http://schemas.openxmlformats.org/drawingml/2006/main">
            <a:pPr>
              <a:buClr>
                <a:schemeClr val="accent1"/>
              </a:buClr>
              <a:buNone/>
            </a:pPr>
          </a:p>
        </p:txBody>
      </p:sp>
      <p:sp>
        <p:nvSpPr>
          <p:cNvPr id="3" name="ZoneTexte 2">
            <a:extLst xmlns:a="http://schemas.openxmlformats.org/drawingml/2006/main">
              <a:ext uri="{FF2B5EF4-FFF2-40B4-BE49-F238E27FC236}">
                <a16:creationId xmlns:a16="http://schemas.microsoft.com/office/drawing/2014/main" id="{D78447C8-E88D-EC22-3B62-A64025FBFEDA}"/>
              </a:ext>
            </a:extLst>
          </p:cNvPr>
          <p:cNvSpPr>
            <a:spLocks xmlns:a="http://schemas.openxmlformats.org/drawingml/2006/main" noGrp="1"/>
          </p:cNvSpPr>
          <p:nvPr/>
        </p:nvSpPr>
        <p:spPr>
          <a:xfrm xmlns:a="http://schemas.openxmlformats.org/drawingml/2006/main">
            <a:off x="582626" y="2036788"/>
            <a:ext cx="8048612" cy="1880548"/>
          </a:xfrm>
          <a:prstGeom xmlns:a="http://schemas.openxmlformats.org/drawingml/2006/main" prst="roundRect">
            <a:avLst>
              <a:gd name="adj" fmla="val 9708"/>
            </a:avLst>
          </a:prstGeom>
          <a:noFill xmlns:a="http://schemas.openxmlformats.org/drawingml/2006/main"/>
          <a:ln xmlns:a="http://schemas.openxmlformats.org/drawingml/2006/main" w="9525">
            <a:solidFill>
              <a:schemeClr val="tx1"/>
            </a:solidFill>
          </a:ln>
        </p:spPr>
        <p:style>
          <a:lnRef xmlns:a="http://schemas.openxmlformats.org/drawingml/2006/main" idx="2">
            <a:schemeClr val="dk1"/>
          </a:lnRef>
          <a:fillRef xmlns:a="http://schemas.openxmlformats.org/drawingml/2006/main" idx="1">
            <a:schemeClr val="lt1"/>
          </a:fillRef>
          <a:effectRef xmlns:a="http://schemas.openxmlformats.org/drawingml/2006/main" idx="0">
            <a:schemeClr val="dk1"/>
          </a:effectRef>
          <a:fontRef xmlns:a="http://schemas.openxmlformats.org/drawingml/2006/main" idx="minor">
            <a:schemeClr val="dk1"/>
          </a:fontRef>
        </p:style>
        <p:txBody>
          <a:bodyPr xmlns:a="http://schemas.openxmlformats.org/drawingml/2006/main" wrap="square">
            <a:spAutoFit/>
          </a:bodyPr>
          <a:lstStyle xmlns:a="http://schemas.openxmlformats.org/drawingml/2006/main"/>
          <a:p xmlns:a="http://schemas.openxmlformats.org/drawingml/2006/main">
            <a:pPr>
              <a:buClr>
                <a:schemeClr val="accent1"/>
              </a:buClr>
              <a:buNone/>
            </a:pPr>
            <a:r>
              <a:rPr sz="1200" b="1" u="sng"/>
              <a:t>Adaptative Intervention Budget:</a:t>
            </a:r>
            <a:r>
              <a:rPr sz="1200" b="1"/>
              <a:t> </a:t>
            </a:r>
            <a:r>
              <a:rPr sz="1200"/>
              <a:t>Achiam</a:t>
            </a:r>
            <a:r>
              <a:rPr sz="1200"/>
              <a:t> and al. (2017); </a:t>
            </a:r>
            <a:r>
              <a:rPr sz="1200"/>
              <a:t>Stooke</a:t>
            </a:r>
            <a:r>
              <a:rPr sz="1200"/>
              <a:t> and al. (2020)</a:t>
            </a:r>
          </a:p>
          <a:p xmlns:a="http://schemas.openxmlformats.org/drawingml/2006/main">
            <a:pPr>
              <a:buClr>
                <a:schemeClr val="accent1"/>
              </a:buClr>
              <a:buNone/>
            </a:pPr>
            <a:r>
              <a:rPr sz="1200"/>
              <a:t>Each time an agent takes an action, we subtract an adaptative value to the reward for this step. The value of the penalty depends on the situation in which the network is, and how much the agent has already acted before.</a:t>
            </a:r>
          </a:p>
          <a:p xmlns:a="http://schemas.openxmlformats.org/drawingml/2006/main">
            <a:pPr>
              <a:buClr>
                <a:schemeClr val="accent1"/>
              </a:buClr>
              <a:buNone/>
            </a:pPr>
          </a:p>
          <a:p xmlns:a="http://schemas.openxmlformats.org/drawingml/2006/main">
            <a:pPr>
              <a:buClr>
                <a:schemeClr val="accent1"/>
              </a:buClr>
              <a:buNone/>
            </a:pPr>
          </a:p>
          <a:p xmlns:a="http://schemas.openxmlformats.org/drawingml/2006/main">
            <a:pPr>
              <a:buClr>
                <a:schemeClr val="accent1"/>
              </a:buClr>
              <a:buNone/>
            </a:pPr>
          </a:p>
          <a:p xmlns:a="http://schemas.openxmlformats.org/drawingml/2006/main">
            <a:pPr>
              <a:buClr>
                <a:schemeClr val="accent1"/>
              </a:buClr>
              <a:buNone/>
            </a:pPr>
          </a:p>
          <a:p xmlns:a="http://schemas.openxmlformats.org/drawingml/2006/main">
            <a:pPr>
              <a:buClr>
                <a:schemeClr val="accent1"/>
              </a:buClr>
              <a:buNone/>
            </a:pPr>
          </a:p>
          <a:p xmlns:a="http://schemas.openxmlformats.org/drawingml/2006/main">
            <a:pPr>
              <a:buClr>
                <a:schemeClr val="accent1"/>
              </a:buClr>
              <a:buNone/>
            </a:pPr>
          </a:p>
        </p:txBody>
      </p:sp>
      <p:sp>
        <p:nvSpPr>
          <p:cNvPr id="4" name="ZoneTexte 3">
            <a:extLst xmlns:a="http://schemas.openxmlformats.org/drawingml/2006/main">
              <a:ext uri="{FF2B5EF4-FFF2-40B4-BE49-F238E27FC236}">
                <a16:creationId xmlns:a16="http://schemas.microsoft.com/office/drawing/2014/main" id="{BF127D97-9DB3-4349-5F3C-D45115C1053D}"/>
              </a:ext>
            </a:extLst>
          </p:cNvPr>
          <p:cNvSpPr>
            <a:spLocks xmlns:a="http://schemas.openxmlformats.org/drawingml/2006/main" noGrp="1"/>
          </p:cNvSpPr>
          <p:nvPr/>
        </p:nvSpPr>
        <p:spPr>
          <a:xfrm xmlns:a="http://schemas.openxmlformats.org/drawingml/2006/main">
            <a:off x="582626" y="4028836"/>
            <a:ext cx="8048612" cy="944940"/>
          </a:xfrm>
          <a:prstGeom xmlns:a="http://schemas.openxmlformats.org/drawingml/2006/main" prst="roundRect">
            <a:avLst/>
          </a:prstGeom>
          <a:noFill xmlns:a="http://schemas.openxmlformats.org/drawingml/2006/main"/>
          <a:ln xmlns:a="http://schemas.openxmlformats.org/drawingml/2006/main" w="9525">
            <a:solidFill>
              <a:schemeClr val="tx1"/>
            </a:solidFill>
          </a:ln>
        </p:spPr>
        <p:style>
          <a:lnRef xmlns:a="http://schemas.openxmlformats.org/drawingml/2006/main" idx="2">
            <a:schemeClr val="dk1"/>
          </a:lnRef>
          <a:fillRef xmlns:a="http://schemas.openxmlformats.org/drawingml/2006/main" idx="1">
            <a:schemeClr val="lt1"/>
          </a:fillRef>
          <a:effectRef xmlns:a="http://schemas.openxmlformats.org/drawingml/2006/main" idx="0">
            <a:schemeClr val="dk1"/>
          </a:effectRef>
          <a:fontRef xmlns:a="http://schemas.openxmlformats.org/drawingml/2006/main" idx="minor">
            <a:schemeClr val="dk1"/>
          </a:fontRef>
        </p:style>
        <p:txBody>
          <a:bodyPr xmlns:a="http://schemas.openxmlformats.org/drawingml/2006/main" wrap="square">
            <a:spAutoFit/>
          </a:bodyPr>
          <a:lstStyle xmlns:a="http://schemas.openxmlformats.org/drawingml/2006/main"/>
          <a:p xmlns:a="http://schemas.openxmlformats.org/drawingml/2006/main">
            <a:pPr>
              <a:buClr>
                <a:schemeClr val="accent1"/>
              </a:buClr>
              <a:buNone/>
            </a:pPr>
            <a:r>
              <a:rPr sz="1200" b="1" u="sng"/>
              <a:t>Imitation Learning:</a:t>
            </a:r>
            <a:r>
              <a:rPr sz="1200"/>
              <a:t> </a:t>
            </a:r>
            <a:r>
              <a:rPr sz="1200"/>
              <a:t>Meppelink</a:t>
            </a:r>
            <a:r>
              <a:rPr sz="1200"/>
              <a:t> and al. (2025); de Jong and al. (2025)</a:t>
            </a:r>
          </a:p>
          <a:p xmlns:a="http://schemas.openxmlformats.org/drawingml/2006/main">
            <a:pPr>
              <a:buClr>
                <a:schemeClr val="accent1"/>
              </a:buClr>
              <a:buNone/>
            </a:pPr>
          </a:p>
          <a:p xmlns:a="http://schemas.openxmlformats.org/drawingml/2006/main">
            <a:pPr>
              <a:buClr>
                <a:schemeClr val="accent1"/>
              </a:buClr>
              <a:buNone/>
            </a:pPr>
            <a:r>
              <a:rPr sz="1200"/>
              <a:t>From the local Heuristic Model we construct a dataset (observations -&gt; actions) for each agent. Then from the trained model, we fine tune the weight of the actors using this new dataset. </a:t>
            </a:r>
          </a:p>
        </p:txBody>
      </p:sp>
      <p:pic>
        <p:nvPicPr>
          <p:cNvPr id="21" name="Picture 2"/>
          <p:cNvPicPr>
            <a:picLocks xmlns:a="http://schemas.openxmlformats.org/drawingml/2006/main" noChangeAspect="1"/>
          </p:cNvPicPr>
          <p:nvPr/>
        </p:nvPicPr>
        <p:blipFill>
          <a:blip xmlns:r="http://schemas.openxmlformats.org/officeDocument/2006/relationships" xmlns:a="http://schemas.openxmlformats.org/drawingml/2006/main" r:embed="Rf831def126ca4759"/>
          <a:srcRect xmlns:a="http://schemas.openxmlformats.org/drawingml/2006/main" l="0" t="0" r="0" b="0"/>
          <a:stretch xmlns:a="http://schemas.openxmlformats.org/drawingml/2006/main">
            <a:fillRect l="0" t="0" r="0" b="0"/>
          </a:stretch>
        </p:blipFill>
        <p:spPr>
          <a:xfrm xmlns:a="http://schemas.openxmlformats.org/drawingml/2006/main">
            <a:off x="158055" y="379734"/>
            <a:ext cx="587504" cy="326391"/>
          </a:xfrm>
          <a:prstGeom xmlns:a="http://schemas.openxmlformats.org/drawingml/2006/main" prst="rect">
            <a:avLst/>
          </a:prstGeom>
        </p:spPr>
      </p:pic>
      <p:pic>
        <p:nvPicPr>
          <p:cNvPr id="22" name="Image 8"/>
          <p:cNvPicPr>
            <a:picLocks xmlns:a="http://schemas.openxmlformats.org/drawingml/2006/main" noChangeAspect="1"/>
          </p:cNvPicPr>
          <p:nvPr/>
        </p:nvPicPr>
        <p:blipFill>
          <a:blip xmlns:r="http://schemas.openxmlformats.org/officeDocument/2006/relationships" xmlns:a="http://schemas.openxmlformats.org/drawingml/2006/main" r:embed="Rd0d56f90b9814d9e"/>
          <a:stretch xmlns:a="http://schemas.openxmlformats.org/drawingml/2006/main">
            <a:fillRect l="0" t="0" r="0" b="0"/>
          </a:stretch>
        </p:blipFill>
        <p:spPr>
          <a:xfrm xmlns:a="http://schemas.openxmlformats.org/drawingml/2006/main">
            <a:off x="4336074" y="2802990"/>
            <a:ext cx="3706172" cy="435364"/>
          </a:xfrm>
          <a:prstGeom xmlns:a="http://schemas.openxmlformats.org/drawingml/2006/main" prst="rect">
            <a:avLst/>
          </a:prstGeom>
        </p:spPr>
      </p:pic>
      <p:pic>
        <p:nvPicPr>
          <p:cNvPr id="23" name="Image 11"/>
          <p:cNvPicPr>
            <a:picLocks xmlns:a="http://schemas.openxmlformats.org/drawingml/2006/main" noChangeAspect="1"/>
          </p:cNvPicPr>
          <p:nvPr/>
        </p:nvPicPr>
        <p:blipFill>
          <a:blip xmlns:r="http://schemas.openxmlformats.org/officeDocument/2006/relationships" xmlns:a="http://schemas.openxmlformats.org/drawingml/2006/main" r:embed="Rb4984e99c4bb4697"/>
          <a:stretch xmlns:a="http://schemas.openxmlformats.org/drawingml/2006/main">
            <a:fillRect l="0" t="0" r="0" b="0"/>
          </a:stretch>
        </p:blipFill>
        <p:spPr>
          <a:xfrm xmlns:a="http://schemas.openxmlformats.org/drawingml/2006/main">
            <a:off x="1336762" y="2866822"/>
            <a:ext cx="2002596" cy="330098"/>
          </a:xfrm>
          <a:prstGeom xmlns:a="http://schemas.openxmlformats.org/drawingml/2006/main" prst="rect">
            <a:avLst/>
          </a:prstGeom>
        </p:spPr>
      </p:pic>
      <p:pic>
        <p:nvPicPr>
          <p:cNvPr id="24" name="Image 12"/>
          <p:cNvPicPr>
            <a:picLocks xmlns:a="http://schemas.openxmlformats.org/drawingml/2006/main" noChangeAspect="1"/>
          </p:cNvPicPr>
          <p:nvPr/>
        </p:nvPicPr>
        <p:blipFill>
          <a:blip xmlns:r="http://schemas.openxmlformats.org/officeDocument/2006/relationships" xmlns:a="http://schemas.openxmlformats.org/drawingml/2006/main" r:embed="R92e06eebe0344f56"/>
          <a:stretch xmlns:a="http://schemas.openxmlformats.org/drawingml/2006/main">
            <a:fillRect l="0" t="0" r="0" b="0"/>
          </a:stretch>
        </p:blipFill>
        <p:spPr>
          <a:xfrm xmlns:a="http://schemas.openxmlformats.org/drawingml/2006/main">
            <a:off x="4336074" y="3331053"/>
            <a:ext cx="2931731" cy="393022"/>
          </a:xfrm>
          <a:prstGeom xmlns:a="http://schemas.openxmlformats.org/drawingml/2006/main" prst="rect">
            <a:avLst/>
          </a:prstGeom>
        </p:spPr>
      </p:pic>
      <p:pic>
        <p:nvPicPr>
          <p:cNvPr id="25" name="Image 13"/>
          <p:cNvPicPr>
            <a:picLocks xmlns:a="http://schemas.openxmlformats.org/drawingml/2006/main" noChangeAspect="1"/>
          </p:cNvPicPr>
          <p:nvPr/>
        </p:nvPicPr>
        <p:blipFill>
          <a:blip xmlns:r="http://schemas.openxmlformats.org/officeDocument/2006/relationships" xmlns:a="http://schemas.openxmlformats.org/drawingml/2006/main" r:embed="Rc052f098ef924851"/>
          <a:stretch xmlns:a="http://schemas.openxmlformats.org/drawingml/2006/main">
            <a:fillRect l="0" t="0" r="0" b="0"/>
          </a:stretch>
        </p:blipFill>
        <p:spPr>
          <a:xfrm xmlns:a="http://schemas.openxmlformats.org/drawingml/2006/main">
            <a:off x="1514069" y="3181484"/>
            <a:ext cx="1647982" cy="614422"/>
          </a:xfrm>
          <a:prstGeom xmlns:a="http://schemas.openxmlformats.org/drawingml/2006/main" prst="rect">
            <a:avLst/>
          </a:prstGeom>
        </p:spPr>
      </p:pic>
      <p:pic>
        <p:nvPicPr>
          <p:cNvPr id="26" name="Image 14"/>
          <p:cNvPicPr>
            <a:picLocks xmlns:a="http://schemas.openxmlformats.org/drawingml/2006/main" noChangeAspect="1"/>
          </p:cNvPicPr>
          <p:nvPr/>
        </p:nvPicPr>
        <p:blipFill>
          <a:blip xmlns:r="http://schemas.openxmlformats.org/officeDocument/2006/relationships" xmlns:a="http://schemas.openxmlformats.org/drawingml/2006/main" r:embed="Rdea4cafb33fe4977"/>
          <a:stretch xmlns:a="http://schemas.openxmlformats.org/drawingml/2006/main">
            <a:fillRect l="0" t="0" r="0" b="0"/>
          </a:stretch>
        </p:blipFill>
        <p:spPr>
          <a:xfrm xmlns:a="http://schemas.openxmlformats.org/drawingml/2006/main">
            <a:off x="1126909" y="5406265"/>
            <a:ext cx="1540644" cy="380406"/>
          </a:xfrm>
          <a:prstGeom xmlns:a="http://schemas.openxmlformats.org/drawingml/2006/main" prst="rect">
            <a:avLst/>
          </a:prstGeom>
        </p:spPr>
      </p:pic>
      <p:pic>
        <p:nvPicPr>
          <p:cNvPr id="27" name="Image 15"/>
          <p:cNvPicPr>
            <a:picLocks xmlns:a="http://schemas.openxmlformats.org/drawingml/2006/main" noChangeAspect="1"/>
          </p:cNvPicPr>
          <p:nvPr/>
        </p:nvPicPr>
        <p:blipFill>
          <a:blip xmlns:r="http://schemas.openxmlformats.org/officeDocument/2006/relationships" xmlns:a="http://schemas.openxmlformats.org/drawingml/2006/main" r:embed="R5ba010ea814b45e3"/>
          <a:stretch xmlns:a="http://schemas.openxmlformats.org/drawingml/2006/main">
            <a:fillRect l="0" t="0" r="0" b="0"/>
          </a:stretch>
        </p:blipFill>
        <p:spPr>
          <a:xfrm xmlns:a="http://schemas.openxmlformats.org/drawingml/2006/main">
            <a:off x="4411214" y="5283449"/>
            <a:ext cx="4025776" cy="503222"/>
          </a:xfrm>
          <a:prstGeom xmlns:a="http://schemas.openxmlformats.org/drawingml/2006/main" prst="rect">
            <a:avLst/>
          </a:prstGeom>
        </p:spPr>
      </p:pic>
      <p:pic>
        <p:nvPicPr>
          <p:cNvPr id="28" name="Image 9"/>
          <p:cNvPicPr>
            <a:picLocks xmlns:a="http://schemas.openxmlformats.org/drawingml/2006/main" noChangeAspect="1"/>
          </p:cNvPicPr>
          <p:nvPr/>
        </p:nvPicPr>
        <p:blipFill>
          <a:blip xmlns:r="http://schemas.openxmlformats.org/officeDocument/2006/relationships" xmlns:a="http://schemas.openxmlformats.org/drawingml/2006/main" r:embed="R1f00369d56014db0"/>
          <a:stretch xmlns:a="http://schemas.openxmlformats.org/drawingml/2006/main">
            <a:fillRect l="0" t="0" r="0" b="0"/>
          </a:stretch>
        </p:blipFill>
        <p:spPr>
          <a:xfrm xmlns:a="http://schemas.openxmlformats.org/drawingml/2006/main">
            <a:off x="2338060" y="1320783"/>
            <a:ext cx="1498600" cy="342900"/>
          </a:xfrm>
          <a:prstGeom xmlns:a="http://schemas.openxmlformats.org/drawingml/2006/main" prst="rect">
            <a:avLst/>
          </a:prstGeom>
        </p:spPr>
      </p:pic>
      <p:pic>
        <p:nvPicPr>
          <p:cNvPr id="29" name="Image 16"/>
          <p:cNvPicPr>
            <a:picLocks xmlns:a="http://schemas.openxmlformats.org/drawingml/2006/main" noChangeAspect="1"/>
          </p:cNvPicPr>
          <p:nvPr/>
        </p:nvPicPr>
        <p:blipFill>
          <a:blip xmlns:r="http://schemas.openxmlformats.org/officeDocument/2006/relationships" xmlns:a="http://schemas.openxmlformats.org/drawingml/2006/main" r:embed="Rff02d05b98424601"/>
          <a:stretch xmlns:a="http://schemas.openxmlformats.org/drawingml/2006/main">
            <a:fillRect l="0" t="0" r="0" b="0"/>
          </a:stretch>
        </p:blipFill>
        <p:spPr>
          <a:xfrm xmlns:a="http://schemas.openxmlformats.org/drawingml/2006/main">
            <a:off x="4727224" y="1272620"/>
            <a:ext cx="1729740" cy="552698"/>
          </a:xfrm>
          <a:prstGeom xmlns:a="http://schemas.openxmlformats.org/drawingml/2006/main" prst="rect">
            <a:avLst/>
          </a:prstGeom>
        </p:spPr>
      </p:pic>
    </p:spTree>
    <p:extLst>
      <p:ext uri="{BB962C8B-B14F-4D97-AF65-F5344CB8AC3E}">
        <p14:creationId xmlns:p14="http://schemas.microsoft.com/office/powerpoint/2010/main" val="864033319"/>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 name="Titre 1">
            <a:extLst xmlns:a="http://schemas.openxmlformats.org/drawingml/2006/main">
              <a:ext uri="{FF2B5EF4-FFF2-40B4-BE49-F238E27FC236}">
                <a16:creationId xmlns:a16="http://schemas.microsoft.com/office/drawing/2014/main" id="{BEFE353C-16D2-A81D-FC6E-A4CB9E68F188}"/>
              </a:ext>
            </a:extLst>
          </p:cNvPr>
          <p:cNvSpPr>
            <a:spLocks xmlns:a="http://schemas.openxmlformats.org/drawingml/2006/main" noGrp="1"/>
          </p:cNvSpPr>
          <p:nvPr>
            <p:ph type="title" idx="0"/>
          </p:nvPr>
        </p:nvSpPr>
        <p:spPr>
          <a:xfrm xmlns:a="http://schemas.openxmlformats.org/drawingml/2006/main">
            <a:off x="904875" y="252828"/>
            <a:ext cx="7532115" cy="601301"/>
          </a:xfrm>
        </p:spPr>
        <p:txBody>
          <a:bodyPr xmlns:a="http://schemas.openxmlformats.org/drawingml/2006/main">
            <a:normAutofit/>
          </a:bodyPr>
          <a:lstStyle xmlns:a="http://schemas.openxmlformats.org/drawingml/2006/main"/>
          <a:p xmlns:a="http://schemas.openxmlformats.org/drawingml/2006/main">
            <a:r>
              <a:t>IEEE 14: Realistic behavior, Results</a:t>
            </a:r>
          </a:p>
        </p:txBody>
      </p:sp>
      <p:sp>
        <p:nvSpPr>
          <p:cNvPr id="5" name="Espace réservé du numéro de diapositive 4">
            <a:extLst xmlns:a="http://schemas.openxmlformats.org/drawingml/2006/main">
              <a:ext uri="{FF2B5EF4-FFF2-40B4-BE49-F238E27FC236}">
                <a16:creationId xmlns:a16="http://schemas.microsoft.com/office/drawing/2014/main" id="{B50D8023-1647-6D9D-B161-43DED8AD34A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r>
              <a:t>16</a:t>
            </a:r>
          </a:p>
        </p:txBody>
      </p:sp>
      <p:pic>
        <p:nvPicPr>
          <p:cNvPr id="28" name="Image 10"/>
          <p:cNvPicPr>
            <a:picLocks xmlns:a="http://schemas.openxmlformats.org/drawingml/2006/main" noChangeAspect="1"/>
          </p:cNvPicPr>
          <p:nvPr/>
        </p:nvPicPr>
        <p:blipFill>
          <a:blip xmlns:r="http://schemas.openxmlformats.org/officeDocument/2006/relationships" xmlns:a="http://schemas.openxmlformats.org/drawingml/2006/main" r:embed="R4cae6a17528c4863"/>
          <a:stretch xmlns:a="http://schemas.openxmlformats.org/drawingml/2006/main">
            <a:fillRect l="0" t="0" r="0" b="0"/>
          </a:stretch>
        </p:blipFill>
        <p:spPr>
          <a:xfrm xmlns:a="http://schemas.openxmlformats.org/drawingml/2006/main" rot="0" flipH="0" flipV="0">
            <a:off x="199046" y="1045845"/>
            <a:ext cx="4471886" cy="1665346"/>
          </a:xfrm>
          <a:prstGeom xmlns:a="http://schemas.openxmlformats.org/drawingml/2006/main" prst="rect">
            <a:avLst/>
          </a:prstGeom>
        </p:spPr>
      </p:pic>
      <p:sp>
        <p:nvSpPr>
          <p:cNvPr id="17" name="ZoneTexte 16">
            <a:extLst xmlns:a="http://schemas.openxmlformats.org/drawingml/2006/main">
              <a:ext uri="{FF2B5EF4-FFF2-40B4-BE49-F238E27FC236}">
                <a16:creationId xmlns:a16="http://schemas.microsoft.com/office/drawing/2014/main" id="{0FA6F1CF-13A5-17D7-0F14-DA18D31B1836}"/>
              </a:ext>
            </a:extLst>
          </p:cNvPr>
          <p:cNvSpPr>
            <a:spLocks xmlns:a="http://schemas.openxmlformats.org/drawingml/2006/main" noGrp="1"/>
          </p:cNvSpPr>
          <p:nvPr/>
        </p:nvSpPr>
        <p:spPr>
          <a:xfrm xmlns:a="http://schemas.openxmlformats.org/drawingml/2006/main" rot="0" flipH="0" flipV="0">
            <a:off x="199046" y="2732874"/>
            <a:ext cx="4471887" cy="2616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1100" b="1" i="1">
                <a:latin typeface="Times New Roman"/>
                <a:ea typeface="Times New Roman"/>
                <a:cs typeface="Times New Roman"/>
              </a:rPr>
              <a:t>Fig 6: </a:t>
            </a:r>
            <a:r>
              <a:rPr sz="1100" b="1" i="1">
                <a:latin typeface="Times New Roman"/>
                <a:ea typeface="Times New Roman"/>
                <a:cs typeface="Times New Roman"/>
              </a:rPr>
              <a:t>Episodic</a:t>
            </a:r>
            <a:r>
              <a:rPr sz="1100" b="1" i="1">
                <a:latin typeface="Times New Roman"/>
                <a:ea typeface="Times New Roman"/>
                <a:cs typeface="Times New Roman"/>
              </a:rPr>
              <a:t> </a:t>
            </a:r>
            <a:r>
              <a:rPr sz="1100" b="1" i="1">
                <a:latin typeface="Times New Roman"/>
                <a:ea typeface="Times New Roman"/>
                <a:cs typeface="Times New Roman"/>
              </a:rPr>
              <a:t>survival</a:t>
            </a:r>
            <a:r>
              <a:rPr sz="1100" b="1" i="1">
                <a:latin typeface="Times New Roman"/>
                <a:ea typeface="Times New Roman"/>
                <a:cs typeface="Times New Roman"/>
              </a:rPr>
              <a:t> </a:t>
            </a:r>
            <a:r>
              <a:rPr sz="1100" b="1" i="1">
                <a:latin typeface="Times New Roman"/>
                <a:ea typeface="Times New Roman"/>
                <a:cs typeface="Times New Roman"/>
              </a:rPr>
              <a:t>during</a:t>
            </a:r>
            <a:r>
              <a:rPr sz="1100" b="1" i="1">
                <a:latin typeface="Times New Roman"/>
                <a:ea typeface="Times New Roman"/>
                <a:cs typeface="Times New Roman"/>
              </a:rPr>
              <a:t> training, </a:t>
            </a:r>
            <a:r>
              <a:rPr sz="1100" b="1" i="1">
                <a:latin typeface="Times New Roman"/>
                <a:ea typeface="Times New Roman"/>
                <a:cs typeface="Times New Roman"/>
              </a:rPr>
              <a:t>heuristic</a:t>
            </a:r>
            <a:r>
              <a:rPr sz="1100" b="1" i="1">
                <a:latin typeface="Times New Roman"/>
                <a:ea typeface="Times New Roman"/>
                <a:cs typeface="Times New Roman"/>
              </a:rPr>
              <a:t> </a:t>
            </a:r>
            <a:r>
              <a:rPr sz="1100" b="1" i="1">
                <a:latin typeface="Times New Roman"/>
                <a:ea typeface="Times New Roman"/>
                <a:cs typeface="Times New Roman"/>
              </a:rPr>
              <a:t>overrides</a:t>
            </a:r>
          </a:p>
        </p:txBody>
      </p:sp>
      <p:pic>
        <p:nvPicPr>
          <p:cNvPr id="30" name="Image 15"/>
          <p:cNvPicPr>
            <a:picLocks xmlns:a="http://schemas.openxmlformats.org/drawingml/2006/main" noChangeAspect="1"/>
          </p:cNvPicPr>
          <p:nvPr/>
        </p:nvPicPr>
        <p:blipFill>
          <a:blip xmlns:r="http://schemas.openxmlformats.org/officeDocument/2006/relationships" xmlns:a="http://schemas.openxmlformats.org/drawingml/2006/main" r:embed="R03e78383b3de4287"/>
          <a:srcRect xmlns:a="http://schemas.openxmlformats.org/drawingml/2006/main" l="0" t="12341" r="0" b="0"/>
          <a:stretch xmlns:a="http://schemas.openxmlformats.org/drawingml/2006/main">
            <a:fillRect l="0" t="0" r="0" b="0"/>
          </a:stretch>
        </p:blipFill>
        <p:spPr>
          <a:xfrm xmlns:a="http://schemas.openxmlformats.org/drawingml/2006/main" rot="0" flipH="0" flipV="0">
            <a:off x="4916589" y="1067526"/>
            <a:ext cx="4028365" cy="1665347"/>
          </a:xfrm>
          <a:prstGeom xmlns:a="http://schemas.openxmlformats.org/drawingml/2006/main" prst="rect">
            <a:avLst/>
          </a:prstGeom>
        </p:spPr>
      </p:pic>
      <p:sp>
        <p:nvSpPr>
          <p:cNvPr id="18" name="ZoneTexte 17">
            <a:extLst xmlns:a="http://schemas.openxmlformats.org/drawingml/2006/main">
              <a:ext uri="{FF2B5EF4-FFF2-40B4-BE49-F238E27FC236}">
                <a16:creationId xmlns:a16="http://schemas.microsoft.com/office/drawing/2014/main" id="{77DAB8FB-C2F5-2609-028B-78DACD4A2B94}"/>
              </a:ext>
            </a:extLst>
          </p:cNvPr>
          <p:cNvSpPr>
            <a:spLocks xmlns:a="http://schemas.openxmlformats.org/drawingml/2006/main" noGrp="1"/>
          </p:cNvSpPr>
          <p:nvPr/>
        </p:nvSpPr>
        <p:spPr>
          <a:xfrm xmlns:a="http://schemas.openxmlformats.org/drawingml/2006/main" rot="0" flipH="0" flipV="0">
            <a:off x="4916589" y="2732874"/>
            <a:ext cx="4028365" cy="2616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1100" b="1" i="1">
                <a:latin typeface="Times New Roman"/>
                <a:ea typeface="Times New Roman"/>
                <a:cs typeface="Times New Roman"/>
              </a:rPr>
              <a:t>Fig 7: </a:t>
            </a:r>
            <a:r>
              <a:rPr sz="1100" b="1" i="1">
                <a:latin typeface="Times New Roman"/>
                <a:ea typeface="Times New Roman"/>
                <a:cs typeface="Times New Roman"/>
              </a:rPr>
              <a:t>Action-0 fraction per agent, </a:t>
            </a:r>
            <a:r>
              <a:rPr sz="1100" b="1" i="1">
                <a:latin typeface="Times New Roman"/>
                <a:ea typeface="Times New Roman"/>
                <a:cs typeface="Times New Roman"/>
              </a:rPr>
              <a:t>heurisitc</a:t>
            </a:r>
            <a:r>
              <a:rPr sz="1100" b="1" i="1">
                <a:latin typeface="Times New Roman"/>
                <a:ea typeface="Times New Roman"/>
                <a:cs typeface="Times New Roman"/>
              </a:rPr>
              <a:t> </a:t>
            </a:r>
            <a:r>
              <a:rPr sz="1100" b="1" i="1">
                <a:latin typeface="Times New Roman"/>
                <a:ea typeface="Times New Roman"/>
                <a:cs typeface="Times New Roman"/>
              </a:rPr>
              <a:t>overrides</a:t>
            </a:r>
          </a:p>
        </p:txBody>
      </p:sp>
      <p:pic>
        <p:nvPicPr>
          <p:cNvPr id="32" name="Image 14"/>
          <p:cNvPicPr>
            <a:picLocks xmlns:a="http://schemas.openxmlformats.org/drawingml/2006/main" noChangeAspect="1"/>
          </p:cNvPicPr>
          <p:nvPr/>
        </p:nvPicPr>
        <p:blipFill>
          <a:blip xmlns:r="http://schemas.openxmlformats.org/officeDocument/2006/relationships" xmlns:a="http://schemas.openxmlformats.org/drawingml/2006/main" r:embed="R67684d639aba46a0"/>
          <a:srcRect xmlns:a="http://schemas.openxmlformats.org/drawingml/2006/main" l="0" t="21061" r="0" b="0"/>
          <a:stretch xmlns:a="http://schemas.openxmlformats.org/drawingml/2006/main">
            <a:fillRect l="0" t="0" r="0" b="0"/>
          </a:stretch>
        </p:blipFill>
        <p:spPr>
          <a:xfrm xmlns:a="http://schemas.openxmlformats.org/drawingml/2006/main" rot="0" flipH="0" flipV="0">
            <a:off x="322495" y="3557015"/>
            <a:ext cx="8499009" cy="959839"/>
          </a:xfrm>
          <a:prstGeom xmlns:a="http://schemas.openxmlformats.org/drawingml/2006/main" prst="rect">
            <a:avLst/>
          </a:prstGeom>
        </p:spPr>
      </p:pic>
      <p:sp>
        <p:nvSpPr>
          <p:cNvPr id="21" name="ZoneTexte 20">
            <a:extLst xmlns:a="http://schemas.openxmlformats.org/drawingml/2006/main">
              <a:ext uri="{FF2B5EF4-FFF2-40B4-BE49-F238E27FC236}">
                <a16:creationId xmlns:a16="http://schemas.microsoft.com/office/drawing/2014/main" id="{B3BA5A9A-BE07-1AA4-4C57-4ABCA0C84B02}"/>
              </a:ext>
            </a:extLst>
          </p:cNvPr>
          <p:cNvSpPr>
            <a:spLocks xmlns:a="http://schemas.openxmlformats.org/drawingml/2006/main" noGrp="1"/>
          </p:cNvSpPr>
          <p:nvPr/>
        </p:nvSpPr>
        <p:spPr>
          <a:xfrm xmlns:a="http://schemas.openxmlformats.org/drawingml/2006/main" rot="0" flipH="0" flipV="0">
            <a:off x="322495" y="4386050"/>
            <a:ext cx="8499009" cy="2616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1100" b="1" i="1">
                <a:latin typeface="Times New Roman"/>
                <a:ea typeface="Times New Roman"/>
                <a:cs typeface="Times New Roman"/>
              </a:rPr>
              <a:t>Table 5: Full-test </a:t>
            </a:r>
            <a:r>
              <a:rPr sz="1100" b="1" i="1">
                <a:latin typeface="Times New Roman"/>
                <a:ea typeface="Times New Roman"/>
                <a:cs typeface="Times New Roman"/>
              </a:rPr>
              <a:t>summary</a:t>
            </a:r>
            <a:r>
              <a:rPr sz="1100" b="1" i="1">
                <a:latin typeface="Times New Roman"/>
                <a:ea typeface="Times New Roman"/>
                <a:cs typeface="Times New Roman"/>
              </a:rPr>
              <a:t> for </a:t>
            </a:r>
            <a:r>
              <a:rPr sz="1100" b="1" i="1">
                <a:latin typeface="Times New Roman"/>
                <a:ea typeface="Times New Roman"/>
                <a:cs typeface="Times New Roman"/>
              </a:rPr>
              <a:t>heuristic</a:t>
            </a:r>
            <a:r>
              <a:rPr sz="1100" b="1" i="1">
                <a:latin typeface="Times New Roman"/>
                <a:ea typeface="Times New Roman"/>
                <a:cs typeface="Times New Roman"/>
              </a:rPr>
              <a:t> </a:t>
            </a:r>
            <a:r>
              <a:rPr sz="1100" b="1" i="1">
                <a:latin typeface="Times New Roman"/>
                <a:ea typeface="Times New Roman"/>
                <a:cs typeface="Times New Roman"/>
              </a:rPr>
              <a:t>overrides</a:t>
            </a:r>
            <a:r>
              <a:rPr sz="1100" b="1" i="1">
                <a:latin typeface="Times New Roman"/>
                <a:ea typeface="Times New Roman"/>
                <a:cs typeface="Times New Roman"/>
              </a:rPr>
              <a:t> </a:t>
            </a:r>
          </a:p>
        </p:txBody>
      </p:sp>
      <p:pic>
        <p:nvPicPr>
          <p:cNvPr id="34" name="Picture 2"/>
          <p:cNvPicPr>
            <a:picLocks xmlns:a="http://schemas.openxmlformats.org/drawingml/2006/main" noChangeAspect="1"/>
          </p:cNvPicPr>
          <p:nvPr/>
        </p:nvPicPr>
        <p:blipFill>
          <a:blip xmlns:r="http://schemas.openxmlformats.org/officeDocument/2006/relationships" xmlns:a="http://schemas.openxmlformats.org/drawingml/2006/main" r:embed="Ra1da3713402e45b7"/>
          <a:srcRect xmlns:a="http://schemas.openxmlformats.org/drawingml/2006/main" l="0" t="0" r="0" b="0"/>
          <a:stretch xmlns:a="http://schemas.openxmlformats.org/drawingml/2006/main">
            <a:fillRect l="0" t="0" r="0" b="0"/>
          </a:stretch>
        </p:blipFill>
        <p:spPr>
          <a:xfrm xmlns:a="http://schemas.openxmlformats.org/drawingml/2006/main">
            <a:off x="158055" y="379734"/>
            <a:ext cx="587504" cy="326391"/>
          </a:xfrm>
          <a:prstGeom xmlns:a="http://schemas.openxmlformats.org/drawingml/2006/main" prst="rect">
            <a:avLst/>
          </a:prstGeom>
        </p:spPr>
      </p:pic>
    </p:spTree>
    <p:extLst>
      <p:ext uri="{BB962C8B-B14F-4D97-AF65-F5344CB8AC3E}">
        <p14:creationId xmlns:p14="http://schemas.microsoft.com/office/powerpoint/2010/main" val="1921131448"/>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 name="Titre 1">
            <a:extLst xmlns:a="http://schemas.openxmlformats.org/drawingml/2006/main">
              <a:ext uri="{FF2B5EF4-FFF2-40B4-BE49-F238E27FC236}">
                <a16:creationId xmlns:a16="http://schemas.microsoft.com/office/drawing/2014/main" id="{5AFB3613-2CF7-F7C0-DEA0-812E38930799}"/>
              </a:ext>
            </a:extLst>
          </p:cNvPr>
          <p:cNvSpPr>
            <a:spLocks xmlns:a="http://schemas.openxmlformats.org/drawingml/2006/main" noGrp="1"/>
          </p:cNvSpPr>
          <p:nvPr>
            <p:ph type="title" idx="0"/>
          </p:nvPr>
        </p:nvSpPr>
        <p:spPr>
          <a:xfrm xmlns:a="http://schemas.openxmlformats.org/drawingml/2006/main">
            <a:off x="904875" y="252828"/>
            <a:ext cx="7532115" cy="601301"/>
          </a:xfrm>
        </p:spPr>
        <p:txBody>
          <a:bodyPr xmlns:a="http://schemas.openxmlformats.org/drawingml/2006/main">
            <a:normAutofit/>
          </a:bodyPr>
          <a:lstStyle xmlns:a="http://schemas.openxmlformats.org/drawingml/2006/main"/>
          <a:p xmlns:a="http://schemas.openxmlformats.org/drawingml/2006/main">
            <a:r>
              <a:t>IEEE 14: Realistic behavior, Results</a:t>
            </a:r>
          </a:p>
        </p:txBody>
      </p:sp>
      <p:sp>
        <p:nvSpPr>
          <p:cNvPr id="5" name="Espace réservé du numéro de diapositive 4">
            <a:extLst xmlns:a="http://schemas.openxmlformats.org/drawingml/2006/main">
              <a:ext uri="{FF2B5EF4-FFF2-40B4-BE49-F238E27FC236}">
                <a16:creationId xmlns:a16="http://schemas.microsoft.com/office/drawing/2014/main" id="{AC92FCAC-F7BA-8DCD-A087-4FB7EAA8F91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r>
              <a:t>17</a:t>
            </a:r>
          </a:p>
        </p:txBody>
      </p:sp>
      <p:pic>
        <p:nvPicPr>
          <p:cNvPr id="25" name="Image 12"/>
          <p:cNvPicPr>
            <a:picLocks xmlns:a="http://schemas.openxmlformats.org/drawingml/2006/main" noChangeAspect="1"/>
          </p:cNvPicPr>
          <p:nvPr/>
        </p:nvPicPr>
        <p:blipFill>
          <a:blip xmlns:r="http://schemas.openxmlformats.org/officeDocument/2006/relationships" xmlns:a="http://schemas.openxmlformats.org/drawingml/2006/main" r:embed="R28fee177402e4f6d"/>
          <a:srcRect xmlns:a="http://schemas.openxmlformats.org/drawingml/2006/main" l="0" t="19748" r="0" b="0"/>
          <a:stretch xmlns:a="http://schemas.openxmlformats.org/drawingml/2006/main">
            <a:fillRect l="0" t="0" r="0" b="0"/>
          </a:stretch>
        </p:blipFill>
        <p:spPr>
          <a:xfrm xmlns:a="http://schemas.openxmlformats.org/drawingml/2006/main" rot="0" flipH="0" flipV="0">
            <a:off x="423227" y="3454223"/>
            <a:ext cx="8285296" cy="1039914"/>
          </a:xfrm>
          <a:prstGeom xmlns:a="http://schemas.openxmlformats.org/drawingml/2006/main" prst="rect">
            <a:avLst/>
          </a:prstGeom>
        </p:spPr>
      </p:pic>
      <p:sp>
        <p:nvSpPr>
          <p:cNvPr id="15" name="ZoneTexte 14">
            <a:extLst xmlns:a="http://schemas.openxmlformats.org/drawingml/2006/main">
              <a:ext uri="{FF2B5EF4-FFF2-40B4-BE49-F238E27FC236}">
                <a16:creationId xmlns:a16="http://schemas.microsoft.com/office/drawing/2014/main" id="{E329B919-AC87-11F3-6BF8-B9FF40E28BA6}"/>
              </a:ext>
            </a:extLst>
          </p:cNvPr>
          <p:cNvSpPr>
            <a:spLocks xmlns:a="http://schemas.openxmlformats.org/drawingml/2006/main" noGrp="1"/>
          </p:cNvSpPr>
          <p:nvPr/>
        </p:nvSpPr>
        <p:spPr>
          <a:xfrm xmlns:a="http://schemas.openxmlformats.org/drawingml/2006/main" rot="0" flipH="0" flipV="0">
            <a:off x="423227" y="4488085"/>
            <a:ext cx="8285296" cy="26160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1100" b="1" i="1">
                <a:latin typeface="Times New Roman"/>
                <a:ea typeface="Times New Roman"/>
                <a:cs typeface="Times New Roman"/>
              </a:rPr>
              <a:t>Table 6: Full-test </a:t>
            </a:r>
            <a:r>
              <a:rPr sz="1100" b="1" i="1">
                <a:latin typeface="Times New Roman"/>
                <a:ea typeface="Times New Roman"/>
                <a:cs typeface="Times New Roman"/>
              </a:rPr>
              <a:t>summary</a:t>
            </a:r>
            <a:r>
              <a:rPr sz="1100" b="1" i="1">
                <a:latin typeface="Times New Roman"/>
                <a:ea typeface="Times New Roman"/>
                <a:cs typeface="Times New Roman"/>
              </a:rPr>
              <a:t> for intervention </a:t>
            </a:r>
            <a:r>
              <a:rPr sz="1100" b="1" i="1">
                <a:latin typeface="Times New Roman"/>
                <a:ea typeface="Times New Roman"/>
                <a:cs typeface="Times New Roman"/>
              </a:rPr>
              <a:t>gated</a:t>
            </a:r>
            <a:r>
              <a:rPr sz="1100" b="1" i="1">
                <a:latin typeface="Times New Roman"/>
                <a:ea typeface="Times New Roman"/>
                <a:cs typeface="Times New Roman"/>
              </a:rPr>
              <a:t> </a:t>
            </a:r>
            <a:r>
              <a:rPr sz="1100" b="1" i="1">
                <a:latin typeface="Times New Roman"/>
                <a:ea typeface="Times New Roman"/>
                <a:cs typeface="Times New Roman"/>
              </a:rPr>
              <a:t>actors</a:t>
            </a:r>
          </a:p>
        </p:txBody>
      </p:sp>
      <p:pic>
        <p:nvPicPr>
          <p:cNvPr id="27" name="Image 11"/>
          <p:cNvPicPr>
            <a:picLocks xmlns:a="http://schemas.openxmlformats.org/drawingml/2006/main" noChangeAspect="1"/>
          </p:cNvPicPr>
          <p:nvPr/>
        </p:nvPicPr>
        <p:blipFill>
          <a:blip xmlns:r="http://schemas.openxmlformats.org/officeDocument/2006/relationships" xmlns:a="http://schemas.openxmlformats.org/drawingml/2006/main" r:embed="R2716341e5f7c433a"/>
          <a:stretch xmlns:a="http://schemas.openxmlformats.org/drawingml/2006/main">
            <a:fillRect l="0" t="0" r="0" b="0"/>
          </a:stretch>
        </p:blipFill>
        <p:spPr>
          <a:xfrm xmlns:a="http://schemas.openxmlformats.org/drawingml/2006/main" rot="0" flipH="0" flipV="0">
            <a:off x="0" y="1066022"/>
            <a:ext cx="4565875" cy="1697351"/>
          </a:xfrm>
          <a:prstGeom xmlns:a="http://schemas.openxmlformats.org/drawingml/2006/main" prst="rect">
            <a:avLst/>
          </a:prstGeom>
        </p:spPr>
      </p:pic>
      <p:sp>
        <p:nvSpPr>
          <p:cNvPr id="17" name="ZoneTexte 16">
            <a:extLst xmlns:a="http://schemas.openxmlformats.org/drawingml/2006/main">
              <a:ext uri="{FF2B5EF4-FFF2-40B4-BE49-F238E27FC236}">
                <a16:creationId xmlns:a16="http://schemas.microsoft.com/office/drawing/2014/main" id="{5E80EC67-C654-571D-52D6-F6810A88E8AC}"/>
              </a:ext>
            </a:extLst>
          </p:cNvPr>
          <p:cNvSpPr>
            <a:spLocks xmlns:a="http://schemas.openxmlformats.org/drawingml/2006/main" noGrp="1"/>
          </p:cNvSpPr>
          <p:nvPr/>
        </p:nvSpPr>
        <p:spPr>
          <a:xfrm xmlns:a="http://schemas.openxmlformats.org/drawingml/2006/main" rot="0" flipH="0" flipV="0">
            <a:off x="172904" y="2766924"/>
            <a:ext cx="4498028" cy="2616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1100" b="1" i="1">
                <a:latin typeface="Times New Roman"/>
                <a:ea typeface="Times New Roman"/>
                <a:cs typeface="Times New Roman"/>
              </a:rPr>
              <a:t>Fig 8: </a:t>
            </a:r>
            <a:r>
              <a:rPr sz="1100" b="1" i="1">
                <a:latin typeface="Times New Roman"/>
                <a:ea typeface="Times New Roman"/>
                <a:cs typeface="Times New Roman"/>
              </a:rPr>
              <a:t>Episodic</a:t>
            </a:r>
            <a:r>
              <a:rPr sz="1100" b="1" i="1">
                <a:latin typeface="Times New Roman"/>
                <a:ea typeface="Times New Roman"/>
                <a:cs typeface="Times New Roman"/>
              </a:rPr>
              <a:t> </a:t>
            </a:r>
            <a:r>
              <a:rPr sz="1100" b="1" i="1">
                <a:latin typeface="Times New Roman"/>
                <a:ea typeface="Times New Roman"/>
                <a:cs typeface="Times New Roman"/>
              </a:rPr>
              <a:t>survival</a:t>
            </a:r>
            <a:r>
              <a:rPr sz="1100" b="1" i="1">
                <a:latin typeface="Times New Roman"/>
                <a:ea typeface="Times New Roman"/>
                <a:cs typeface="Times New Roman"/>
              </a:rPr>
              <a:t> </a:t>
            </a:r>
            <a:r>
              <a:rPr sz="1100" b="1" i="1">
                <a:latin typeface="Times New Roman"/>
                <a:ea typeface="Times New Roman"/>
                <a:cs typeface="Times New Roman"/>
              </a:rPr>
              <a:t>during</a:t>
            </a:r>
            <a:r>
              <a:rPr sz="1100" b="1" i="1">
                <a:latin typeface="Times New Roman"/>
                <a:ea typeface="Times New Roman"/>
                <a:cs typeface="Times New Roman"/>
              </a:rPr>
              <a:t> training, intervention </a:t>
            </a:r>
            <a:r>
              <a:rPr sz="1100" b="1" i="1">
                <a:latin typeface="Times New Roman"/>
                <a:ea typeface="Times New Roman"/>
                <a:cs typeface="Times New Roman"/>
              </a:rPr>
              <a:t>gated</a:t>
            </a:r>
            <a:r>
              <a:rPr sz="1100" b="1" i="1">
                <a:latin typeface="Times New Roman"/>
                <a:ea typeface="Times New Roman"/>
                <a:cs typeface="Times New Roman"/>
              </a:rPr>
              <a:t> </a:t>
            </a:r>
            <a:r>
              <a:rPr sz="1100" b="1" i="1">
                <a:latin typeface="Times New Roman"/>
                <a:ea typeface="Times New Roman"/>
                <a:cs typeface="Times New Roman"/>
              </a:rPr>
              <a:t>actors</a:t>
            </a:r>
          </a:p>
        </p:txBody>
      </p:sp>
      <p:pic>
        <p:nvPicPr>
          <p:cNvPr id="29" name="Image 13"/>
          <p:cNvPicPr>
            <a:picLocks xmlns:a="http://schemas.openxmlformats.org/drawingml/2006/main" noChangeAspect="1"/>
          </p:cNvPicPr>
          <p:nvPr/>
        </p:nvPicPr>
        <p:blipFill>
          <a:blip xmlns:r="http://schemas.openxmlformats.org/officeDocument/2006/relationships" xmlns:a="http://schemas.openxmlformats.org/drawingml/2006/main" r:embed="R620e2ee343e84a30"/>
          <a:stretch xmlns:a="http://schemas.openxmlformats.org/drawingml/2006/main">
            <a:fillRect l="0" t="0" r="0" b="0"/>
          </a:stretch>
        </p:blipFill>
        <p:spPr>
          <a:xfrm xmlns:a="http://schemas.openxmlformats.org/drawingml/2006/main" rot="0" flipH="0" flipV="0">
            <a:off x="4565877" y="691929"/>
            <a:ext cx="4578124" cy="2207388"/>
          </a:xfrm>
          <a:prstGeom xmlns:a="http://schemas.openxmlformats.org/drawingml/2006/main" prst="rect">
            <a:avLst/>
          </a:prstGeom>
        </p:spPr>
      </p:pic>
      <p:sp>
        <p:nvSpPr>
          <p:cNvPr id="18" name="ZoneTexte 17">
            <a:extLst xmlns:a="http://schemas.openxmlformats.org/drawingml/2006/main">
              <a:ext uri="{FF2B5EF4-FFF2-40B4-BE49-F238E27FC236}">
                <a16:creationId xmlns:a16="http://schemas.microsoft.com/office/drawing/2014/main" id="{3520F926-647D-90F4-F6B4-E9DE77B3F527}"/>
              </a:ext>
            </a:extLst>
          </p:cNvPr>
          <p:cNvSpPr>
            <a:spLocks xmlns:a="http://schemas.openxmlformats.org/drawingml/2006/main" noGrp="1"/>
          </p:cNvSpPr>
          <p:nvPr/>
        </p:nvSpPr>
        <p:spPr>
          <a:xfrm xmlns:a="http://schemas.openxmlformats.org/drawingml/2006/main" rot="0" flipH="0" flipV="0">
            <a:off x="4565876" y="2899317"/>
            <a:ext cx="4578124" cy="2616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1100" b="1" i="1">
                <a:latin typeface="Times New Roman"/>
                <a:ea typeface="Times New Roman"/>
                <a:cs typeface="Times New Roman"/>
              </a:rPr>
              <a:t>Fig 9: </a:t>
            </a:r>
            <a:r>
              <a:rPr sz="1100" b="1" i="1">
                <a:latin typeface="Times New Roman"/>
                <a:ea typeface="Times New Roman"/>
                <a:cs typeface="Times New Roman"/>
              </a:rPr>
              <a:t>Action-0 fraction per agent, intervention </a:t>
            </a:r>
            <a:r>
              <a:rPr sz="1100" b="1" i="1">
                <a:latin typeface="Times New Roman"/>
                <a:ea typeface="Times New Roman"/>
                <a:cs typeface="Times New Roman"/>
              </a:rPr>
              <a:t>gated</a:t>
            </a:r>
            <a:r>
              <a:rPr sz="1100" b="1" i="1">
                <a:latin typeface="Times New Roman"/>
                <a:ea typeface="Times New Roman"/>
                <a:cs typeface="Times New Roman"/>
              </a:rPr>
              <a:t> </a:t>
            </a:r>
            <a:r>
              <a:rPr sz="1100" b="1" i="1">
                <a:latin typeface="Times New Roman"/>
                <a:ea typeface="Times New Roman"/>
                <a:cs typeface="Times New Roman"/>
              </a:rPr>
              <a:t>actors</a:t>
            </a:r>
            <a:r>
              <a:rPr sz="1100" b="1" i="1">
                <a:latin typeface="Times New Roman"/>
                <a:ea typeface="Times New Roman"/>
                <a:cs typeface="Times New Roman"/>
              </a:rPr>
              <a:t> </a:t>
            </a:r>
          </a:p>
        </p:txBody>
      </p:sp>
      <p:pic>
        <p:nvPicPr>
          <p:cNvPr id="31" name="Picture 2"/>
          <p:cNvPicPr>
            <a:picLocks xmlns:a="http://schemas.openxmlformats.org/drawingml/2006/main" noChangeAspect="1"/>
          </p:cNvPicPr>
          <p:nvPr/>
        </p:nvPicPr>
        <p:blipFill>
          <a:blip xmlns:r="http://schemas.openxmlformats.org/officeDocument/2006/relationships" xmlns:a="http://schemas.openxmlformats.org/drawingml/2006/main" r:embed="R72519253ba814402"/>
          <a:srcRect xmlns:a="http://schemas.openxmlformats.org/drawingml/2006/main" l="0" t="0" r="0" b="0"/>
          <a:stretch xmlns:a="http://schemas.openxmlformats.org/drawingml/2006/main">
            <a:fillRect l="0" t="0" r="0" b="0"/>
          </a:stretch>
        </p:blipFill>
        <p:spPr>
          <a:xfrm xmlns:a="http://schemas.openxmlformats.org/drawingml/2006/main">
            <a:off x="158055" y="379734"/>
            <a:ext cx="587504" cy="326391"/>
          </a:xfrm>
          <a:prstGeom xmlns:a="http://schemas.openxmlformats.org/drawingml/2006/main" prst="rect">
            <a:avLst/>
          </a:prstGeom>
        </p:spPr>
      </p:pic>
    </p:spTree>
    <p:extLst>
      <p:ext uri="{BB962C8B-B14F-4D97-AF65-F5344CB8AC3E}">
        <p14:creationId xmlns:p14="http://schemas.microsoft.com/office/powerpoint/2010/main" val="1442724600"/>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 name="Titre 1">
            <a:extLst xmlns:a="http://schemas.openxmlformats.org/drawingml/2006/main">
              <a:ext uri="{FF2B5EF4-FFF2-40B4-BE49-F238E27FC236}">
                <a16:creationId xmlns:a16="http://schemas.microsoft.com/office/drawing/2014/main" id="{AB43C432-60D2-05A7-3988-39DDB093467D}"/>
              </a:ext>
            </a:extLst>
          </p:cNvPr>
          <p:cNvSpPr>
            <a:spLocks xmlns:a="http://schemas.openxmlformats.org/drawingml/2006/main" noGrp="1"/>
          </p:cNvSpPr>
          <p:nvPr>
            <p:ph type="title" idx="0"/>
          </p:nvPr>
        </p:nvSpPr>
        <p:spPr>
          <a:xfrm xmlns:a="http://schemas.openxmlformats.org/drawingml/2006/main">
            <a:off x="904875" y="252828"/>
            <a:ext cx="7532115" cy="601301"/>
          </a:xfrm>
        </p:spPr>
        <p:txBody>
          <a:bodyPr xmlns:a="http://schemas.openxmlformats.org/drawingml/2006/main">
            <a:normAutofit/>
          </a:bodyPr>
          <a:lstStyle xmlns:a="http://schemas.openxmlformats.org/drawingml/2006/main"/>
          <a:p xmlns:a="http://schemas.openxmlformats.org/drawingml/2006/main">
            <a:r>
              <a:t>IEEE 14: Realistic behavior, Results</a:t>
            </a:r>
          </a:p>
        </p:txBody>
      </p:sp>
      <p:sp>
        <p:nvSpPr>
          <p:cNvPr id="5" name="Espace réservé du numéro de diapositive 4">
            <a:extLst xmlns:a="http://schemas.openxmlformats.org/drawingml/2006/main">
              <a:ext uri="{FF2B5EF4-FFF2-40B4-BE49-F238E27FC236}">
                <a16:creationId xmlns:a16="http://schemas.microsoft.com/office/drawing/2014/main" id="{60D476FA-AD1F-637A-1A6A-64F07CA6360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r>
              <a:t>18</a:t>
            </a:r>
          </a:p>
        </p:txBody>
      </p:sp>
      <p:pic>
        <p:nvPicPr>
          <p:cNvPr id="33" name="Image 8"/>
          <p:cNvPicPr>
            <a:picLocks xmlns:a="http://schemas.openxmlformats.org/drawingml/2006/main" noChangeAspect="1"/>
          </p:cNvPicPr>
          <p:nvPr/>
        </p:nvPicPr>
        <p:blipFill>
          <a:blip xmlns:r="http://schemas.openxmlformats.org/officeDocument/2006/relationships" xmlns:a="http://schemas.openxmlformats.org/drawingml/2006/main" r:embed="R946aa0b2ac834e17"/>
          <a:stretch xmlns:a="http://schemas.openxmlformats.org/drawingml/2006/main">
            <a:fillRect l="0" t="0" r="0" b="0"/>
          </a:stretch>
        </p:blipFill>
        <p:spPr>
          <a:xfrm xmlns:a="http://schemas.openxmlformats.org/drawingml/2006/main">
            <a:off x="339248" y="1111871"/>
            <a:ext cx="4331684" cy="1617162"/>
          </a:xfrm>
          <a:prstGeom xmlns:a="http://schemas.openxmlformats.org/drawingml/2006/main" prst="rect">
            <a:avLst/>
          </a:prstGeom>
        </p:spPr>
      </p:pic>
      <p:pic>
        <p:nvPicPr>
          <p:cNvPr id="34" name="Image 14"/>
          <p:cNvPicPr>
            <a:picLocks xmlns:a="http://schemas.openxmlformats.org/drawingml/2006/main" noChangeAspect="1"/>
          </p:cNvPicPr>
          <p:nvPr/>
        </p:nvPicPr>
        <p:blipFill>
          <a:blip xmlns:r="http://schemas.openxmlformats.org/officeDocument/2006/relationships" xmlns:a="http://schemas.openxmlformats.org/drawingml/2006/main" r:embed="Ra42ca2f39641428f"/>
          <a:stretch xmlns:a="http://schemas.openxmlformats.org/drawingml/2006/main">
            <a:fillRect l="0" t="0" r="0" b="0"/>
          </a:stretch>
        </p:blipFill>
        <p:spPr>
          <a:xfrm xmlns:a="http://schemas.openxmlformats.org/drawingml/2006/main">
            <a:off x="1281958" y="5480890"/>
            <a:ext cx="6056627" cy="1138397"/>
          </a:xfrm>
          <a:prstGeom xmlns:a="http://schemas.openxmlformats.org/drawingml/2006/main" prst="rect">
            <a:avLst/>
          </a:prstGeom>
        </p:spPr>
      </p:pic>
      <p:pic>
        <p:nvPicPr>
          <p:cNvPr id="35" name="Image 15"/>
          <p:cNvPicPr>
            <a:picLocks xmlns:a="http://schemas.openxmlformats.org/drawingml/2006/main" noChangeAspect="1"/>
          </p:cNvPicPr>
          <p:nvPr/>
        </p:nvPicPr>
        <p:blipFill>
          <a:blip xmlns:r="http://schemas.openxmlformats.org/officeDocument/2006/relationships" xmlns:a="http://schemas.openxmlformats.org/drawingml/2006/main" r:embed="R931aca9a4ea94caf"/>
          <a:srcRect xmlns:a="http://schemas.openxmlformats.org/drawingml/2006/main" l="0" t="16879" r="0" b="0"/>
          <a:stretch xmlns:a="http://schemas.openxmlformats.org/drawingml/2006/main">
            <a:fillRect l="0" t="0" r="0" b="0"/>
          </a:stretch>
        </p:blipFill>
        <p:spPr>
          <a:xfrm xmlns:a="http://schemas.openxmlformats.org/drawingml/2006/main">
            <a:off x="506883" y="3537459"/>
            <a:ext cx="8328098" cy="1240151"/>
          </a:xfrm>
          <a:prstGeom xmlns:a="http://schemas.openxmlformats.org/drawingml/2006/main" prst="rect">
            <a:avLst/>
          </a:prstGeom>
        </p:spPr>
      </p:pic>
      <p:pic>
        <p:nvPicPr>
          <p:cNvPr id="36" name="Image 19"/>
          <p:cNvPicPr>
            <a:picLocks xmlns:a="http://schemas.openxmlformats.org/drawingml/2006/main" noChangeAspect="1"/>
          </p:cNvPicPr>
          <p:nvPr/>
        </p:nvPicPr>
        <p:blipFill>
          <a:blip xmlns:r="http://schemas.openxmlformats.org/officeDocument/2006/relationships" xmlns:a="http://schemas.openxmlformats.org/drawingml/2006/main" r:embed="R4e0fbdc7d84a41ea"/>
          <a:stretch xmlns:a="http://schemas.openxmlformats.org/drawingml/2006/main">
            <a:fillRect l="0" t="0" r="0" b="0"/>
          </a:stretch>
        </p:blipFill>
        <p:spPr>
          <a:xfrm xmlns:a="http://schemas.openxmlformats.org/drawingml/2006/main">
            <a:off x="4975691" y="918223"/>
            <a:ext cx="4055897" cy="2004458"/>
          </a:xfrm>
          <a:prstGeom xmlns:a="http://schemas.openxmlformats.org/drawingml/2006/main" prst="rect">
            <a:avLst/>
          </a:prstGeom>
        </p:spPr>
      </p:pic>
      <p:sp>
        <p:nvSpPr>
          <p:cNvPr id="23" name="ZoneTexte 22">
            <a:extLst xmlns:a="http://schemas.openxmlformats.org/drawingml/2006/main">
              <a:ext uri="{FF2B5EF4-FFF2-40B4-BE49-F238E27FC236}">
                <a16:creationId xmlns:a16="http://schemas.microsoft.com/office/drawing/2014/main" id="{CFA44D49-2A04-ADB8-0861-7075B57C0906}"/>
              </a:ext>
            </a:extLst>
          </p:cNvPr>
          <p:cNvSpPr>
            <a:spLocks xmlns:a="http://schemas.openxmlformats.org/drawingml/2006/main" noGrp="1"/>
          </p:cNvSpPr>
          <p:nvPr/>
        </p:nvSpPr>
        <p:spPr>
          <a:xfrm xmlns:a="http://schemas.openxmlformats.org/drawingml/2006/main">
            <a:off x="339248" y="2766924"/>
            <a:ext cx="4331684" cy="2616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1100" b="1" i="1">
                <a:latin typeface="Times New Roman"/>
                <a:ea typeface="Times New Roman"/>
                <a:cs typeface="Times New Roman"/>
              </a:rPr>
              <a:t>Fig 10: </a:t>
            </a:r>
            <a:r>
              <a:rPr sz="1100" b="1" i="1">
                <a:latin typeface="Times New Roman"/>
                <a:ea typeface="Times New Roman"/>
                <a:cs typeface="Times New Roman"/>
              </a:rPr>
              <a:t>Episodic</a:t>
            </a:r>
            <a:r>
              <a:rPr sz="1100" b="1" i="1">
                <a:latin typeface="Times New Roman"/>
                <a:ea typeface="Times New Roman"/>
                <a:cs typeface="Times New Roman"/>
              </a:rPr>
              <a:t> </a:t>
            </a:r>
            <a:r>
              <a:rPr sz="1100" b="1" i="1">
                <a:latin typeface="Times New Roman"/>
                <a:ea typeface="Times New Roman"/>
                <a:cs typeface="Times New Roman"/>
              </a:rPr>
              <a:t>survival</a:t>
            </a:r>
            <a:r>
              <a:rPr sz="1100" b="1" i="1">
                <a:latin typeface="Times New Roman"/>
                <a:ea typeface="Times New Roman"/>
                <a:cs typeface="Times New Roman"/>
              </a:rPr>
              <a:t> </a:t>
            </a:r>
            <a:r>
              <a:rPr sz="1100" b="1" i="1">
                <a:latin typeface="Times New Roman"/>
                <a:ea typeface="Times New Roman"/>
                <a:cs typeface="Times New Roman"/>
              </a:rPr>
              <a:t>during</a:t>
            </a:r>
            <a:r>
              <a:rPr sz="1100" b="1" i="1">
                <a:latin typeface="Times New Roman"/>
                <a:ea typeface="Times New Roman"/>
                <a:cs typeface="Times New Roman"/>
              </a:rPr>
              <a:t> training, flat intervention penalty</a:t>
            </a:r>
          </a:p>
        </p:txBody>
      </p:sp>
      <p:sp>
        <p:nvSpPr>
          <p:cNvPr id="24" name="ZoneTexte 23">
            <a:extLst xmlns:a="http://schemas.openxmlformats.org/drawingml/2006/main">
              <a:ext uri="{FF2B5EF4-FFF2-40B4-BE49-F238E27FC236}">
                <a16:creationId xmlns:a16="http://schemas.microsoft.com/office/drawing/2014/main" id="{1F076CE7-61DB-9D82-5EFB-F7DE9FC78620}"/>
              </a:ext>
            </a:extLst>
          </p:cNvPr>
          <p:cNvSpPr>
            <a:spLocks xmlns:a="http://schemas.openxmlformats.org/drawingml/2006/main" noGrp="1"/>
          </p:cNvSpPr>
          <p:nvPr/>
        </p:nvSpPr>
        <p:spPr>
          <a:xfrm xmlns:a="http://schemas.openxmlformats.org/drawingml/2006/main">
            <a:off x="4975690" y="2830387"/>
            <a:ext cx="4055897" cy="2616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1100" b="1" i="1">
                <a:latin typeface="Times New Roman"/>
                <a:ea typeface="Times New Roman"/>
                <a:cs typeface="Times New Roman"/>
              </a:rPr>
              <a:t>Fig 11: </a:t>
            </a:r>
            <a:r>
              <a:rPr sz="1100" b="1" i="1">
                <a:latin typeface="Times New Roman"/>
                <a:ea typeface="Times New Roman"/>
                <a:cs typeface="Times New Roman"/>
              </a:rPr>
              <a:t>Action-0 fraction per agent, flat intervention penalty</a:t>
            </a:r>
          </a:p>
        </p:txBody>
      </p:sp>
      <p:sp>
        <p:nvSpPr>
          <p:cNvPr id="25" name="ZoneTexte 24">
            <a:extLst xmlns:a="http://schemas.openxmlformats.org/drawingml/2006/main">
              <a:ext uri="{FF2B5EF4-FFF2-40B4-BE49-F238E27FC236}">
                <a16:creationId xmlns:a16="http://schemas.microsoft.com/office/drawing/2014/main" id="{0D81D0D6-D129-422B-58A2-9A7AA9E43451}"/>
              </a:ext>
            </a:extLst>
          </p:cNvPr>
          <p:cNvSpPr>
            <a:spLocks xmlns:a="http://schemas.openxmlformats.org/drawingml/2006/main" noGrp="1"/>
          </p:cNvSpPr>
          <p:nvPr/>
        </p:nvSpPr>
        <p:spPr>
          <a:xfrm xmlns:a="http://schemas.openxmlformats.org/drawingml/2006/main">
            <a:off x="506882" y="4669832"/>
            <a:ext cx="8328098" cy="2616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1100" b="1" i="1">
                <a:latin typeface="Times New Roman"/>
                <a:ea typeface="Times New Roman"/>
                <a:cs typeface="Times New Roman"/>
              </a:rPr>
              <a:t>Table 7: Full-test </a:t>
            </a:r>
            <a:r>
              <a:rPr sz="1100" b="1" i="1">
                <a:latin typeface="Times New Roman"/>
                <a:ea typeface="Times New Roman"/>
                <a:cs typeface="Times New Roman"/>
              </a:rPr>
              <a:t>summary</a:t>
            </a:r>
            <a:r>
              <a:rPr sz="1100" b="1" i="1">
                <a:latin typeface="Times New Roman"/>
                <a:ea typeface="Times New Roman"/>
                <a:cs typeface="Times New Roman"/>
              </a:rPr>
              <a:t> for flat intervention penalty</a:t>
            </a:r>
          </a:p>
        </p:txBody>
      </p:sp>
      <p:pic>
        <p:nvPicPr>
          <p:cNvPr id="40" name="Picture 2"/>
          <p:cNvPicPr>
            <a:picLocks xmlns:a="http://schemas.openxmlformats.org/drawingml/2006/main" noChangeAspect="1"/>
          </p:cNvPicPr>
          <p:nvPr/>
        </p:nvPicPr>
        <p:blipFill>
          <a:blip xmlns:r="http://schemas.openxmlformats.org/officeDocument/2006/relationships" xmlns:a="http://schemas.openxmlformats.org/drawingml/2006/main" r:embed="R0bb538e53161498c"/>
          <a:srcRect xmlns:a="http://schemas.openxmlformats.org/drawingml/2006/main" l="0" t="0" r="0" b="0"/>
          <a:stretch xmlns:a="http://schemas.openxmlformats.org/drawingml/2006/main">
            <a:fillRect l="0" t="0" r="0" b="0"/>
          </a:stretch>
        </p:blipFill>
        <p:spPr>
          <a:xfrm xmlns:a="http://schemas.openxmlformats.org/drawingml/2006/main">
            <a:off x="158055" y="379734"/>
            <a:ext cx="587504" cy="326391"/>
          </a:xfrm>
          <a:prstGeom xmlns:a="http://schemas.openxmlformats.org/drawingml/2006/main" prst="rect">
            <a:avLst/>
          </a:prstGeom>
        </p:spPr>
      </p:pic>
    </p:spTree>
    <p:extLst>
      <p:ext uri="{BB962C8B-B14F-4D97-AF65-F5344CB8AC3E}">
        <p14:creationId xmlns:p14="http://schemas.microsoft.com/office/powerpoint/2010/main" val="2126931653"/>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 name="Titre 1">
            <a:extLst xmlns:a="http://schemas.openxmlformats.org/drawingml/2006/main">
              <a:ext uri="{FF2B5EF4-FFF2-40B4-BE49-F238E27FC236}">
                <a16:creationId xmlns:a16="http://schemas.microsoft.com/office/drawing/2014/main" id="{A0B2866C-DE17-77EC-6B13-673AC3FBEBDE}"/>
              </a:ext>
            </a:extLst>
          </p:cNvPr>
          <p:cNvSpPr>
            <a:spLocks xmlns:a="http://schemas.openxmlformats.org/drawingml/2006/main" noGrp="1"/>
          </p:cNvSpPr>
          <p:nvPr>
            <p:ph type="title" idx="0"/>
          </p:nvPr>
        </p:nvSpPr>
        <p:spPr>
          <a:xfrm xmlns:a="http://schemas.openxmlformats.org/drawingml/2006/main">
            <a:off x="904875" y="252828"/>
            <a:ext cx="7532115" cy="601301"/>
          </a:xfrm>
        </p:spPr>
        <p:txBody>
          <a:bodyPr xmlns:a="http://schemas.openxmlformats.org/drawingml/2006/main">
            <a:normAutofit/>
          </a:bodyPr>
          <a:lstStyle xmlns:a="http://schemas.openxmlformats.org/drawingml/2006/main"/>
          <a:p xmlns:a="http://schemas.openxmlformats.org/drawingml/2006/main">
            <a:r>
              <a:t>IEEE 14: Realistic behavior, Results</a:t>
            </a:r>
          </a:p>
        </p:txBody>
      </p:sp>
      <p:sp>
        <p:nvSpPr>
          <p:cNvPr id="5" name="Espace réservé du numéro de diapositive 4">
            <a:extLst xmlns:a="http://schemas.openxmlformats.org/drawingml/2006/main">
              <a:ext uri="{FF2B5EF4-FFF2-40B4-BE49-F238E27FC236}">
                <a16:creationId xmlns:a16="http://schemas.microsoft.com/office/drawing/2014/main" id="{237DF865-FCD2-96A2-1BC9-C0D65AE82B5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r>
              <a:t>19</a:t>
            </a:r>
          </a:p>
        </p:txBody>
      </p:sp>
      <p:pic>
        <p:nvPicPr>
          <p:cNvPr id="15" name="Image 9"/>
          <p:cNvPicPr>
            <a:picLocks xmlns:a="http://schemas.openxmlformats.org/drawingml/2006/main" noChangeAspect="1"/>
          </p:cNvPicPr>
          <p:nvPr/>
        </p:nvPicPr>
        <p:blipFill>
          <a:blip xmlns:r="http://schemas.openxmlformats.org/officeDocument/2006/relationships" xmlns:a="http://schemas.openxmlformats.org/drawingml/2006/main" r:embed="R72c0b949c9a748e8"/>
          <a:stretch xmlns:a="http://schemas.openxmlformats.org/drawingml/2006/main">
            <a:fillRect l="0" t="0" r="0" b="0"/>
          </a:stretch>
        </p:blipFill>
        <p:spPr>
          <a:xfrm xmlns:a="http://schemas.openxmlformats.org/drawingml/2006/main" rot="0" flipH="0" flipV="0">
            <a:off x="98932" y="1025207"/>
            <a:ext cx="4572000" cy="1758496"/>
          </a:xfrm>
          <a:prstGeom xmlns:a="http://schemas.openxmlformats.org/drawingml/2006/main" prst="rect">
            <a:avLst/>
          </a:prstGeom>
        </p:spPr>
      </p:pic>
      <p:sp>
        <p:nvSpPr>
          <p:cNvPr id="3" name="ZoneTexte 2">
            <a:extLst xmlns:a="http://schemas.openxmlformats.org/drawingml/2006/main">
              <a:ext uri="{FF2B5EF4-FFF2-40B4-BE49-F238E27FC236}">
                <a16:creationId xmlns:a16="http://schemas.microsoft.com/office/drawing/2014/main" id="{E68C98FC-2A4B-18F1-8506-18D30B106053}"/>
              </a:ext>
            </a:extLst>
          </p:cNvPr>
          <p:cNvSpPr>
            <a:spLocks xmlns:a="http://schemas.openxmlformats.org/drawingml/2006/main" noGrp="1"/>
          </p:cNvSpPr>
          <p:nvPr/>
        </p:nvSpPr>
        <p:spPr>
          <a:xfrm xmlns:a="http://schemas.openxmlformats.org/drawingml/2006/main" rot="0" flipH="0" flipV="0">
            <a:off x="98932" y="2802021"/>
            <a:ext cx="4572000" cy="29711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1100" b="1" i="1">
                <a:latin typeface="Times New Roman"/>
                <a:ea typeface="Times New Roman"/>
                <a:cs typeface="Times New Roman"/>
              </a:rPr>
              <a:t>Fig 12: </a:t>
            </a:r>
            <a:r>
              <a:rPr sz="1100" b="1" i="1">
                <a:latin typeface="Times New Roman"/>
                <a:ea typeface="Times New Roman"/>
                <a:cs typeface="Times New Roman"/>
              </a:rPr>
              <a:t>Episodic</a:t>
            </a:r>
            <a:r>
              <a:rPr sz="1100" b="1" i="1">
                <a:latin typeface="Times New Roman"/>
                <a:ea typeface="Times New Roman"/>
                <a:cs typeface="Times New Roman"/>
              </a:rPr>
              <a:t> </a:t>
            </a:r>
            <a:r>
              <a:rPr sz="1100" b="1" i="1">
                <a:latin typeface="Times New Roman"/>
                <a:ea typeface="Times New Roman"/>
                <a:cs typeface="Times New Roman"/>
              </a:rPr>
              <a:t>survival</a:t>
            </a:r>
            <a:r>
              <a:rPr sz="1100" b="1" i="1">
                <a:latin typeface="Times New Roman"/>
                <a:ea typeface="Times New Roman"/>
                <a:cs typeface="Times New Roman"/>
              </a:rPr>
              <a:t> </a:t>
            </a:r>
            <a:r>
              <a:rPr sz="1100" b="1" i="1">
                <a:latin typeface="Times New Roman"/>
                <a:ea typeface="Times New Roman"/>
                <a:cs typeface="Times New Roman"/>
              </a:rPr>
              <a:t>during</a:t>
            </a:r>
            <a:r>
              <a:rPr sz="1100" b="1" i="1">
                <a:latin typeface="Times New Roman"/>
                <a:ea typeface="Times New Roman"/>
                <a:cs typeface="Times New Roman"/>
              </a:rPr>
              <a:t> training, </a:t>
            </a:r>
            <a:r>
              <a:rPr sz="1100" b="1" i="1">
                <a:latin typeface="Times New Roman"/>
                <a:ea typeface="Times New Roman"/>
                <a:cs typeface="Times New Roman"/>
              </a:rPr>
              <a:t>gated</a:t>
            </a:r>
            <a:r>
              <a:rPr sz="1100" b="1" i="1">
                <a:latin typeface="Times New Roman"/>
                <a:ea typeface="Times New Roman"/>
                <a:cs typeface="Times New Roman"/>
              </a:rPr>
              <a:t> intervention penalty</a:t>
            </a:r>
          </a:p>
        </p:txBody>
      </p:sp>
      <p:pic>
        <p:nvPicPr>
          <p:cNvPr id="17" name="Image 20"/>
          <p:cNvPicPr>
            <a:picLocks xmlns:a="http://schemas.openxmlformats.org/drawingml/2006/main" noChangeAspect="1"/>
          </p:cNvPicPr>
          <p:nvPr/>
        </p:nvPicPr>
        <p:blipFill>
          <a:blip xmlns:r="http://schemas.openxmlformats.org/officeDocument/2006/relationships" xmlns:a="http://schemas.openxmlformats.org/drawingml/2006/main" r:embed="Raa5222f5ad774826"/>
          <a:srcRect xmlns:a="http://schemas.openxmlformats.org/drawingml/2006/main" l="0" t="12194" r="0" b="0"/>
          <a:stretch xmlns:a="http://schemas.openxmlformats.org/drawingml/2006/main">
            <a:fillRect l="0" t="0" r="0" b="0"/>
          </a:stretch>
        </p:blipFill>
        <p:spPr>
          <a:xfrm xmlns:a="http://schemas.openxmlformats.org/drawingml/2006/main" rot="0" flipH="0" flipV="0">
            <a:off x="4764961" y="955887"/>
            <a:ext cx="4379038" cy="1825795"/>
          </a:xfrm>
          <a:prstGeom xmlns:a="http://schemas.openxmlformats.org/drawingml/2006/main" prst="rect">
            <a:avLst/>
          </a:prstGeom>
        </p:spPr>
      </p:pic>
      <p:sp>
        <p:nvSpPr>
          <p:cNvPr id="4" name="ZoneTexte 3">
            <a:extLst xmlns:a="http://schemas.openxmlformats.org/drawingml/2006/main">
              <a:ext uri="{FF2B5EF4-FFF2-40B4-BE49-F238E27FC236}">
                <a16:creationId xmlns:a16="http://schemas.microsoft.com/office/drawing/2014/main" id="{A8620D8C-60DD-997B-294D-1EC778ED358E}"/>
              </a:ext>
            </a:extLst>
          </p:cNvPr>
          <p:cNvSpPr>
            <a:spLocks xmlns:a="http://schemas.openxmlformats.org/drawingml/2006/main" noGrp="1"/>
          </p:cNvSpPr>
          <p:nvPr/>
        </p:nvSpPr>
        <p:spPr>
          <a:xfrm xmlns:a="http://schemas.openxmlformats.org/drawingml/2006/main" rot="0" flipH="0" flipV="0">
            <a:off x="4764960" y="2807433"/>
            <a:ext cx="4280751" cy="26160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1100" b="1" i="1">
                <a:latin typeface="Times New Roman"/>
                <a:ea typeface="Times New Roman"/>
                <a:cs typeface="Times New Roman"/>
              </a:rPr>
              <a:t>Fig 13: </a:t>
            </a:r>
            <a:r>
              <a:rPr sz="1100" b="1" i="1">
                <a:latin typeface="Times New Roman"/>
                <a:ea typeface="Times New Roman"/>
                <a:cs typeface="Times New Roman"/>
              </a:rPr>
              <a:t>Action-0 fraction per agent, </a:t>
            </a:r>
            <a:r>
              <a:rPr sz="1100" b="1" i="1">
                <a:latin typeface="Times New Roman"/>
                <a:ea typeface="Times New Roman"/>
                <a:cs typeface="Times New Roman"/>
              </a:rPr>
              <a:t>gated</a:t>
            </a:r>
            <a:r>
              <a:rPr sz="1100" b="1" i="1">
                <a:latin typeface="Times New Roman"/>
                <a:ea typeface="Times New Roman"/>
                <a:cs typeface="Times New Roman"/>
              </a:rPr>
              <a:t> intervention penalty</a:t>
            </a:r>
          </a:p>
        </p:txBody>
      </p:sp>
      <p:pic>
        <p:nvPicPr>
          <p:cNvPr id="19" name="Image 14"/>
          <p:cNvPicPr>
            <a:picLocks xmlns:a="http://schemas.openxmlformats.org/drawingml/2006/main" noChangeAspect="1"/>
          </p:cNvPicPr>
          <p:nvPr/>
        </p:nvPicPr>
        <p:blipFill>
          <a:blip xmlns:r="http://schemas.openxmlformats.org/officeDocument/2006/relationships" xmlns:a="http://schemas.openxmlformats.org/drawingml/2006/main" r:embed="R6f145831ac1f40ee"/>
          <a:srcRect xmlns:a="http://schemas.openxmlformats.org/drawingml/2006/main" l="0" t="19408" r="0" b="0"/>
          <a:stretch xmlns:a="http://schemas.openxmlformats.org/drawingml/2006/main">
            <a:fillRect l="0" t="0" r="0" b="0"/>
          </a:stretch>
        </p:blipFill>
        <p:spPr>
          <a:xfrm xmlns:a="http://schemas.openxmlformats.org/drawingml/2006/main" rot="0" flipH="0" flipV="0">
            <a:off x="401388" y="3512397"/>
            <a:ext cx="8539088" cy="1293499"/>
          </a:xfrm>
          <a:prstGeom xmlns:a="http://schemas.openxmlformats.org/drawingml/2006/main" prst="rect">
            <a:avLst/>
          </a:prstGeom>
        </p:spPr>
      </p:pic>
      <p:sp>
        <p:nvSpPr>
          <p:cNvPr id="8" name="ZoneTexte 7">
            <a:extLst xmlns:a="http://schemas.openxmlformats.org/drawingml/2006/main">
              <a:ext uri="{FF2B5EF4-FFF2-40B4-BE49-F238E27FC236}">
                <a16:creationId xmlns:a16="http://schemas.microsoft.com/office/drawing/2014/main" id="{1D8E934C-1DBD-9889-9777-F3C9D4BFB579}"/>
              </a:ext>
            </a:extLst>
          </p:cNvPr>
          <p:cNvSpPr>
            <a:spLocks xmlns:a="http://schemas.openxmlformats.org/drawingml/2006/main" noGrp="1"/>
          </p:cNvSpPr>
          <p:nvPr/>
        </p:nvSpPr>
        <p:spPr>
          <a:xfrm xmlns:a="http://schemas.openxmlformats.org/drawingml/2006/main" rot="0" flipH="0" flipV="0">
            <a:off x="401387" y="4669832"/>
            <a:ext cx="8539087" cy="2616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1100" b="1" i="1">
                <a:latin typeface="Times New Roman"/>
                <a:ea typeface="Times New Roman"/>
                <a:cs typeface="Times New Roman"/>
              </a:rPr>
              <a:t>Table 8: Full-test </a:t>
            </a:r>
            <a:r>
              <a:rPr sz="1100" b="1" i="1">
                <a:latin typeface="Times New Roman"/>
                <a:ea typeface="Times New Roman"/>
                <a:cs typeface="Times New Roman"/>
              </a:rPr>
              <a:t>summary</a:t>
            </a:r>
            <a:r>
              <a:rPr sz="1100" b="1" i="1">
                <a:latin typeface="Times New Roman"/>
                <a:ea typeface="Times New Roman"/>
                <a:cs typeface="Times New Roman"/>
              </a:rPr>
              <a:t> for </a:t>
            </a:r>
            <a:r>
              <a:rPr sz="1100" b="1" i="1">
                <a:latin typeface="Times New Roman"/>
                <a:ea typeface="Times New Roman"/>
                <a:cs typeface="Times New Roman"/>
              </a:rPr>
              <a:t>gated</a:t>
            </a:r>
            <a:r>
              <a:rPr sz="1100" b="1" i="1">
                <a:latin typeface="Times New Roman"/>
                <a:ea typeface="Times New Roman"/>
                <a:cs typeface="Times New Roman"/>
              </a:rPr>
              <a:t> intervention penalty</a:t>
            </a:r>
          </a:p>
        </p:txBody>
      </p:sp>
      <p:pic>
        <p:nvPicPr>
          <p:cNvPr id="21" name="Picture 2"/>
          <p:cNvPicPr>
            <a:picLocks xmlns:a="http://schemas.openxmlformats.org/drawingml/2006/main" noChangeAspect="1"/>
          </p:cNvPicPr>
          <p:nvPr/>
        </p:nvPicPr>
        <p:blipFill>
          <a:blip xmlns:r="http://schemas.openxmlformats.org/officeDocument/2006/relationships" xmlns:a="http://schemas.openxmlformats.org/drawingml/2006/main" r:embed="R85f61c6094b746b5"/>
          <a:srcRect xmlns:a="http://schemas.openxmlformats.org/drawingml/2006/main" l="0" t="0" r="0" b="0"/>
          <a:stretch xmlns:a="http://schemas.openxmlformats.org/drawingml/2006/main">
            <a:fillRect l="0" t="0" r="0" b="0"/>
          </a:stretch>
        </p:blipFill>
        <p:spPr>
          <a:xfrm xmlns:a="http://schemas.openxmlformats.org/drawingml/2006/main">
            <a:off x="158055" y="379734"/>
            <a:ext cx="587504" cy="326391"/>
          </a:xfrm>
          <a:prstGeom xmlns:a="http://schemas.openxmlformats.org/drawingml/2006/main" prst="rect">
            <a:avLst/>
          </a:prstGeom>
        </p:spPr>
      </p:pic>
    </p:spTree>
    <p:extLst>
      <p:ext uri="{BB962C8B-B14F-4D97-AF65-F5344CB8AC3E}">
        <p14:creationId xmlns:p14="http://schemas.microsoft.com/office/powerpoint/2010/main" val="339203733"/>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 name="Titre 1">
            <a:extLst xmlns:a="http://schemas.openxmlformats.org/drawingml/2006/main">
              <a:ext uri="{FF2B5EF4-FFF2-40B4-BE49-F238E27FC236}">
                <a16:creationId xmlns:a16="http://schemas.microsoft.com/office/drawing/2014/main" id="{F4A6C078-A971-1F1A-4675-14B840C84153}"/>
              </a:ext>
            </a:extLst>
          </p:cNvPr>
          <p:cNvSpPr>
            <a:spLocks xmlns:a="http://schemas.openxmlformats.org/drawingml/2006/main" noGrp="1"/>
          </p:cNvSpPr>
          <p:nvPr>
            <p:ph type="title" idx="0"/>
          </p:nvPr>
        </p:nvSpPr>
        <p:spPr>
          <a:xfrm xmlns:a="http://schemas.openxmlformats.org/drawingml/2006/main">
            <a:off x="904875" y="252828"/>
            <a:ext cx="7532115" cy="601301"/>
          </a:xfrm>
        </p:spPr>
        <p:txBody>
          <a:bodyPr xmlns:a="http://schemas.openxmlformats.org/drawingml/2006/main">
            <a:normAutofit/>
          </a:bodyPr>
          <a:lstStyle xmlns:a="http://schemas.openxmlformats.org/drawingml/2006/main"/>
          <a:p xmlns:a="http://schemas.openxmlformats.org/drawingml/2006/main">
            <a:r>
              <a:t>IEEE 14: Realistic behavior, Results</a:t>
            </a:r>
          </a:p>
        </p:txBody>
      </p:sp>
      <p:sp>
        <p:nvSpPr>
          <p:cNvPr id="5" name="Espace réservé du numéro de diapositive 4">
            <a:extLst xmlns:a="http://schemas.openxmlformats.org/drawingml/2006/main">
              <a:ext uri="{FF2B5EF4-FFF2-40B4-BE49-F238E27FC236}">
                <a16:creationId xmlns:a16="http://schemas.microsoft.com/office/drawing/2014/main" id="{3DC5C6FB-18D4-2CBD-22E0-0D0C29C3076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r>
              <a:t>20</a:t>
            </a:r>
          </a:p>
        </p:txBody>
      </p:sp>
      <p:pic>
        <p:nvPicPr>
          <p:cNvPr id="24" name="Image 9"/>
          <p:cNvPicPr>
            <a:picLocks xmlns:a="http://schemas.openxmlformats.org/drawingml/2006/main" noChangeAspect="1"/>
          </p:cNvPicPr>
          <p:nvPr/>
        </p:nvPicPr>
        <p:blipFill>
          <a:blip xmlns:r="http://schemas.openxmlformats.org/officeDocument/2006/relationships" xmlns:a="http://schemas.openxmlformats.org/drawingml/2006/main" r:embed="R22a51b94629b4f47"/>
          <a:srcRect xmlns:a="http://schemas.openxmlformats.org/drawingml/2006/main" l="0" t="16224" r="0" b="0"/>
          <a:stretch xmlns:a="http://schemas.openxmlformats.org/drawingml/2006/main">
            <a:fillRect l="0" t="0" r="0" b="0"/>
          </a:stretch>
        </p:blipFill>
        <p:spPr>
          <a:xfrm xmlns:a="http://schemas.openxmlformats.org/drawingml/2006/main">
            <a:off x="685800" y="3458094"/>
            <a:ext cx="7772400" cy="1407605"/>
          </a:xfrm>
          <a:prstGeom xmlns:a="http://schemas.openxmlformats.org/drawingml/2006/main" prst="rect">
            <a:avLst/>
          </a:prstGeom>
        </p:spPr>
      </p:pic>
      <p:pic>
        <p:nvPicPr>
          <p:cNvPr id="25" name="Image 5"/>
          <p:cNvPicPr>
            <a:picLocks xmlns:a="http://schemas.openxmlformats.org/drawingml/2006/main" noChangeAspect="1"/>
          </p:cNvPicPr>
          <p:nvPr/>
        </p:nvPicPr>
        <p:blipFill>
          <a:blip xmlns:r="http://schemas.openxmlformats.org/officeDocument/2006/relationships" xmlns:a="http://schemas.openxmlformats.org/drawingml/2006/main" r:embed="Rebcce22ab5eb4311"/>
          <a:stretch xmlns:a="http://schemas.openxmlformats.org/drawingml/2006/main">
            <a:fillRect l="0" t="0" r="0" b="0"/>
          </a:stretch>
        </p:blipFill>
        <p:spPr>
          <a:xfrm xmlns:a="http://schemas.openxmlformats.org/drawingml/2006/main" rot="0" flipH="0" flipV="0">
            <a:off x="222965" y="994279"/>
            <a:ext cx="4278386" cy="1764613"/>
          </a:xfrm>
          <a:prstGeom xmlns:a="http://schemas.openxmlformats.org/drawingml/2006/main" prst="rect">
            <a:avLst/>
          </a:prstGeom>
        </p:spPr>
      </p:pic>
      <p:sp>
        <p:nvSpPr>
          <p:cNvPr id="13" name="ZoneTexte 12">
            <a:extLst xmlns:a="http://schemas.openxmlformats.org/drawingml/2006/main">
              <a:ext uri="{FF2B5EF4-FFF2-40B4-BE49-F238E27FC236}">
                <a16:creationId xmlns:a16="http://schemas.microsoft.com/office/drawing/2014/main" id="{6896FDEE-D802-F894-4DC1-B3612D660DFD}"/>
              </a:ext>
            </a:extLst>
          </p:cNvPr>
          <p:cNvSpPr>
            <a:spLocks xmlns:a="http://schemas.openxmlformats.org/drawingml/2006/main" noGrp="1"/>
          </p:cNvSpPr>
          <p:nvPr/>
        </p:nvSpPr>
        <p:spPr>
          <a:xfrm xmlns:a="http://schemas.openxmlformats.org/drawingml/2006/main" rot="0" flipH="0" flipV="0">
            <a:off x="222965" y="2714546"/>
            <a:ext cx="4349036" cy="430887"/>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1100" b="1" i="1">
                <a:latin typeface="Times New Roman"/>
                <a:ea typeface="Times New Roman"/>
                <a:cs typeface="Times New Roman"/>
              </a:rPr>
              <a:t>Fig 14: </a:t>
            </a:r>
            <a:r>
              <a:rPr sz="1100" b="1" i="1">
                <a:latin typeface="Times New Roman"/>
                <a:ea typeface="Times New Roman"/>
                <a:cs typeface="Times New Roman"/>
              </a:rPr>
              <a:t>Episodic</a:t>
            </a:r>
            <a:r>
              <a:rPr sz="1100" b="1" i="1">
                <a:latin typeface="Times New Roman"/>
                <a:ea typeface="Times New Roman"/>
                <a:cs typeface="Times New Roman"/>
              </a:rPr>
              <a:t> </a:t>
            </a:r>
            <a:r>
              <a:rPr sz="1100" b="1" i="1">
                <a:latin typeface="Times New Roman"/>
                <a:ea typeface="Times New Roman"/>
                <a:cs typeface="Times New Roman"/>
              </a:rPr>
              <a:t>survival</a:t>
            </a:r>
            <a:r>
              <a:rPr sz="1100" b="1" i="1">
                <a:latin typeface="Times New Roman"/>
                <a:ea typeface="Times New Roman"/>
                <a:cs typeface="Times New Roman"/>
              </a:rPr>
              <a:t> </a:t>
            </a:r>
            <a:r>
              <a:rPr sz="1100" b="1" i="1">
                <a:latin typeface="Times New Roman"/>
                <a:ea typeface="Times New Roman"/>
                <a:cs typeface="Times New Roman"/>
              </a:rPr>
              <a:t>during</a:t>
            </a:r>
            <a:r>
              <a:rPr sz="1100" b="1" i="1">
                <a:latin typeface="Times New Roman"/>
                <a:ea typeface="Times New Roman"/>
                <a:cs typeface="Times New Roman"/>
              </a:rPr>
              <a:t> training, adaptative intervention budget</a:t>
            </a:r>
          </a:p>
        </p:txBody>
      </p:sp>
      <p:pic>
        <p:nvPicPr>
          <p:cNvPr id="27" name="Image 11"/>
          <p:cNvPicPr>
            <a:picLocks xmlns:a="http://schemas.openxmlformats.org/drawingml/2006/main" noChangeAspect="1"/>
          </p:cNvPicPr>
          <p:nvPr/>
        </p:nvPicPr>
        <p:blipFill>
          <a:blip xmlns:r="http://schemas.openxmlformats.org/officeDocument/2006/relationships" xmlns:a="http://schemas.openxmlformats.org/drawingml/2006/main" r:embed="R5565ab53a7b74622"/>
          <a:srcRect xmlns:a="http://schemas.openxmlformats.org/drawingml/2006/main" l="0" t="9314" r="0" b="0"/>
          <a:stretch xmlns:a="http://schemas.openxmlformats.org/drawingml/2006/main">
            <a:fillRect l="0" t="0" r="0" b="0"/>
          </a:stretch>
        </p:blipFill>
        <p:spPr>
          <a:xfrm xmlns:a="http://schemas.openxmlformats.org/drawingml/2006/main" rot="0" flipH="0" flipV="0">
            <a:off x="4642651" y="935329"/>
            <a:ext cx="4125816" cy="1789285"/>
          </a:xfrm>
          <a:prstGeom xmlns:a="http://schemas.openxmlformats.org/drawingml/2006/main" prst="rect">
            <a:avLst/>
          </a:prstGeom>
        </p:spPr>
      </p:pic>
      <p:sp>
        <p:nvSpPr>
          <p:cNvPr id="14" name="ZoneTexte 13">
            <a:extLst xmlns:a="http://schemas.openxmlformats.org/drawingml/2006/main">
              <a:ext uri="{FF2B5EF4-FFF2-40B4-BE49-F238E27FC236}">
                <a16:creationId xmlns:a16="http://schemas.microsoft.com/office/drawing/2014/main" id="{09340FDC-7FD7-589E-4FDE-94AA05CE4D61}"/>
              </a:ext>
            </a:extLst>
          </p:cNvPr>
          <p:cNvSpPr>
            <a:spLocks xmlns:a="http://schemas.openxmlformats.org/drawingml/2006/main" noGrp="1"/>
          </p:cNvSpPr>
          <p:nvPr/>
        </p:nvSpPr>
        <p:spPr>
          <a:xfrm xmlns:a="http://schemas.openxmlformats.org/drawingml/2006/main" rot="0" flipH="0" flipV="0">
            <a:off x="4642651" y="2738122"/>
            <a:ext cx="4125816" cy="2616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1100" b="1" i="1">
                <a:latin typeface="Times New Roman"/>
                <a:ea typeface="Times New Roman"/>
                <a:cs typeface="Times New Roman"/>
              </a:rPr>
              <a:t>Fig 15: </a:t>
            </a:r>
            <a:r>
              <a:rPr sz="1100" b="1" i="1">
                <a:latin typeface="Times New Roman"/>
                <a:ea typeface="Times New Roman"/>
                <a:cs typeface="Times New Roman"/>
              </a:rPr>
              <a:t>Action-0 fraction per agent, adaptative intervention budget</a:t>
            </a:r>
          </a:p>
        </p:txBody>
      </p:sp>
      <p:sp>
        <p:nvSpPr>
          <p:cNvPr id="17" name="ZoneTexte 16">
            <a:extLst xmlns:a="http://schemas.openxmlformats.org/drawingml/2006/main">
              <a:ext uri="{FF2B5EF4-FFF2-40B4-BE49-F238E27FC236}">
                <a16:creationId xmlns:a16="http://schemas.microsoft.com/office/drawing/2014/main" id="{C72B9A28-FFA1-5E54-014C-2BE6D2896D42}"/>
              </a:ext>
            </a:extLst>
          </p:cNvPr>
          <p:cNvSpPr>
            <a:spLocks xmlns:a="http://schemas.openxmlformats.org/drawingml/2006/main" noGrp="1"/>
          </p:cNvSpPr>
          <p:nvPr/>
        </p:nvSpPr>
        <p:spPr>
          <a:xfrm xmlns:a="http://schemas.openxmlformats.org/drawingml/2006/main">
            <a:off x="685800" y="4722524"/>
            <a:ext cx="7751190" cy="2616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1100" b="1" i="1">
                <a:latin typeface="Times New Roman"/>
                <a:ea typeface="Times New Roman"/>
                <a:cs typeface="Times New Roman"/>
              </a:rPr>
              <a:t>Table 9: </a:t>
            </a:r>
            <a:r>
              <a:rPr sz="1100" b="1" i="1">
                <a:latin typeface="Times New Roman"/>
                <a:ea typeface="Times New Roman"/>
                <a:cs typeface="Times New Roman"/>
              </a:rPr>
              <a:t>Full-test </a:t>
            </a:r>
            <a:r>
              <a:rPr sz="1100" b="1" i="1">
                <a:latin typeface="Times New Roman"/>
                <a:ea typeface="Times New Roman"/>
                <a:cs typeface="Times New Roman"/>
              </a:rPr>
              <a:t>summary</a:t>
            </a:r>
            <a:r>
              <a:rPr sz="1100" b="1" i="1">
                <a:latin typeface="Times New Roman"/>
                <a:ea typeface="Times New Roman"/>
                <a:cs typeface="Times New Roman"/>
              </a:rPr>
              <a:t> adaptative intervention budget</a:t>
            </a:r>
          </a:p>
        </p:txBody>
      </p:sp>
      <p:pic>
        <p:nvPicPr>
          <p:cNvPr id="30" name="Picture 2"/>
          <p:cNvPicPr>
            <a:picLocks xmlns:a="http://schemas.openxmlformats.org/drawingml/2006/main" noChangeAspect="1"/>
          </p:cNvPicPr>
          <p:nvPr/>
        </p:nvPicPr>
        <p:blipFill>
          <a:blip xmlns:r="http://schemas.openxmlformats.org/officeDocument/2006/relationships" xmlns:a="http://schemas.openxmlformats.org/drawingml/2006/main" r:embed="R689d0b31f6954809"/>
          <a:srcRect xmlns:a="http://schemas.openxmlformats.org/drawingml/2006/main" l="0" t="0" r="0" b="0"/>
          <a:stretch xmlns:a="http://schemas.openxmlformats.org/drawingml/2006/main">
            <a:fillRect l="0" t="0" r="0" b="0"/>
          </a:stretch>
        </p:blipFill>
        <p:spPr>
          <a:xfrm xmlns:a="http://schemas.openxmlformats.org/drawingml/2006/main">
            <a:off x="158055" y="379734"/>
            <a:ext cx="587504" cy="326391"/>
          </a:xfrm>
          <a:prstGeom xmlns:a="http://schemas.openxmlformats.org/drawingml/2006/main" prst="rect">
            <a:avLst/>
          </a:prstGeom>
        </p:spPr>
      </p:pic>
    </p:spTree>
    <p:extLst>
      <p:ext uri="{BB962C8B-B14F-4D97-AF65-F5344CB8AC3E}">
        <p14:creationId xmlns:p14="http://schemas.microsoft.com/office/powerpoint/2010/main" val="3987101726"/>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2" name="Titre 1">
            <a:extLst xmlns:a="http://schemas.openxmlformats.org/drawingml/2006/main">
              <a:ext uri="{FF2B5EF4-FFF2-40B4-BE49-F238E27FC236}">
                <a16:creationId xmlns:a16="http://schemas.microsoft.com/office/drawing/2014/main" id="{4D75064D-09B2-F7B9-69E7-86991DA32C17}"/>
              </a:ext>
            </a:extLst>
          </p:cNvPr>
          <p:cNvSpPr>
            <a:spLocks xmlns:a="http://schemas.openxmlformats.org/drawingml/2006/main" noGrp="1"/>
          </p:cNvSpPr>
          <p:nvPr>
            <p:ph type="title" idx="0"/>
          </p:nvPr>
        </p:nvSpPr>
        <p:spPr>
          <a:xfrm xmlns:a="http://schemas.openxmlformats.org/drawingml/2006/main">
            <a:off x="904875" y="252828"/>
            <a:ext cx="7532115" cy="601301"/>
          </a:xfrm>
        </p:spPr>
        <p:txBody>
          <a:bodyPr xmlns:a="http://schemas.openxmlformats.org/drawingml/2006/main">
            <a:normAutofit/>
          </a:bodyPr>
          <a:lstStyle xmlns:a="http://schemas.openxmlformats.org/drawingml/2006/main"/>
          <a:p xmlns:a="http://schemas.openxmlformats.org/drawingml/2006/main">
            <a:r>
              <a:t>IEEE 14: Realistic behavior, Results</a:t>
            </a:r>
          </a:p>
        </p:txBody>
      </p:sp>
      <p:sp>
        <p:nvSpPr>
          <p:cNvPr id="5" name="Espace réservé du numéro de diapositive 4">
            <a:extLst xmlns:a="http://schemas.openxmlformats.org/drawingml/2006/main">
              <a:ext uri="{FF2B5EF4-FFF2-40B4-BE49-F238E27FC236}">
                <a16:creationId xmlns:a16="http://schemas.microsoft.com/office/drawing/2014/main" id="{1F9E5C4D-A6F5-95AA-D1B3-8348562697E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r>
              <a:t>21</a:t>
            </a:r>
          </a:p>
        </p:txBody>
      </p:sp>
      <p:pic>
        <p:nvPicPr>
          <p:cNvPr id="18" name="Image 8"/>
          <p:cNvPicPr>
            <a:picLocks xmlns:a="http://schemas.openxmlformats.org/drawingml/2006/main" noChangeAspect="1"/>
          </p:cNvPicPr>
          <p:nvPr/>
        </p:nvPicPr>
        <p:blipFill>
          <a:blip xmlns:r="http://schemas.openxmlformats.org/officeDocument/2006/relationships" xmlns:a="http://schemas.openxmlformats.org/drawingml/2006/main" r:embed="R50b604e2c3b1487a"/>
          <a:srcRect xmlns:a="http://schemas.openxmlformats.org/drawingml/2006/main" l="0" t="9624" r="0" b="0"/>
          <a:stretch xmlns:a="http://schemas.openxmlformats.org/drawingml/2006/main">
            <a:fillRect l="0" t="0" r="0" b="0"/>
          </a:stretch>
        </p:blipFill>
        <p:spPr>
          <a:xfrm xmlns:a="http://schemas.openxmlformats.org/drawingml/2006/main" rot="0" flipH="0" flipV="0">
            <a:off x="1995293" y="854129"/>
            <a:ext cx="5132203" cy="2283396"/>
          </a:xfrm>
          <a:prstGeom xmlns:a="http://schemas.openxmlformats.org/drawingml/2006/main" prst="rect">
            <a:avLst/>
          </a:prstGeom>
        </p:spPr>
      </p:pic>
      <p:sp>
        <p:nvSpPr>
          <p:cNvPr id="11" name="ZoneTexte 10">
            <a:extLst xmlns:a="http://schemas.openxmlformats.org/drawingml/2006/main">
              <a:ext uri="{FF2B5EF4-FFF2-40B4-BE49-F238E27FC236}">
                <a16:creationId xmlns:a16="http://schemas.microsoft.com/office/drawing/2014/main" id="{30F5CE1D-1EAF-1821-68BC-911EB25F3F15}"/>
              </a:ext>
            </a:extLst>
          </p:cNvPr>
          <p:cNvSpPr>
            <a:spLocks xmlns:a="http://schemas.openxmlformats.org/drawingml/2006/main" noGrp="1"/>
          </p:cNvSpPr>
          <p:nvPr/>
        </p:nvSpPr>
        <p:spPr>
          <a:xfrm xmlns:a="http://schemas.openxmlformats.org/drawingml/2006/main" rot="0" flipH="0" flipV="0">
            <a:off x="1995293" y="3016911"/>
            <a:ext cx="5132202" cy="2616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1100" b="1" i="1">
                <a:latin typeface="Times New Roman"/>
                <a:ea typeface="Times New Roman"/>
                <a:cs typeface="Times New Roman"/>
              </a:rPr>
              <a:t>Fig 15: </a:t>
            </a:r>
            <a:r>
              <a:rPr sz="1100" b="1" i="1">
                <a:latin typeface="Times New Roman"/>
                <a:ea typeface="Times New Roman"/>
                <a:cs typeface="Times New Roman"/>
              </a:rPr>
              <a:t>Action-0 fraction per agent, </a:t>
            </a:r>
            <a:r>
              <a:rPr sz="1100" b="1" i="1">
                <a:latin typeface="Times New Roman"/>
                <a:ea typeface="Times New Roman"/>
                <a:cs typeface="Times New Roman"/>
              </a:rPr>
              <a:t>student</a:t>
            </a:r>
            <a:r>
              <a:rPr sz="1100" b="1" i="1">
                <a:latin typeface="Times New Roman"/>
                <a:ea typeface="Times New Roman"/>
                <a:cs typeface="Times New Roman"/>
              </a:rPr>
              <a:t>/</a:t>
            </a:r>
            <a:r>
              <a:rPr sz="1100" b="1" i="1">
                <a:latin typeface="Times New Roman"/>
                <a:ea typeface="Times New Roman"/>
                <a:cs typeface="Times New Roman"/>
              </a:rPr>
              <a:t>teacher</a:t>
            </a:r>
          </a:p>
        </p:txBody>
      </p:sp>
      <p:pic>
        <p:nvPicPr>
          <p:cNvPr id="20" name="Image 9"/>
          <p:cNvPicPr>
            <a:picLocks xmlns:a="http://schemas.openxmlformats.org/drawingml/2006/main" noChangeAspect="1"/>
          </p:cNvPicPr>
          <p:nvPr/>
        </p:nvPicPr>
        <p:blipFill>
          <a:blip xmlns:r="http://schemas.openxmlformats.org/officeDocument/2006/relationships" xmlns:a="http://schemas.openxmlformats.org/drawingml/2006/main" r:embed="R0ed06c0ed05e4aa1"/>
          <a:srcRect xmlns:a="http://schemas.openxmlformats.org/drawingml/2006/main" l="0" t="18539" r="0" b="0"/>
          <a:stretch xmlns:a="http://schemas.openxmlformats.org/drawingml/2006/main">
            <a:fillRect l="0" t="0" r="0" b="0"/>
          </a:stretch>
        </p:blipFill>
        <p:spPr>
          <a:xfrm xmlns:a="http://schemas.openxmlformats.org/drawingml/2006/main" rot="0" flipH="0" flipV="0">
            <a:off x="685800" y="3491202"/>
            <a:ext cx="7772400" cy="1253404"/>
          </a:xfrm>
          <a:prstGeom xmlns:a="http://schemas.openxmlformats.org/drawingml/2006/main" prst="rect">
            <a:avLst/>
          </a:prstGeom>
        </p:spPr>
      </p:pic>
      <p:sp>
        <p:nvSpPr>
          <p:cNvPr id="12" name="ZoneTexte 11">
            <a:extLst xmlns:a="http://schemas.openxmlformats.org/drawingml/2006/main">
              <a:ext uri="{FF2B5EF4-FFF2-40B4-BE49-F238E27FC236}">
                <a16:creationId xmlns:a16="http://schemas.microsoft.com/office/drawing/2014/main" id="{06D4A8C8-6DD3-D1BC-E3EA-392EFB1D3312}"/>
              </a:ext>
            </a:extLst>
          </p:cNvPr>
          <p:cNvSpPr>
            <a:spLocks xmlns:a="http://schemas.openxmlformats.org/drawingml/2006/main" noGrp="1"/>
          </p:cNvSpPr>
          <p:nvPr/>
        </p:nvSpPr>
        <p:spPr>
          <a:xfrm xmlns:a="http://schemas.openxmlformats.org/drawingml/2006/main" rot="0" flipH="0" flipV="0">
            <a:off x="685800" y="4629062"/>
            <a:ext cx="7751190" cy="2616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1100" b="1" i="1">
                <a:latin typeface="Times New Roman"/>
                <a:ea typeface="Times New Roman"/>
                <a:cs typeface="Times New Roman"/>
              </a:rPr>
              <a:t>Table 10: </a:t>
            </a:r>
            <a:r>
              <a:rPr sz="1100" b="1" i="1">
                <a:latin typeface="Times New Roman"/>
                <a:ea typeface="Times New Roman"/>
                <a:cs typeface="Times New Roman"/>
              </a:rPr>
              <a:t>Full-test </a:t>
            </a:r>
            <a:r>
              <a:rPr sz="1100" b="1" i="1">
                <a:latin typeface="Times New Roman"/>
                <a:ea typeface="Times New Roman"/>
                <a:cs typeface="Times New Roman"/>
              </a:rPr>
              <a:t>summary</a:t>
            </a:r>
            <a:r>
              <a:rPr sz="1100" b="1" i="1">
                <a:latin typeface="Times New Roman"/>
                <a:ea typeface="Times New Roman"/>
                <a:cs typeface="Times New Roman"/>
              </a:rPr>
              <a:t>, </a:t>
            </a:r>
            <a:r>
              <a:rPr sz="1100" b="1" i="1">
                <a:latin typeface="Times New Roman"/>
                <a:ea typeface="Times New Roman"/>
                <a:cs typeface="Times New Roman"/>
              </a:rPr>
              <a:t>student</a:t>
            </a:r>
            <a:r>
              <a:rPr sz="1100" b="1" i="1">
                <a:latin typeface="Times New Roman"/>
                <a:ea typeface="Times New Roman"/>
                <a:cs typeface="Times New Roman"/>
              </a:rPr>
              <a:t>/</a:t>
            </a:r>
            <a:r>
              <a:rPr sz="1100" b="1" i="1">
                <a:latin typeface="Times New Roman"/>
                <a:ea typeface="Times New Roman"/>
                <a:cs typeface="Times New Roman"/>
              </a:rPr>
              <a:t>teacher</a:t>
            </a:r>
          </a:p>
        </p:txBody>
      </p:sp>
      <p:pic>
        <p:nvPicPr>
          <p:cNvPr id="22" name="Picture 2"/>
          <p:cNvPicPr>
            <a:picLocks xmlns:a="http://schemas.openxmlformats.org/drawingml/2006/main" noChangeAspect="1"/>
          </p:cNvPicPr>
          <p:nvPr/>
        </p:nvPicPr>
        <p:blipFill>
          <a:blip xmlns:r="http://schemas.openxmlformats.org/officeDocument/2006/relationships" xmlns:a="http://schemas.openxmlformats.org/drawingml/2006/main" r:embed="R9096f9a0c67e4944"/>
          <a:srcRect xmlns:a="http://schemas.openxmlformats.org/drawingml/2006/main" l="0" t="0" r="0" b="0"/>
          <a:stretch xmlns:a="http://schemas.openxmlformats.org/drawingml/2006/main">
            <a:fillRect l="0" t="0" r="0" b="0"/>
          </a:stretch>
        </p:blipFill>
        <p:spPr>
          <a:xfrm xmlns:a="http://schemas.openxmlformats.org/drawingml/2006/main">
            <a:off x="158055" y="379734"/>
            <a:ext cx="587504" cy="326391"/>
          </a:xfrm>
          <a:prstGeom xmlns:a="http://schemas.openxmlformats.org/drawingml/2006/main" prst="rect">
            <a:avLst/>
          </a:prstGeom>
        </p:spPr>
      </p:pic>
    </p:spTree>
    <p:extLst>
      <p:ext uri="{BB962C8B-B14F-4D97-AF65-F5344CB8AC3E}">
        <p14:creationId xmlns:p14="http://schemas.microsoft.com/office/powerpoint/2010/main" val="1863189051"/>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2" name="Titre 1">
            <a:extLst xmlns:a="http://schemas.openxmlformats.org/drawingml/2006/main">
              <a:ext uri="{FF2B5EF4-FFF2-40B4-BE49-F238E27FC236}">
                <a16:creationId xmlns:a16="http://schemas.microsoft.com/office/drawing/2014/main" id="{8C3B7666-58D5-3E86-9503-EDD0BC159FF2}"/>
              </a:ext>
            </a:extLst>
          </p:cNvPr>
          <p:cNvSpPr>
            <a:spLocks xmlns:a="http://schemas.openxmlformats.org/drawingml/2006/main" noGrp="1"/>
          </p:cNvSpPr>
          <p:nvPr>
            <p:ph type="title" idx="0"/>
          </p:nvPr>
        </p:nvSpPr>
        <p:spPr>
          <a:xfrm xmlns:a="http://schemas.openxmlformats.org/drawingml/2006/main">
            <a:off x="904875" y="252828"/>
            <a:ext cx="7532115" cy="601301"/>
          </a:xfrm>
        </p:spPr>
        <p:txBody>
          <a:bodyPr xmlns:a="http://schemas.openxmlformats.org/drawingml/2006/main">
            <a:normAutofit/>
          </a:bodyPr>
          <a:lstStyle xmlns:a="http://schemas.openxmlformats.org/drawingml/2006/main"/>
          <a:p xmlns:a="http://schemas.openxmlformats.org/drawingml/2006/main">
            <a:r>
              <a:t>IEEE 14: Realistic behavior, Results</a:t>
            </a:r>
          </a:p>
        </p:txBody>
      </p:sp>
      <p:sp>
        <p:nvSpPr>
          <p:cNvPr id="5" name="Espace réservé du numéro de diapositive 4">
            <a:extLst xmlns:a="http://schemas.openxmlformats.org/drawingml/2006/main">
              <a:ext uri="{FF2B5EF4-FFF2-40B4-BE49-F238E27FC236}">
                <a16:creationId xmlns:a16="http://schemas.microsoft.com/office/drawing/2014/main" id="{F22887F8-B17A-C2FE-E3AB-B72A6F4A05C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r>
              <a:t>22</a:t>
            </a:r>
          </a:p>
        </p:txBody>
      </p:sp>
      <p:pic>
        <p:nvPicPr>
          <p:cNvPr id="30" name="Image 7"/>
          <p:cNvPicPr>
            <a:picLocks xmlns:a="http://schemas.openxmlformats.org/drawingml/2006/main" noChangeAspect="1"/>
          </p:cNvPicPr>
          <p:nvPr/>
        </p:nvPicPr>
        <p:blipFill>
          <a:blip xmlns:r="http://schemas.openxmlformats.org/officeDocument/2006/relationships" xmlns:a="http://schemas.openxmlformats.org/drawingml/2006/main" r:embed="R067f5c651b6c4e5c"/>
          <a:srcRect xmlns:a="http://schemas.openxmlformats.org/drawingml/2006/main" l="0" t="13893" r="0" b="0"/>
          <a:stretch xmlns:a="http://schemas.openxmlformats.org/drawingml/2006/main">
            <a:fillRect l="0" t="0" r="0" b="0"/>
          </a:stretch>
        </p:blipFill>
        <p:spPr>
          <a:xfrm xmlns:a="http://schemas.openxmlformats.org/drawingml/2006/main">
            <a:off x="1629278" y="1381539"/>
            <a:ext cx="6083308" cy="3133490"/>
          </a:xfrm>
          <a:prstGeom xmlns:a="http://schemas.openxmlformats.org/drawingml/2006/main" prst="rect">
            <a:avLst/>
          </a:prstGeom>
        </p:spPr>
      </p:pic>
      <p:sp>
        <p:nvSpPr>
          <p:cNvPr id="9" name="ZoneTexte 8">
            <a:extLst xmlns:a="http://schemas.openxmlformats.org/drawingml/2006/main">
              <a:ext uri="{FF2B5EF4-FFF2-40B4-BE49-F238E27FC236}">
                <a16:creationId xmlns:a16="http://schemas.microsoft.com/office/drawing/2014/main" id="{9F9DC808-BFCE-9C33-95EA-ADABFAA6884F}"/>
              </a:ext>
            </a:extLst>
          </p:cNvPr>
          <p:cNvSpPr>
            <a:spLocks xmlns:a="http://schemas.openxmlformats.org/drawingml/2006/main" noGrp="1"/>
          </p:cNvSpPr>
          <p:nvPr/>
        </p:nvSpPr>
        <p:spPr>
          <a:xfrm xmlns:a="http://schemas.openxmlformats.org/drawingml/2006/main">
            <a:off x="1629278" y="4515029"/>
            <a:ext cx="5206088" cy="2616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1100" b="1" i="1">
                <a:latin typeface="Times New Roman"/>
                <a:ea typeface="Times New Roman"/>
                <a:cs typeface="Times New Roman"/>
              </a:rPr>
              <a:t>Fig 16: Action-0 / episodic survival tradeoff for all runs</a:t>
            </a:r>
          </a:p>
        </p:txBody>
      </p:sp>
      <p:pic>
        <p:nvPicPr>
          <p:cNvPr id="32" name="Picture 2"/>
          <p:cNvPicPr>
            <a:picLocks xmlns:a="http://schemas.openxmlformats.org/drawingml/2006/main" noChangeAspect="1"/>
          </p:cNvPicPr>
          <p:nvPr/>
        </p:nvPicPr>
        <p:blipFill>
          <a:blip xmlns:r="http://schemas.openxmlformats.org/officeDocument/2006/relationships" xmlns:a="http://schemas.openxmlformats.org/drawingml/2006/main" r:embed="Rd9bc591505714309"/>
          <a:srcRect xmlns:a="http://schemas.openxmlformats.org/drawingml/2006/main" l="0" t="0" r="0" b="0"/>
          <a:stretch xmlns:a="http://schemas.openxmlformats.org/drawingml/2006/main">
            <a:fillRect l="0" t="0" r="0" b="0"/>
          </a:stretch>
        </p:blipFill>
        <p:spPr>
          <a:xfrm xmlns:a="http://schemas.openxmlformats.org/drawingml/2006/main">
            <a:off x="158055" y="379734"/>
            <a:ext cx="587504" cy="326391"/>
          </a:xfrm>
          <a:prstGeom xmlns:a="http://schemas.openxmlformats.org/drawingml/2006/main" prst="rect">
            <a:avLst/>
          </a:prstGeom>
        </p:spPr>
      </p:pic>
      <p:sp>
        <p:nvSpPr>
          <p:cNvPr id="11" name="Forme libre 10">
            <a:extLst xmlns:a="http://schemas.openxmlformats.org/drawingml/2006/main">
              <a:ext uri="{FF2B5EF4-FFF2-40B4-BE49-F238E27FC236}">
                <a16:creationId xmlns:a16="http://schemas.microsoft.com/office/drawing/2014/main" id="{646BFB11-C3BF-C964-2CE9-39EAD966A2EA}"/>
              </a:ext>
            </a:extLst>
          </p:cNvPr>
          <p:cNvSpPr>
            <a:spLocks xmlns:a="http://schemas.openxmlformats.org/drawingml/2006/main" noGrp="1"/>
          </p:cNvSpPr>
          <p:nvPr/>
        </p:nvSpPr>
        <p:spPr>
          <a:xfrm xmlns:a="http://schemas.openxmlformats.org/drawingml/2006/main">
            <a:off x="6332342" y="1584308"/>
            <a:ext cx="254272" cy="146695"/>
          </a:xfrm>
          <a:custGeom xmlns:a="http://schemas.openxmlformats.org/drawingml/2006/main">
            <a:gdLst>
              <a:gd name="csX0" fmla="*/ 254272 w 254272"/>
              <a:gd name="csY0" fmla="*/ 0 h 146695"/>
              <a:gd name="csX1" fmla="*/ 190704 w 254272"/>
              <a:gd name="csY1" fmla="*/ 14670 h 146695"/>
              <a:gd name="csX2" fmla="*/ 176034 w 254272"/>
              <a:gd name="csY2" fmla="*/ 24449 h 146695"/>
              <a:gd name="csX3" fmla="*/ 166255 w 254272"/>
              <a:gd name="csY3" fmla="*/ 39119 h 146695"/>
              <a:gd name="csX4" fmla="*/ 151585 w 254272"/>
              <a:gd name="csY4" fmla="*/ 44009 h 146695"/>
              <a:gd name="csX5" fmla="*/ 122246 w 254272"/>
              <a:gd name="csY5" fmla="*/ 63568 h 146695"/>
              <a:gd name="csX6" fmla="*/ 107577 w 254272"/>
              <a:gd name="csY6" fmla="*/ 68458 h 146695"/>
              <a:gd name="csX7" fmla="*/ 78238 w 254272"/>
              <a:gd name="csY7" fmla="*/ 88017 h 146695"/>
              <a:gd name="csX8" fmla="*/ 34229 w 254272"/>
              <a:gd name="csY8" fmla="*/ 117356 h 146695"/>
              <a:gd name="csX9" fmla="*/ 19560 w 254272"/>
              <a:gd name="csY9" fmla="*/ 127136 h 146695"/>
              <a:gd name="csX10" fmla="*/ 4890 w 254272"/>
              <a:gd name="csY10" fmla="*/ 136916 h 146695"/>
              <a:gd name="csX11" fmla="*/ 0 w 254272"/>
              <a:gd name="csY11" fmla="*/ 146695 h 146695"/>
            </a:gdLst>
            <a:rect l="l" t="t" r="r" b="b"/>
            <a:pathLst>
              <a:path w="254272" h="146695">
                <a:moveTo>
                  <a:pt x="254272" y="0"/>
                </a:moveTo>
                <a:cubicBezTo>
                  <a:pt x="238488" y="2255"/>
                  <a:pt x="205351" y="4906"/>
                  <a:pt x="190704" y="14670"/>
                </a:cubicBezTo>
                <a:lnTo>
                  <a:pt x="176034" y="24449"/>
                </a:lnTo>
                <a:cubicBezTo>
                  <a:pt x="172774" y="29339"/>
                  <a:pt x="170844" y="35448"/>
                  <a:pt x="166255" y="39119"/>
                </a:cubicBezTo>
                <a:cubicBezTo>
                  <a:pt x="162230" y="42339"/>
                  <a:pt x="156091" y="41506"/>
                  <a:pt x="151585" y="44009"/>
                </a:cubicBezTo>
                <a:cubicBezTo>
                  <a:pt x="141310" y="49717"/>
                  <a:pt x="133396" y="59851"/>
                  <a:pt x="122246" y="63568"/>
                </a:cubicBezTo>
                <a:cubicBezTo>
                  <a:pt x="117356" y="65198"/>
                  <a:pt x="112083" y="65955"/>
                  <a:pt x="107577" y="68458"/>
                </a:cubicBezTo>
                <a:cubicBezTo>
                  <a:pt x="97302" y="74166"/>
                  <a:pt x="88018" y="81497"/>
                  <a:pt x="78238" y="88017"/>
                </a:cubicBezTo>
                <a:lnTo>
                  <a:pt x="34229" y="117356"/>
                </a:lnTo>
                <a:lnTo>
                  <a:pt x="19560" y="127136"/>
                </a:lnTo>
                <a:cubicBezTo>
                  <a:pt x="14670" y="130396"/>
                  <a:pt x="7519" y="131660"/>
                  <a:pt x="4890" y="136916"/>
                </a:cubicBezTo>
                <a:lnTo>
                  <a:pt x="0" y="146695"/>
                </a:lnTo>
              </a:path>
            </a:pathLst>
          </a:custGeom>
          <a:noFill xmlns:a="http://schemas.openxmlformats.org/drawingml/2006/main"/>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34" name="Encre 11"/>
          <p:cNvPicPr>
            <a:picLocks xmlns:a="http://schemas.openxmlformats.org/drawingml/2006/main" noChangeAspect="1"/>
          </p:cNvPicPr>
          <p:nvPr/>
        </p:nvPicPr>
        <p:blipFill>
          <a:blip xmlns:r="http://schemas.openxmlformats.org/officeDocument/2006/relationships" xmlns:a="http://schemas.openxmlformats.org/drawingml/2006/main" r:embed="R248442b8b2e946af"/>
          <a:stretch xmlns:a="http://schemas.openxmlformats.org/drawingml/2006/main">
            <a:fillRect l="0" t="0" r="0" b="0"/>
          </a:stretch>
        </p:blipFill>
        <p:spPr>
          <a:xfrm xmlns:a="http://schemas.openxmlformats.org/drawingml/2006/main">
            <a:off x="6460637" y="1467886"/>
            <a:ext cx="126000" cy="126000"/>
          </a:xfrm>
          <a:prstGeom xmlns:a="http://schemas.openxmlformats.org/drawingml/2006/main" prst="rect">
            <a:avLst/>
          </a:prstGeom>
        </p:spPr>
      </p:pic>
      <p:pic>
        <p:nvPicPr>
          <p:cNvPr id="35" name="Encre 28"/>
          <p:cNvPicPr>
            <a:picLocks xmlns:a="http://schemas.openxmlformats.org/drawingml/2006/main" noChangeAspect="1"/>
          </p:cNvPicPr>
          <p:nvPr/>
        </p:nvPicPr>
        <p:blipFill>
          <a:blip xmlns:r="http://schemas.openxmlformats.org/officeDocument/2006/relationships" xmlns:a="http://schemas.openxmlformats.org/drawingml/2006/main" r:embed="R01652daf66e6493c"/>
          <a:stretch xmlns:a="http://schemas.openxmlformats.org/drawingml/2006/main">
            <a:fillRect l="0" t="0" r="0" b="0"/>
          </a:stretch>
        </p:blipFill>
        <p:spPr>
          <a:xfrm xmlns:a="http://schemas.openxmlformats.org/drawingml/2006/main">
            <a:off x="5530757" y="2085286"/>
            <a:ext cx="12600" cy="12600"/>
          </a:xfrm>
          <a:prstGeom xmlns:a="http://schemas.openxmlformats.org/drawingml/2006/main" prst="rect">
            <a:avLst/>
          </a:prstGeom>
        </p:spPr>
      </p:pic>
      <p:pic>
        <p:nvPicPr>
          <p:cNvPr id="36" name="Encre 29"/>
          <p:cNvPicPr>
            <a:picLocks xmlns:a="http://schemas.openxmlformats.org/drawingml/2006/main" noChangeAspect="1"/>
          </p:cNvPicPr>
          <p:nvPr/>
        </p:nvPicPr>
        <p:blipFill>
          <a:blip xmlns:r="http://schemas.openxmlformats.org/officeDocument/2006/relationships" xmlns:a="http://schemas.openxmlformats.org/drawingml/2006/main" r:embed="R01652daf66e6493c"/>
          <a:stretch xmlns:a="http://schemas.openxmlformats.org/drawingml/2006/main">
            <a:fillRect l="0" t="0" r="0" b="0"/>
          </a:stretch>
        </p:blipFill>
        <p:spPr>
          <a:xfrm xmlns:a="http://schemas.openxmlformats.org/drawingml/2006/main">
            <a:off x="7009319" y="3118576"/>
            <a:ext cx="12600" cy="12600"/>
          </a:xfrm>
          <a:prstGeom xmlns:a="http://schemas.openxmlformats.org/drawingml/2006/main" prst="rect">
            <a:avLst/>
          </a:prstGeom>
        </p:spPr>
      </p:pic>
      <p:pic>
        <p:nvPicPr>
          <p:cNvPr id="37" name="Encre 30"/>
          <p:cNvPicPr>
            <a:picLocks xmlns:a="http://schemas.openxmlformats.org/drawingml/2006/main" noChangeAspect="1"/>
          </p:cNvPicPr>
          <p:nvPr/>
        </p:nvPicPr>
        <p:blipFill>
          <a:blip xmlns:r="http://schemas.openxmlformats.org/officeDocument/2006/relationships" xmlns:a="http://schemas.openxmlformats.org/drawingml/2006/main" r:embed="R88b06930cfd84545"/>
          <a:stretch xmlns:a="http://schemas.openxmlformats.org/drawingml/2006/main">
            <a:fillRect l="0" t="0" r="0" b="0"/>
          </a:stretch>
        </p:blipFill>
        <p:spPr>
          <a:xfrm xmlns:a="http://schemas.openxmlformats.org/drawingml/2006/main">
            <a:off x="6502439" y="2176096"/>
            <a:ext cx="68400" cy="12600"/>
          </a:xfrm>
          <a:prstGeom xmlns:a="http://schemas.openxmlformats.org/drawingml/2006/main" prst="rect">
            <a:avLst/>
          </a:prstGeom>
        </p:spPr>
      </p:pic>
      <p:pic>
        <p:nvPicPr>
          <p:cNvPr id="38" name="Encre 31"/>
          <p:cNvPicPr>
            <a:picLocks xmlns:a="http://schemas.openxmlformats.org/drawingml/2006/main" noChangeAspect="1"/>
          </p:cNvPicPr>
          <p:nvPr/>
        </p:nvPicPr>
        <p:blipFill>
          <a:blip xmlns:r="http://schemas.openxmlformats.org/officeDocument/2006/relationships" xmlns:a="http://schemas.openxmlformats.org/drawingml/2006/main" r:embed="R6a16c95e4f634ec4"/>
          <a:stretch xmlns:a="http://schemas.openxmlformats.org/drawingml/2006/main">
            <a:fillRect l="0" t="0" r="0" b="0"/>
          </a:stretch>
        </p:blipFill>
        <p:spPr>
          <a:xfrm xmlns:a="http://schemas.openxmlformats.org/drawingml/2006/main" rot="0" flipH="0" flipV="0">
            <a:off x="6342599" y="1660576"/>
            <a:ext cx="92160" cy="91800"/>
          </a:xfrm>
          <a:prstGeom xmlns:a="http://schemas.openxmlformats.org/drawingml/2006/main" prst="rect">
            <a:avLst/>
          </a:prstGeom>
        </p:spPr>
      </p:pic>
      <p:pic>
        <p:nvPicPr>
          <p:cNvPr id="39" name="Encre 12"/>
          <p:cNvPicPr>
            <a:picLocks xmlns:a="http://schemas.openxmlformats.org/drawingml/2006/main" noChangeAspect="1"/>
          </p:cNvPicPr>
          <p:nvPr/>
        </p:nvPicPr>
        <p:blipFill>
          <a:blip xmlns:r="http://schemas.openxmlformats.org/officeDocument/2006/relationships" xmlns:a="http://schemas.openxmlformats.org/drawingml/2006/main" r:embed="R248442b8b2e946af"/>
          <a:stretch xmlns:a="http://schemas.openxmlformats.org/drawingml/2006/main">
            <a:fillRect l="0" t="0" r="0" b="0"/>
          </a:stretch>
        </p:blipFill>
        <p:spPr>
          <a:xfrm xmlns:a="http://schemas.openxmlformats.org/drawingml/2006/main" rot="0" flipH="0" flipV="0">
            <a:off x="6180557" y="1751566"/>
            <a:ext cx="126000" cy="126000"/>
          </a:xfrm>
          <a:prstGeom xmlns:a="http://schemas.openxmlformats.org/drawingml/2006/main" prst="rect">
            <a:avLst/>
          </a:prstGeom>
        </p:spPr>
      </p:pic>
      <p:pic>
        <p:nvPicPr>
          <p:cNvPr id="40" name="Encre 13"/>
          <p:cNvPicPr>
            <a:picLocks xmlns:a="http://schemas.openxmlformats.org/drawingml/2006/main" noChangeAspect="1"/>
          </p:cNvPicPr>
          <p:nvPr/>
        </p:nvPicPr>
        <p:blipFill>
          <a:blip xmlns:r="http://schemas.openxmlformats.org/officeDocument/2006/relationships" xmlns:a="http://schemas.openxmlformats.org/drawingml/2006/main" r:embed="R248442b8b2e946af"/>
          <a:stretch xmlns:a="http://schemas.openxmlformats.org/drawingml/2006/main">
            <a:fillRect l="0" t="0" r="0" b="0"/>
          </a:stretch>
        </p:blipFill>
        <p:spPr>
          <a:xfrm xmlns:a="http://schemas.openxmlformats.org/drawingml/2006/main" rot="0" flipH="0" flipV="0">
            <a:off x="6317357" y="1785766"/>
            <a:ext cx="126000" cy="126000"/>
          </a:xfrm>
          <a:prstGeom xmlns:a="http://schemas.openxmlformats.org/drawingml/2006/main" prst="rect">
            <a:avLst/>
          </a:prstGeom>
        </p:spPr>
      </p:pic>
      <p:pic>
        <p:nvPicPr>
          <p:cNvPr id="41" name="Encre 16"/>
          <p:cNvPicPr>
            <a:picLocks xmlns:a="http://schemas.openxmlformats.org/drawingml/2006/main" noChangeAspect="1"/>
          </p:cNvPicPr>
          <p:nvPr/>
        </p:nvPicPr>
        <p:blipFill>
          <a:blip xmlns:r="http://schemas.openxmlformats.org/officeDocument/2006/relationships" xmlns:a="http://schemas.openxmlformats.org/drawingml/2006/main" r:embed="R248442b8b2e946af"/>
          <a:stretch xmlns:a="http://schemas.openxmlformats.org/drawingml/2006/main">
            <a:fillRect l="0" t="0" r="0" b="0"/>
          </a:stretch>
        </p:blipFill>
        <p:spPr>
          <a:xfrm xmlns:a="http://schemas.openxmlformats.org/drawingml/2006/main" rot="0" flipH="0" flipV="0">
            <a:off x="6256157" y="1785766"/>
            <a:ext cx="126000" cy="126000"/>
          </a:xfrm>
          <a:prstGeom xmlns:a="http://schemas.openxmlformats.org/drawingml/2006/main" prst="rect">
            <a:avLst/>
          </a:prstGeom>
        </p:spPr>
      </p:pic>
      <p:pic>
        <p:nvPicPr>
          <p:cNvPr id="42" name="Encre 19"/>
          <p:cNvPicPr>
            <a:picLocks xmlns:a="http://schemas.openxmlformats.org/drawingml/2006/main" noChangeAspect="1"/>
          </p:cNvPicPr>
          <p:nvPr/>
        </p:nvPicPr>
        <p:blipFill>
          <a:blip xmlns:r="http://schemas.openxmlformats.org/officeDocument/2006/relationships" xmlns:a="http://schemas.openxmlformats.org/drawingml/2006/main" r:embed="R248442b8b2e946af"/>
          <a:stretch xmlns:a="http://schemas.openxmlformats.org/drawingml/2006/main">
            <a:fillRect l="0" t="0" r="0" b="0"/>
          </a:stretch>
        </p:blipFill>
        <p:spPr>
          <a:xfrm xmlns:a="http://schemas.openxmlformats.org/drawingml/2006/main" rot="0" flipH="0" flipV="0">
            <a:off x="6321677" y="1746166"/>
            <a:ext cx="126000" cy="126000"/>
          </a:xfrm>
          <a:prstGeom xmlns:a="http://schemas.openxmlformats.org/drawingml/2006/main" prst="rect">
            <a:avLst/>
          </a:prstGeom>
        </p:spPr>
      </p:pic>
      <p:pic>
        <p:nvPicPr>
          <p:cNvPr id="43" name="Encre 22"/>
          <p:cNvPicPr>
            <a:picLocks xmlns:a="http://schemas.openxmlformats.org/drawingml/2006/main" noChangeAspect="1"/>
          </p:cNvPicPr>
          <p:nvPr/>
        </p:nvPicPr>
        <p:blipFill>
          <a:blip xmlns:r="http://schemas.openxmlformats.org/officeDocument/2006/relationships" xmlns:a="http://schemas.openxmlformats.org/drawingml/2006/main" r:embed="R248442b8b2e946af"/>
          <a:stretch xmlns:a="http://schemas.openxmlformats.org/drawingml/2006/main">
            <a:fillRect l="0" t="0" r="0" b="0"/>
          </a:stretch>
        </p:blipFill>
        <p:spPr>
          <a:xfrm xmlns:a="http://schemas.openxmlformats.org/drawingml/2006/main" rot="0" flipH="0" flipV="0">
            <a:off x="6368477" y="1717366"/>
            <a:ext cx="126000" cy="126000"/>
          </a:xfrm>
          <a:prstGeom xmlns:a="http://schemas.openxmlformats.org/drawingml/2006/main" prst="rect">
            <a:avLst/>
          </a:prstGeom>
        </p:spPr>
      </p:pic>
      <p:pic>
        <p:nvPicPr>
          <p:cNvPr id="44" name="Encre 32"/>
          <p:cNvPicPr>
            <a:picLocks xmlns:a="http://schemas.openxmlformats.org/drawingml/2006/main" noChangeAspect="1"/>
          </p:cNvPicPr>
          <p:nvPr/>
        </p:nvPicPr>
        <p:blipFill>
          <a:blip xmlns:r="http://schemas.openxmlformats.org/officeDocument/2006/relationships" xmlns:a="http://schemas.openxmlformats.org/drawingml/2006/main" r:embed="R994d9a121a574706"/>
          <a:stretch xmlns:a="http://schemas.openxmlformats.org/drawingml/2006/main">
            <a:fillRect l="0" t="0" r="0" b="0"/>
          </a:stretch>
        </p:blipFill>
        <p:spPr>
          <a:xfrm xmlns:a="http://schemas.openxmlformats.org/drawingml/2006/main">
            <a:off x="6316679" y="1642936"/>
            <a:ext cx="155880" cy="106200"/>
          </a:xfrm>
          <a:prstGeom xmlns:a="http://schemas.openxmlformats.org/drawingml/2006/main" prst="rect">
            <a:avLst/>
          </a:prstGeom>
        </p:spPr>
      </p:pic>
      <p:pic>
        <p:nvPicPr>
          <p:cNvPr id="45" name="Encre 38"/>
          <p:cNvPicPr>
            <a:picLocks xmlns:a="http://schemas.openxmlformats.org/drawingml/2006/main" noChangeAspect="1"/>
          </p:cNvPicPr>
          <p:nvPr/>
        </p:nvPicPr>
        <p:blipFill>
          <a:blip xmlns:r="http://schemas.openxmlformats.org/officeDocument/2006/relationships" xmlns:a="http://schemas.openxmlformats.org/drawingml/2006/main" r:embed="R31f30c1caac44093"/>
          <a:stretch xmlns:a="http://schemas.openxmlformats.org/drawingml/2006/main">
            <a:fillRect l="0" t="0" r="0" b="0"/>
          </a:stretch>
        </p:blipFill>
        <p:spPr>
          <a:xfrm xmlns:a="http://schemas.openxmlformats.org/drawingml/2006/main" rot="0" flipH="0" flipV="0">
            <a:off x="6456651" y="1612197"/>
            <a:ext cx="76680" cy="15840"/>
          </a:xfrm>
          <a:prstGeom xmlns:a="http://schemas.openxmlformats.org/drawingml/2006/main" prst="rect">
            <a:avLst/>
          </a:prstGeom>
        </p:spPr>
      </p:pic>
      <p:pic>
        <p:nvPicPr>
          <p:cNvPr id="46" name="Encre 39"/>
          <p:cNvPicPr>
            <a:picLocks xmlns:a="http://schemas.openxmlformats.org/drawingml/2006/main" noChangeAspect="1"/>
          </p:cNvPicPr>
          <p:nvPr/>
        </p:nvPicPr>
        <p:blipFill>
          <a:blip xmlns:r="http://schemas.openxmlformats.org/officeDocument/2006/relationships" xmlns:a="http://schemas.openxmlformats.org/drawingml/2006/main" r:embed="Re7097b84b0f64c30"/>
          <a:stretch xmlns:a="http://schemas.openxmlformats.org/drawingml/2006/main">
            <a:fillRect l="0" t="0" r="0" b="0"/>
          </a:stretch>
        </p:blipFill>
        <p:spPr>
          <a:xfrm xmlns:a="http://schemas.openxmlformats.org/drawingml/2006/main" rot="0" flipH="0" flipV="0">
            <a:off x="6455211" y="1634517"/>
            <a:ext cx="22680" cy="39960"/>
          </a:xfrm>
          <a:prstGeom xmlns:a="http://schemas.openxmlformats.org/drawingml/2006/main" prst="rect">
            <a:avLst/>
          </a:prstGeom>
        </p:spPr>
      </p:pic>
      <p:pic>
        <p:nvPicPr>
          <p:cNvPr id="47" name="Encre 45"/>
          <p:cNvPicPr>
            <a:picLocks xmlns:a="http://schemas.openxmlformats.org/drawingml/2006/main" noChangeAspect="1"/>
          </p:cNvPicPr>
          <p:nvPr/>
        </p:nvPicPr>
        <p:blipFill>
          <a:blip xmlns:r="http://schemas.openxmlformats.org/officeDocument/2006/relationships" xmlns:a="http://schemas.openxmlformats.org/drawingml/2006/main" r:embed="R2194a72a67cc4142"/>
          <a:stretch xmlns:a="http://schemas.openxmlformats.org/drawingml/2006/main">
            <a:fillRect l="0" t="0" r="0" b="0"/>
          </a:stretch>
        </p:blipFill>
        <p:spPr>
          <a:xfrm xmlns:a="http://schemas.openxmlformats.org/drawingml/2006/main" rot="0" flipH="0" flipV="0">
            <a:off x="6439371" y="1631277"/>
            <a:ext cx="25560" cy="66240"/>
          </a:xfrm>
          <a:prstGeom xmlns:a="http://schemas.openxmlformats.org/drawingml/2006/main" prst="rect">
            <a:avLst/>
          </a:prstGeom>
        </p:spPr>
      </p:pic>
    </p:spTree>
    <p:extLst>
      <p:ext uri="{BB962C8B-B14F-4D97-AF65-F5344CB8AC3E}">
        <p14:creationId xmlns:p14="http://schemas.microsoft.com/office/powerpoint/2010/main" val="3583981878"/>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2" name="Titre 1">
            <a:extLst xmlns:a="http://schemas.openxmlformats.org/drawingml/2006/main">
              <a:ext uri="{FF2B5EF4-FFF2-40B4-BE49-F238E27FC236}">
                <a16:creationId xmlns:a16="http://schemas.microsoft.com/office/drawing/2014/main" id="{1B3BC768-5E5F-346E-BB48-3EC6D35259AA}"/>
              </a:ext>
            </a:extLst>
          </p:cNvPr>
          <p:cNvSpPr>
            <a:spLocks xmlns:a="http://schemas.openxmlformats.org/drawingml/2006/main" noGrp="1"/>
          </p:cNvSpPr>
          <p:nvPr>
            <p:ph type="title" idx="0"/>
          </p:nvPr>
        </p:nvSpPr>
        <p:spPr>
          <a:xfrm xmlns:a="http://schemas.openxmlformats.org/drawingml/2006/main">
            <a:off x="904875" y="252828"/>
            <a:ext cx="7532115" cy="601301"/>
          </a:xfrm>
        </p:spPr>
        <p:txBody>
          <a:bodyPr xmlns:a="http://schemas.openxmlformats.org/drawingml/2006/main">
            <a:normAutofit/>
          </a:bodyPr>
          <a:lstStyle xmlns:a="http://schemas.openxmlformats.org/drawingml/2006/main"/>
          <a:p xmlns:a="http://schemas.openxmlformats.org/drawingml/2006/main">
            <a:r>
              <a:t>WCCI 2020 (36 substations): environment setup</a:t>
            </a:r>
          </a:p>
        </p:txBody>
      </p:sp>
      <p:sp>
        <p:nvSpPr>
          <p:cNvPr id="5" name="Espace réservé du numéro de diapositive 4">
            <a:extLst xmlns:a="http://schemas.openxmlformats.org/drawingml/2006/main">
              <a:ext uri="{FF2B5EF4-FFF2-40B4-BE49-F238E27FC236}">
                <a16:creationId xmlns:a16="http://schemas.microsoft.com/office/drawing/2014/main" id="{AD481400-AE95-5FD3-E128-AC8F61962A1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r>
              <a:t>23</a:t>
            </a:r>
          </a:p>
        </p:txBody>
      </p:sp>
      <p:graphicFrame>
        <p:nvGraphicFramePr>
          <p:cNvPr id="24" name="Tableau 3"/>
          <p:cNvGraphicFramePr/>
          <p:nvPr/>
        </p:nvGraphicFramePr>
        <p:xfrm>
          <a:off xmlns:a="http://schemas.openxmlformats.org/drawingml/2006/main" x="214377" y="1557365"/>
          <a:ext xmlns:a="http://schemas.openxmlformats.org/drawingml/2006/main" cx="4357624" cy="2279280"/>
        </p:xfrm>
        <a:graphic xmlns:a="http://schemas.openxmlformats.org/drawingml/2006/main">
          <a:graphicData uri="http://schemas.openxmlformats.org/drawingml/2006/table">
            <a:tbl>
              <a:tblPr>
                <a:tableStyleId>{9D7B26C5-4107-4FEC-AEDC-1716B250A1EF}</a:tableStyleId>
              </a:tblPr>
              <a:tblGrid>
                <a:gridCol w="833027"/>
                <a:gridCol w="1818423"/>
                <a:gridCol w="1706174"/>
              </a:tblGrid>
              <a:tr h="454960">
                <a:tc>
                  <a:txBody>
                    <a:bodyPr/>
                    <a:lstStyle/>
                    <a:p>
                      <a:pPr>
                        <a:buNone/>
                      </a:pPr>
                      <a:r>
                        <a:rPr sz="1200" b="1"/>
                        <a:t>Agent</a:t>
                      </a:r>
                    </a:p>
                  </a:txBody>
                  <a:tcPr marL="91440" marR="91440" marT="45720" marB="45720" anchor="ctr"/>
                </a:tc>
                <a:tc>
                  <a:txBody>
                    <a:bodyPr/>
                    <a:lstStyle/>
                    <a:p>
                      <a:pPr>
                        <a:buNone/>
                      </a:pPr>
                      <a:r>
                        <a:rPr sz="1200" b="1"/>
                        <a:t>Controlled</a:t>
                      </a:r>
                      <a:r>
                        <a:rPr sz="1200" b="1"/>
                        <a:t> </a:t>
                      </a:r>
                      <a:r>
                        <a:rPr sz="1200" b="1"/>
                        <a:t>substations</a:t>
                      </a:r>
                    </a:p>
                  </a:txBody>
                  <a:tcPr marL="91440" marR="91440" marT="45720" marB="45720" anchor="ctr"/>
                </a:tc>
                <a:tc>
                  <a:txBody>
                    <a:bodyPr/>
                    <a:lstStyle/>
                    <a:p>
                      <a:pPr>
                        <a:buNone/>
                      </a:pPr>
                      <a:r>
                        <a:rPr sz="1200" b="1"/>
                        <a:t>Local </a:t>
                      </a:r>
                      <a:r>
                        <a:rPr sz="1200" b="1"/>
                        <a:t>discrete</a:t>
                      </a:r>
                      <a:r>
                        <a:rPr sz="1200" b="1"/>
                        <a:t> action </a:t>
                      </a:r>
                      <a:r>
                        <a:rPr sz="1200" b="1"/>
                        <a:t>space</a:t>
                      </a:r>
                    </a:p>
                  </a:txBody>
                  <a:tcPr marL="91440" marR="91440" marT="45720" marB="45720" anchor="ctr"/>
                </a:tc>
              </a:tr>
              <a:tr h="454960">
                <a:tc>
                  <a:txBody>
                    <a:bodyPr/>
                    <a:lstStyle/>
                    <a:p>
                      <a:pPr>
                        <a:buNone/>
                      </a:pPr>
                      <a:r>
                        <a:rPr sz="1200" b="1"/>
                        <a:t>Agent 0</a:t>
                      </a:r>
                    </a:p>
                  </a:txBody>
                  <a:tcPr marL="91440" marR="91440" marT="45720" marB="45720" anchor="ctr">
                    <a:solidFill>
                      <a:schemeClr val="accent1">
                        <a:lumMod val="20000"/>
                        <a:lumOff val="80000"/>
                      </a:schemeClr>
                    </a:solidFill>
                  </a:tcPr>
                </a:tc>
                <a:tc>
                  <a:txBody>
                    <a:bodyPr/>
                    <a:lstStyle/>
                    <a:p>
                      <a:pPr>
                        <a:buNone/>
                      </a:pPr>
                      <a:r>
                        <a:rPr sz="1200"/>
                        <a:t>0, 1, 2, 3, 4</a:t>
                      </a:r>
                    </a:p>
                  </a:txBody>
                  <a:tcPr marL="91440" marR="91440" marT="45720" marB="45720" anchor="ctr">
                    <a:solidFill>
                      <a:schemeClr val="accent1">
                        <a:lumMod val="20000"/>
                        <a:lumOff val="80000"/>
                      </a:schemeClr>
                    </a:solidFill>
                  </a:tcPr>
                </a:tc>
                <a:tc>
                  <a:txBody>
                    <a:bodyPr/>
                    <a:lstStyle/>
                    <a:p>
                      <a:pPr>
                        <a:buNone/>
                      </a:pPr>
                      <a:r>
                        <a:rPr sz="1200"/>
                        <a:t>77 actions</a:t>
                      </a:r>
                    </a:p>
                  </a:txBody>
                  <a:tcPr marL="91440" marR="91440" marT="45720" marB="45720" anchor="ctr">
                    <a:solidFill>
                      <a:schemeClr val="accent1">
                        <a:lumMod val="20000"/>
                        <a:lumOff val="80000"/>
                      </a:schemeClr>
                    </a:solidFill>
                  </a:tcPr>
                </a:tc>
              </a:tr>
              <a:tr h="454960">
                <a:tc>
                  <a:txBody>
                    <a:bodyPr/>
                    <a:lstStyle/>
                    <a:p>
                      <a:pPr>
                        <a:buNone/>
                      </a:pPr>
                      <a:r>
                        <a:rPr sz="1200" b="1"/>
                        <a:t>Agent 1</a:t>
                      </a:r>
                    </a:p>
                  </a:txBody>
                  <a:tcPr marL="91440" marR="91440" marT="45720" marB="45720" anchor="ctr">
                    <a:solidFill>
                      <a:schemeClr val="accent5">
                        <a:lumMod val="20000"/>
                        <a:lumOff val="80000"/>
                      </a:schemeClr>
                    </a:solidFill>
                  </a:tcPr>
                </a:tc>
                <a:tc>
                  <a:txBody>
                    <a:bodyPr/>
                    <a:lstStyle/>
                    <a:p>
                      <a:pPr>
                        <a:buNone/>
                      </a:pPr>
                      <a:r>
                        <a:rPr sz="1200"/>
                        <a:t>6, 7, 8, 9, 16</a:t>
                      </a:r>
                    </a:p>
                  </a:txBody>
                  <a:tcPr marL="91440" marR="91440" marT="45720" marB="45720" anchor="ctr">
                    <a:solidFill>
                      <a:schemeClr val="accent5">
                        <a:lumMod val="20000"/>
                        <a:lumOff val="80000"/>
                      </a:schemeClr>
                    </a:solidFill>
                  </a:tcPr>
                </a:tc>
                <a:tc>
                  <a:txBody>
                    <a:bodyPr/>
                    <a:lstStyle/>
                    <a:p>
                      <a:pPr>
                        <a:buNone/>
                      </a:pPr>
                      <a:r>
                        <a:rPr sz="1200"/>
                        <a:t>65,642 actions</a:t>
                      </a:r>
                    </a:p>
                  </a:txBody>
                  <a:tcPr marL="91440" marR="91440" marT="45720" marB="45720" anchor="ctr">
                    <a:solidFill>
                      <a:schemeClr val="accent5">
                        <a:lumMod val="20000"/>
                        <a:lumOff val="80000"/>
                      </a:schemeClr>
                    </a:solidFill>
                  </a:tcPr>
                </a:tc>
              </a:tr>
              <a:tr h="454960">
                <a:tc>
                  <a:txBody>
                    <a:bodyPr/>
                    <a:lstStyle/>
                    <a:p>
                      <a:pPr>
                        <a:buNone/>
                      </a:pPr>
                      <a:r>
                        <a:rPr sz="1200" b="1"/>
                        <a:t>Agent 2</a:t>
                      </a:r>
                    </a:p>
                  </a:txBody>
                  <a:tcPr marL="91440" marR="91440" marT="45720" marB="45720" anchor="ctr">
                    <a:solidFill>
                      <a:srgbClr val="00A79F">
                        <a:alpha val="20000"/>
                      </a:srgbClr>
                    </a:solidFill>
                  </a:tcPr>
                </a:tc>
                <a:tc>
                  <a:txBody>
                    <a:bodyPr/>
                    <a:lstStyle/>
                    <a:p>
                      <a:pPr>
                        <a:buNone/>
                      </a:pPr>
                      <a:r>
                        <a:rPr sz="1200"/>
                        <a:t>5, 10, 11, 12, 13, 14, 15, 32, 35</a:t>
                      </a:r>
                    </a:p>
                  </a:txBody>
                  <a:tcPr marL="91440" marR="91440" marT="45720" marB="45720" anchor="ctr">
                    <a:solidFill>
                      <a:srgbClr val="00A79F">
                        <a:alpha val="20000"/>
                      </a:srgbClr>
                    </a:solidFill>
                  </a:tcPr>
                </a:tc>
                <a:tc>
                  <a:txBody>
                    <a:bodyPr/>
                    <a:lstStyle/>
                    <a:p>
                      <a:pPr>
                        <a:buNone/>
                      </a:pPr>
                      <a:r>
                        <a:rPr sz="1200"/>
                        <a:t>127 actions</a:t>
                      </a:r>
                    </a:p>
                  </a:txBody>
                  <a:tcPr marL="91440" marR="91440" marT="45720" marB="45720" anchor="ctr">
                    <a:solidFill>
                      <a:srgbClr val="00A79F">
                        <a:alpha val="20000"/>
                      </a:srgbClr>
                    </a:solidFill>
                  </a:tcPr>
                </a:tc>
              </a:tr>
              <a:tr h="454960">
                <a:tc>
                  <a:txBody>
                    <a:bodyPr/>
                    <a:lstStyle/>
                    <a:p>
                      <a:pPr>
                        <a:buNone/>
                      </a:pPr>
                      <a:r>
                        <a:rPr sz="1200" b="1"/>
                        <a:t>Agent 3</a:t>
                      </a:r>
                    </a:p>
                  </a:txBody>
                  <a:tcPr marL="91440" marR="91440" marT="45720" marB="45720" anchor="ctr">
                    <a:solidFill>
                      <a:srgbClr val="0070C0">
                        <a:alpha val="20000"/>
                      </a:srgbClr>
                    </a:solidFill>
                  </a:tcPr>
                </a:tc>
                <a:tc>
                  <a:txBody>
                    <a:bodyPr/>
                    <a:lstStyle/>
                    <a:p>
                      <a:pPr>
                        <a:buNone/>
                      </a:pPr>
                      <a:r>
                        <a:rPr sz="1200"/>
                        <a:t>17–31, 33, 34</a:t>
                      </a:r>
                    </a:p>
                  </a:txBody>
                  <a:tcPr marL="91440" marR="91440" marT="45720" marB="45720" anchor="ctr">
                    <a:solidFill>
                      <a:srgbClr val="0070C0">
                        <a:alpha val="20000"/>
                      </a:srgbClr>
                    </a:solidFill>
                  </a:tcPr>
                </a:tc>
                <a:tc>
                  <a:txBody>
                    <a:bodyPr/>
                    <a:lstStyle/>
                    <a:p>
                      <a:pPr>
                        <a:buNone/>
                      </a:pPr>
                      <a:r>
                        <a:rPr sz="1200"/>
                        <a:t>1,119 actions</a:t>
                      </a:r>
                    </a:p>
                  </a:txBody>
                  <a:tcPr marL="91440" marR="91440" marT="45720" marB="45720" anchor="ctr">
                    <a:solidFill>
                      <a:srgbClr val="0070C0">
                        <a:alpha val="20000"/>
                      </a:srgbClr>
                    </a:solidFill>
                  </a:tcPr>
                </a:tc>
              </a:tr>
            </a:tbl>
          </a:graphicData>
        </a:graphic>
      </p:graphicFrame>
      <p:sp>
        <p:nvSpPr>
          <p:cNvPr id="17" name="ZoneTexte 16">
            <a:extLst xmlns:a="http://schemas.openxmlformats.org/drawingml/2006/main">
              <a:ext uri="{FF2B5EF4-FFF2-40B4-BE49-F238E27FC236}">
                <a16:creationId xmlns:a16="http://schemas.microsoft.com/office/drawing/2014/main" id="{DB465458-E3A3-DFD9-610D-AF718A3ED8BE}"/>
              </a:ext>
            </a:extLst>
          </p:cNvPr>
          <p:cNvSpPr>
            <a:spLocks xmlns:a="http://schemas.openxmlformats.org/drawingml/2006/main" noGrp="1"/>
          </p:cNvSpPr>
          <p:nvPr/>
        </p:nvSpPr>
        <p:spPr>
          <a:xfrm xmlns:a="http://schemas.openxmlformats.org/drawingml/2006/main">
            <a:off x="214378" y="3836645"/>
            <a:ext cx="4357622" cy="430887"/>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1100" b="1" i="1">
                <a:latin typeface="Times New Roman"/>
                <a:ea typeface="Times New Roman"/>
                <a:cs typeface="Times New Roman"/>
              </a:rPr>
              <a:t>Table 11: </a:t>
            </a:r>
            <a:r>
              <a:rPr sz="1100" b="1" i="1">
                <a:latin typeface="Times New Roman"/>
                <a:ea typeface="Times New Roman"/>
                <a:cs typeface="Times New Roman"/>
              </a:rPr>
              <a:t>Agent-to-</a:t>
            </a:r>
            <a:r>
              <a:rPr sz="1100" b="1" i="1">
                <a:latin typeface="Times New Roman"/>
                <a:ea typeface="Times New Roman"/>
                <a:cs typeface="Times New Roman"/>
              </a:rPr>
              <a:t>substation</a:t>
            </a:r>
            <a:r>
              <a:rPr sz="1100" b="1" i="1">
                <a:latin typeface="Times New Roman"/>
                <a:ea typeface="Times New Roman"/>
                <a:cs typeface="Times New Roman"/>
              </a:rPr>
              <a:t> </a:t>
            </a:r>
            <a:r>
              <a:rPr sz="1100" b="1" i="1">
                <a:latin typeface="Times New Roman"/>
                <a:ea typeface="Times New Roman"/>
                <a:cs typeface="Times New Roman"/>
              </a:rPr>
              <a:t>assignments</a:t>
            </a:r>
            <a:r>
              <a:rPr sz="1100" b="1" i="1">
                <a:latin typeface="Times New Roman"/>
                <a:ea typeface="Times New Roman"/>
                <a:cs typeface="Times New Roman"/>
              </a:rPr>
              <a:t> and action </a:t>
            </a:r>
            <a:r>
              <a:rPr sz="1100" b="1" i="1">
                <a:latin typeface="Times New Roman"/>
                <a:ea typeface="Times New Roman"/>
                <a:cs typeface="Times New Roman"/>
              </a:rPr>
              <a:t>spaces</a:t>
            </a:r>
            <a:r>
              <a:rPr sz="1100" b="1" i="1">
                <a:latin typeface="Times New Roman"/>
                <a:ea typeface="Times New Roman"/>
                <a:cs typeface="Times New Roman"/>
              </a:rPr>
              <a:t> for the local observation setup of WCCI</a:t>
            </a:r>
          </a:p>
        </p:txBody>
      </p:sp>
      <p:pic>
        <p:nvPicPr>
          <p:cNvPr id="26" name="Picture 2"/>
          <p:cNvPicPr>
            <a:picLocks xmlns:a="http://schemas.openxmlformats.org/drawingml/2006/main" noChangeAspect="1"/>
          </p:cNvPicPr>
          <p:nvPr/>
        </p:nvPicPr>
        <p:blipFill>
          <a:blip xmlns:r="http://schemas.openxmlformats.org/officeDocument/2006/relationships" xmlns:a="http://schemas.openxmlformats.org/drawingml/2006/main" r:embed="R29198462dcca4cad"/>
          <a:srcRect xmlns:a="http://schemas.openxmlformats.org/drawingml/2006/main" l="0" t="0" r="0" b="0"/>
          <a:stretch xmlns:a="http://schemas.openxmlformats.org/drawingml/2006/main">
            <a:fillRect l="0" t="0" r="0" b="0"/>
          </a:stretch>
        </p:blipFill>
        <p:spPr>
          <a:xfrm xmlns:a="http://schemas.openxmlformats.org/drawingml/2006/main" rot="0" flipH="0" flipV="0">
            <a:off x="4872038" y="1443466"/>
            <a:ext cx="4078442" cy="2513798"/>
          </a:xfrm>
          <a:prstGeom xmlns:a="http://schemas.openxmlformats.org/drawingml/2006/main" prst="rect">
            <a:avLst/>
          </a:prstGeom>
        </p:spPr>
      </p:pic>
      <p:sp>
        <p:nvSpPr>
          <p:cNvPr id="9" name="Forme libre 8">
            <a:extLst xmlns:a="http://schemas.openxmlformats.org/drawingml/2006/main">
              <a:ext uri="{FF2B5EF4-FFF2-40B4-BE49-F238E27FC236}">
                <a16:creationId xmlns:a16="http://schemas.microsoft.com/office/drawing/2014/main" id="{1DA91C47-5F24-04A5-4536-62649AC2A875}"/>
              </a:ext>
            </a:extLst>
          </p:cNvPr>
          <p:cNvSpPr>
            <a:spLocks xmlns:a="http://schemas.openxmlformats.org/drawingml/2006/main" noGrp="1"/>
          </p:cNvSpPr>
          <p:nvPr/>
        </p:nvSpPr>
        <p:spPr>
          <a:xfrm xmlns:a="http://schemas.openxmlformats.org/drawingml/2006/main" rot="0" flipH="0" flipV="0">
            <a:off x="5731658" y="1581940"/>
            <a:ext cx="1856210" cy="1523560"/>
          </a:xfrm>
          <a:custGeom xmlns:a="http://schemas.openxmlformats.org/drawingml/2006/main">
            <a:gdLst>
              <a:gd name="csX0" fmla="*/ 991312 w 2281727"/>
              <a:gd name="csY0" fmla="*/ 0 h 1709159"/>
              <a:gd name="csX1" fmla="*/ 0 w 2281727"/>
              <a:gd name="csY1" fmla="*/ 401652 h 1709159"/>
              <a:gd name="csX2" fmla="*/ 17092 w 2281727"/>
              <a:gd name="csY2" fmla="*/ 734938 h 1709159"/>
              <a:gd name="csX3" fmla="*/ 333286 w 2281727"/>
              <a:gd name="csY3" fmla="*/ 837488 h 1709159"/>
              <a:gd name="csX4" fmla="*/ 1102408 w 2281727"/>
              <a:gd name="csY4" fmla="*/ 623843 h 1709159"/>
              <a:gd name="csX5" fmla="*/ 1845892 w 2281727"/>
              <a:gd name="csY5" fmla="*/ 1709159 h 1709159"/>
              <a:gd name="csX6" fmla="*/ 2281727 w 2281727"/>
              <a:gd name="csY6" fmla="*/ 1529697 h 1709159"/>
              <a:gd name="csX7" fmla="*/ 1640793 w 2281727"/>
              <a:gd name="csY7" fmla="*/ 846034 h 1709159"/>
              <a:gd name="csX8" fmla="*/ 1367327 w 2281727"/>
              <a:gd name="csY8" fmla="*/ 230736 h 1709159"/>
              <a:gd name="csX9" fmla="*/ 991312 w 2281727"/>
              <a:gd name="csY9" fmla="*/ 0 h 1709159"/>
            </a:gdLst>
            <a:rect l="l" t="t" r="r" b="b"/>
            <a:pathLst>
              <a:path w="2281727" h="1709159">
                <a:moveTo>
                  <a:pt x="991312" y="0"/>
                </a:moveTo>
                <a:lnTo>
                  <a:pt x="0" y="401652"/>
                </a:lnTo>
                <a:lnTo>
                  <a:pt x="17092" y="734938"/>
                </a:lnTo>
                <a:lnTo>
                  <a:pt x="333286" y="837488"/>
                </a:lnTo>
                <a:lnTo>
                  <a:pt x="1102408" y="623843"/>
                </a:lnTo>
                <a:lnTo>
                  <a:pt x="1845892" y="1709159"/>
                </a:lnTo>
                <a:lnTo>
                  <a:pt x="2281727" y="1529697"/>
                </a:lnTo>
                <a:lnTo>
                  <a:pt x="1640793" y="846034"/>
                </a:lnTo>
                <a:lnTo>
                  <a:pt x="1367327" y="230736"/>
                </a:lnTo>
                <a:lnTo>
                  <a:pt x="991312" y="0"/>
                </a:lnTo>
                <a:close/>
              </a:path>
            </a:pathLst>
          </a:custGeom>
          <a:solidFill xmlns:a="http://schemas.openxmlformats.org/drawingml/2006/main">
            <a:srgbClr val="F39869">
              <a:alpha val="20000"/>
            </a:srgbClr>
          </a:solidFill>
        </p:spPr>
        <p:style>
          <a:lnRef xmlns:a="http://schemas.openxmlformats.org/drawingml/2006/main" idx="2">
            <a:schemeClr val="accent5"/>
          </a:lnRef>
          <a:fillRef xmlns:a="http://schemas.openxmlformats.org/drawingml/2006/main" idx="1">
            <a:schemeClr val="lt1"/>
          </a:fillRef>
          <a:effectRef xmlns:a="http://schemas.openxmlformats.org/drawingml/2006/main" idx="0">
            <a:schemeClr val="accent5"/>
          </a:effectRef>
          <a:fontRef xmlns:a="http://schemas.openxmlformats.org/drawingml/2006/main" idx="minor">
            <a:schemeClr val="dk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Forme libre 12">
            <a:extLst xmlns:a="http://schemas.openxmlformats.org/drawingml/2006/main">
              <a:ext uri="{FF2B5EF4-FFF2-40B4-BE49-F238E27FC236}">
                <a16:creationId xmlns:a16="http://schemas.microsoft.com/office/drawing/2014/main" id="{546729E0-F572-5697-A31B-97FC2AA76EF6}"/>
              </a:ext>
            </a:extLst>
          </p:cNvPr>
          <p:cNvSpPr>
            <a:spLocks xmlns:a="http://schemas.openxmlformats.org/drawingml/2006/main" noGrp="1"/>
          </p:cNvSpPr>
          <p:nvPr/>
        </p:nvSpPr>
        <p:spPr>
          <a:xfrm xmlns:a="http://schemas.openxmlformats.org/drawingml/2006/main" rot="0" flipH="0" flipV="0">
            <a:off x="5974982" y="2160893"/>
            <a:ext cx="2238575" cy="1759711"/>
          </a:xfrm>
          <a:custGeom xmlns:a="http://schemas.openxmlformats.org/drawingml/2006/main">
            <a:gdLst>
              <a:gd name="csX0" fmla="*/ 803304 w 2811566"/>
              <a:gd name="csY0" fmla="*/ 0 h 1862983"/>
              <a:gd name="csX1" fmla="*/ 299102 w 2811566"/>
              <a:gd name="csY1" fmla="*/ 290557 h 1862983"/>
              <a:gd name="csX2" fmla="*/ 0 w 2811566"/>
              <a:gd name="csY2" fmla="*/ 1179319 h 1862983"/>
              <a:gd name="csX3" fmla="*/ 1256231 w 2811566"/>
              <a:gd name="csY3" fmla="*/ 1768979 h 1862983"/>
              <a:gd name="csX4" fmla="*/ 2717562 w 2811566"/>
              <a:gd name="csY4" fmla="*/ 1862983 h 1862983"/>
              <a:gd name="csX5" fmla="*/ 2811566 w 2811566"/>
              <a:gd name="csY5" fmla="*/ 1555334 h 1862983"/>
              <a:gd name="csX6" fmla="*/ 1794616 w 2811566"/>
              <a:gd name="csY6" fmla="*/ 1427147 h 1862983"/>
              <a:gd name="csX7" fmla="*/ 803304 w 2811566"/>
              <a:gd name="csY7" fmla="*/ 0 h 1862983"/>
              <a:gd name="csX0" fmla="*/ 803304 w 2811566"/>
              <a:gd name="csY0" fmla="*/ 0 h 1862983"/>
              <a:gd name="csX1" fmla="*/ 418743 w 2811566"/>
              <a:gd name="csY1" fmla="*/ 264920 h 1862983"/>
              <a:gd name="csX2" fmla="*/ 0 w 2811566"/>
              <a:gd name="csY2" fmla="*/ 1179319 h 1862983"/>
              <a:gd name="csX3" fmla="*/ 1256231 w 2811566"/>
              <a:gd name="csY3" fmla="*/ 1768979 h 1862983"/>
              <a:gd name="csX4" fmla="*/ 2717562 w 2811566"/>
              <a:gd name="csY4" fmla="*/ 1862983 h 1862983"/>
              <a:gd name="csX5" fmla="*/ 2811566 w 2811566"/>
              <a:gd name="csY5" fmla="*/ 1555334 h 1862983"/>
              <a:gd name="csX6" fmla="*/ 1794616 w 2811566"/>
              <a:gd name="csY6" fmla="*/ 1427147 h 1862983"/>
              <a:gd name="csX7" fmla="*/ 803304 w 2811566"/>
              <a:gd name="csY7" fmla="*/ 0 h 1862983"/>
              <a:gd name="csX0" fmla="*/ 863125 w 2811566"/>
              <a:gd name="csY0" fmla="*/ 0 h 1974078"/>
              <a:gd name="csX1" fmla="*/ 418743 w 2811566"/>
              <a:gd name="csY1" fmla="*/ 376015 h 1974078"/>
              <a:gd name="csX2" fmla="*/ 0 w 2811566"/>
              <a:gd name="csY2" fmla="*/ 1290414 h 1974078"/>
              <a:gd name="csX3" fmla="*/ 1256231 w 2811566"/>
              <a:gd name="csY3" fmla="*/ 1880074 h 1974078"/>
              <a:gd name="csX4" fmla="*/ 2717562 w 2811566"/>
              <a:gd name="csY4" fmla="*/ 1974078 h 1974078"/>
              <a:gd name="csX5" fmla="*/ 2811566 w 2811566"/>
              <a:gd name="csY5" fmla="*/ 1666429 h 1974078"/>
              <a:gd name="csX6" fmla="*/ 1794616 w 2811566"/>
              <a:gd name="csY6" fmla="*/ 1538242 h 1974078"/>
              <a:gd name="csX7" fmla="*/ 863125 w 2811566"/>
              <a:gd name="csY7" fmla="*/ 0 h 1974078"/>
              <a:gd name="csX0" fmla="*/ 863125 w 2811566"/>
              <a:gd name="csY0" fmla="*/ 0 h 1974078"/>
              <a:gd name="csX1" fmla="*/ 418743 w 2811566"/>
              <a:gd name="csY1" fmla="*/ 376015 h 1974078"/>
              <a:gd name="csX2" fmla="*/ 0 w 2811566"/>
              <a:gd name="csY2" fmla="*/ 1290414 h 1974078"/>
              <a:gd name="csX3" fmla="*/ 1256231 w 2811566"/>
              <a:gd name="csY3" fmla="*/ 1880074 h 1974078"/>
              <a:gd name="csX4" fmla="*/ 2717562 w 2811566"/>
              <a:gd name="csY4" fmla="*/ 1974078 h 1974078"/>
              <a:gd name="csX5" fmla="*/ 2811566 w 2811566"/>
              <a:gd name="csY5" fmla="*/ 1666429 h 1974078"/>
              <a:gd name="csX6" fmla="*/ 1837345 w 2811566"/>
              <a:gd name="csY6" fmla="*/ 1538242 h 1974078"/>
              <a:gd name="csX7" fmla="*/ 863125 w 2811566"/>
              <a:gd name="csY7" fmla="*/ 0 h 1974078"/>
              <a:gd name="csX0" fmla="*/ 863125 w 2811566"/>
              <a:gd name="csY0" fmla="*/ 0 h 1974078"/>
              <a:gd name="csX1" fmla="*/ 418743 w 2811566"/>
              <a:gd name="csY1" fmla="*/ 376015 h 1974078"/>
              <a:gd name="csX2" fmla="*/ 0 w 2811566"/>
              <a:gd name="csY2" fmla="*/ 1290414 h 1974078"/>
              <a:gd name="csX3" fmla="*/ 1256231 w 2811566"/>
              <a:gd name="csY3" fmla="*/ 1880074 h 1974078"/>
              <a:gd name="csX4" fmla="*/ 2717562 w 2811566"/>
              <a:gd name="csY4" fmla="*/ 1974078 h 1974078"/>
              <a:gd name="csX5" fmla="*/ 2811566 w 2811566"/>
              <a:gd name="csY5" fmla="*/ 1666429 h 1974078"/>
              <a:gd name="csX6" fmla="*/ 1837345 w 2811566"/>
              <a:gd name="csY6" fmla="*/ 1538242 h 1974078"/>
              <a:gd name="csX7" fmla="*/ 863125 w 2811566"/>
              <a:gd name="csY7" fmla="*/ 0 h 1974078"/>
              <a:gd name="csX0" fmla="*/ 863125 w 2811566"/>
              <a:gd name="csY0" fmla="*/ 0 h 1974078"/>
              <a:gd name="csX1" fmla="*/ 418743 w 2811566"/>
              <a:gd name="csY1" fmla="*/ 376015 h 1974078"/>
              <a:gd name="csX2" fmla="*/ 0 w 2811566"/>
              <a:gd name="csY2" fmla="*/ 1290414 h 1974078"/>
              <a:gd name="csX3" fmla="*/ 1256231 w 2811566"/>
              <a:gd name="csY3" fmla="*/ 1880074 h 1974078"/>
              <a:gd name="csX4" fmla="*/ 2717562 w 2811566"/>
              <a:gd name="csY4" fmla="*/ 1974078 h 1974078"/>
              <a:gd name="csX5" fmla="*/ 2811566 w 2811566"/>
              <a:gd name="csY5" fmla="*/ 1666429 h 1974078"/>
              <a:gd name="csX6" fmla="*/ 1845890 w 2811566"/>
              <a:gd name="csY6" fmla="*/ 1538242 h 1974078"/>
              <a:gd name="csX7" fmla="*/ 863125 w 2811566"/>
              <a:gd name="csY7" fmla="*/ 0 h 1974078"/>
              <a:gd name="csX0" fmla="*/ 863125 w 2811566"/>
              <a:gd name="csY0" fmla="*/ 0 h 1974078"/>
              <a:gd name="csX1" fmla="*/ 239281 w 2811566"/>
              <a:gd name="csY1" fmla="*/ 162370 h 1974078"/>
              <a:gd name="csX2" fmla="*/ 0 w 2811566"/>
              <a:gd name="csY2" fmla="*/ 1290414 h 1974078"/>
              <a:gd name="csX3" fmla="*/ 1256231 w 2811566"/>
              <a:gd name="csY3" fmla="*/ 1880074 h 1974078"/>
              <a:gd name="csX4" fmla="*/ 2717562 w 2811566"/>
              <a:gd name="csY4" fmla="*/ 1974078 h 1974078"/>
              <a:gd name="csX5" fmla="*/ 2811566 w 2811566"/>
              <a:gd name="csY5" fmla="*/ 1666429 h 1974078"/>
              <a:gd name="csX6" fmla="*/ 1845890 w 2811566"/>
              <a:gd name="csY6" fmla="*/ 1538242 h 1974078"/>
              <a:gd name="csX7" fmla="*/ 863125 w 2811566"/>
              <a:gd name="csY7" fmla="*/ 0 h 1974078"/>
              <a:gd name="csX0" fmla="*/ 803304 w 2751745"/>
              <a:gd name="csY0" fmla="*/ 0 h 1974078"/>
              <a:gd name="csX1" fmla="*/ 179460 w 2751745"/>
              <a:gd name="csY1" fmla="*/ 162370 h 1974078"/>
              <a:gd name="csX2" fmla="*/ 0 w 2751745"/>
              <a:gd name="csY2" fmla="*/ 1307506 h 1974078"/>
              <a:gd name="csX3" fmla="*/ 1196410 w 2751745"/>
              <a:gd name="csY3" fmla="*/ 1880074 h 1974078"/>
              <a:gd name="csX4" fmla="*/ 2657741 w 2751745"/>
              <a:gd name="csY4" fmla="*/ 1974078 h 1974078"/>
              <a:gd name="csX5" fmla="*/ 2751745 w 2751745"/>
              <a:gd name="csY5" fmla="*/ 1666429 h 1974078"/>
              <a:gd name="csX6" fmla="*/ 1786069 w 2751745"/>
              <a:gd name="csY6" fmla="*/ 1538242 h 1974078"/>
              <a:gd name="csX7" fmla="*/ 803304 w 2751745"/>
              <a:gd name="csY7" fmla="*/ 0 h 1974078"/>
            </a:gdLst>
            <a:rect l="l" t="t" r="r" b="b"/>
            <a:pathLst>
              <a:path w="2751745" h="1974078">
                <a:moveTo>
                  <a:pt x="803304" y="0"/>
                </a:moveTo>
                <a:lnTo>
                  <a:pt x="179460" y="162370"/>
                </a:lnTo>
                <a:lnTo>
                  <a:pt x="0" y="1307506"/>
                </a:lnTo>
                <a:lnTo>
                  <a:pt x="1196410" y="1880074"/>
                </a:lnTo>
                <a:lnTo>
                  <a:pt x="2657741" y="1974078"/>
                </a:lnTo>
                <a:lnTo>
                  <a:pt x="2751745" y="1666429"/>
                </a:lnTo>
                <a:lnTo>
                  <a:pt x="1786069" y="1538242"/>
                </a:lnTo>
                <a:cubicBezTo>
                  <a:pt x="1546787" y="1042586"/>
                  <a:pt x="1128044" y="512747"/>
                  <a:pt x="803304" y="0"/>
                </a:cubicBezTo>
                <a:close/>
              </a:path>
            </a:pathLst>
          </a:custGeom>
          <a:solidFill xmlns:a="http://schemas.openxmlformats.org/drawingml/2006/main">
            <a:srgbClr val="00A79F">
              <a:alpha val="20000"/>
            </a:srgbClr>
          </a:solidFill>
          <a:ln xmlns:a="http://schemas.openxmlformats.org/drawingml/2006/main">
            <a:solidFill>
              <a:schemeClr val="accent2"/>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 name="Forme libre 13">
            <a:extLst xmlns:a="http://schemas.openxmlformats.org/drawingml/2006/main">
              <a:ext uri="{FF2B5EF4-FFF2-40B4-BE49-F238E27FC236}">
                <a16:creationId xmlns:a16="http://schemas.microsoft.com/office/drawing/2014/main" id="{9CCD1DFA-62A5-5F4D-7130-224BBE26DE8B}"/>
              </a:ext>
            </a:extLst>
          </p:cNvPr>
          <p:cNvSpPr>
            <a:spLocks xmlns:a="http://schemas.openxmlformats.org/drawingml/2006/main" noGrp="1"/>
          </p:cNvSpPr>
          <p:nvPr/>
        </p:nvSpPr>
        <p:spPr>
          <a:xfrm xmlns:a="http://schemas.openxmlformats.org/drawingml/2006/main" rot="0" flipH="0" flipV="0">
            <a:off x="6878754" y="1498144"/>
            <a:ext cx="2050869" cy="2140601"/>
          </a:xfrm>
          <a:custGeom xmlns:a="http://schemas.openxmlformats.org/drawingml/2006/main">
            <a:gdLst>
              <a:gd name="csX0" fmla="*/ 2196269 w 2409914"/>
              <a:gd name="csY0" fmla="*/ 8546 h 2409914"/>
              <a:gd name="csX1" fmla="*/ 410198 w 2409914"/>
              <a:gd name="csY1" fmla="*/ 0 h 2409914"/>
              <a:gd name="csX2" fmla="*/ 0 w 2409914"/>
              <a:gd name="csY2" fmla="*/ 358924 h 2409914"/>
              <a:gd name="csX3" fmla="*/ 119641 w 2409914"/>
              <a:gd name="csY3" fmla="*/ 914400 h 2409914"/>
              <a:gd name="csX4" fmla="*/ 811850 w 2409914"/>
              <a:gd name="csY4" fmla="*/ 1615155 h 2409914"/>
              <a:gd name="csX5" fmla="*/ 769121 w 2409914"/>
              <a:gd name="csY5" fmla="*/ 1683522 h 2409914"/>
              <a:gd name="csX6" fmla="*/ 350377 w 2409914"/>
              <a:gd name="csY6" fmla="*/ 1854438 h 2409914"/>
              <a:gd name="csX7" fmla="*/ 598205 w 2409914"/>
              <a:gd name="csY7" fmla="*/ 2273182 h 2409914"/>
              <a:gd name="csX8" fmla="*/ 1674975 w 2409914"/>
              <a:gd name="csY8" fmla="*/ 2409914 h 2409914"/>
              <a:gd name="csX9" fmla="*/ 2409914 w 2409914"/>
              <a:gd name="csY9" fmla="*/ 1991170 h 2409914"/>
              <a:gd name="csX10" fmla="*/ 2341547 w 2409914"/>
              <a:gd name="csY10" fmla="*/ 982767 h 2409914"/>
              <a:gd name="csX11" fmla="*/ 2196269 w 2409914"/>
              <a:gd name="csY11" fmla="*/ 8546 h 2409914"/>
              <a:gd name="csX0" fmla="*/ 2196269 w 2409914"/>
              <a:gd name="csY0" fmla="*/ 8546 h 2409914"/>
              <a:gd name="csX1" fmla="*/ 410198 w 2409914"/>
              <a:gd name="csY1" fmla="*/ 0 h 2409914"/>
              <a:gd name="csX2" fmla="*/ 0 w 2409914"/>
              <a:gd name="csY2" fmla="*/ 358924 h 2409914"/>
              <a:gd name="csX3" fmla="*/ 119641 w 2409914"/>
              <a:gd name="csY3" fmla="*/ 914400 h 2409914"/>
              <a:gd name="csX4" fmla="*/ 811850 w 2409914"/>
              <a:gd name="csY4" fmla="*/ 1615155 h 2409914"/>
              <a:gd name="csX5" fmla="*/ 769121 w 2409914"/>
              <a:gd name="csY5" fmla="*/ 1683522 h 2409914"/>
              <a:gd name="csX6" fmla="*/ 307648 w 2409914"/>
              <a:gd name="csY6" fmla="*/ 1820255 h 2409914"/>
              <a:gd name="csX7" fmla="*/ 598205 w 2409914"/>
              <a:gd name="csY7" fmla="*/ 2273182 h 2409914"/>
              <a:gd name="csX8" fmla="*/ 1674975 w 2409914"/>
              <a:gd name="csY8" fmla="*/ 2409914 h 2409914"/>
              <a:gd name="csX9" fmla="*/ 2409914 w 2409914"/>
              <a:gd name="csY9" fmla="*/ 1991170 h 2409914"/>
              <a:gd name="csX10" fmla="*/ 2341547 w 2409914"/>
              <a:gd name="csY10" fmla="*/ 982767 h 2409914"/>
              <a:gd name="csX11" fmla="*/ 2196269 w 2409914"/>
              <a:gd name="csY11" fmla="*/ 8546 h 2409914"/>
              <a:gd name="csX0" fmla="*/ 2196269 w 2409914"/>
              <a:gd name="csY0" fmla="*/ 8546 h 2409914"/>
              <a:gd name="csX1" fmla="*/ 410198 w 2409914"/>
              <a:gd name="csY1" fmla="*/ 0 h 2409914"/>
              <a:gd name="csX2" fmla="*/ 0 w 2409914"/>
              <a:gd name="csY2" fmla="*/ 358924 h 2409914"/>
              <a:gd name="csX3" fmla="*/ 119641 w 2409914"/>
              <a:gd name="csY3" fmla="*/ 914400 h 2409914"/>
              <a:gd name="csX4" fmla="*/ 811850 w 2409914"/>
              <a:gd name="csY4" fmla="*/ 1615155 h 2409914"/>
              <a:gd name="csX5" fmla="*/ 769121 w 2409914"/>
              <a:gd name="csY5" fmla="*/ 1632247 h 2409914"/>
              <a:gd name="csX6" fmla="*/ 307648 w 2409914"/>
              <a:gd name="csY6" fmla="*/ 1820255 h 2409914"/>
              <a:gd name="csX7" fmla="*/ 598205 w 2409914"/>
              <a:gd name="csY7" fmla="*/ 2273182 h 2409914"/>
              <a:gd name="csX8" fmla="*/ 1674975 w 2409914"/>
              <a:gd name="csY8" fmla="*/ 2409914 h 2409914"/>
              <a:gd name="csX9" fmla="*/ 2409914 w 2409914"/>
              <a:gd name="csY9" fmla="*/ 1991170 h 2409914"/>
              <a:gd name="csX10" fmla="*/ 2341547 w 2409914"/>
              <a:gd name="csY10" fmla="*/ 982767 h 2409914"/>
              <a:gd name="csX11" fmla="*/ 2196269 w 2409914"/>
              <a:gd name="csY11" fmla="*/ 8546 h 2409914"/>
              <a:gd name="csX0" fmla="*/ 2196269 w 2409914"/>
              <a:gd name="csY0" fmla="*/ 8546 h 2409914"/>
              <a:gd name="csX1" fmla="*/ 410198 w 2409914"/>
              <a:gd name="csY1" fmla="*/ 0 h 2409914"/>
              <a:gd name="csX2" fmla="*/ 0 w 2409914"/>
              <a:gd name="csY2" fmla="*/ 358924 h 2409914"/>
              <a:gd name="csX3" fmla="*/ 119641 w 2409914"/>
              <a:gd name="csY3" fmla="*/ 914400 h 2409914"/>
              <a:gd name="csX4" fmla="*/ 692209 w 2409914"/>
              <a:gd name="csY4" fmla="*/ 1521151 h 2409914"/>
              <a:gd name="csX5" fmla="*/ 769121 w 2409914"/>
              <a:gd name="csY5" fmla="*/ 1632247 h 2409914"/>
              <a:gd name="csX6" fmla="*/ 307648 w 2409914"/>
              <a:gd name="csY6" fmla="*/ 1820255 h 2409914"/>
              <a:gd name="csX7" fmla="*/ 598205 w 2409914"/>
              <a:gd name="csY7" fmla="*/ 2273182 h 2409914"/>
              <a:gd name="csX8" fmla="*/ 1674975 w 2409914"/>
              <a:gd name="csY8" fmla="*/ 2409914 h 2409914"/>
              <a:gd name="csX9" fmla="*/ 2409914 w 2409914"/>
              <a:gd name="csY9" fmla="*/ 1991170 h 2409914"/>
              <a:gd name="csX10" fmla="*/ 2341547 w 2409914"/>
              <a:gd name="csY10" fmla="*/ 982767 h 2409914"/>
              <a:gd name="csX11" fmla="*/ 2196269 w 2409914"/>
              <a:gd name="csY11" fmla="*/ 8546 h 2409914"/>
              <a:gd name="csX0" fmla="*/ 2315910 w 2529555"/>
              <a:gd name="csY0" fmla="*/ 8546 h 2409914"/>
              <a:gd name="csX1" fmla="*/ 529839 w 2529555"/>
              <a:gd name="csY1" fmla="*/ 0 h 2409914"/>
              <a:gd name="csX2" fmla="*/ 119641 w 2529555"/>
              <a:gd name="csY2" fmla="*/ 358924 h 2409914"/>
              <a:gd name="csX3" fmla="*/ 0 w 2529555"/>
              <a:gd name="csY3" fmla="*/ 401653 h 2409914"/>
              <a:gd name="csX4" fmla="*/ 239282 w 2529555"/>
              <a:gd name="csY4" fmla="*/ 914400 h 2409914"/>
              <a:gd name="csX5" fmla="*/ 811850 w 2529555"/>
              <a:gd name="csY5" fmla="*/ 1521151 h 2409914"/>
              <a:gd name="csX6" fmla="*/ 888762 w 2529555"/>
              <a:gd name="csY6" fmla="*/ 1632247 h 2409914"/>
              <a:gd name="csX7" fmla="*/ 427289 w 2529555"/>
              <a:gd name="csY7" fmla="*/ 1820255 h 2409914"/>
              <a:gd name="csX8" fmla="*/ 717846 w 2529555"/>
              <a:gd name="csY8" fmla="*/ 2273182 h 2409914"/>
              <a:gd name="csX9" fmla="*/ 1794616 w 2529555"/>
              <a:gd name="csY9" fmla="*/ 2409914 h 2409914"/>
              <a:gd name="csX10" fmla="*/ 2529555 w 2529555"/>
              <a:gd name="csY10" fmla="*/ 1991170 h 2409914"/>
              <a:gd name="csX11" fmla="*/ 2461188 w 2529555"/>
              <a:gd name="csY11" fmla="*/ 982767 h 2409914"/>
              <a:gd name="csX12" fmla="*/ 2315910 w 2529555"/>
              <a:gd name="csY12" fmla="*/ 8546 h 2409914"/>
              <a:gd name="csX0" fmla="*/ 2307364 w 2521009"/>
              <a:gd name="csY0" fmla="*/ 8546 h 2409914"/>
              <a:gd name="csX1" fmla="*/ 521293 w 2521009"/>
              <a:gd name="csY1" fmla="*/ 0 h 2409914"/>
              <a:gd name="csX2" fmla="*/ 111095 w 2521009"/>
              <a:gd name="csY2" fmla="*/ 358924 h 2409914"/>
              <a:gd name="csX3" fmla="*/ 0 w 2521009"/>
              <a:gd name="csY3" fmla="*/ 367470 h 2409914"/>
              <a:gd name="csX4" fmla="*/ 230736 w 2521009"/>
              <a:gd name="csY4" fmla="*/ 914400 h 2409914"/>
              <a:gd name="csX5" fmla="*/ 803304 w 2521009"/>
              <a:gd name="csY5" fmla="*/ 1521151 h 2409914"/>
              <a:gd name="csX6" fmla="*/ 880216 w 2521009"/>
              <a:gd name="csY6" fmla="*/ 1632247 h 2409914"/>
              <a:gd name="csX7" fmla="*/ 418743 w 2521009"/>
              <a:gd name="csY7" fmla="*/ 1820255 h 2409914"/>
              <a:gd name="csX8" fmla="*/ 709300 w 2521009"/>
              <a:gd name="csY8" fmla="*/ 2273182 h 2409914"/>
              <a:gd name="csX9" fmla="*/ 1786070 w 2521009"/>
              <a:gd name="csY9" fmla="*/ 2409914 h 2409914"/>
              <a:gd name="csX10" fmla="*/ 2521009 w 2521009"/>
              <a:gd name="csY10" fmla="*/ 1991170 h 2409914"/>
              <a:gd name="csX11" fmla="*/ 2452642 w 2521009"/>
              <a:gd name="csY11" fmla="*/ 982767 h 2409914"/>
              <a:gd name="csX12" fmla="*/ 2307364 w 2521009"/>
              <a:gd name="csY12" fmla="*/ 8546 h 2409914"/>
              <a:gd name="csX0" fmla="*/ 2307364 w 2521009"/>
              <a:gd name="csY0" fmla="*/ 8546 h 2409914"/>
              <a:gd name="csX1" fmla="*/ 521293 w 2521009"/>
              <a:gd name="csY1" fmla="*/ 0 h 2409914"/>
              <a:gd name="csX2" fmla="*/ 119641 w 2521009"/>
              <a:gd name="csY2" fmla="*/ 162370 h 2409914"/>
              <a:gd name="csX3" fmla="*/ 0 w 2521009"/>
              <a:gd name="csY3" fmla="*/ 367470 h 2409914"/>
              <a:gd name="csX4" fmla="*/ 230736 w 2521009"/>
              <a:gd name="csY4" fmla="*/ 914400 h 2409914"/>
              <a:gd name="csX5" fmla="*/ 803304 w 2521009"/>
              <a:gd name="csY5" fmla="*/ 1521151 h 2409914"/>
              <a:gd name="csX6" fmla="*/ 880216 w 2521009"/>
              <a:gd name="csY6" fmla="*/ 1632247 h 2409914"/>
              <a:gd name="csX7" fmla="*/ 418743 w 2521009"/>
              <a:gd name="csY7" fmla="*/ 1820255 h 2409914"/>
              <a:gd name="csX8" fmla="*/ 709300 w 2521009"/>
              <a:gd name="csY8" fmla="*/ 2273182 h 2409914"/>
              <a:gd name="csX9" fmla="*/ 1786070 w 2521009"/>
              <a:gd name="csY9" fmla="*/ 2409914 h 2409914"/>
              <a:gd name="csX10" fmla="*/ 2521009 w 2521009"/>
              <a:gd name="csY10" fmla="*/ 1991170 h 2409914"/>
              <a:gd name="csX11" fmla="*/ 2452642 w 2521009"/>
              <a:gd name="csY11" fmla="*/ 982767 h 2409914"/>
              <a:gd name="csX12" fmla="*/ 2307364 w 2521009"/>
              <a:gd name="csY12" fmla="*/ 8546 h 2409914"/>
              <a:gd name="csX0" fmla="*/ 2307364 w 2521009"/>
              <a:gd name="csY0" fmla="*/ 8546 h 2401368"/>
              <a:gd name="csX1" fmla="*/ 521293 w 2521009"/>
              <a:gd name="csY1" fmla="*/ 0 h 2401368"/>
              <a:gd name="csX2" fmla="*/ 119641 w 2521009"/>
              <a:gd name="csY2" fmla="*/ 162370 h 2401368"/>
              <a:gd name="csX3" fmla="*/ 0 w 2521009"/>
              <a:gd name="csY3" fmla="*/ 367470 h 2401368"/>
              <a:gd name="csX4" fmla="*/ 230736 w 2521009"/>
              <a:gd name="csY4" fmla="*/ 914400 h 2401368"/>
              <a:gd name="csX5" fmla="*/ 803304 w 2521009"/>
              <a:gd name="csY5" fmla="*/ 1521151 h 2401368"/>
              <a:gd name="csX6" fmla="*/ 880216 w 2521009"/>
              <a:gd name="csY6" fmla="*/ 1632247 h 2401368"/>
              <a:gd name="csX7" fmla="*/ 418743 w 2521009"/>
              <a:gd name="csY7" fmla="*/ 1820255 h 2401368"/>
              <a:gd name="csX8" fmla="*/ 709300 w 2521009"/>
              <a:gd name="csY8" fmla="*/ 2273182 h 2401368"/>
              <a:gd name="csX9" fmla="*/ 1649337 w 2521009"/>
              <a:gd name="csY9" fmla="*/ 2401368 h 2401368"/>
              <a:gd name="csX10" fmla="*/ 2521009 w 2521009"/>
              <a:gd name="csY10" fmla="*/ 1991170 h 2401368"/>
              <a:gd name="csX11" fmla="*/ 2452642 w 2521009"/>
              <a:gd name="csY11" fmla="*/ 982767 h 2401368"/>
              <a:gd name="csX12" fmla="*/ 2307364 w 2521009"/>
              <a:gd name="csY12" fmla="*/ 8546 h 2401368"/>
            </a:gdLst>
            <a:rect l="l" t="t" r="r" b="b"/>
            <a:pathLst>
              <a:path w="2521009" h="2401368">
                <a:moveTo>
                  <a:pt x="2307364" y="8546"/>
                </a:moveTo>
                <a:lnTo>
                  <a:pt x="521293" y="0"/>
                </a:lnTo>
                <a:lnTo>
                  <a:pt x="119641" y="162370"/>
                </a:lnTo>
                <a:cubicBezTo>
                  <a:pt x="119641" y="176613"/>
                  <a:pt x="0" y="353227"/>
                  <a:pt x="0" y="367470"/>
                </a:cubicBezTo>
                <a:lnTo>
                  <a:pt x="230736" y="914400"/>
                </a:lnTo>
                <a:lnTo>
                  <a:pt x="803304" y="1521151"/>
                </a:lnTo>
                <a:lnTo>
                  <a:pt x="880216" y="1632247"/>
                </a:lnTo>
                <a:lnTo>
                  <a:pt x="418743" y="1820255"/>
                </a:lnTo>
                <a:lnTo>
                  <a:pt x="709300" y="2273182"/>
                </a:lnTo>
                <a:lnTo>
                  <a:pt x="1649337" y="2401368"/>
                </a:lnTo>
                <a:lnTo>
                  <a:pt x="2521009" y="1991170"/>
                </a:lnTo>
                <a:lnTo>
                  <a:pt x="2452642" y="982767"/>
                </a:lnTo>
                <a:lnTo>
                  <a:pt x="2307364" y="8546"/>
                </a:lnTo>
                <a:close/>
              </a:path>
            </a:pathLst>
          </a:custGeom>
          <a:solidFill xmlns:a="http://schemas.openxmlformats.org/drawingml/2006/main">
            <a:srgbClr val="0070C0">
              <a:alpha val="20000"/>
            </a:srgbClr>
          </a:solidFill>
          <a:ln xmlns:a="http://schemas.openxmlformats.org/drawingml/2006/main">
            <a:solidFill>
              <a:srgbClr val="0070C0"/>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Forme libre 14">
            <a:extLst xmlns:a="http://schemas.openxmlformats.org/drawingml/2006/main">
              <a:ext uri="{FF2B5EF4-FFF2-40B4-BE49-F238E27FC236}">
                <a16:creationId xmlns:a16="http://schemas.microsoft.com/office/drawing/2014/main" id="{68A5FDBA-8AB4-908A-1E9E-576F910C2BE7}"/>
              </a:ext>
            </a:extLst>
          </p:cNvPr>
          <p:cNvSpPr>
            <a:spLocks xmlns:a="http://schemas.openxmlformats.org/drawingml/2006/main" noGrp="1"/>
          </p:cNvSpPr>
          <p:nvPr/>
        </p:nvSpPr>
        <p:spPr>
          <a:xfrm xmlns:a="http://schemas.openxmlformats.org/drawingml/2006/main" rot="0" flipH="0" flipV="0">
            <a:off x="4897406" y="2160892"/>
            <a:ext cx="1209665" cy="1135052"/>
          </a:xfrm>
          <a:custGeom xmlns:a="http://schemas.openxmlformats.org/drawingml/2006/main">
            <a:gdLst>
              <a:gd name="csX0" fmla="*/ 119641 w 1486968"/>
              <a:gd name="csY0" fmla="*/ 17092 h 1273324"/>
              <a:gd name="csX1" fmla="*/ 0 w 1486968"/>
              <a:gd name="csY1" fmla="*/ 1025496 h 1273324"/>
              <a:gd name="csX2" fmla="*/ 1316052 w 1486968"/>
              <a:gd name="csY2" fmla="*/ 1273324 h 1273324"/>
              <a:gd name="csX3" fmla="*/ 1486968 w 1486968"/>
              <a:gd name="csY3" fmla="*/ 162370 h 1273324"/>
              <a:gd name="csX4" fmla="*/ 1350235 w 1486968"/>
              <a:gd name="csY4" fmla="*/ 205099 h 1273324"/>
              <a:gd name="csX5" fmla="*/ 803305 w 1486968"/>
              <a:gd name="csY5" fmla="*/ 0 h 1273324"/>
              <a:gd name="csX6" fmla="*/ 119641 w 1486968"/>
              <a:gd name="csY6" fmla="*/ 17092 h 1273324"/>
            </a:gdLst>
            <a:rect l="l" t="t" r="r" b="b"/>
            <a:pathLst>
              <a:path w="1486968" h="1273324">
                <a:moveTo>
                  <a:pt x="119641" y="17092"/>
                </a:moveTo>
                <a:lnTo>
                  <a:pt x="0" y="1025496"/>
                </a:lnTo>
                <a:lnTo>
                  <a:pt x="1316052" y="1273324"/>
                </a:lnTo>
                <a:lnTo>
                  <a:pt x="1486968" y="162370"/>
                </a:lnTo>
                <a:lnTo>
                  <a:pt x="1350235" y="205099"/>
                </a:lnTo>
                <a:lnTo>
                  <a:pt x="803305" y="0"/>
                </a:lnTo>
                <a:lnTo>
                  <a:pt x="119641" y="17092"/>
                </a:lnTo>
                <a:close/>
              </a:path>
            </a:pathLst>
          </a:custGeom>
          <a:solidFill xmlns:a="http://schemas.openxmlformats.org/drawingml/2006/main">
            <a:srgbClr val="E30613">
              <a:alpha val="20000"/>
            </a:srgbClr>
          </a:solidFill>
          <a:ln xmlns:a="http://schemas.openxmlformats.org/drawingml/2006/main">
            <a:solidFill>
              <a:schemeClr val="accent1"/>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8" name="ZoneTexte 17">
            <a:extLst xmlns:a="http://schemas.openxmlformats.org/drawingml/2006/main">
              <a:ext uri="{FF2B5EF4-FFF2-40B4-BE49-F238E27FC236}">
                <a16:creationId xmlns:a16="http://schemas.microsoft.com/office/drawing/2014/main" id="{FDEE8891-9B54-065D-96AC-DE1BE73C5ED2}"/>
              </a:ext>
            </a:extLst>
          </p:cNvPr>
          <p:cNvSpPr>
            <a:spLocks xmlns:a="http://schemas.openxmlformats.org/drawingml/2006/main" noGrp="1"/>
          </p:cNvSpPr>
          <p:nvPr/>
        </p:nvSpPr>
        <p:spPr>
          <a:xfrm xmlns:a="http://schemas.openxmlformats.org/drawingml/2006/main" rot="0" flipH="0" flipV="0">
            <a:off x="4872038" y="3962277"/>
            <a:ext cx="4078442" cy="2616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1100" b="1" i="1">
                <a:latin typeface="Times New Roman"/>
                <a:ea typeface="Times New Roman"/>
                <a:cs typeface="Times New Roman"/>
              </a:rPr>
              <a:t>Fig 17: </a:t>
            </a:r>
            <a:r>
              <a:rPr sz="1100" b="1" i="1">
                <a:latin typeface="Times New Roman"/>
                <a:ea typeface="Times New Roman"/>
                <a:cs typeface="Times New Roman"/>
              </a:rPr>
              <a:t>Substations</a:t>
            </a:r>
            <a:r>
              <a:rPr sz="1100" b="1" i="1">
                <a:latin typeface="Times New Roman"/>
                <a:ea typeface="Times New Roman"/>
                <a:cs typeface="Times New Roman"/>
              </a:rPr>
              <a:t> </a:t>
            </a:r>
            <a:r>
              <a:rPr sz="1100" b="1" i="1">
                <a:latin typeface="Times New Roman"/>
                <a:ea typeface="Times New Roman"/>
                <a:cs typeface="Times New Roman"/>
              </a:rPr>
              <a:t>controlled</a:t>
            </a:r>
            <a:r>
              <a:rPr sz="1100" b="1" i="1">
                <a:latin typeface="Times New Roman"/>
                <a:ea typeface="Times New Roman"/>
                <a:cs typeface="Times New Roman"/>
              </a:rPr>
              <a:t> by </a:t>
            </a:r>
            <a:r>
              <a:rPr sz="1100" b="1" i="1">
                <a:latin typeface="Times New Roman"/>
                <a:ea typeface="Times New Roman"/>
                <a:cs typeface="Times New Roman"/>
              </a:rPr>
              <a:t>each</a:t>
            </a:r>
            <a:r>
              <a:rPr sz="1100" b="1" i="1">
                <a:latin typeface="Times New Roman"/>
                <a:ea typeface="Times New Roman"/>
                <a:cs typeface="Times New Roman"/>
              </a:rPr>
              <a:t> agent WCCI </a:t>
            </a:r>
            <a:r>
              <a:rPr sz="1100" b="1" i="1">
                <a:latin typeface="Times New Roman"/>
                <a:ea typeface="Times New Roman"/>
                <a:cs typeface="Times New Roman"/>
              </a:rPr>
              <a:t>environment</a:t>
            </a:r>
          </a:p>
        </p:txBody>
      </p:sp>
      <p:pic>
        <p:nvPicPr>
          <p:cNvPr id="32" name="Picture 2"/>
          <p:cNvPicPr>
            <a:picLocks xmlns:a="http://schemas.openxmlformats.org/drawingml/2006/main" noChangeAspect="1"/>
          </p:cNvPicPr>
          <p:nvPr/>
        </p:nvPicPr>
        <p:blipFill>
          <a:blip xmlns:r="http://schemas.openxmlformats.org/officeDocument/2006/relationships" xmlns:a="http://schemas.openxmlformats.org/drawingml/2006/main" r:embed="R5d8ce8858bbd4785"/>
          <a:srcRect xmlns:a="http://schemas.openxmlformats.org/drawingml/2006/main" l="0" t="0" r="0" b="0"/>
          <a:stretch xmlns:a="http://schemas.openxmlformats.org/drawingml/2006/main">
            <a:fillRect l="0" t="0" r="0" b="0"/>
          </a:stretch>
        </p:blipFill>
        <p:spPr>
          <a:xfrm xmlns:a="http://schemas.openxmlformats.org/drawingml/2006/main">
            <a:off x="158055" y="379734"/>
            <a:ext cx="587504" cy="326391"/>
          </a:xfrm>
          <a:prstGeom xmlns:a="http://schemas.openxmlformats.org/drawingml/2006/main" prst="rect">
            <a:avLst/>
          </a:prstGeom>
        </p:spPr>
      </p:pic>
    </p:spTree>
    <p:extLst>
      <p:ext uri="{BB962C8B-B14F-4D97-AF65-F5344CB8AC3E}">
        <p14:creationId xmlns:p14="http://schemas.microsoft.com/office/powerpoint/2010/main" val="1405504316"/>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2" name="Titre 1">
            <a:extLst xmlns:a="http://schemas.openxmlformats.org/drawingml/2006/main">
              <a:ext uri="{FF2B5EF4-FFF2-40B4-BE49-F238E27FC236}">
                <a16:creationId xmlns:a16="http://schemas.microsoft.com/office/drawing/2014/main" id="{19F1ADCC-D5EA-E82F-5B58-772253DFF9C4}"/>
              </a:ext>
            </a:extLst>
          </p:cNvPr>
          <p:cNvSpPr>
            <a:spLocks xmlns:a="http://schemas.openxmlformats.org/drawingml/2006/main" noGrp="1"/>
          </p:cNvSpPr>
          <p:nvPr>
            <p:ph type="title" idx="0"/>
          </p:nvPr>
        </p:nvSpPr>
        <p:spPr>
          <a:xfrm xmlns:a="http://schemas.openxmlformats.org/drawingml/2006/main">
            <a:off x="904875" y="252828"/>
            <a:ext cx="7532115" cy="601301"/>
          </a:xfrm>
        </p:spPr>
        <p:txBody>
          <a:bodyPr xmlns:a="http://schemas.openxmlformats.org/drawingml/2006/main">
            <a:normAutofit fontScale="90000"/>
          </a:bodyPr>
          <a:lstStyle xmlns:a="http://schemas.openxmlformats.org/drawingml/2006/main"/>
          <a:p xmlns:a="http://schemas.openxmlformats.org/drawingml/2006/main">
            <a:r>
              <a:t>WCCI 2020 (36 substations): Action Space Reduction</a:t>
            </a:r>
          </a:p>
        </p:txBody>
      </p:sp>
      <p:sp>
        <p:nvSpPr>
          <p:cNvPr id="5" name="Espace réservé du numéro de diapositive 4">
            <a:extLst xmlns:a="http://schemas.openxmlformats.org/drawingml/2006/main">
              <a:ext uri="{FF2B5EF4-FFF2-40B4-BE49-F238E27FC236}">
                <a16:creationId xmlns:a16="http://schemas.microsoft.com/office/drawing/2014/main" id="{05621B9C-5EBE-0DED-DE64-EF550DE3800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r>
              <a:t>24</a:t>
            </a:r>
          </a:p>
        </p:txBody>
      </p:sp>
      <p:sp>
        <p:nvSpPr>
          <p:cNvPr id="6" name="ZoneTexte 5">
            <a:extLst xmlns:a="http://schemas.openxmlformats.org/drawingml/2006/main">
              <a:ext uri="{FF2B5EF4-FFF2-40B4-BE49-F238E27FC236}">
                <a16:creationId xmlns:a16="http://schemas.microsoft.com/office/drawing/2014/main" id="{367828DD-8E93-EFAA-9526-E9537E45FD81}"/>
              </a:ext>
            </a:extLst>
          </p:cNvPr>
          <p:cNvSpPr>
            <a:spLocks xmlns:a="http://schemas.openxmlformats.org/drawingml/2006/main" noGrp="1"/>
          </p:cNvSpPr>
          <p:nvPr/>
        </p:nvSpPr>
        <p:spPr>
          <a:xfrm xmlns:a="http://schemas.openxmlformats.org/drawingml/2006/main">
            <a:off x="526993" y="787734"/>
            <a:ext cx="8127347" cy="2470698"/>
          </a:xfrm>
          <a:prstGeom xmlns:a="http://schemas.openxmlformats.org/drawingml/2006/main" prst="roundRect">
            <a:avLst>
              <a:gd name="adj" fmla="val 14100"/>
            </a:avLst>
          </a:prstGeom>
          <a:solidFill xmlns:a="http://schemas.openxmlformats.org/drawingml/2006/main">
            <a:schemeClr val="bg2">
              <a:lumMod val="20000"/>
              <a:lumOff val="80000"/>
            </a:schemeClr>
          </a:solidFill>
          <a:ln xmlns:a="http://schemas.openxmlformats.org/drawingml/2006/main" w="9525"/>
        </p:spPr>
        <p:style>
          <a:lnRef xmlns:a="http://schemas.openxmlformats.org/drawingml/2006/main" idx="2">
            <a:schemeClr val="dk1"/>
          </a:lnRef>
          <a:fillRef xmlns:a="http://schemas.openxmlformats.org/drawingml/2006/main" idx="1">
            <a:schemeClr val="lt1"/>
          </a:fillRef>
          <a:effectRef xmlns:a="http://schemas.openxmlformats.org/drawingml/2006/main" idx="0">
            <a:schemeClr val="dk1"/>
          </a:effectRef>
          <a:fontRef xmlns:a="http://schemas.openxmlformats.org/drawingml/2006/main" idx="minor">
            <a:schemeClr val="dk1"/>
          </a:fontRef>
        </p:style>
        <p:txBody>
          <a:bodyPr xmlns:a="http://schemas.openxmlformats.org/drawingml/2006/main" wrap="square">
            <a:spAutoFit/>
          </a:bodyPr>
          <a:lstStyle xmlns:a="http://schemas.openxmlformats.org/drawingml/2006/main"/>
          <a:p xmlns:a="http://schemas.openxmlformats.org/drawingml/2006/main">
            <a:pPr>
              <a:spcAft>
                <a:spcPts val="600"/>
              </a:spcAft>
              <a:buFont typeface="+mj-lt"/>
              <a:buAutoNum type="arabicPeriod"/>
            </a:pPr>
            <a:r>
              <a:rPr sz="1100" b="1"/>
              <a:t> </a:t>
            </a:r>
            <a:r>
              <a:rPr sz="1100" b="1"/>
              <a:t>Collect</a:t>
            </a:r>
            <a:r>
              <a:rPr sz="1100" b="1"/>
              <a:t> </a:t>
            </a:r>
            <a:r>
              <a:rPr sz="1100" b="1"/>
              <a:t>risky</a:t>
            </a:r>
            <a:r>
              <a:rPr sz="1100" b="1"/>
              <a:t> states: </a:t>
            </a:r>
            <a:r>
              <a:rPr sz="1100"/>
              <a:t>During</a:t>
            </a:r>
            <a:r>
              <a:rPr sz="1100"/>
              <a:t> </a:t>
            </a:r>
            <a:r>
              <a:rPr sz="1100"/>
              <a:t>rollouts</a:t>
            </a:r>
            <a:r>
              <a:rPr sz="1100"/>
              <a:t>, </a:t>
            </a:r>
            <a:r>
              <a:rPr sz="1100"/>
              <a:t>keep</a:t>
            </a:r>
            <a:r>
              <a:rPr sz="1100"/>
              <a:t> states </a:t>
            </a:r>
            <a:r>
              <a:rPr sz="1100"/>
              <a:t>where</a:t>
            </a:r>
            <a:r>
              <a:rPr sz="1100"/>
              <a:t>:</a:t>
            </a:r>
          </a:p>
          <a:p xmlns:a="http://schemas.openxmlformats.org/drawingml/2006/main">
            <a:pPr>
              <a:buNone/>
            </a:pPr>
            <a14:m xmlns:a14="http://schemas.microsoft.com/office/drawing/2010/main">
              <m:oMathPara xmlns:m="http://schemas.openxmlformats.org/officeDocument/2006/math">
                <m:oMathParaPr>
                  <m:jc m:val="centerGroup"/>
                </m:oMathParaPr>
                <m:oMath>
                  <m:sSub>
                    <m:e>
                      <m:r>
                        <a:rPr xmlns:a="http://schemas.openxmlformats.org/drawingml/2006/main" lang="fr-CH" sz="1100" i="1">
                          <a:latin typeface="Cambria Math"/>
                          <a:ea typeface="Cambria Math"/>
                          <a:cs typeface="Cambria Math"/>
                        </a:rPr>
                        <m:t>𝜌</m:t>
                      </m:r>
                    </m:e>
                    <m:sub>
                      <m:r>
                        <a:rPr xmlns:a="http://schemas.openxmlformats.org/drawingml/2006/main" lang="fr-CH" sz="1100" i="1">
                          <a:latin typeface="Cambria Math"/>
                          <a:ea typeface="Cambria Math"/>
                          <a:cs typeface="Cambria Math"/>
                        </a:rPr>
                        <m:t>max</m:t>
                      </m:r>
                    </m:sub>
                  </m:sSub>
                  <m:r>
                    <a:rPr xmlns:a="http://schemas.openxmlformats.org/drawingml/2006/main" lang="fr-CH" sz="1100" i="1">
                      <a:latin typeface="Cambria Math"/>
                      <a:ea typeface="Cambria Math"/>
                      <a:cs typeface="Cambria Math"/>
                    </a:rPr>
                    <m:t>&gt;0.90</m:t>
                  </m:r>
                </m:oMath>
              </m:oMathPara>
            </a14:m>
          </a:p>
          <a:p xmlns:a="http://schemas.openxmlformats.org/drawingml/2006/main"/>
          <a:p xmlns:a="http://schemas.openxmlformats.org/drawingml/2006/main">
            <a:pPr>
              <a:spcAft>
                <a:spcPts val="600"/>
              </a:spcAft>
              <a:buNone/>
            </a:pPr>
            <a:r>
              <a:rPr sz="1100" b="1"/>
              <a:t>2. </a:t>
            </a:r>
            <a:r>
              <a:rPr sz="1100" b="1"/>
              <a:t>Simulate</a:t>
            </a:r>
            <a:r>
              <a:rPr sz="1100" b="1"/>
              <a:t> candidate actions: </a:t>
            </a:r>
            <a:r>
              <a:rPr sz="1100"/>
              <a:t>For </a:t>
            </a:r>
            <a:r>
              <a:rPr sz="1100"/>
              <a:t>each</a:t>
            </a:r>
            <a:r>
              <a:rPr sz="1100"/>
              <a:t> agent action, compare </a:t>
            </a:r>
            <a:r>
              <a:rPr sz="1100"/>
              <a:t>its</a:t>
            </a:r>
            <a:r>
              <a:rPr sz="1100"/>
              <a:t> </a:t>
            </a:r>
            <a:r>
              <a:rPr sz="1100"/>
              <a:t>outcome</a:t>
            </a:r>
            <a:r>
              <a:rPr sz="1100"/>
              <a:t> to do-</a:t>
            </a:r>
            <a:r>
              <a:rPr sz="1100"/>
              <a:t>nothing</a:t>
            </a:r>
            <a:r>
              <a:rPr sz="1100"/>
              <a:t>:</a:t>
            </a:r>
          </a:p>
          <a:p xmlns:a="http://schemas.openxmlformats.org/drawingml/2006/main">
            <a:pPr>
              <a:buNone/>
            </a:pPr>
            <a14:m xmlns:a14="http://schemas.microsoft.com/office/drawing/2010/main">
              <m:oMathPara xmlns:m="http://schemas.openxmlformats.org/officeDocument/2006/math">
                <m:oMathParaPr>
                  <m:jc m:val="centerGroup"/>
                </m:oMathParaPr>
                <m:oMath>
                  <m:r>
                    <a:rPr xmlns:a="http://schemas.openxmlformats.org/drawingml/2006/main" lang="fr-CH" sz="1100">
                      <a:latin typeface="Cambria Math"/>
                      <a:ea typeface="Cambria Math"/>
                      <a:cs typeface="Cambria Math"/>
                    </a:rPr>
                    <m:t>Δ</m:t>
                  </m:r>
                  <m:d>
                    <m:dPr>
                      <m:grow m:val="off"/>
                    </m:dPr>
                    <m:e>
                      <m:r>
                        <a:rPr xmlns:a="http://schemas.openxmlformats.org/drawingml/2006/main" lang="fr-CH" sz="1100" i="1">
                          <a:latin typeface="Cambria Math"/>
                          <a:ea typeface="Cambria Math"/>
                          <a:cs typeface="Cambria Math"/>
                        </a:rPr>
                        <m:t>𝑠</m:t>
                      </m:r>
                      <m:r>
                        <a:rPr xmlns:a="http://schemas.openxmlformats.org/drawingml/2006/main" lang="fr-CH" sz="1100" i="1">
                          <a:latin typeface="Cambria Math"/>
                          <a:ea typeface="Cambria Math"/>
                          <a:cs typeface="Cambria Math"/>
                        </a:rPr>
                        <m:t>,</m:t>
                      </m:r>
                      <m:r>
                        <a:rPr xmlns:a="http://schemas.openxmlformats.org/drawingml/2006/main" lang="fr-CH" sz="1100" i="1">
                          <a:latin typeface="Cambria Math"/>
                          <a:ea typeface="Cambria Math"/>
                          <a:cs typeface="Cambria Math"/>
                        </a:rPr>
                        <m:t>𝑎</m:t>
                      </m:r>
                    </m:e>
                  </m:d>
                  <m:r>
                    <a:rPr xmlns:a="http://schemas.openxmlformats.org/drawingml/2006/main" lang="fr-CH" sz="1100" i="1">
                      <a:latin typeface="Cambria Math"/>
                      <a:ea typeface="Cambria Math"/>
                      <a:cs typeface="Cambria Math"/>
                    </a:rPr>
                    <m:t>=</m:t>
                  </m:r>
                  <m:sSub>
                    <m:e>
                      <m:r>
                        <a:rPr xmlns:a="http://schemas.openxmlformats.org/drawingml/2006/main" lang="fr-CH" sz="1100" i="1">
                          <a:latin typeface="Cambria Math"/>
                          <a:ea typeface="Cambria Math"/>
                          <a:cs typeface="Cambria Math"/>
                        </a:rPr>
                        <m:t>𝜌</m:t>
                      </m:r>
                    </m:e>
                    <m:sub>
                      <m:r>
                        <a:rPr xmlns:a="http://schemas.openxmlformats.org/drawingml/2006/main" lang="fr-CH" sz="1100">
                          <a:latin typeface="Cambria Math"/>
                          <a:ea typeface="Cambria Math"/>
                          <a:cs typeface="Cambria Math"/>
                        </a:rPr>
                        <m:t>after</m:t>
                      </m:r>
                    </m:sub>
                  </m:sSub>
                  <m:d>
                    <m:dPr>
                      <m:grow m:val="off"/>
                    </m:dPr>
                    <m:e>
                      <m:r>
                        <a:rPr xmlns:a="http://schemas.openxmlformats.org/drawingml/2006/main" lang="fr-CH" sz="1100" i="1">
                          <a:latin typeface="Cambria Math"/>
                          <a:ea typeface="Cambria Math"/>
                          <a:cs typeface="Cambria Math"/>
                        </a:rPr>
                        <m:t>𝑠</m:t>
                      </m:r>
                      <m:r>
                        <a:rPr xmlns:a="http://schemas.openxmlformats.org/drawingml/2006/main" lang="fr-CH" sz="1100" i="1">
                          <a:latin typeface="Cambria Math"/>
                          <a:ea typeface="Cambria Math"/>
                          <a:cs typeface="Cambria Math"/>
                        </a:rPr>
                        <m:t>,</m:t>
                      </m:r>
                      <m:r>
                        <a:rPr xmlns:a="http://schemas.openxmlformats.org/drawingml/2006/main" lang="fr-CH" sz="1100" i="1">
                          <a:latin typeface="Cambria Math"/>
                          <a:ea typeface="Cambria Math"/>
                          <a:cs typeface="Cambria Math"/>
                        </a:rPr>
                        <m:t>𝑎</m:t>
                      </m:r>
                    </m:e>
                  </m:d>
                  <m:r>
                    <a:rPr xmlns:a="http://schemas.openxmlformats.org/drawingml/2006/main" lang="fr-CH" sz="1100" i="1">
                      <a:latin typeface="Cambria Math"/>
                      <a:ea typeface="Cambria Math"/>
                      <a:cs typeface="Cambria Math"/>
                    </a:rPr>
                    <m:t>−</m:t>
                  </m:r>
                  <m:sSub>
                    <m:e>
                      <m:r>
                        <a:rPr xmlns:a="http://schemas.openxmlformats.org/drawingml/2006/main" lang="fr-CH" sz="1100" i="1">
                          <a:latin typeface="Cambria Math"/>
                          <a:ea typeface="Cambria Math"/>
                          <a:cs typeface="Cambria Math"/>
                        </a:rPr>
                        <m:t>𝜌</m:t>
                      </m:r>
                    </m:e>
                    <m:sub>
                      <m:r>
                        <a:rPr xmlns:a="http://schemas.openxmlformats.org/drawingml/2006/main" lang="fr-CH" sz="1100">
                          <a:latin typeface="Cambria Math"/>
                          <a:ea typeface="Cambria Math"/>
                          <a:cs typeface="Cambria Math"/>
                        </a:rPr>
                        <m:t>after</m:t>
                      </m:r>
                    </m:sub>
                  </m:sSub>
                  <m:d>
                    <m:dPr>
                      <m:grow m:val="off"/>
                    </m:dPr>
                    <m:e>
                      <m:r>
                        <a:rPr xmlns:a="http://schemas.openxmlformats.org/drawingml/2006/main" lang="fr-CH" sz="1100" i="1">
                          <a:latin typeface="Cambria Math"/>
                          <a:ea typeface="Cambria Math"/>
                          <a:cs typeface="Cambria Math"/>
                        </a:rPr>
                        <m:t>𝑠</m:t>
                      </m:r>
                      <m:r>
                        <a:rPr xmlns:a="http://schemas.openxmlformats.org/drawingml/2006/main" lang="fr-CH" sz="1100" i="1">
                          <a:latin typeface="Cambria Math"/>
                          <a:ea typeface="Cambria Math"/>
                          <a:cs typeface="Cambria Math"/>
                        </a:rPr>
                        <m:t>,0</m:t>
                      </m:r>
                    </m:e>
                  </m:d>
                </m:oMath>
              </m:oMathPara>
            </a14:m>
          </a:p>
          <a:p xmlns:a="http://schemas.openxmlformats.org/drawingml/2006/main"/>
          <a:p xmlns:a="http://schemas.openxmlformats.org/drawingml/2006/main">
            <a:r>
              <a:rPr sz="1100" b="1"/>
              <a:t>3. Score actions: </a:t>
            </a:r>
            <a:r>
              <a:rPr sz="1100"/>
              <a:t>For </a:t>
            </a:r>
            <a:r>
              <a:rPr sz="1100"/>
              <a:t>each</a:t>
            </a:r>
            <a:r>
              <a:rPr sz="1100"/>
              <a:t> action:</a:t>
            </a:r>
          </a:p>
          <a:p xmlns:a="http://schemas.openxmlformats.org/drawingml/2006/main">
            <a:pPr>
              <a:buNone/>
            </a:pPr>
            <a14:m xmlns:a14="http://schemas.microsoft.com/office/drawing/2010/main">
              <m:oMathPara xmlns:m="http://schemas.openxmlformats.org/officeDocument/2006/math">
                <m:oMathParaPr>
                  <m:jc m:val="centerGroup"/>
                </m:oMathParaPr>
                <m:oMath>
                  <m:r>
                    <a:rPr xmlns:a="http://schemas.openxmlformats.org/drawingml/2006/main" lang="fr-CH" sz="1100">
                      <a:latin typeface="Cambria Math"/>
                      <a:ea typeface="Cambria Math"/>
                      <a:cs typeface="Cambria Math"/>
                    </a:rPr>
                    <m:t>score</m:t>
                  </m:r>
                  <m:d>
                    <m:dPr>
                      <m:grow m:val="off"/>
                    </m:dPr>
                    <m:e>
                      <m:r>
                        <a:rPr xmlns:a="http://schemas.openxmlformats.org/drawingml/2006/main" lang="fr-CH" sz="1100" i="1">
                          <a:latin typeface="Cambria Math"/>
                          <a:ea typeface="Cambria Math"/>
                          <a:cs typeface="Cambria Math"/>
                        </a:rPr>
                        <m:t>𝑎</m:t>
                      </m:r>
                    </m:e>
                  </m:d>
                  <m:r>
                    <a:rPr xmlns:a="http://schemas.openxmlformats.org/drawingml/2006/main" lang="fr-CH" sz="1100" i="1">
                      <a:latin typeface="Cambria Math"/>
                      <a:ea typeface="Cambria Math"/>
                      <a:cs typeface="Cambria Math"/>
                    </a:rPr>
                    <m:t>=</m:t>
                  </m:r>
                  <m:f>
                    <m:num>
                      <m:r>
                        <a:rPr xmlns:a="http://schemas.openxmlformats.org/drawingml/2006/main" lang="fr-CH" sz="1100" i="1">
                          <a:latin typeface="Cambria Math"/>
                          <a:ea typeface="Cambria Math"/>
                          <a:cs typeface="Cambria Math"/>
                        </a:rPr>
                        <m:t>#</m:t>
                      </m:r>
                      <m:r>
                        <a:rPr xmlns:a="http://schemas.openxmlformats.org/drawingml/2006/main" lang="fr-CH" sz="1100">
                          <a:latin typeface="Cambria Math"/>
                          <a:ea typeface="Cambria Math"/>
                          <a:cs typeface="Cambria Math"/>
                        </a:rPr>
                        <m:t>times</m:t>
                      </m:r>
                      <m:r>
                        <a:rPr xmlns:a="http://schemas.openxmlformats.org/drawingml/2006/main" lang="fr-CH" sz="1100">
                          <a:latin typeface="Cambria Math"/>
                          <a:ea typeface="Cambria Math"/>
                          <a:cs typeface="Cambria Math"/>
                        </a:rPr>
                        <m:t xml:space="preserve"> </m:t>
                      </m:r>
                      <m:r>
                        <a:rPr xmlns:a="http://schemas.openxmlformats.org/drawingml/2006/main" lang="fr-CH" sz="1100">
                          <a:latin typeface="Cambria Math"/>
                          <a:ea typeface="Cambria Math"/>
                          <a:cs typeface="Cambria Math"/>
                        </a:rPr>
                        <m:t>action</m:t>
                      </m:r>
                      <m:r>
                        <a:rPr xmlns:a="http://schemas.openxmlformats.org/drawingml/2006/main" lang="fr-CH" sz="1100">
                          <a:latin typeface="Cambria Math"/>
                          <a:ea typeface="Cambria Math"/>
                          <a:cs typeface="Cambria Math"/>
                        </a:rPr>
                        <m:t xml:space="preserve"> </m:t>
                      </m:r>
                      <m:r>
                        <a:rPr xmlns:a="http://schemas.openxmlformats.org/drawingml/2006/main" lang="fr-CH" sz="1100">
                          <a:latin typeface="Cambria Math"/>
                          <a:ea typeface="Cambria Math"/>
                          <a:cs typeface="Cambria Math"/>
                        </a:rPr>
                        <m:t>improves</m:t>
                      </m:r>
                      <m:r>
                        <a:rPr xmlns:a="http://schemas.openxmlformats.org/drawingml/2006/main" lang="fr-CH" sz="1100">
                          <a:latin typeface="Cambria Math"/>
                          <a:ea typeface="Cambria Math"/>
                          <a:cs typeface="Cambria Math"/>
                        </a:rPr>
                        <m:t xml:space="preserve"> </m:t>
                      </m:r>
                      <m:r>
                        <a:rPr xmlns:a="http://schemas.openxmlformats.org/drawingml/2006/main" lang="fr-CH" sz="1100">
                          <a:latin typeface="Cambria Math"/>
                          <a:ea typeface="Cambria Math"/>
                          <a:cs typeface="Cambria Math"/>
                        </a:rPr>
                        <m:t>the</m:t>
                      </m:r>
                      <m:r>
                        <a:rPr xmlns:a="http://schemas.openxmlformats.org/drawingml/2006/main" lang="fr-CH" sz="1100">
                          <a:latin typeface="Cambria Math"/>
                          <a:ea typeface="Cambria Math"/>
                          <a:cs typeface="Cambria Math"/>
                        </a:rPr>
                        <m:t xml:space="preserve"> </m:t>
                      </m:r>
                      <m:r>
                        <a:rPr xmlns:a="http://schemas.openxmlformats.org/drawingml/2006/main" lang="fr-CH" sz="1100">
                          <a:latin typeface="Cambria Math"/>
                          <a:ea typeface="Cambria Math"/>
                          <a:cs typeface="Cambria Math"/>
                        </a:rPr>
                        <m:t>grid</m:t>
                      </m:r>
                    </m:num>
                    <m:den>
                      <m:r>
                        <a:rPr xmlns:a="http://schemas.openxmlformats.org/drawingml/2006/main" lang="fr-CH" sz="1100" i="1">
                          <a:latin typeface="Cambria Math"/>
                          <a:ea typeface="Cambria Math"/>
                          <a:cs typeface="Cambria Math"/>
                        </a:rPr>
                        <m:t>#</m:t>
                      </m:r>
                      <m:r>
                        <a:rPr xmlns:a="http://schemas.openxmlformats.org/drawingml/2006/main" lang="fr-CH" sz="1100">
                          <a:latin typeface="Cambria Math"/>
                          <a:ea typeface="Cambria Math"/>
                          <a:cs typeface="Cambria Math"/>
                        </a:rPr>
                        <m:t>times</m:t>
                      </m:r>
                      <m:r>
                        <a:rPr xmlns:a="http://schemas.openxmlformats.org/drawingml/2006/main" lang="fr-CH" sz="1100">
                          <a:latin typeface="Cambria Math"/>
                          <a:ea typeface="Cambria Math"/>
                          <a:cs typeface="Cambria Math"/>
                        </a:rPr>
                        <m:t xml:space="preserve"> </m:t>
                      </m:r>
                      <m:r>
                        <a:rPr xmlns:a="http://schemas.openxmlformats.org/drawingml/2006/main" lang="fr-CH" sz="1100">
                          <a:latin typeface="Cambria Math"/>
                          <a:ea typeface="Cambria Math"/>
                          <a:cs typeface="Cambria Math"/>
                        </a:rPr>
                        <m:t>action</m:t>
                      </m:r>
                      <m:r>
                        <a:rPr xmlns:a="http://schemas.openxmlformats.org/drawingml/2006/main" lang="fr-CH" sz="1100">
                          <a:latin typeface="Cambria Math"/>
                          <a:ea typeface="Cambria Math"/>
                          <a:cs typeface="Cambria Math"/>
                        </a:rPr>
                        <m:t xml:space="preserve"> </m:t>
                      </m:r>
                      <m:r>
                        <a:rPr xmlns:a="http://schemas.openxmlformats.org/drawingml/2006/main" lang="fr-CH" sz="1100">
                          <a:latin typeface="Cambria Math"/>
                          <a:ea typeface="Cambria Math"/>
                          <a:cs typeface="Cambria Math"/>
                        </a:rPr>
                        <m:t>was</m:t>
                      </m:r>
                      <m:r>
                        <a:rPr xmlns:a="http://schemas.openxmlformats.org/drawingml/2006/main" lang="fr-CH" sz="1100">
                          <a:latin typeface="Cambria Math"/>
                          <a:ea typeface="Cambria Math"/>
                          <a:cs typeface="Cambria Math"/>
                        </a:rPr>
                        <m:t xml:space="preserve"> </m:t>
                      </m:r>
                      <m:r>
                        <a:rPr xmlns:a="http://schemas.openxmlformats.org/drawingml/2006/main" lang="fr-CH" sz="1100">
                          <a:latin typeface="Cambria Math"/>
                          <a:ea typeface="Cambria Math"/>
                          <a:cs typeface="Cambria Math"/>
                        </a:rPr>
                        <m:t>tested</m:t>
                      </m:r>
                    </m:den>
                  </m:f>
                </m:oMath>
              </m:oMathPara>
            </a14:m>
          </a:p>
          <a:p xmlns:a="http://schemas.openxmlformats.org/drawingml/2006/main"/>
          <a:p xmlns:a="http://schemas.openxmlformats.org/drawingml/2006/main">
            <a:r>
              <a:rPr sz="1100" b="1"/>
              <a:t>4. </a:t>
            </a:r>
            <a:r>
              <a:rPr sz="1100" b="1"/>
              <a:t>Keep</a:t>
            </a:r>
            <a:r>
              <a:rPr sz="1100" b="1"/>
              <a:t> best actions per agent: </a:t>
            </a:r>
            <a:r>
              <a:rPr sz="1100"/>
              <a:t>Keep</a:t>
            </a:r>
            <a:r>
              <a:rPr sz="1100"/>
              <a:t> all </a:t>
            </a:r>
            <a:r>
              <a:rPr sz="1100"/>
              <a:t>small</a:t>
            </a:r>
            <a:r>
              <a:rPr sz="1100"/>
              <a:t>-agent actions, and </a:t>
            </a:r>
            <a:r>
              <a:rPr sz="1100"/>
              <a:t>only</a:t>
            </a:r>
            <a:r>
              <a:rPr sz="1100"/>
              <a:t> top-K actions for large agents. Do-</a:t>
            </a:r>
            <a:r>
              <a:rPr sz="1100"/>
              <a:t>nothing</a:t>
            </a:r>
            <a:r>
              <a:rPr sz="1100"/>
              <a:t> action </a:t>
            </a:r>
            <a:r>
              <a:rPr sz="1100"/>
              <a:t>is</a:t>
            </a:r>
            <a:r>
              <a:rPr sz="1100"/>
              <a:t> </a:t>
            </a:r>
            <a:r>
              <a:rPr sz="1100"/>
              <a:t>always</a:t>
            </a:r>
            <a:r>
              <a:rPr sz="1100"/>
              <a:t> </a:t>
            </a:r>
            <a:r>
              <a:rPr sz="1100"/>
              <a:t>kept</a:t>
            </a:r>
            <a:r>
              <a:rPr sz="1100"/>
              <a:t>.</a:t>
            </a:r>
          </a:p>
        </p:txBody>
      </p:sp>
      <p:pic>
        <p:nvPicPr>
          <p:cNvPr id="18" name="Image 10"/>
          <p:cNvPicPr>
            <a:picLocks xmlns:a="http://schemas.openxmlformats.org/drawingml/2006/main" noChangeAspect="1"/>
          </p:cNvPicPr>
          <p:nvPr/>
        </p:nvPicPr>
        <p:blipFill>
          <a:blip xmlns:r="http://schemas.openxmlformats.org/officeDocument/2006/relationships" xmlns:a="http://schemas.openxmlformats.org/drawingml/2006/main" r:embed="R778f63983031489e"/>
          <a:srcRect xmlns:a="http://schemas.openxmlformats.org/drawingml/2006/main" l="2407" t="34479" r="2407" b="8306"/>
          <a:stretch xmlns:a="http://schemas.openxmlformats.org/drawingml/2006/main">
            <a:fillRect l="0" t="0" r="0" b="0"/>
          </a:stretch>
        </p:blipFill>
        <p:spPr>
          <a:xfrm xmlns:a="http://schemas.openxmlformats.org/drawingml/2006/main">
            <a:off x="569591" y="3401002"/>
            <a:ext cx="8061647" cy="1228060"/>
          </a:xfrm>
          <a:prstGeom xmlns:a="http://schemas.openxmlformats.org/drawingml/2006/main" prst="rect">
            <a:avLst/>
          </a:prstGeom>
        </p:spPr>
      </p:pic>
      <p:sp>
        <p:nvSpPr>
          <p:cNvPr id="12" name="ZoneTexte 11">
            <a:extLst xmlns:a="http://schemas.openxmlformats.org/drawingml/2006/main">
              <a:ext uri="{FF2B5EF4-FFF2-40B4-BE49-F238E27FC236}">
                <a16:creationId xmlns:a16="http://schemas.microsoft.com/office/drawing/2014/main" id="{61C30145-0A1F-9AF9-336E-97923061B902}"/>
              </a:ext>
            </a:extLst>
          </p:cNvPr>
          <p:cNvSpPr>
            <a:spLocks xmlns:a="http://schemas.openxmlformats.org/drawingml/2006/main" noGrp="1"/>
          </p:cNvSpPr>
          <p:nvPr/>
        </p:nvSpPr>
        <p:spPr>
          <a:xfrm xmlns:a="http://schemas.openxmlformats.org/drawingml/2006/main">
            <a:off x="559842" y="4629062"/>
            <a:ext cx="8024316" cy="2616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1100" b="1" i="1">
                <a:latin typeface="Times New Roman"/>
                <a:ea typeface="Times New Roman"/>
                <a:cs typeface="Times New Roman"/>
              </a:rPr>
              <a:t>Table 12: </a:t>
            </a:r>
            <a:r>
              <a:rPr sz="1100" b="1" i="1">
                <a:latin typeface="Times New Roman"/>
                <a:ea typeface="Times New Roman"/>
                <a:cs typeface="Times New Roman"/>
              </a:rPr>
              <a:t>One-step </a:t>
            </a:r>
            <a:r>
              <a:rPr sz="1100" b="1" i="1">
                <a:latin typeface="Times New Roman"/>
                <a:ea typeface="Times New Roman"/>
                <a:cs typeface="Times New Roman"/>
              </a:rPr>
              <a:t>greedy</a:t>
            </a:r>
            <a:r>
              <a:rPr sz="1100" b="1" i="1">
                <a:latin typeface="Times New Roman"/>
                <a:ea typeface="Times New Roman"/>
                <a:cs typeface="Times New Roman"/>
              </a:rPr>
              <a:t> </a:t>
            </a:r>
            <a:r>
              <a:rPr sz="1100" b="1" i="1">
                <a:latin typeface="Times New Roman"/>
                <a:ea typeface="Times New Roman"/>
                <a:cs typeface="Times New Roman"/>
              </a:rPr>
              <a:t>evalaution</a:t>
            </a:r>
            <a:r>
              <a:rPr sz="1100" b="1" i="1">
                <a:latin typeface="Times New Roman"/>
                <a:ea typeface="Times New Roman"/>
                <a:cs typeface="Times New Roman"/>
              </a:rPr>
              <a:t> of WCCI </a:t>
            </a:r>
            <a:r>
              <a:rPr sz="1100" b="1" i="1">
                <a:latin typeface="Times New Roman"/>
                <a:ea typeface="Times New Roman"/>
                <a:cs typeface="Times New Roman"/>
              </a:rPr>
              <a:t>reduced</a:t>
            </a:r>
            <a:r>
              <a:rPr sz="1100" b="1" i="1">
                <a:latin typeface="Times New Roman"/>
                <a:ea typeface="Times New Roman"/>
                <a:cs typeface="Times New Roman"/>
              </a:rPr>
              <a:t> action </a:t>
            </a:r>
            <a:r>
              <a:rPr sz="1100" b="1" i="1">
                <a:latin typeface="Times New Roman"/>
                <a:ea typeface="Times New Roman"/>
                <a:cs typeface="Times New Roman"/>
              </a:rPr>
              <a:t>spaces</a:t>
            </a:r>
            <a:r>
              <a:rPr sz="1100" b="1" i="1">
                <a:latin typeface="Times New Roman"/>
                <a:ea typeface="Times New Roman"/>
                <a:cs typeface="Times New Roman"/>
              </a:rPr>
              <a:t> on 50 </a:t>
            </a:r>
            <a:r>
              <a:rPr sz="1100" b="1" i="1">
                <a:latin typeface="Times New Roman"/>
                <a:ea typeface="Times New Roman"/>
                <a:cs typeface="Times New Roman"/>
              </a:rPr>
              <a:t>random</a:t>
            </a:r>
            <a:r>
              <a:rPr sz="1100" b="1" i="1">
                <a:latin typeface="Times New Roman"/>
                <a:ea typeface="Times New Roman"/>
                <a:cs typeface="Times New Roman"/>
              </a:rPr>
              <a:t> test </a:t>
            </a:r>
            <a:r>
              <a:rPr sz="1100" b="1" i="1">
                <a:latin typeface="Times New Roman"/>
                <a:ea typeface="Times New Roman"/>
                <a:cs typeface="Times New Roman"/>
              </a:rPr>
              <a:t>chronics</a:t>
            </a:r>
          </a:p>
        </p:txBody>
      </p:sp>
      <p:pic>
        <p:nvPicPr>
          <p:cNvPr id="20" name="Picture 2"/>
          <p:cNvPicPr>
            <a:picLocks xmlns:a="http://schemas.openxmlformats.org/drawingml/2006/main" noChangeAspect="1"/>
          </p:cNvPicPr>
          <p:nvPr/>
        </p:nvPicPr>
        <p:blipFill>
          <a:blip xmlns:r="http://schemas.openxmlformats.org/officeDocument/2006/relationships" xmlns:a="http://schemas.openxmlformats.org/drawingml/2006/main" r:embed="R05bd11acdb0340ce"/>
          <a:srcRect xmlns:a="http://schemas.openxmlformats.org/drawingml/2006/main" l="0" t="0" r="0" b="0"/>
          <a:stretch xmlns:a="http://schemas.openxmlformats.org/drawingml/2006/main">
            <a:fillRect l="0" t="0" r="0" b="0"/>
          </a:stretch>
        </p:blipFill>
        <p:spPr>
          <a:xfrm xmlns:a="http://schemas.openxmlformats.org/drawingml/2006/main">
            <a:off x="158055" y="379734"/>
            <a:ext cx="587504" cy="326391"/>
          </a:xfrm>
          <a:prstGeom xmlns:a="http://schemas.openxmlformats.org/drawingml/2006/main" prst="rect">
            <a:avLst/>
          </a:prstGeom>
        </p:spPr>
      </p:pic>
    </p:spTree>
    <p:extLst>
      <p:ext uri="{BB962C8B-B14F-4D97-AF65-F5344CB8AC3E}">
        <p14:creationId xmlns:p14="http://schemas.microsoft.com/office/powerpoint/2010/main" val="1800142165"/>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2" name="Titre 1">
            <a:extLst xmlns:a="http://schemas.openxmlformats.org/drawingml/2006/main">
              <a:ext uri="{FF2B5EF4-FFF2-40B4-BE49-F238E27FC236}">
                <a16:creationId xmlns:a16="http://schemas.microsoft.com/office/drawing/2014/main" id="{2B624482-565A-6118-535C-D01355E95A6A}"/>
              </a:ext>
            </a:extLst>
          </p:cNvPr>
          <p:cNvSpPr>
            <a:spLocks xmlns:a="http://schemas.openxmlformats.org/drawingml/2006/main" noGrp="1"/>
          </p:cNvSpPr>
          <p:nvPr>
            <p:ph type="title" idx="0"/>
          </p:nvPr>
        </p:nvSpPr>
        <p:spPr>
          <a:xfrm xmlns:a="http://schemas.openxmlformats.org/drawingml/2006/main">
            <a:off x="904875" y="252828"/>
            <a:ext cx="7532115" cy="601301"/>
          </a:xfrm>
        </p:spPr>
        <p:txBody>
          <a:bodyPr xmlns:a="http://schemas.openxmlformats.org/drawingml/2006/main">
            <a:normAutofit/>
          </a:bodyPr>
          <a:lstStyle xmlns:a="http://schemas.openxmlformats.org/drawingml/2006/main"/>
          <a:p xmlns:a="http://schemas.openxmlformats.org/drawingml/2006/main">
            <a:r>
              <a:t>WCCI 2020 (36 substations): Results</a:t>
            </a:r>
          </a:p>
        </p:txBody>
      </p:sp>
      <p:sp>
        <p:nvSpPr>
          <p:cNvPr id="5" name="Espace réservé du numéro de diapositive 4">
            <a:extLst xmlns:a="http://schemas.openxmlformats.org/drawingml/2006/main">
              <a:ext uri="{FF2B5EF4-FFF2-40B4-BE49-F238E27FC236}">
                <a16:creationId xmlns:a16="http://schemas.microsoft.com/office/drawing/2014/main" id="{9EE6C338-C713-3E9D-EFF1-86E7B50FF49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r>
              <a:t>25</a:t>
            </a:r>
          </a:p>
        </p:txBody>
      </p:sp>
      <p:pic>
        <p:nvPicPr>
          <p:cNvPr id="13" name="Image 2"/>
          <p:cNvPicPr>
            <a:picLocks xmlns:a="http://schemas.openxmlformats.org/drawingml/2006/main" noChangeAspect="1"/>
          </p:cNvPicPr>
          <p:nvPr/>
        </p:nvPicPr>
        <p:blipFill>
          <a:blip xmlns:r="http://schemas.openxmlformats.org/officeDocument/2006/relationships" xmlns:a="http://schemas.openxmlformats.org/drawingml/2006/main" r:embed="R18ac0220da9d4a7d"/>
          <a:stretch xmlns:a="http://schemas.openxmlformats.org/drawingml/2006/main">
            <a:fillRect l="0" t="0" r="0" b="0"/>
          </a:stretch>
        </p:blipFill>
        <p:spPr>
          <a:xfrm xmlns:a="http://schemas.openxmlformats.org/drawingml/2006/main">
            <a:off x="161418" y="1687688"/>
            <a:ext cx="4723444" cy="2111473"/>
          </a:xfrm>
          <a:prstGeom xmlns:a="http://schemas.openxmlformats.org/drawingml/2006/main" prst="rect">
            <a:avLst/>
          </a:prstGeom>
        </p:spPr>
      </p:pic>
      <p:pic>
        <p:nvPicPr>
          <p:cNvPr id="14" name="Image 3"/>
          <p:cNvPicPr>
            <a:picLocks xmlns:a="http://schemas.openxmlformats.org/drawingml/2006/main" noChangeAspect="1"/>
          </p:cNvPicPr>
          <p:nvPr/>
        </p:nvPicPr>
        <p:blipFill>
          <a:blip xmlns:r="http://schemas.openxmlformats.org/officeDocument/2006/relationships" xmlns:a="http://schemas.openxmlformats.org/drawingml/2006/main" r:embed="Rc2bc399da4a541a2"/>
          <a:srcRect xmlns:a="http://schemas.openxmlformats.org/drawingml/2006/main" l="0" t="0" r="49519" b="0"/>
          <a:stretch xmlns:a="http://schemas.openxmlformats.org/drawingml/2006/main">
            <a:fillRect l="0" t="0" r="0" b="0"/>
          </a:stretch>
        </p:blipFill>
        <p:spPr>
          <a:xfrm xmlns:a="http://schemas.openxmlformats.org/drawingml/2006/main">
            <a:off x="4933480" y="1292577"/>
            <a:ext cx="4049102" cy="2506584"/>
          </a:xfrm>
          <a:prstGeom xmlns:a="http://schemas.openxmlformats.org/drawingml/2006/main" prst="rect">
            <a:avLst/>
          </a:prstGeom>
        </p:spPr>
      </p:pic>
      <p:sp>
        <p:nvSpPr>
          <p:cNvPr id="6" name="ZoneTexte 5">
            <a:extLst xmlns:a="http://schemas.openxmlformats.org/drawingml/2006/main">
              <a:ext uri="{FF2B5EF4-FFF2-40B4-BE49-F238E27FC236}">
                <a16:creationId xmlns:a16="http://schemas.microsoft.com/office/drawing/2014/main" id="{17530E8B-F7CF-A0DE-2069-7035715B5C4A}"/>
              </a:ext>
            </a:extLst>
          </p:cNvPr>
          <p:cNvSpPr>
            <a:spLocks xmlns:a="http://schemas.openxmlformats.org/drawingml/2006/main" noGrp="1"/>
          </p:cNvSpPr>
          <p:nvPr/>
        </p:nvSpPr>
        <p:spPr>
          <a:xfrm xmlns:a="http://schemas.openxmlformats.org/drawingml/2006/main">
            <a:off x="161418" y="3799161"/>
            <a:ext cx="4772062" cy="2616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1100" b="1" i="1">
                <a:latin typeface="Times New Roman"/>
                <a:ea typeface="Times New Roman"/>
                <a:cs typeface="Times New Roman"/>
              </a:rPr>
              <a:t>Fig 18: </a:t>
            </a:r>
            <a:r>
              <a:rPr sz="1100" b="1" i="1">
                <a:latin typeface="Times New Roman"/>
                <a:ea typeface="Times New Roman"/>
                <a:cs typeface="Times New Roman"/>
              </a:rPr>
              <a:t>Do Nothing </a:t>
            </a:r>
            <a:r>
              <a:rPr sz="1100" b="1" i="1">
                <a:latin typeface="Times New Roman"/>
                <a:ea typeface="Times New Roman"/>
                <a:cs typeface="Times New Roman"/>
              </a:rPr>
              <a:t>mean</a:t>
            </a:r>
            <a:r>
              <a:rPr sz="1100" b="1" i="1">
                <a:latin typeface="Times New Roman"/>
                <a:ea typeface="Times New Roman"/>
                <a:cs typeface="Times New Roman"/>
              </a:rPr>
              <a:t> </a:t>
            </a:r>
            <a:r>
              <a:rPr sz="1100" b="1" i="1">
                <a:latin typeface="Times New Roman"/>
                <a:ea typeface="Times New Roman"/>
                <a:cs typeface="Times New Roman"/>
              </a:rPr>
              <a:t>survival</a:t>
            </a:r>
            <a:r>
              <a:rPr sz="1100" b="1" i="1">
                <a:latin typeface="Times New Roman"/>
                <a:ea typeface="Times New Roman"/>
                <a:cs typeface="Times New Roman"/>
              </a:rPr>
              <a:t> by </a:t>
            </a:r>
            <a:r>
              <a:rPr sz="1100" b="1" i="1">
                <a:latin typeface="Times New Roman"/>
                <a:ea typeface="Times New Roman"/>
                <a:cs typeface="Times New Roman"/>
              </a:rPr>
              <a:t>month</a:t>
            </a:r>
            <a:r>
              <a:rPr sz="1100" b="1" i="1">
                <a:latin typeface="Times New Roman"/>
                <a:ea typeface="Times New Roman"/>
                <a:cs typeface="Times New Roman"/>
              </a:rPr>
              <a:t> on WCCI 36 </a:t>
            </a:r>
            <a:r>
              <a:rPr sz="1100" b="1" i="1">
                <a:latin typeface="Times New Roman"/>
                <a:ea typeface="Times New Roman"/>
                <a:cs typeface="Times New Roman"/>
              </a:rPr>
              <a:t>environment</a:t>
            </a:r>
          </a:p>
        </p:txBody>
      </p:sp>
      <p:sp>
        <p:nvSpPr>
          <p:cNvPr id="7" name="ZoneTexte 6">
            <a:extLst xmlns:a="http://schemas.openxmlformats.org/drawingml/2006/main">
              <a:ext uri="{FF2B5EF4-FFF2-40B4-BE49-F238E27FC236}">
                <a16:creationId xmlns:a16="http://schemas.microsoft.com/office/drawing/2014/main" id="{9B2CB2D2-AFB2-9D48-615C-D4DAAE4182AC}"/>
              </a:ext>
            </a:extLst>
          </p:cNvPr>
          <p:cNvSpPr>
            <a:spLocks xmlns:a="http://schemas.openxmlformats.org/drawingml/2006/main" noGrp="1"/>
          </p:cNvSpPr>
          <p:nvPr/>
        </p:nvSpPr>
        <p:spPr>
          <a:xfrm xmlns:a="http://schemas.openxmlformats.org/drawingml/2006/main">
            <a:off x="4933480" y="3799161"/>
            <a:ext cx="4049102" cy="430887"/>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1100" b="1" i="1">
                <a:latin typeface="Times New Roman"/>
                <a:ea typeface="Times New Roman"/>
                <a:cs typeface="Times New Roman"/>
              </a:rPr>
              <a:t>Fig 19: </a:t>
            </a:r>
            <a:r>
              <a:rPr sz="1100" b="1" i="1">
                <a:latin typeface="Times New Roman"/>
                <a:ea typeface="Times New Roman"/>
                <a:cs typeface="Times New Roman"/>
              </a:rPr>
              <a:t>Do Nothing </a:t>
            </a:r>
            <a:r>
              <a:rPr sz="1100" b="1" i="1">
                <a:latin typeface="Times New Roman"/>
                <a:ea typeface="Times New Roman"/>
                <a:cs typeface="Times New Roman"/>
              </a:rPr>
              <a:t>mean</a:t>
            </a:r>
            <a:r>
              <a:rPr sz="1100" b="1" i="1">
                <a:latin typeface="Times New Roman"/>
                <a:ea typeface="Times New Roman"/>
                <a:cs typeface="Times New Roman"/>
              </a:rPr>
              <a:t> </a:t>
            </a:r>
            <a:r>
              <a:rPr sz="1100" b="1" i="1">
                <a:latin typeface="Times New Roman"/>
                <a:ea typeface="Times New Roman"/>
                <a:cs typeface="Times New Roman"/>
              </a:rPr>
              <a:t>survival</a:t>
            </a:r>
            <a:r>
              <a:rPr sz="1100" b="1" i="1">
                <a:latin typeface="Times New Roman"/>
                <a:ea typeface="Times New Roman"/>
                <a:cs typeface="Times New Roman"/>
              </a:rPr>
              <a:t> by </a:t>
            </a:r>
            <a:r>
              <a:rPr sz="1100" b="1" i="1">
                <a:latin typeface="Times New Roman"/>
                <a:ea typeface="Times New Roman"/>
                <a:cs typeface="Times New Roman"/>
              </a:rPr>
              <a:t>month</a:t>
            </a:r>
            <a:r>
              <a:rPr sz="1100" b="1" i="1">
                <a:latin typeface="Times New Roman"/>
                <a:ea typeface="Times New Roman"/>
                <a:cs typeface="Times New Roman"/>
              </a:rPr>
              <a:t> on WCCI 36 </a:t>
            </a:r>
            <a:r>
              <a:rPr sz="1100" b="1" i="1">
                <a:latin typeface="Times New Roman"/>
                <a:ea typeface="Times New Roman"/>
                <a:cs typeface="Times New Roman"/>
              </a:rPr>
              <a:t>environment</a:t>
            </a:r>
          </a:p>
        </p:txBody>
      </p:sp>
      <p:pic>
        <p:nvPicPr>
          <p:cNvPr id="17" name="Picture 2"/>
          <p:cNvPicPr>
            <a:picLocks xmlns:a="http://schemas.openxmlformats.org/drawingml/2006/main" noChangeAspect="1"/>
          </p:cNvPicPr>
          <p:nvPr/>
        </p:nvPicPr>
        <p:blipFill>
          <a:blip xmlns:r="http://schemas.openxmlformats.org/officeDocument/2006/relationships" xmlns:a="http://schemas.openxmlformats.org/drawingml/2006/main" r:embed="R4192f417c7ed4792"/>
          <a:srcRect xmlns:a="http://schemas.openxmlformats.org/drawingml/2006/main" l="0" t="0" r="0" b="0"/>
          <a:stretch xmlns:a="http://schemas.openxmlformats.org/drawingml/2006/main">
            <a:fillRect l="0" t="0" r="0" b="0"/>
          </a:stretch>
        </p:blipFill>
        <p:spPr>
          <a:xfrm xmlns:a="http://schemas.openxmlformats.org/drawingml/2006/main">
            <a:off x="158055" y="379734"/>
            <a:ext cx="587504" cy="326391"/>
          </a:xfrm>
          <a:prstGeom xmlns:a="http://schemas.openxmlformats.org/drawingml/2006/main" prst="rect">
            <a:avLst/>
          </a:prstGeom>
        </p:spPr>
      </p:pic>
    </p:spTree>
    <p:extLst>
      <p:ext uri="{BB962C8B-B14F-4D97-AF65-F5344CB8AC3E}">
        <p14:creationId xmlns:p14="http://schemas.microsoft.com/office/powerpoint/2010/main" val="2321214471"/>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2" name="Titre 1">
            <a:extLst xmlns:a="http://schemas.openxmlformats.org/drawingml/2006/main">
              <a:ext uri="{FF2B5EF4-FFF2-40B4-BE49-F238E27FC236}">
                <a16:creationId xmlns:a16="http://schemas.microsoft.com/office/drawing/2014/main" id="{1B93FB26-8DF2-9FD3-107E-42D8C9325F2B}"/>
              </a:ext>
            </a:extLst>
          </p:cNvPr>
          <p:cNvSpPr>
            <a:spLocks xmlns:a="http://schemas.openxmlformats.org/drawingml/2006/main" noGrp="1"/>
          </p:cNvSpPr>
          <p:nvPr>
            <p:ph type="title" idx="0"/>
          </p:nvPr>
        </p:nvSpPr>
        <p:spPr>
          <a:xfrm xmlns:a="http://schemas.openxmlformats.org/drawingml/2006/main">
            <a:off x="904875" y="252828"/>
            <a:ext cx="7532115" cy="601301"/>
          </a:xfrm>
        </p:spPr>
        <p:txBody>
          <a:bodyPr xmlns:a="http://schemas.openxmlformats.org/drawingml/2006/main">
            <a:normAutofit/>
          </a:bodyPr>
          <a:lstStyle xmlns:a="http://schemas.openxmlformats.org/drawingml/2006/main"/>
          <a:p xmlns:a="http://schemas.openxmlformats.org/drawingml/2006/main">
            <a:r>
              <a:t>WCCI 2020 (36 substations): Results</a:t>
            </a:r>
          </a:p>
        </p:txBody>
      </p:sp>
      <p:sp>
        <p:nvSpPr>
          <p:cNvPr id="5" name="Espace réservé du numéro de diapositive 4">
            <a:extLst xmlns:a="http://schemas.openxmlformats.org/drawingml/2006/main">
              <a:ext uri="{FF2B5EF4-FFF2-40B4-BE49-F238E27FC236}">
                <a16:creationId xmlns:a16="http://schemas.microsoft.com/office/drawing/2014/main" id="{B127C5F5-E4A1-CA00-30E6-A5232C4E1B7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r>
              <a:t>26</a:t>
            </a:r>
          </a:p>
        </p:txBody>
      </p:sp>
      <p:pic>
        <p:nvPicPr>
          <p:cNvPr id="14" name="Image 6"/>
          <p:cNvPicPr>
            <a:picLocks xmlns:a="http://schemas.openxmlformats.org/drawingml/2006/main" noChangeAspect="1"/>
          </p:cNvPicPr>
          <p:nvPr/>
        </p:nvPicPr>
        <p:blipFill>
          <a:blip xmlns:r="http://schemas.openxmlformats.org/officeDocument/2006/relationships" xmlns:a="http://schemas.openxmlformats.org/drawingml/2006/main" r:embed="R9d8575f53b06490c"/>
          <a:stretch xmlns:a="http://schemas.openxmlformats.org/drawingml/2006/main">
            <a:fillRect l="0" t="0" r="0" b="0"/>
          </a:stretch>
        </p:blipFill>
        <p:spPr>
          <a:xfrm xmlns:a="http://schemas.openxmlformats.org/drawingml/2006/main">
            <a:off x="101743" y="1174045"/>
            <a:ext cx="8999963" cy="2777066"/>
          </a:xfrm>
          <a:prstGeom xmlns:a="http://schemas.openxmlformats.org/drawingml/2006/main" prst="rect">
            <a:avLst/>
          </a:prstGeom>
        </p:spPr>
      </p:pic>
      <p:sp>
        <p:nvSpPr>
          <p:cNvPr id="8" name="ZoneTexte 7">
            <a:extLst xmlns:a="http://schemas.openxmlformats.org/drawingml/2006/main">
              <a:ext uri="{FF2B5EF4-FFF2-40B4-BE49-F238E27FC236}">
                <a16:creationId xmlns:a16="http://schemas.microsoft.com/office/drawing/2014/main" id="{A7B13C29-4600-BD83-8B18-BB5D29DB2090}"/>
              </a:ext>
            </a:extLst>
          </p:cNvPr>
          <p:cNvSpPr>
            <a:spLocks xmlns:a="http://schemas.openxmlformats.org/drawingml/2006/main" noGrp="1"/>
          </p:cNvSpPr>
          <p:nvPr/>
        </p:nvSpPr>
        <p:spPr>
          <a:xfrm xmlns:a="http://schemas.openxmlformats.org/drawingml/2006/main">
            <a:off x="101743" y="3951111"/>
            <a:ext cx="4598651" cy="430887"/>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1100" b="1" i="1">
                <a:latin typeface="Times New Roman"/>
                <a:ea typeface="Times New Roman"/>
                <a:cs typeface="Times New Roman"/>
              </a:rPr>
              <a:t>Fig 20: </a:t>
            </a:r>
            <a:r>
              <a:rPr sz="1100" b="1" i="1">
                <a:latin typeface="Times New Roman"/>
                <a:ea typeface="Times New Roman"/>
                <a:cs typeface="Times New Roman"/>
              </a:rPr>
              <a:t>Mean</a:t>
            </a:r>
            <a:r>
              <a:rPr sz="1100" b="1" i="1">
                <a:latin typeface="Times New Roman"/>
                <a:ea typeface="Times New Roman"/>
                <a:cs typeface="Times New Roman"/>
              </a:rPr>
              <a:t> </a:t>
            </a:r>
            <a:r>
              <a:rPr sz="1100" b="1" i="1">
                <a:latin typeface="Times New Roman"/>
                <a:ea typeface="Times New Roman"/>
                <a:cs typeface="Times New Roman"/>
              </a:rPr>
              <a:t>episodic</a:t>
            </a:r>
            <a:r>
              <a:rPr sz="1100" b="1" i="1">
                <a:latin typeface="Times New Roman"/>
                <a:ea typeface="Times New Roman"/>
                <a:cs typeface="Times New Roman"/>
              </a:rPr>
              <a:t> </a:t>
            </a:r>
            <a:r>
              <a:rPr sz="1100" b="1" i="1">
                <a:latin typeface="Times New Roman"/>
                <a:ea typeface="Times New Roman"/>
                <a:cs typeface="Times New Roman"/>
              </a:rPr>
              <a:t>survival</a:t>
            </a:r>
            <a:r>
              <a:rPr sz="1100" b="1" i="1">
                <a:latin typeface="Times New Roman"/>
                <a:ea typeface="Times New Roman"/>
                <a:cs typeface="Times New Roman"/>
              </a:rPr>
              <a:t> rate </a:t>
            </a:r>
            <a:r>
              <a:rPr sz="1100" b="1" i="1">
                <a:latin typeface="Times New Roman"/>
                <a:ea typeface="Times New Roman"/>
                <a:cs typeface="Times New Roman"/>
              </a:rPr>
              <a:t>depending</a:t>
            </a:r>
            <a:r>
              <a:rPr sz="1100" b="1" i="1">
                <a:latin typeface="Times New Roman"/>
                <a:ea typeface="Times New Roman"/>
                <a:cs typeface="Times New Roman"/>
              </a:rPr>
              <a:t> on the </a:t>
            </a:r>
            <a:r>
              <a:rPr sz="1100" b="1" i="1">
                <a:latin typeface="Times New Roman"/>
                <a:ea typeface="Times New Roman"/>
                <a:cs typeface="Times New Roman"/>
              </a:rPr>
              <a:t>month</a:t>
            </a:r>
            <a:r>
              <a:rPr sz="1100" b="1" i="1">
                <a:latin typeface="Times New Roman"/>
                <a:ea typeface="Times New Roman"/>
                <a:cs typeface="Times New Roman"/>
              </a:rPr>
              <a:t> and the action </a:t>
            </a:r>
            <a:r>
              <a:rPr sz="1100" b="1" i="1">
                <a:latin typeface="Times New Roman"/>
                <a:ea typeface="Times New Roman"/>
                <a:cs typeface="Times New Roman"/>
              </a:rPr>
              <a:t>space</a:t>
            </a:r>
            <a:r>
              <a:rPr sz="1100" b="1" i="1">
                <a:latin typeface="Times New Roman"/>
                <a:ea typeface="Times New Roman"/>
                <a:cs typeface="Times New Roman"/>
              </a:rPr>
              <a:t> size</a:t>
            </a:r>
          </a:p>
        </p:txBody>
      </p:sp>
      <p:sp>
        <p:nvSpPr>
          <p:cNvPr id="9" name="ZoneTexte 8">
            <a:extLst xmlns:a="http://schemas.openxmlformats.org/drawingml/2006/main">
              <a:ext uri="{FF2B5EF4-FFF2-40B4-BE49-F238E27FC236}">
                <a16:creationId xmlns:a16="http://schemas.microsoft.com/office/drawing/2014/main" id="{B16B3914-14A1-6729-E827-BF96B66BB16F}"/>
              </a:ext>
            </a:extLst>
          </p:cNvPr>
          <p:cNvSpPr>
            <a:spLocks xmlns:a="http://schemas.openxmlformats.org/drawingml/2006/main" noGrp="1"/>
          </p:cNvSpPr>
          <p:nvPr/>
        </p:nvSpPr>
        <p:spPr>
          <a:xfrm xmlns:a="http://schemas.openxmlformats.org/drawingml/2006/main">
            <a:off x="4700395" y="3951110"/>
            <a:ext cx="4401312" cy="430887"/>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1100" b="1" i="1">
                <a:latin typeface="Times New Roman"/>
                <a:ea typeface="Times New Roman"/>
                <a:cs typeface="Times New Roman"/>
              </a:rPr>
              <a:t>Fig 21: </a:t>
            </a:r>
            <a:r>
              <a:rPr sz="1100" b="1" i="1">
                <a:latin typeface="Times New Roman"/>
                <a:ea typeface="Times New Roman"/>
                <a:cs typeface="Times New Roman"/>
              </a:rPr>
              <a:t>Difference</a:t>
            </a:r>
            <a:r>
              <a:rPr sz="1100" b="1" i="1">
                <a:latin typeface="Times New Roman"/>
                <a:ea typeface="Times New Roman"/>
                <a:cs typeface="Times New Roman"/>
              </a:rPr>
              <a:t> in </a:t>
            </a:r>
            <a:r>
              <a:rPr sz="1100" b="1" i="1">
                <a:latin typeface="Times New Roman"/>
                <a:ea typeface="Times New Roman"/>
                <a:cs typeface="Times New Roman"/>
              </a:rPr>
              <a:t>surival</a:t>
            </a:r>
            <a:r>
              <a:rPr sz="1100" b="1" i="1">
                <a:latin typeface="Times New Roman"/>
                <a:ea typeface="Times New Roman"/>
                <a:cs typeface="Times New Roman"/>
              </a:rPr>
              <a:t> rate </a:t>
            </a:r>
            <a:r>
              <a:rPr sz="1100" b="1" i="1">
                <a:latin typeface="Times New Roman"/>
                <a:ea typeface="Times New Roman"/>
                <a:cs typeface="Times New Roman"/>
              </a:rPr>
              <a:t>between</a:t>
            </a:r>
            <a:r>
              <a:rPr sz="1100" b="1" i="1">
                <a:latin typeface="Times New Roman"/>
                <a:ea typeface="Times New Roman"/>
                <a:cs typeface="Times New Roman"/>
              </a:rPr>
              <a:t> do-</a:t>
            </a:r>
            <a:r>
              <a:rPr sz="1100" b="1" i="1">
                <a:latin typeface="Times New Roman"/>
                <a:ea typeface="Times New Roman"/>
                <a:cs typeface="Times New Roman"/>
              </a:rPr>
              <a:t>nothing</a:t>
            </a:r>
            <a:r>
              <a:rPr sz="1100" b="1" i="1">
                <a:latin typeface="Times New Roman"/>
                <a:ea typeface="Times New Roman"/>
                <a:cs typeface="Times New Roman"/>
              </a:rPr>
              <a:t> and </a:t>
            </a:r>
            <a:r>
              <a:rPr sz="1100" b="1" i="1">
                <a:latin typeface="Times New Roman"/>
                <a:ea typeface="Times New Roman"/>
                <a:cs typeface="Times New Roman"/>
              </a:rPr>
              <a:t>greedy</a:t>
            </a:r>
            <a:r>
              <a:rPr sz="1100" b="1" i="1">
                <a:latin typeface="Times New Roman"/>
                <a:ea typeface="Times New Roman"/>
                <a:cs typeface="Times New Roman"/>
              </a:rPr>
              <a:t> </a:t>
            </a:r>
            <a:r>
              <a:rPr sz="1100" b="1" i="1">
                <a:latin typeface="Times New Roman"/>
                <a:ea typeface="Times New Roman"/>
                <a:cs typeface="Times New Roman"/>
              </a:rPr>
              <a:t>evaluation</a:t>
            </a:r>
            <a:r>
              <a:rPr sz="1100" b="1" i="1">
                <a:latin typeface="Times New Roman"/>
                <a:ea typeface="Times New Roman"/>
                <a:cs typeface="Times New Roman"/>
              </a:rPr>
              <a:t> </a:t>
            </a:r>
            <a:r>
              <a:rPr sz="1100" b="1" i="1">
                <a:latin typeface="Times New Roman"/>
                <a:ea typeface="Times New Roman"/>
                <a:cs typeface="Times New Roman"/>
              </a:rPr>
              <a:t>depending</a:t>
            </a:r>
            <a:r>
              <a:rPr sz="1100" b="1" i="1">
                <a:latin typeface="Times New Roman"/>
                <a:ea typeface="Times New Roman"/>
                <a:cs typeface="Times New Roman"/>
              </a:rPr>
              <a:t> on the </a:t>
            </a:r>
            <a:r>
              <a:rPr sz="1100" b="1" i="1">
                <a:latin typeface="Times New Roman"/>
                <a:ea typeface="Times New Roman"/>
                <a:cs typeface="Times New Roman"/>
              </a:rPr>
              <a:t>month</a:t>
            </a:r>
            <a:r>
              <a:rPr sz="1100" b="1" i="1">
                <a:latin typeface="Times New Roman"/>
                <a:ea typeface="Times New Roman"/>
                <a:cs typeface="Times New Roman"/>
              </a:rPr>
              <a:t> and the action </a:t>
            </a:r>
            <a:r>
              <a:rPr sz="1100" b="1" i="1">
                <a:latin typeface="Times New Roman"/>
                <a:ea typeface="Times New Roman"/>
                <a:cs typeface="Times New Roman"/>
              </a:rPr>
              <a:t>space</a:t>
            </a:r>
            <a:r>
              <a:rPr sz="1100" b="1" i="1">
                <a:latin typeface="Times New Roman"/>
                <a:ea typeface="Times New Roman"/>
                <a:cs typeface="Times New Roman"/>
              </a:rPr>
              <a:t> size</a:t>
            </a:r>
          </a:p>
        </p:txBody>
      </p:sp>
      <p:pic>
        <p:nvPicPr>
          <p:cNvPr id="17" name="Picture 2"/>
          <p:cNvPicPr>
            <a:picLocks xmlns:a="http://schemas.openxmlformats.org/drawingml/2006/main" noChangeAspect="1"/>
          </p:cNvPicPr>
          <p:nvPr/>
        </p:nvPicPr>
        <p:blipFill>
          <a:blip xmlns:r="http://schemas.openxmlformats.org/officeDocument/2006/relationships" xmlns:a="http://schemas.openxmlformats.org/drawingml/2006/main" r:embed="Ra7bfc2f57fee4488"/>
          <a:srcRect xmlns:a="http://schemas.openxmlformats.org/drawingml/2006/main" l="0" t="0" r="0" b="0"/>
          <a:stretch xmlns:a="http://schemas.openxmlformats.org/drawingml/2006/main">
            <a:fillRect l="0" t="0" r="0" b="0"/>
          </a:stretch>
        </p:blipFill>
        <p:spPr>
          <a:xfrm xmlns:a="http://schemas.openxmlformats.org/drawingml/2006/main">
            <a:off x="158055" y="379734"/>
            <a:ext cx="587504" cy="326391"/>
          </a:xfrm>
          <a:prstGeom xmlns:a="http://schemas.openxmlformats.org/drawingml/2006/main" prst="rect">
            <a:avLst/>
          </a:prstGeom>
        </p:spPr>
      </p:pic>
    </p:spTree>
    <p:extLst>
      <p:ext uri="{BB962C8B-B14F-4D97-AF65-F5344CB8AC3E}">
        <p14:creationId xmlns:p14="http://schemas.microsoft.com/office/powerpoint/2010/main" val="1055036363"/>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2" name="Titre 1">
            <a:extLst xmlns:a="http://schemas.openxmlformats.org/drawingml/2006/main">
              <a:ext uri="{FF2B5EF4-FFF2-40B4-BE49-F238E27FC236}">
                <a16:creationId xmlns:a16="http://schemas.microsoft.com/office/drawing/2014/main" id="{4E516051-0842-5B02-B395-A9E4100753CF}"/>
              </a:ext>
            </a:extLst>
          </p:cNvPr>
          <p:cNvSpPr>
            <a:spLocks xmlns:a="http://schemas.openxmlformats.org/drawingml/2006/main" noGrp="1"/>
          </p:cNvSpPr>
          <p:nvPr>
            <p:ph type="title" idx="0"/>
          </p:nvPr>
        </p:nvSpPr>
        <p:spPr>
          <a:xfrm xmlns:a="http://schemas.openxmlformats.org/drawingml/2006/main">
            <a:off x="904875" y="252828"/>
            <a:ext cx="7532115" cy="601301"/>
          </a:xfrm>
        </p:spPr>
        <p:txBody>
          <a:bodyPr xmlns:a="http://schemas.openxmlformats.org/drawingml/2006/main">
            <a:normAutofit/>
          </a:bodyPr>
          <a:lstStyle xmlns:a="http://schemas.openxmlformats.org/drawingml/2006/main"/>
          <a:p xmlns:a="http://schemas.openxmlformats.org/drawingml/2006/main">
            <a:r>
              <a:t>Next Steps</a:t>
            </a:r>
          </a:p>
        </p:txBody>
      </p:sp>
      <p:sp>
        <p:nvSpPr>
          <p:cNvPr id="5" name="Espace réservé du numéro de diapositive 4">
            <a:extLst xmlns:a="http://schemas.openxmlformats.org/drawingml/2006/main">
              <a:ext uri="{FF2B5EF4-FFF2-40B4-BE49-F238E27FC236}">
                <a16:creationId xmlns:a16="http://schemas.microsoft.com/office/drawing/2014/main" id="{D9F884ED-F8D7-C9E0-911A-E31A67FECDB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r>
              <a:t>27</a:t>
            </a:r>
          </a:p>
        </p:txBody>
      </p:sp>
      <p:pic>
        <p:nvPicPr>
          <p:cNvPr id="9" name="Picture 2"/>
          <p:cNvPicPr>
            <a:picLocks xmlns:a="http://schemas.openxmlformats.org/drawingml/2006/main" noChangeAspect="1"/>
          </p:cNvPicPr>
          <p:nvPr/>
        </p:nvPicPr>
        <p:blipFill>
          <a:blip xmlns:r="http://schemas.openxmlformats.org/officeDocument/2006/relationships" xmlns:a="http://schemas.openxmlformats.org/drawingml/2006/main" r:embed="R8cf30e4891714ca4"/>
          <a:srcRect xmlns:a="http://schemas.openxmlformats.org/drawingml/2006/main" l="0" t="0" r="0" b="0"/>
          <a:stretch xmlns:a="http://schemas.openxmlformats.org/drawingml/2006/main">
            <a:fillRect l="0" t="0" r="0" b="0"/>
          </a:stretch>
        </p:blipFill>
        <p:spPr>
          <a:xfrm xmlns:a="http://schemas.openxmlformats.org/drawingml/2006/main">
            <a:off x="158055" y="379734"/>
            <a:ext cx="587504" cy="326391"/>
          </a:xfrm>
          <a:prstGeom xmlns:a="http://schemas.openxmlformats.org/drawingml/2006/main" prst="rect">
            <a:avLst/>
          </a:prstGeom>
        </p:spPr>
      </p:pic>
      <p:sp>
        <p:nvSpPr>
          <p:cNvPr id="4" name="ZoneTexte 3">
            <a:extLst xmlns:a="http://schemas.openxmlformats.org/drawingml/2006/main">
              <a:ext uri="{FF2B5EF4-FFF2-40B4-BE49-F238E27FC236}">
                <a16:creationId xmlns:a16="http://schemas.microsoft.com/office/drawing/2014/main" id="{3B286565-2433-E823-1216-D6BFAA7E3880}"/>
              </a:ext>
            </a:extLst>
          </p:cNvPr>
          <p:cNvSpPr>
            <a:spLocks xmlns:a="http://schemas.openxmlformats.org/drawingml/2006/main" noGrp="1"/>
          </p:cNvSpPr>
          <p:nvPr/>
        </p:nvSpPr>
        <p:spPr>
          <a:xfrm xmlns:a="http://schemas.openxmlformats.org/drawingml/2006/main">
            <a:off x="607258" y="952750"/>
            <a:ext cx="8127347" cy="3612416"/>
          </a:xfrm>
          <a:prstGeom xmlns:a="http://schemas.openxmlformats.org/drawingml/2006/main" prst="roundRect">
            <a:avLst>
              <a:gd name="adj" fmla="val 6827"/>
            </a:avLst>
          </a:prstGeom>
          <a:solidFill xmlns:a="http://schemas.openxmlformats.org/drawingml/2006/main">
            <a:schemeClr val="bg2">
              <a:lumMod val="20000"/>
              <a:lumOff val="80000"/>
            </a:schemeClr>
          </a:solidFill>
          <a:ln xmlns:a="http://schemas.openxmlformats.org/drawingml/2006/main" w="9525"/>
        </p:spPr>
        <p:style>
          <a:lnRef xmlns:a="http://schemas.openxmlformats.org/drawingml/2006/main" idx="2">
            <a:schemeClr val="dk1"/>
          </a:lnRef>
          <a:fillRef xmlns:a="http://schemas.openxmlformats.org/drawingml/2006/main" idx="1">
            <a:schemeClr val="lt1"/>
          </a:fillRef>
          <a:effectRef xmlns:a="http://schemas.openxmlformats.org/drawingml/2006/main" idx="0">
            <a:schemeClr val="dk1"/>
          </a:effectRef>
          <a:fontRef xmlns:a="http://schemas.openxmlformats.org/drawingml/2006/main" idx="minor">
            <a:schemeClr val="dk1"/>
          </a:fontRef>
        </p:style>
        <p:txBody>
          <a:bodyPr xmlns:a="http://schemas.openxmlformats.org/drawingml/2006/main" wrap="square">
            <a:spAutoFit/>
          </a:bodyPr>
          <a:lstStyle xmlns:a="http://schemas.openxmlformats.org/drawingml/2006/main"/>
          <a:p xmlns:a="http://schemas.openxmlformats.org/drawingml/2006/main">
            <a:pPr marL="228600" indent="-228600">
              <a:buAutoNum type="arabicPeriod"/>
            </a:pPr>
            <a:r>
              <a:rPr sz="1100" b="1"/>
              <a:t>Scale</a:t>
            </a:r>
            <a:r>
              <a:rPr sz="1100" b="1"/>
              <a:t> architecture validation</a:t>
            </a:r>
          </a:p>
          <a:p xmlns:a="http://schemas.openxmlformats.org/drawingml/2006/main">
            <a:pPr marL="514350" indent="-171450">
              <a:buFont typeface="Arial"/>
              <a:buChar char="•"/>
            </a:pPr>
            <a:r>
              <a:rPr sz="1100"/>
              <a:t>Transfer the </a:t>
            </a:r>
            <a:r>
              <a:rPr sz="1100"/>
              <a:t>proposed</a:t>
            </a:r>
            <a:r>
              <a:rPr sz="1100"/>
              <a:t> model variations to WCCI36</a:t>
            </a:r>
          </a:p>
          <a:p xmlns:a="http://schemas.openxmlformats.org/drawingml/2006/main">
            <a:pPr>
              <a:buNone/>
            </a:pPr>
          </a:p>
          <a:p xmlns:a="http://schemas.openxmlformats.org/drawingml/2006/main">
            <a:pPr marL="514350" indent="-171450">
              <a:buFont typeface="Wingdings"/>
              <a:buChar char="è"/>
            </a:pPr>
            <a:r>
              <a:rPr sz="1100" b="1"/>
              <a:t>Goal:</a:t>
            </a:r>
            <a:r>
              <a:rPr sz="1100"/>
              <a:t> </a:t>
            </a:r>
            <a:r>
              <a:rPr sz="1100"/>
              <a:t>determine</a:t>
            </a:r>
            <a:r>
              <a:rPr sz="1100"/>
              <a:t> </a:t>
            </a:r>
            <a:r>
              <a:rPr sz="1100"/>
              <a:t>which</a:t>
            </a:r>
            <a:r>
              <a:rPr sz="1100"/>
              <a:t> </a:t>
            </a:r>
            <a:r>
              <a:rPr sz="1100"/>
              <a:t>improvements</a:t>
            </a:r>
            <a:r>
              <a:rPr sz="1100"/>
              <a:t> </a:t>
            </a:r>
            <a:r>
              <a:rPr sz="1100"/>
              <a:t>remain</a:t>
            </a:r>
            <a:r>
              <a:rPr sz="1100"/>
              <a:t> effective at </a:t>
            </a:r>
            <a:r>
              <a:rPr sz="1100"/>
              <a:t>larger</a:t>
            </a:r>
            <a:r>
              <a:rPr sz="1100"/>
              <a:t> </a:t>
            </a:r>
            <a:r>
              <a:rPr sz="1100"/>
              <a:t>scale</a:t>
            </a:r>
            <a:r>
              <a:rPr sz="1100"/>
              <a:t>.</a:t>
            </a:r>
          </a:p>
          <a:p xmlns:a="http://schemas.openxmlformats.org/drawingml/2006/main">
            <a:pPr>
              <a:buNone/>
            </a:pPr>
          </a:p>
          <a:p xmlns:a="http://schemas.openxmlformats.org/drawingml/2006/main">
            <a:pPr>
              <a:buNone/>
            </a:pPr>
          </a:p>
          <a:p xmlns:a="http://schemas.openxmlformats.org/drawingml/2006/main">
            <a:pPr marL="228600" indent="-228600">
              <a:buFontTx/>
              <a:buAutoNum type="arabicPeriod"/>
            </a:pPr>
            <a:r>
              <a:rPr sz="1100" b="1"/>
              <a:t>Retry</a:t>
            </a:r>
            <a:r>
              <a:rPr sz="1100" b="1"/>
              <a:t> the graph </a:t>
            </a:r>
            <a:r>
              <a:rPr sz="1100" b="1"/>
              <a:t>policy</a:t>
            </a:r>
            <a:r>
              <a:rPr sz="1100" b="1"/>
              <a:t> at </a:t>
            </a:r>
            <a:r>
              <a:rPr sz="1100" b="1"/>
              <a:t>scale</a:t>
            </a:r>
          </a:p>
          <a:p xmlns:a="http://schemas.openxmlformats.org/drawingml/2006/main">
            <a:pPr marL="514350" indent="-171450">
              <a:buFont typeface="Arial"/>
              <a:buChar char="•"/>
            </a:pPr>
            <a:r>
              <a:rPr sz="1100"/>
              <a:t>Revisit</a:t>
            </a:r>
            <a:r>
              <a:rPr sz="1100"/>
              <a:t> and </a:t>
            </a:r>
            <a:r>
              <a:rPr sz="1100"/>
              <a:t>improve</a:t>
            </a:r>
            <a:r>
              <a:rPr sz="1100"/>
              <a:t> the </a:t>
            </a:r>
            <a:r>
              <a:rPr sz="1100"/>
              <a:t>existing</a:t>
            </a:r>
            <a:r>
              <a:rPr sz="1100"/>
              <a:t> GNN </a:t>
            </a:r>
            <a:r>
              <a:rPr sz="1100"/>
              <a:t>implementation</a:t>
            </a:r>
          </a:p>
          <a:p xmlns:a="http://schemas.openxmlformats.org/drawingml/2006/main">
            <a:pPr marL="514350" indent="-171450">
              <a:buFont typeface="Arial"/>
              <a:buChar char="•"/>
            </a:pPr>
            <a:r>
              <a:rPr sz="1100"/>
              <a:t>Adapt</a:t>
            </a:r>
            <a:r>
              <a:rPr sz="1100"/>
              <a:t> the graph construction and </a:t>
            </a:r>
            <a:r>
              <a:rPr sz="1100"/>
              <a:t>feature</a:t>
            </a:r>
            <a:r>
              <a:rPr sz="1100"/>
              <a:t> mapping to WCCI36</a:t>
            </a:r>
          </a:p>
          <a:p xmlns:a="http://schemas.openxmlformats.org/drawingml/2006/main">
            <a:pPr marL="514350" indent="-171450">
              <a:buFont typeface="Arial"/>
              <a:buChar char="•"/>
            </a:pPr>
            <a:r>
              <a:rPr sz="1100"/>
              <a:t>Compare GNN and MLP </a:t>
            </a:r>
            <a:r>
              <a:rPr sz="1100"/>
              <a:t>policies</a:t>
            </a:r>
            <a:r>
              <a:rPr sz="1100"/>
              <a:t> </a:t>
            </a:r>
            <a:r>
              <a:rPr sz="1100"/>
              <a:t>under</a:t>
            </a:r>
            <a:r>
              <a:rPr sz="1100"/>
              <a:t> the </a:t>
            </a:r>
            <a:r>
              <a:rPr sz="1100"/>
              <a:t>same</a:t>
            </a:r>
            <a:r>
              <a:rPr sz="1100"/>
              <a:t> MAPPO configuration</a:t>
            </a:r>
          </a:p>
          <a:p xmlns:a="http://schemas.openxmlformats.org/drawingml/2006/main">
            <a:pPr marL="514350" indent="-171450">
              <a:buFont typeface="Arial"/>
              <a:buChar char="•"/>
            </a:pPr>
          </a:p>
          <a:p xmlns:a="http://schemas.openxmlformats.org/drawingml/2006/main">
            <a:pPr marL="514350" indent="-171450">
              <a:buFont typeface="Wingdings"/>
              <a:buChar char="è"/>
            </a:pPr>
            <a:r>
              <a:rPr sz="1100" b="1"/>
              <a:t>Goal:</a:t>
            </a:r>
            <a:r>
              <a:rPr sz="1100"/>
              <a:t> </a:t>
            </a:r>
            <a:r>
              <a:rPr sz="1100"/>
              <a:t>determine</a:t>
            </a:r>
            <a:r>
              <a:rPr sz="1100"/>
              <a:t> </a:t>
            </a:r>
            <a:r>
              <a:rPr sz="1100"/>
              <a:t>whether</a:t>
            </a:r>
            <a:r>
              <a:rPr sz="1100"/>
              <a:t> the graph </a:t>
            </a:r>
            <a:r>
              <a:rPr sz="1100"/>
              <a:t>policy</a:t>
            </a:r>
            <a:r>
              <a:rPr sz="1100"/>
              <a:t> can </a:t>
            </a:r>
            <a:r>
              <a:rPr sz="1100"/>
              <a:t>improve</a:t>
            </a:r>
            <a:r>
              <a:rPr sz="1100"/>
              <a:t> </a:t>
            </a:r>
            <a:r>
              <a:rPr sz="1100"/>
              <a:t>generalization</a:t>
            </a:r>
            <a:r>
              <a:rPr sz="1100"/>
              <a:t> and </a:t>
            </a:r>
            <a:r>
              <a:rPr sz="1100"/>
              <a:t>scalability</a:t>
            </a:r>
            <a:r>
              <a:rPr sz="1100"/>
              <a:t> on a </a:t>
            </a:r>
            <a:r>
              <a:rPr sz="1100"/>
              <a:t>larger</a:t>
            </a:r>
            <a:r>
              <a:rPr sz="1100"/>
              <a:t> network.</a:t>
            </a:r>
          </a:p>
          <a:p xmlns:a="http://schemas.openxmlformats.org/drawingml/2006/main">
            <a:pPr marL="571500" indent="-228600">
              <a:buAutoNum type="arabicPeriod"/>
            </a:pPr>
          </a:p>
          <a:p xmlns:a="http://schemas.openxmlformats.org/drawingml/2006/main">
            <a:pPr marL="571500" indent="-228600">
              <a:buAutoNum type="arabicPeriod"/>
            </a:pPr>
          </a:p>
          <a:p xmlns:a="http://schemas.openxmlformats.org/drawingml/2006/main">
            <a:pPr marL="228600" indent="-228600">
              <a:buAutoNum type="arabicPeriod"/>
            </a:pPr>
            <a:r>
              <a:rPr sz="1100" b="1"/>
              <a:t>Add</a:t>
            </a:r>
            <a:r>
              <a:rPr sz="1100" b="1"/>
              <a:t> </a:t>
            </a:r>
            <a:r>
              <a:rPr sz="1100" b="1"/>
              <a:t>event-triggered</a:t>
            </a:r>
            <a:r>
              <a:rPr sz="1100" b="1"/>
              <a:t> communication</a:t>
            </a:r>
          </a:p>
          <a:p xmlns:a="http://schemas.openxmlformats.org/drawingml/2006/main">
            <a:pPr marL="514350" indent="-171450">
              <a:buFont typeface="Arial"/>
              <a:buChar char="•"/>
            </a:pPr>
            <a:r>
              <a:rPr sz="1100"/>
              <a:t>Trigger communication </a:t>
            </a:r>
            <a:r>
              <a:rPr sz="1100"/>
              <a:t>when</a:t>
            </a:r>
            <a:r>
              <a:rPr sz="1100"/>
              <a:t> a line </a:t>
            </a:r>
            <a:r>
              <a:rPr sz="1100"/>
              <a:t>exceeds</a:t>
            </a:r>
            <a:r>
              <a:rPr sz="1100"/>
              <a:t> a </a:t>
            </a:r>
            <a:r>
              <a:rPr sz="1100"/>
              <a:t>loading</a:t>
            </a:r>
            <a:r>
              <a:rPr sz="1100"/>
              <a:t> </a:t>
            </a:r>
            <a:r>
              <a:rPr sz="1100"/>
              <a:t>threshold</a:t>
            </a:r>
            <a:r>
              <a:rPr sz="1100"/>
              <a:t>: </a:t>
            </a:r>
            <a14:m xmlns:a14="http://schemas.microsoft.com/office/drawing/2010/main">
              <m:oMathPara xmlns:m="http://schemas.openxmlformats.org/officeDocument/2006/math">
                <m:oMath>
                  <m:sSub>
                    <m:e>
                      <m:r>
                        <a:rPr xmlns:a="http://schemas.openxmlformats.org/drawingml/2006/main" lang="fr-CH" sz="1100" i="1">
                          <a:latin typeface="Cambria Math"/>
                          <a:ea typeface="Cambria Math"/>
                          <a:cs typeface="Cambria Math"/>
                        </a:rPr>
                        <m:t>𝜌</m:t>
                      </m:r>
                    </m:e>
                    <m:sub>
                      <m:r>
                        <a:rPr xmlns:a="http://schemas.openxmlformats.org/drawingml/2006/main" lang="fr-CH" sz="1100" b="0" i="1">
                          <a:latin typeface="Cambria Math"/>
                          <a:ea typeface="Cambria Math"/>
                          <a:cs typeface="Cambria Math"/>
                        </a:rPr>
                        <m:t>line</m:t>
                      </m:r>
                    </m:sub>
                  </m:sSub>
                  <m:r>
                    <a:rPr xmlns:a="http://schemas.openxmlformats.org/drawingml/2006/main" lang="fr-CH" sz="1100" b="0" i="1">
                      <a:latin typeface="Cambria Math"/>
                      <a:ea typeface="Cambria Math"/>
                      <a:cs typeface="Cambria Math"/>
                    </a:rPr>
                    <m:t>&gt;</m:t>
                  </m:r>
                  <m:sSub>
                    <m:e>
                      <m:r>
                        <a:rPr xmlns:a="http://schemas.openxmlformats.org/drawingml/2006/main" lang="fr-CH" sz="1100" i="1">
                          <a:latin typeface="Cambria Math"/>
                          <a:ea typeface="Cambria Math"/>
                          <a:cs typeface="Cambria Math"/>
                        </a:rPr>
                        <m:t>𝜌</m:t>
                      </m:r>
                    </m:e>
                    <m:sub>
                      <m:r>
                        <a:rPr xmlns:a="http://schemas.openxmlformats.org/drawingml/2006/main" lang="fr-CH" sz="1100" b="0" i="1">
                          <a:latin typeface="Cambria Math"/>
                          <a:ea typeface="Cambria Math"/>
                          <a:cs typeface="Cambria Math"/>
                        </a:rPr>
                        <m:t>comm</m:t>
                      </m:r>
                    </m:sub>
                  </m:sSub>
                </m:oMath>
              </m:oMathPara>
            </a14:m>
          </a:p>
          <a:p xmlns:a="http://schemas.openxmlformats.org/drawingml/2006/main">
            <a:pPr marL="514350" indent="-171450">
              <a:buFont typeface="Arial"/>
              <a:buChar char="•"/>
            </a:pPr>
            <a:r>
              <a:rPr sz="1100"/>
              <a:t>Share the </a:t>
            </a:r>
            <a:r>
              <a:rPr sz="1100"/>
              <a:t>overloaded</a:t>
            </a:r>
            <a:r>
              <a:rPr sz="1100"/>
              <a:t> line, </a:t>
            </a:r>
            <a:r>
              <a:rPr sz="1100"/>
              <a:t>loading</a:t>
            </a:r>
            <a:r>
              <a:rPr sz="1100"/>
              <a:t> </a:t>
            </a:r>
            <a:r>
              <a:rPr sz="1100"/>
              <a:t>level</a:t>
            </a:r>
            <a:r>
              <a:rPr sz="1100"/>
              <a:t> and </a:t>
            </a:r>
            <a:r>
              <a:rPr sz="1100"/>
              <a:t>affected</a:t>
            </a:r>
            <a:r>
              <a:rPr sz="1100"/>
              <a:t> </a:t>
            </a:r>
            <a:r>
              <a:rPr sz="1100"/>
              <a:t>region</a:t>
            </a:r>
            <a:r>
              <a:rPr sz="1100"/>
              <a:t> </a:t>
            </a:r>
            <a:r>
              <a:rPr sz="1100"/>
              <a:t>with</a:t>
            </a:r>
            <a:r>
              <a:rPr sz="1100"/>
              <a:t> </a:t>
            </a:r>
            <a:r>
              <a:rPr sz="1100"/>
              <a:t>neighboring</a:t>
            </a:r>
            <a:r>
              <a:rPr sz="1100"/>
              <a:t> agents</a:t>
            </a:r>
          </a:p>
          <a:p xmlns:a="http://schemas.openxmlformats.org/drawingml/2006/main">
            <a:pPr marL="514350" indent="-171450">
              <a:buFont typeface="Arial"/>
              <a:buChar char="•"/>
            </a:pPr>
            <a:r>
              <a:rPr sz="1100"/>
              <a:t>Compare no communication, </a:t>
            </a:r>
            <a:r>
              <a:rPr sz="1100"/>
              <a:t>fixed</a:t>
            </a:r>
            <a:r>
              <a:rPr sz="1100"/>
              <a:t> communication and </a:t>
            </a:r>
            <a:r>
              <a:rPr sz="1100"/>
              <a:t>event-triggered</a:t>
            </a:r>
            <a:r>
              <a:rPr sz="1100"/>
              <a:t> communication</a:t>
            </a:r>
          </a:p>
          <a:p xmlns:a="http://schemas.openxmlformats.org/drawingml/2006/main">
            <a:pPr marL="514350" indent="-171450">
              <a:buFont typeface="Arial"/>
              <a:buChar char="•"/>
            </a:pPr>
          </a:p>
          <a:p xmlns:a="http://schemas.openxmlformats.org/drawingml/2006/main">
            <a:pPr marL="514350" indent="-171450">
              <a:buFont typeface="Wingdings"/>
              <a:buChar char="è"/>
            </a:pPr>
            <a:r>
              <a:rPr sz="1100" b="1"/>
              <a:t>Goal:</a:t>
            </a:r>
            <a:r>
              <a:rPr sz="1100"/>
              <a:t> </a:t>
            </a:r>
            <a:r>
              <a:rPr sz="1100"/>
              <a:t>improve</a:t>
            </a:r>
            <a:r>
              <a:rPr sz="1100"/>
              <a:t> coordination </a:t>
            </a:r>
            <a:r>
              <a:rPr sz="1100"/>
              <a:t>while</a:t>
            </a:r>
            <a:r>
              <a:rPr sz="1100"/>
              <a:t> </a:t>
            </a:r>
            <a:r>
              <a:rPr sz="1100"/>
              <a:t>limiting</a:t>
            </a:r>
            <a:r>
              <a:rPr sz="1100"/>
              <a:t> communication </a:t>
            </a:r>
            <a:r>
              <a:rPr sz="1100"/>
              <a:t>overhead</a:t>
            </a:r>
            <a:r>
              <a:rPr sz="1100"/>
              <a:t>.</a:t>
            </a:r>
          </a:p>
        </p:txBody>
      </p:sp>
    </p:spTree>
    <p:extLst>
      <p:ext uri="{BB962C8B-B14F-4D97-AF65-F5344CB8AC3E}">
        <p14:creationId xmlns:p14="http://schemas.microsoft.com/office/powerpoint/2010/main" val="2081640371"/>
      </p:ext>
    </p:extLst>
  </p:cSld>
</p:sld>
</file>

<file path=ppt/theme/theme1.xml><?xml version="1.0" encoding="utf-8"?>
<a:theme xmlns:a="http://schemas.openxmlformats.org/drawingml/2006/main" name="Thème Office">
  <a:themeElements>
    <a:clrScheme name="EPFL - New Colors 2019">
      <a:dk1>
        <a:srgbClr val="413C3A"/>
      </a:dk1>
      <a:lt1>
        <a:srgbClr val="FFFFFF"/>
      </a:lt1>
      <a:dk2>
        <a:srgbClr val="413C3A"/>
      </a:dk2>
      <a:lt2>
        <a:srgbClr val="CAC7C7"/>
      </a:lt2>
      <a:accent1>
        <a:srgbClr val="E30613"/>
      </a:accent1>
      <a:accent2>
        <a:srgbClr val="00A79F"/>
      </a:accent2>
      <a:accent3>
        <a:srgbClr val="413C3A"/>
      </a:accent3>
      <a:accent4>
        <a:srgbClr val="007480"/>
      </a:accent4>
      <a:accent5>
        <a:srgbClr val="F39869"/>
      </a:accent5>
      <a:accent6>
        <a:srgbClr val="B51F1F"/>
      </a:accent6>
      <a:hlink>
        <a:srgbClr val="ED6E9C"/>
      </a:hlink>
      <a:folHlink>
        <a:srgbClr val="4F8FCC"/>
      </a:folHlink>
    </a:clrScheme>
    <a:fontScheme name="EPFL_Beta2">
      <a:majorFont>
        <a:latin typeface="Franklin Gothic Demi Cond"/>
        <a:ea typeface=""/>
        <a:cs typeface=""/>
      </a:majorFont>
      <a:minorFont>
        <a:latin typeface="Arial"/>
        <a:ea typeface=""/>
        <a:cs typeface=""/>
      </a:minorFont>
    </a:fontScheme>
    <a:fmtScheme name="EPFL - New Colors 2019">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2026-07-20T09:28:22.7090000Z</dcterms:created>
  <dcterms:modified xsi:type="dcterms:W3CDTF">2026-07-20T09:28:22.7090000Z</dcterms:modified>
</coreProperties>
</file>