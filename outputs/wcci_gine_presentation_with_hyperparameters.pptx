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f0b57dba364c86" /><Relationship Type="http://schemas.openxmlformats.org/officeDocument/2006/relationships/extended-properties" Target="/docProps/app.xml" Id="Rb7b1a8cf644f4dd5" /><Relationship Type="http://schemas.openxmlformats.org/officeDocument/2006/relationships/officeDocument" Target="/ppt/presentation.xml" Id="Raeda11d5753749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9c5519f6084e03"/>
  </p:sldMasterIdLst>
  <p:notesMasterIdLst>
    <p:notesMasterId xmlns:r="http://schemas.openxmlformats.org/officeDocument/2006/relationships" r:id="R5a1c8a146baf4f02"/>
  </p:notesMasterIdLst>
  <p:sldIdLst>
    <p:sldId xmlns:r="http://schemas.openxmlformats.org/officeDocument/2006/relationships" id="256" r:id="R460fecc7869644b1"/>
    <p:sldId xmlns:r="http://schemas.openxmlformats.org/officeDocument/2006/relationships" id="257" r:id="R51f9377940ab42bd"/>
    <p:sldId xmlns:r="http://schemas.openxmlformats.org/officeDocument/2006/relationships" id="258" r:id="R33a4c86258c4491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9d66b53fb24478" /><Relationship Type="http://schemas.openxmlformats.org/officeDocument/2006/relationships/slideMaster" Target="/ppt/slideMasters/slideMaster1.xml" Id="R1b9c5519f6084e03" /><Relationship Type="http://schemas.openxmlformats.org/officeDocument/2006/relationships/notesMaster" Target="/ppt/notesMasters/notesMaster1.xml" Id="R5a1c8a146baf4f02" /><Relationship Type="http://schemas.openxmlformats.org/officeDocument/2006/relationships/presProps" Target="/ppt/presProps.xml" Id="R2e9b0a504ac2410a" /><Relationship Type="http://schemas.openxmlformats.org/officeDocument/2006/relationships/tableStyles" Target="/ppt/tableStyles.xml" Id="Ree92009beb4646d4" /><Relationship Type="http://schemas.openxmlformats.org/officeDocument/2006/relationships/slide" Target="/ppt/slides/slide1.xml" Id="R460fecc7869644b1" /><Relationship Type="http://schemas.openxmlformats.org/officeDocument/2006/relationships/slide" Target="/ppt/slides/slide2.xml" Id="R51f9377940ab42bd" /><Relationship Type="http://schemas.openxmlformats.org/officeDocument/2006/relationships/slide" Target="/ppt/slides/slide3.xml" Id="R33a4c86258c449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a5e480064b4d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7c82b54b5c402d" /><Relationship Type="http://schemas.openxmlformats.org/officeDocument/2006/relationships/notesMaster" Target="/ppt/notesMasters/notesMaster1.xml" Id="R4441fcb3848d48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605eb3cf764ca1" /><Relationship Type="http://schemas.openxmlformats.org/officeDocument/2006/relationships/notesMaster" Target="/ppt/notesMasters/notesMaster1.xml" Id="Radc611bbdee945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d198ffe5d6418a" /><Relationship Type="http://schemas.openxmlformats.org/officeDocument/2006/relationships/notesMaster" Target="/ppt/notesMasters/notesMaster1.xml" Id="R047228ab5b7e4e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1f2ae69f6942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cac9b3d2de4c60" /><Relationship Type="http://schemas.openxmlformats.org/officeDocument/2006/relationships/slideLayout" Target="/ppt/slideLayouts/slideLayout1.xml" Id="R1ca556af3faf4e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a556af3faf4e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2f3f69ca14c95" /><Relationship Type="http://schemas.openxmlformats.org/officeDocument/2006/relationships/notesSlide" Target="/ppt/notesSlides/notesSlide1.xml" Id="R5c4f2efcda6242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c2279cdea442e4" /><Relationship Type="http://schemas.openxmlformats.org/officeDocument/2006/relationships/notesSlide" Target="/ppt/notesSlides/notesSlide2.xml" Id="Rd8015db2e68d45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fbf88718d4de0" /><Relationship Type="http://schemas.openxmlformats.org/officeDocument/2006/relationships/notesSlide" Target="/ppt/notesSlides/notesSlide3.xml" Id="R9809ab16153243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title">
            <a:extLst xmlns:a="http://schemas.openxmlformats.org/drawingml/2006/main">
              <a:ext uri="{FF2B5EF4-FFF2-40B4-BE49-F238E27FC236}">
                <a16:creationId xmlns:a16="http://schemas.microsoft.com/office/drawing/2014/main" id="{C0100541-8C3C-49E7-9CFE-7A1E886A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"/>
            <a:ext cx="11277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0"/>
                </a:solidFill>
              </a:defRPr>
            </a:pPr>
            <a:r>
              <a:rPr sz="2250" b="1">
                <a:solidFill>
                  <a:srgbClr val="111820"/>
                </a:solidFill>
              </a:rPr>
              <a:t>Four local GINE actors choose topology actions; one global critic guides MAPPO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91E9829-3A69-4A28-BB50-614101C5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620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A6875"/>
                </a:solidFill>
              </a:defRPr>
            </a:pPr>
            <a:r>
              <a:rPr sz="1125" b="0">
                <a:solidFill>
                  <a:srgbClr val="5A6875"/>
                </a:solidFill>
              </a:rPr>
              <a:t>Current WCCI-36 configuration · decentralized execution · centralized training</a:t>
            </a:r>
          </a:p>
        </p:txBody>
      </p:sp>
      <p:sp>
        <p:nvSpPr>
          <p:cNvPr id="3" name="actor-band">
            <a:extLst xmlns:a="http://schemas.openxmlformats.org/drawingml/2006/main">
              <a:ext uri="{FF2B5EF4-FFF2-40B4-BE49-F238E27FC236}">
                <a16:creationId xmlns:a16="http://schemas.microsoft.com/office/drawing/2014/main" id="{FBAF0F84-7D32-475C-A1F1-2B86AC7E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43000"/>
            <a:ext cx="11582400" cy="30003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7E3EC"/>
            </a:solidFill>
            <a:prstDash val="solid"/>
          </a:ln>
        </p:spPr>
      </p:sp>
      <p:sp>
        <p:nvSpPr>
          <p:cNvPr id="4" name="actor-label">
            <a:extLst xmlns:a="http://schemas.openxmlformats.org/drawingml/2006/main">
              <a:ext uri="{FF2B5EF4-FFF2-40B4-BE49-F238E27FC236}">
                <a16:creationId xmlns:a16="http://schemas.microsoft.com/office/drawing/2014/main" id="{AE7A6E4D-E67B-4ECC-A244-5E8D2335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6F9C"/>
                </a:solidFill>
              </a:defRPr>
            </a:pPr>
            <a:r>
              <a:rPr sz="975" b="1">
                <a:solidFill>
                  <a:srgbClr val="2B6F9C"/>
                </a:solidFill>
              </a:rPr>
              <a:t>DECENTRALIZED ACTOR  πᵢ</a:t>
            </a:r>
          </a:p>
        </p:txBody>
      </p:sp>
      <p:sp>
        <p:nvSpPr>
          <p:cNvPr id="5" name="actor-repeat">
            <a:extLst xmlns:a="http://schemas.openxmlformats.org/drawingml/2006/main">
              <a:ext uri="{FF2B5EF4-FFF2-40B4-BE49-F238E27FC236}">
                <a16:creationId xmlns:a16="http://schemas.microsoft.com/office/drawing/2014/main" id="{806A17DE-BF1A-4252-A041-6B27D029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20967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B6F9C"/>
                </a:solidFill>
              </a:defRPr>
            </a:pPr>
            <a:r>
              <a:rPr sz="975" b="1">
                <a:solidFill>
                  <a:srgbClr val="2B6F9C"/>
                </a:solidFill>
              </a:rPr>
              <a:t>× 4 agents  ·  same architecture  ·  weights not shared</a:t>
            </a:r>
          </a:p>
        </p:txBody>
      </p:sp>
      <p:sp>
        <p:nvSpPr>
          <p:cNvPr id="6" name="local-graph">
            <a:extLst xmlns:a="http://schemas.openxmlformats.org/drawingml/2006/main">
              <a:ext uri="{FF2B5EF4-FFF2-40B4-BE49-F238E27FC236}">
                <a16:creationId xmlns:a16="http://schemas.microsoft.com/office/drawing/2014/main" id="{13063529-D43D-4C2C-9540-16ED5919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62125"/>
            <a:ext cx="16192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4288">
            <a:solidFill>
              <a:srgbClr val="78A5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local-graph-accent">
            <a:extLst xmlns:a="http://schemas.openxmlformats.org/drawingml/2006/main">
              <a:ext uri="{FF2B5EF4-FFF2-40B4-BE49-F238E27FC236}">
                <a16:creationId xmlns:a16="http://schemas.microsoft.com/office/drawing/2014/main" id="{35FE338A-779D-43A8-9155-5D70F9C7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62125"/>
            <a:ext cx="66675" cy="1409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CA8"/>
          </a:solidFill>
          <a:ln xmlns:a="http://schemas.openxmlformats.org/drawingml/2006/main" w="0">
            <a:solidFill>
              <a:srgbClr val="2F7CA8"/>
            </a:solidFill>
            <a:prstDash val="solid"/>
          </a:ln>
        </p:spPr>
      </p:sp>
      <p:sp>
        <p:nvSpPr>
          <p:cNvPr id="8" name="local-graph-title">
            <a:extLst xmlns:a="http://schemas.openxmlformats.org/drawingml/2006/main">
              <a:ext uri="{FF2B5EF4-FFF2-40B4-BE49-F238E27FC236}">
                <a16:creationId xmlns:a16="http://schemas.microsoft.com/office/drawing/2014/main" id="{91898621-0AC2-4E34-9F4E-644E5849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47850"/>
            <a:ext cx="1371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230"/>
                </a:solidFill>
              </a:defRPr>
            </a:pPr>
            <a:r>
              <a:rPr sz="1275" b="1">
                <a:solidFill>
                  <a:srgbClr val="122230"/>
                </a:solidFill>
              </a:rPr>
              <a:t>Local busbar graph  Gᵢ</a:t>
            </a:r>
          </a:p>
        </p:txBody>
      </p:sp>
      <p:sp>
        <p:nvSpPr>
          <p:cNvPr id="9" name="local-graph-body">
            <a:extLst xmlns:a="http://schemas.openxmlformats.org/drawingml/2006/main">
              <a:ext uri="{FF2B5EF4-FFF2-40B4-BE49-F238E27FC236}">
                <a16:creationId xmlns:a16="http://schemas.microsoft.com/office/drawing/2014/main" id="{0521DF81-5BCA-4918-AB2D-C5F488BE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14550"/>
            <a:ext cx="13620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Nodes: local busbars</a:t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Edges: feasible line connections</a:t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Topology: active-edge mask</a:t>
            </a:r>
          </a:p>
        </p:txBody>
      </p:sp>
      <p:sp>
        <p:nvSpPr>
          <p:cNvPr id="10" name="node-tensor">
            <a:extLst xmlns:a="http://schemas.openxmlformats.org/drawingml/2006/main">
              <a:ext uri="{FF2B5EF4-FFF2-40B4-BE49-F238E27FC236}">
                <a16:creationId xmlns:a16="http://schemas.microsoft.com/office/drawing/2014/main" id="{24DFABEE-8C59-4500-A979-804AEFC9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571625"/>
            <a:ext cx="1562100" cy="1171575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0F6FB"/>
          </a:solidFill>
          <a:ln xmlns:a="http://schemas.openxmlformats.org/drawingml/2006/main" w="14288">
            <a:solidFill>
              <a:srgbClr val="8FB3C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node-tensor-accent">
            <a:extLst xmlns:a="http://schemas.openxmlformats.org/drawingml/2006/main">
              <a:ext uri="{FF2B5EF4-FFF2-40B4-BE49-F238E27FC236}">
                <a16:creationId xmlns:a16="http://schemas.microsoft.com/office/drawing/2014/main" id="{5BCA96E4-1A82-4BC7-A203-83B370AF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571625"/>
            <a:ext cx="66675" cy="1171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84AA"/>
          </a:solidFill>
          <a:ln xmlns:a="http://schemas.openxmlformats.org/drawingml/2006/main" w="0">
            <a:solidFill>
              <a:srgbClr val="4384AA"/>
            </a:solidFill>
            <a:prstDash val="solid"/>
          </a:ln>
        </p:spPr>
      </p:sp>
      <p:sp>
        <p:nvSpPr>
          <p:cNvPr id="12" name="node-tensor-title">
            <a:extLst xmlns:a="http://schemas.openxmlformats.org/drawingml/2006/main">
              <a:ext uri="{FF2B5EF4-FFF2-40B4-BE49-F238E27FC236}">
                <a16:creationId xmlns:a16="http://schemas.microsoft.com/office/drawing/2014/main" id="{581D6DB6-8AFD-490E-845F-D9AD2C2C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57350"/>
            <a:ext cx="1314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230"/>
                </a:solidFill>
              </a:defRPr>
            </a:pPr>
            <a:r>
              <a:rPr sz="1200" b="1">
                <a:solidFill>
                  <a:srgbClr val="122230"/>
                </a:solidFill>
              </a:rPr>
              <a:t>Node tensor</a:t>
            </a:r>
          </a:p>
        </p:txBody>
      </p:sp>
      <p:sp>
        <p:nvSpPr>
          <p:cNvPr id="13" name="node-tensor-body">
            <a:extLst xmlns:a="http://schemas.openxmlformats.org/drawingml/2006/main">
              <a:ext uri="{FF2B5EF4-FFF2-40B4-BE49-F238E27FC236}">
                <a16:creationId xmlns:a16="http://schemas.microsoft.com/office/drawing/2014/main" id="{8BD68C2A-4EAE-4037-9527-66C115C6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924050"/>
            <a:ext cx="1304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15466"/>
                </a:solidFill>
              </a:defRPr>
            </a:pPr>
            <a:r>
              <a:rPr sz="900" b="0">
                <a:solidFill>
                  <a:srgbClr val="415466"/>
                </a:solidFill>
              </a:rPr>
              <a:t>6 physical features</a:t>
            </a:r>
          </a:p>
          <a:p xmlns:a="http://schemas.openxmlformats.org/drawingml/2006/main">
            <a:pPr algn="l">
              <a:defRPr sz="900" b="0">
                <a:solidFill>
                  <a:srgbClr val="415466"/>
                </a:solidFill>
              </a:defRPr>
            </a:pPr>
            <a:r>
              <a:rPr sz="900" b="0">
                <a:solidFill>
                  <a:srgbClr val="415466"/>
                </a:solidFill>
              </a:rPr>
              <a:t>+ 8-D substation ID</a:t>
            </a:r>
          </a:p>
          <a:p xmlns:a="http://schemas.openxmlformats.org/drawingml/2006/main">
            <a:pPr algn="l">
              <a:defRPr sz="900" b="0">
                <a:solidFill>
                  <a:srgbClr val="415466"/>
                </a:solidFill>
              </a:defRPr>
            </a:pPr>
            <a:r>
              <a:rPr sz="900" b="0">
                <a:solidFill>
                  <a:srgbClr val="415466"/>
                </a:solidFill>
              </a:rPr>
              <a:t>+ 8-D busbar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415466"/>
                </a:solidFill>
              </a:defRPr>
            </a:pPr>
            <a:r>
              <a:rPr sz="900" b="0">
                <a:solidFill>
                  <a:srgbClr val="415466"/>
                </a:solidFill>
              </a:rPr>
              <a:t>22 features / node</a:t>
            </a:r>
          </a:p>
        </p:txBody>
      </p:sp>
      <p:sp>
        <p:nvSpPr>
          <p:cNvPr id="14" name="edge-tensor">
            <a:extLst xmlns:a="http://schemas.openxmlformats.org/drawingml/2006/main">
              <a:ext uri="{FF2B5EF4-FFF2-40B4-BE49-F238E27FC236}">
                <a16:creationId xmlns:a16="http://schemas.microsoft.com/office/drawing/2014/main" id="{C25C5117-39AD-410C-9BD4-F5676588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886075"/>
            <a:ext cx="15621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0F6FB"/>
          </a:solidFill>
          <a:ln xmlns:a="http://schemas.openxmlformats.org/drawingml/2006/main" w="14288">
            <a:solidFill>
              <a:srgbClr val="8FB3C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edge-tensor-accent">
            <a:extLst xmlns:a="http://schemas.openxmlformats.org/drawingml/2006/main">
              <a:ext uri="{FF2B5EF4-FFF2-40B4-BE49-F238E27FC236}">
                <a16:creationId xmlns:a16="http://schemas.microsoft.com/office/drawing/2014/main" id="{FCE78347-6C9C-47BB-BFD0-B3BA90B4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886075"/>
            <a:ext cx="66675" cy="971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84AA"/>
          </a:solidFill>
          <a:ln xmlns:a="http://schemas.openxmlformats.org/drawingml/2006/main" w="0">
            <a:solidFill>
              <a:srgbClr val="4384AA"/>
            </a:solidFill>
            <a:prstDash val="solid"/>
          </a:ln>
        </p:spPr>
      </p:sp>
      <p:sp>
        <p:nvSpPr>
          <p:cNvPr id="16" name="edge-tensor-title">
            <a:extLst xmlns:a="http://schemas.openxmlformats.org/drawingml/2006/main">
              <a:ext uri="{FF2B5EF4-FFF2-40B4-BE49-F238E27FC236}">
                <a16:creationId xmlns:a16="http://schemas.microsoft.com/office/drawing/2014/main" id="{6FDD2F54-3D51-4577-93D6-1DA13B34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71800"/>
            <a:ext cx="1314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230"/>
                </a:solidFill>
              </a:defRPr>
            </a:pPr>
            <a:r>
              <a:rPr sz="1200" b="1">
                <a:solidFill>
                  <a:srgbClr val="122230"/>
                </a:solidFill>
              </a:rPr>
              <a:t>Edge tensor</a:t>
            </a:r>
          </a:p>
        </p:txBody>
      </p:sp>
      <p:sp>
        <p:nvSpPr>
          <p:cNvPr id="17" name="edge-tensor-body">
            <a:extLst xmlns:a="http://schemas.openxmlformats.org/drawingml/2006/main">
              <a:ext uri="{FF2B5EF4-FFF2-40B4-BE49-F238E27FC236}">
                <a16:creationId xmlns:a16="http://schemas.microsoft.com/office/drawing/2014/main" id="{82D5FA4F-F1DD-492F-BA80-67BC1E9E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238500"/>
            <a:ext cx="13049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15466"/>
                </a:solidFill>
              </a:defRPr>
            </a:pPr>
            <a:r>
              <a:rPr sz="900" b="0">
                <a:solidFill>
                  <a:srgbClr val="415466"/>
                </a:solidFill>
              </a:rPr>
              <a:t>6 line features</a:t>
            </a:r>
          </a:p>
          <a:p xmlns:a="http://schemas.openxmlformats.org/drawingml/2006/main">
            <a:pPr algn="l">
              <a:defRPr sz="900" b="0">
                <a:solidFill>
                  <a:srgbClr val="415466"/>
                </a:solidFill>
              </a:defRPr>
            </a:pPr>
            <a:r>
              <a:rPr sz="900" b="0">
                <a:solidFill>
                  <a:srgbClr val="415466"/>
                </a:solidFill>
              </a:rPr>
              <a:t>status · ρ · overload</a:t>
            </a:r>
          </a:p>
          <a:p xmlns:a="http://schemas.openxmlformats.org/drawingml/2006/main">
            <a:pPr algn="l">
              <a:defRPr sz="900" b="0">
                <a:solidFill>
                  <a:srgbClr val="415466"/>
                </a:solidFill>
              </a:defRPr>
            </a:pPr>
            <a:r>
              <a:rPr sz="900" b="0">
                <a:solidFill>
                  <a:srgbClr val="415466"/>
                </a:solidFill>
              </a:rPr>
              <a:t>cooldown · maintenance</a:t>
            </a:r>
          </a:p>
        </p:txBody>
      </p:sp>
      <p:sp>
        <p:nvSpPr>
          <p:cNvPr id="18" name="gine-encoder">
            <a:extLst xmlns:a="http://schemas.openxmlformats.org/drawingml/2006/main">
              <a:ext uri="{FF2B5EF4-FFF2-40B4-BE49-F238E27FC236}">
                <a16:creationId xmlns:a16="http://schemas.microsoft.com/office/drawing/2014/main" id="{897A064F-FFD1-4FC8-B487-D8B8D024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24025"/>
            <a:ext cx="1809750" cy="1609725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3F0F8"/>
          </a:solidFill>
          <a:ln xmlns:a="http://schemas.openxmlformats.org/drawingml/2006/main" w="14288">
            <a:solidFill>
              <a:srgbClr val="5E99B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gine-encoder-accent">
            <a:extLst xmlns:a="http://schemas.openxmlformats.org/drawingml/2006/main">
              <a:ext uri="{FF2B5EF4-FFF2-40B4-BE49-F238E27FC236}">
                <a16:creationId xmlns:a16="http://schemas.microsoft.com/office/drawing/2014/main" id="{88C6B516-4654-44E0-BA2C-F467A691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24025"/>
            <a:ext cx="66675" cy="1609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F9E"/>
          </a:solidFill>
          <a:ln xmlns:a="http://schemas.openxmlformats.org/drawingml/2006/main" w="0">
            <a:solidFill>
              <a:srgbClr val="1E6F9E"/>
            </a:solidFill>
            <a:prstDash val="solid"/>
          </a:ln>
        </p:spPr>
      </p:sp>
      <p:sp>
        <p:nvSpPr>
          <p:cNvPr id="20" name="gine-encoder-title">
            <a:extLst xmlns:a="http://schemas.openxmlformats.org/drawingml/2006/main">
              <a:ext uri="{FF2B5EF4-FFF2-40B4-BE49-F238E27FC236}">
                <a16:creationId xmlns:a16="http://schemas.microsoft.com/office/drawing/2014/main" id="{FBC14ADE-9C93-4B84-B254-4D165ECD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809750"/>
            <a:ext cx="1562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230"/>
                </a:solidFill>
              </a:defRPr>
            </a:pPr>
            <a:r>
              <a:rPr sz="1350" b="1">
                <a:solidFill>
                  <a:srgbClr val="122230"/>
                </a:solidFill>
              </a:rPr>
              <a:t>GINE graph encoder</a:t>
            </a:r>
          </a:p>
        </p:txBody>
      </p:sp>
      <p:sp>
        <p:nvSpPr>
          <p:cNvPr id="21" name="gine-encoder-body">
            <a:extLst xmlns:a="http://schemas.openxmlformats.org/drawingml/2006/main">
              <a:ext uri="{FF2B5EF4-FFF2-40B4-BE49-F238E27FC236}">
                <a16:creationId xmlns:a16="http://schemas.microsoft.com/office/drawing/2014/main" id="{1B0E2A81-8A41-488B-99EF-6C33D739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076450"/>
            <a:ext cx="15525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Node MLP: 22 → 64</a:t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ReLU · LayerNorm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1 edge-aware message-passing layer</a:t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hidden dimension: 64</a:t>
            </a:r>
          </a:p>
        </p:txBody>
      </p:sp>
      <p:sp>
        <p:nvSpPr>
          <p:cNvPr id="22" name="pool-readout">
            <a:extLst xmlns:a="http://schemas.openxmlformats.org/drawingml/2006/main">
              <a:ext uri="{FF2B5EF4-FFF2-40B4-BE49-F238E27FC236}">
                <a16:creationId xmlns:a16="http://schemas.microsoft.com/office/drawing/2014/main" id="{89AE1B7A-F749-4FC6-88D7-9E4B0A2A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857375"/>
            <a:ext cx="14954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4288">
            <a:solidFill>
              <a:srgbClr val="78A5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pool-readout-accent">
            <a:extLst xmlns:a="http://schemas.openxmlformats.org/drawingml/2006/main">
              <a:ext uri="{FF2B5EF4-FFF2-40B4-BE49-F238E27FC236}">
                <a16:creationId xmlns:a16="http://schemas.microsoft.com/office/drawing/2014/main" id="{DC4A6DD4-FD1E-4689-B960-95C5CD6D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857375"/>
            <a:ext cx="66675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CA8"/>
          </a:solidFill>
          <a:ln xmlns:a="http://schemas.openxmlformats.org/drawingml/2006/main" w="0">
            <a:solidFill>
              <a:srgbClr val="2F7CA8"/>
            </a:solidFill>
            <a:prstDash val="solid"/>
          </a:ln>
        </p:spPr>
      </p:sp>
      <p:sp>
        <p:nvSpPr>
          <p:cNvPr id="24" name="pool-readout-title">
            <a:extLst xmlns:a="http://schemas.openxmlformats.org/drawingml/2006/main">
              <a:ext uri="{FF2B5EF4-FFF2-40B4-BE49-F238E27FC236}">
                <a16:creationId xmlns:a16="http://schemas.microsoft.com/office/drawing/2014/main" id="{B332C365-8343-4560-BF7E-218F9685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43100"/>
            <a:ext cx="1247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230"/>
                </a:solidFill>
              </a:defRPr>
            </a:pPr>
            <a:r>
              <a:rPr sz="1275" b="1">
                <a:solidFill>
                  <a:srgbClr val="122230"/>
                </a:solidFill>
              </a:rPr>
              <a:t>Graph readout</a:t>
            </a:r>
          </a:p>
        </p:txBody>
      </p:sp>
      <p:sp>
        <p:nvSpPr>
          <p:cNvPr id="25" name="pool-readout-body">
            <a:extLst xmlns:a="http://schemas.openxmlformats.org/drawingml/2006/main">
              <a:ext uri="{FF2B5EF4-FFF2-40B4-BE49-F238E27FC236}">
                <a16:creationId xmlns:a16="http://schemas.microsoft.com/office/drawing/2014/main" id="{A5FC72C0-22E5-4D3D-8DE9-20BEDD83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09800"/>
            <a:ext cx="1238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Mean pooling</a:t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over local nodes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Linear 64 → 64 · ReLU</a:t>
            </a:r>
          </a:p>
        </p:txBody>
      </p:sp>
      <p:sp>
        <p:nvSpPr>
          <p:cNvPr id="26" name="actor-mlp">
            <a:extLst xmlns:a="http://schemas.openxmlformats.org/drawingml/2006/main">
              <a:ext uri="{FF2B5EF4-FFF2-40B4-BE49-F238E27FC236}">
                <a16:creationId xmlns:a16="http://schemas.microsoft.com/office/drawing/2014/main" id="{5CC52609-3983-497F-8DD2-F7BA8FDE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009775"/>
            <a:ext cx="132397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6EEF9"/>
          </a:solidFill>
          <a:ln xmlns:a="http://schemas.openxmlformats.org/drawingml/2006/main" w="14288">
            <a:solidFill>
              <a:srgbClr val="788F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actor-mlp-accent">
            <a:extLst xmlns:a="http://schemas.openxmlformats.org/drawingml/2006/main">
              <a:ext uri="{FF2B5EF4-FFF2-40B4-BE49-F238E27FC236}">
                <a16:creationId xmlns:a16="http://schemas.microsoft.com/office/drawing/2014/main" id="{43C3FFFB-99FC-4D39-A585-20AEFCE8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009775"/>
            <a:ext cx="66675" cy="1028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69A3"/>
          </a:solidFill>
          <a:ln xmlns:a="http://schemas.openxmlformats.org/drawingml/2006/main" w="0">
            <a:solidFill>
              <a:srgbClr val="4A69A3"/>
            </a:solidFill>
            <a:prstDash val="solid"/>
          </a:ln>
        </p:spPr>
      </p:sp>
      <p:sp>
        <p:nvSpPr>
          <p:cNvPr id="28" name="actor-mlp-title">
            <a:extLst xmlns:a="http://schemas.openxmlformats.org/drawingml/2006/main">
              <a:ext uri="{FF2B5EF4-FFF2-40B4-BE49-F238E27FC236}">
                <a16:creationId xmlns:a16="http://schemas.microsoft.com/office/drawing/2014/main" id="{FC9F5CFC-C1CD-4D07-9F5F-0640356A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95500"/>
            <a:ext cx="10763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230"/>
                </a:solidFill>
              </a:defRPr>
            </a:pPr>
            <a:r>
              <a:rPr sz="1350" b="1">
                <a:solidFill>
                  <a:srgbClr val="122230"/>
                </a:solidFill>
              </a:rPr>
              <a:t>Actor MLP</a:t>
            </a:r>
          </a:p>
        </p:txBody>
      </p:sp>
      <p:sp>
        <p:nvSpPr>
          <p:cNvPr id="29" name="actor-mlp-body">
            <a:extLst xmlns:a="http://schemas.openxmlformats.org/drawingml/2006/main">
              <a:ext uri="{FF2B5EF4-FFF2-40B4-BE49-F238E27FC236}">
                <a16:creationId xmlns:a16="http://schemas.microsoft.com/office/drawing/2014/main" id="{B3DF555F-4002-4025-937D-57B35707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62200"/>
            <a:ext cx="1066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64 → 128 → 128</a:t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ReLU activations</a:t>
            </a:r>
          </a:p>
        </p:txBody>
      </p:sp>
      <p:sp>
        <p:nvSpPr>
          <p:cNvPr id="30" name="policy-head">
            <a:extLst xmlns:a="http://schemas.openxmlformats.org/drawingml/2006/main">
              <a:ext uri="{FF2B5EF4-FFF2-40B4-BE49-F238E27FC236}">
                <a16:creationId xmlns:a16="http://schemas.microsoft.com/office/drawing/2014/main" id="{6E3F3528-1A3E-48B4-952A-8726183D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1809750"/>
            <a:ext cx="15049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EAF7"/>
          </a:solidFill>
          <a:ln xmlns:a="http://schemas.openxmlformats.org/drawingml/2006/main" w="14288">
            <a:solidFill>
              <a:srgbClr val="8888B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policy-head-accent">
            <a:extLst xmlns:a="http://schemas.openxmlformats.org/drawingml/2006/main">
              <a:ext uri="{FF2B5EF4-FFF2-40B4-BE49-F238E27FC236}">
                <a16:creationId xmlns:a16="http://schemas.microsoft.com/office/drawing/2014/main" id="{5FA2E5F7-C47E-4D03-B187-221DDDBC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1809750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62A5"/>
          </a:solidFill>
          <a:ln xmlns:a="http://schemas.openxmlformats.org/drawingml/2006/main" w="0">
            <a:solidFill>
              <a:srgbClr val="6262A5"/>
            </a:solidFill>
            <a:prstDash val="solid"/>
          </a:ln>
        </p:spPr>
      </p:sp>
      <p:sp>
        <p:nvSpPr>
          <p:cNvPr id="32" name="policy-head-title">
            <a:extLst xmlns:a="http://schemas.openxmlformats.org/drawingml/2006/main">
              <a:ext uri="{FF2B5EF4-FFF2-40B4-BE49-F238E27FC236}">
                <a16:creationId xmlns:a16="http://schemas.microsoft.com/office/drawing/2014/main" id="{308958EE-30A7-456E-8D5E-F164A7DA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895475"/>
            <a:ext cx="1257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230"/>
                </a:solidFill>
              </a:defRPr>
            </a:pPr>
            <a:r>
              <a:rPr sz="1275" b="1">
                <a:solidFill>
                  <a:srgbClr val="122230"/>
                </a:solidFill>
              </a:rPr>
              <a:t>Categorical policy</a:t>
            </a:r>
          </a:p>
        </p:txBody>
      </p:sp>
      <p:sp>
        <p:nvSpPr>
          <p:cNvPr id="33" name="policy-head-body">
            <a:extLst xmlns:a="http://schemas.openxmlformats.org/drawingml/2006/main">
              <a:ext uri="{FF2B5EF4-FFF2-40B4-BE49-F238E27FC236}">
                <a16:creationId xmlns:a16="http://schemas.microsoft.com/office/drawing/2014/main" id="{8213C889-2A14-4C4A-8EFE-E95A9C90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162175"/>
            <a:ext cx="124777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128 → Kᵢ action logits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train: sample aᵢ</a:t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eval: argmax aᵢ</a:t>
            </a:r>
          </a:p>
        </p:txBody>
      </p:sp>
      <p:cxnSp>
        <p:nvCxnSpPr>
          <p:cNvPr id="106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2095500" y="2157413"/>
            <a:ext cx="352425" cy="3095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C8799"/>
            </a:solidFill>
            <a:prstDash val="solid"/>
            <a:tailEnd type="triangle" w="sm" len="sm"/>
          </a:ln>
        </p:spPr>
      </p:cxnSp>
      <p:cxnSp>
        <p:nvCxnSpPr>
          <p:cNvPr id="107" name=""/>
          <p:cNvCxnSpPr>
            <a:stCxn xmlns:a="http://schemas.openxmlformats.org/drawingml/2006/main" id="6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095500" y="2466975"/>
            <a:ext cx="352425" cy="904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C8799"/>
            </a:solidFill>
            <a:prstDash val="solid"/>
            <a:tailEnd type="triangle" w="sm" len="sm"/>
          </a:ln>
        </p:spPr>
      </p:cxnSp>
      <p:cxnSp>
        <p:nvCxnSpPr>
          <p:cNvPr id="108" name=""/>
          <p:cNvCxnSpPr>
            <a:stCxn xmlns:a="http://schemas.openxmlformats.org/drawingml/2006/main" id="10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4010025" y="2157413"/>
            <a:ext cx="390525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7792"/>
            </a:solidFill>
            <a:prstDash val="solid"/>
            <a:tailEnd type="triangle" w="sm" len="sm"/>
          </a:ln>
        </p:spPr>
      </p:cxnSp>
      <p:cxnSp>
        <p:nvCxnSpPr>
          <p:cNvPr id="109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4010025" y="2528888"/>
            <a:ext cx="390525" cy="8429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7792"/>
            </a:solidFill>
            <a:prstDash val="solid"/>
            <a:tailEnd type="triangle" w="sm" len="sm"/>
          </a:ln>
        </p:spPr>
      </p:cxnSp>
      <p:cxnSp>
        <p:nvCxnSpPr>
          <p:cNvPr id="110" name=""/>
          <p:cNvCxnSpPr>
            <a:stCxn xmlns:a="http://schemas.openxmlformats.org/drawingml/2006/main" id="1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 flipV="1">
            <a:off x="6210300" y="2524125"/>
            <a:ext cx="390525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C718F"/>
            </a:solidFill>
            <a:prstDash val="solid"/>
            <a:tailEnd type="triangle" w="sm" len="sm"/>
          </a:ln>
        </p:spPr>
      </p:cxnSp>
      <p:cxnSp>
        <p:nvCxnSpPr>
          <p:cNvPr id="111" name=""/>
          <p:cNvCxnSpPr>
            <a:stCxn xmlns:a="http://schemas.openxmlformats.org/drawingml/2006/main" id="22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8096250" y="252412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C718F"/>
            </a:solidFill>
            <a:prstDash val="solid"/>
            <a:tailEnd type="triangle" w="sm" len="sm"/>
          </a:ln>
        </p:spPr>
      </p:cxnSp>
      <p:cxnSp>
        <p:nvCxnSpPr>
          <p:cNvPr id="112" name=""/>
          <p:cNvCxnSpPr>
            <a:stCxn xmlns:a="http://schemas.openxmlformats.org/drawingml/2006/main" id="26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9810750" y="2524125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A98"/>
            </a:solidFill>
            <a:prstDash val="solid"/>
            <a:tailEnd type="triangle" w="sm" len="sm"/>
          </a:ln>
        </p:spPr>
      </p:cxnSp>
      <p:sp>
        <p:nvSpPr>
          <p:cNvPr id="41" name="graph-dim-note">
            <a:extLst xmlns:a="http://schemas.openxmlformats.org/drawingml/2006/main">
              <a:ext uri="{FF2B5EF4-FFF2-40B4-BE49-F238E27FC236}">
                <a16:creationId xmlns:a16="http://schemas.microsoft.com/office/drawing/2014/main" id="{63694A69-3554-4F5B-A717-E6109206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24225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57684"/>
                </a:solidFill>
              </a:defRPr>
            </a:pPr>
            <a:r>
              <a:rPr sz="825" b="0">
                <a:solidFill>
                  <a:srgbClr val="657684"/>
                </a:solidFill>
              </a:rPr>
              <a:t>nᵢ = 2 × controlled substations</a:t>
            </a:r>
          </a:p>
        </p:txBody>
      </p:sp>
      <p:sp>
        <p:nvSpPr>
          <p:cNvPr id="42" name="training-band">
            <a:extLst xmlns:a="http://schemas.openxmlformats.org/drawingml/2006/main">
              <a:ext uri="{FF2B5EF4-FFF2-40B4-BE49-F238E27FC236}">
                <a16:creationId xmlns:a16="http://schemas.microsoft.com/office/drawing/2014/main" id="{2C70413D-0170-4F63-96CB-11EE5E82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362450"/>
            <a:ext cx="11582400" cy="209550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FCFAF7"/>
          </a:solidFill>
          <a:ln xmlns:a="http://schemas.openxmlformats.org/drawingml/2006/main" w="9525">
            <a:solidFill>
              <a:srgbClr val="E8DDD0"/>
            </a:solidFill>
            <a:prstDash val="solid"/>
          </a:ln>
        </p:spPr>
      </p:sp>
      <p:sp>
        <p:nvSpPr>
          <p:cNvPr id="43" name="critic-label">
            <a:extLst xmlns:a="http://schemas.openxmlformats.org/drawingml/2006/main">
              <a:ext uri="{FF2B5EF4-FFF2-40B4-BE49-F238E27FC236}">
                <a16:creationId xmlns:a16="http://schemas.microsoft.com/office/drawing/2014/main" id="{9DC0940D-373A-4204-9765-BAE88265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86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0642A"/>
                </a:solidFill>
              </a:defRPr>
            </a:pPr>
            <a:r>
              <a:rPr sz="975" b="1">
                <a:solidFill>
                  <a:srgbClr val="A0642A"/>
                </a:solidFill>
              </a:rPr>
              <a:t>CENTRALIZED TRAINING</a:t>
            </a:r>
          </a:p>
        </p:txBody>
      </p:sp>
      <p:sp>
        <p:nvSpPr>
          <p:cNvPr id="44" name="joint-observation">
            <a:extLst xmlns:a="http://schemas.openxmlformats.org/drawingml/2006/main">
              <a:ext uri="{FF2B5EF4-FFF2-40B4-BE49-F238E27FC236}">
                <a16:creationId xmlns:a16="http://schemas.microsoft.com/office/drawing/2014/main" id="{6113A9FD-E531-4202-B427-A01B82C6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0"/>
            <a:ext cx="1762125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4E7"/>
          </a:solidFill>
          <a:ln xmlns:a="http://schemas.openxmlformats.org/drawingml/2006/main" w="14288">
            <a:solidFill>
              <a:srgbClr val="D2A26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joint-observation-accent">
            <a:extLst xmlns:a="http://schemas.openxmlformats.org/drawingml/2006/main">
              <a:ext uri="{FF2B5EF4-FFF2-40B4-BE49-F238E27FC236}">
                <a16:creationId xmlns:a16="http://schemas.microsoft.com/office/drawing/2014/main" id="{1B646995-3616-4D67-B1C8-86793348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0"/>
            <a:ext cx="66675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07A2E"/>
          </a:solidFill>
          <a:ln xmlns:a="http://schemas.openxmlformats.org/drawingml/2006/main" w="0">
            <a:solidFill>
              <a:srgbClr val="C07A2E"/>
            </a:solidFill>
            <a:prstDash val="solid"/>
          </a:ln>
        </p:spPr>
      </p:sp>
      <p:sp>
        <p:nvSpPr>
          <p:cNvPr id="46" name="joint-observation-title">
            <a:extLst xmlns:a="http://schemas.openxmlformats.org/drawingml/2006/main">
              <a:ext uri="{FF2B5EF4-FFF2-40B4-BE49-F238E27FC236}">
                <a16:creationId xmlns:a16="http://schemas.microsoft.com/office/drawing/2014/main" id="{2483F205-920B-4ECD-97BC-E4F1C171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038725"/>
            <a:ext cx="1514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230"/>
                </a:solidFill>
              </a:defRPr>
            </a:pPr>
            <a:r>
              <a:rPr sz="1200" b="1">
                <a:solidFill>
                  <a:srgbClr val="122230"/>
                </a:solidFill>
              </a:rPr>
              <a:t>Joint flat observation</a:t>
            </a:r>
          </a:p>
        </p:txBody>
      </p:sp>
      <p:sp>
        <p:nvSpPr>
          <p:cNvPr id="47" name="joint-observation-body">
            <a:extLst xmlns:a="http://schemas.openxmlformats.org/drawingml/2006/main">
              <a:ext uri="{FF2B5EF4-FFF2-40B4-BE49-F238E27FC236}">
                <a16:creationId xmlns:a16="http://schemas.microsoft.com/office/drawing/2014/main" id="{FD76D981-AE12-4D04-8295-CBFDA324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305425"/>
            <a:ext cx="1504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[o₀ ∥ o₁ ∥ o₂ ∥ o₃]</a:t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77 + 150 + 139 + 377</a:t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= 743 features</a:t>
            </a:r>
          </a:p>
        </p:txBody>
      </p:sp>
      <p:sp>
        <p:nvSpPr>
          <p:cNvPr id="48" name="critic-mlp">
            <a:extLst xmlns:a="http://schemas.openxmlformats.org/drawingml/2006/main">
              <a:ext uri="{FF2B5EF4-FFF2-40B4-BE49-F238E27FC236}">
                <a16:creationId xmlns:a16="http://schemas.microsoft.com/office/drawing/2014/main" id="{2D8FCC4D-A878-4B22-93FB-A670055D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029200"/>
            <a:ext cx="193357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0DF"/>
          </a:solidFill>
          <a:ln xmlns:a="http://schemas.openxmlformats.org/drawingml/2006/main" w="14288">
            <a:solidFill>
              <a:srgbClr val="CE955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9" name="critic-mlp-accent">
            <a:extLst xmlns:a="http://schemas.openxmlformats.org/drawingml/2006/main">
              <a:ext uri="{FF2B5EF4-FFF2-40B4-BE49-F238E27FC236}">
                <a16:creationId xmlns:a16="http://schemas.microsoft.com/office/drawing/2014/main" id="{1E273205-2E47-4F84-A7DB-196686BD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029200"/>
            <a:ext cx="66675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66D23"/>
          </a:solidFill>
          <a:ln xmlns:a="http://schemas.openxmlformats.org/drawingml/2006/main" w="0">
            <a:solidFill>
              <a:srgbClr val="B66D23"/>
            </a:solidFill>
            <a:prstDash val="solid"/>
          </a:ln>
        </p:spPr>
      </p:sp>
      <p:sp>
        <p:nvSpPr>
          <p:cNvPr id="50" name="critic-mlp-title">
            <a:extLst xmlns:a="http://schemas.openxmlformats.org/drawingml/2006/main">
              <a:ext uri="{FF2B5EF4-FFF2-40B4-BE49-F238E27FC236}">
                <a16:creationId xmlns:a16="http://schemas.microsoft.com/office/drawing/2014/main" id="{8FC1AE56-9578-4B9C-94EF-96F1BE79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5114925"/>
            <a:ext cx="16859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230"/>
                </a:solidFill>
              </a:defRPr>
            </a:pPr>
            <a:r>
              <a:rPr sz="1275" b="1">
                <a:solidFill>
                  <a:srgbClr val="122230"/>
                </a:solidFill>
              </a:rPr>
              <a:t>Centralized critic</a:t>
            </a:r>
          </a:p>
        </p:txBody>
      </p:sp>
      <p:sp>
        <p:nvSpPr>
          <p:cNvPr id="51" name="critic-mlp-body">
            <a:extLst xmlns:a="http://schemas.openxmlformats.org/drawingml/2006/main">
              <a:ext uri="{FF2B5EF4-FFF2-40B4-BE49-F238E27FC236}">
                <a16:creationId xmlns:a16="http://schemas.microsoft.com/office/drawing/2014/main" id="{1A777242-C775-474A-A123-EDBB80E3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5381625"/>
            <a:ext cx="1676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MLP 743 → 128 → 128 → 1</a:t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ReLU activations</a:t>
            </a:r>
          </a:p>
        </p:txBody>
      </p:sp>
      <p:sp>
        <p:nvSpPr>
          <p:cNvPr id="52" name="state-value">
            <a:extLst xmlns:a="http://schemas.openxmlformats.org/drawingml/2006/main">
              <a:ext uri="{FF2B5EF4-FFF2-40B4-BE49-F238E27FC236}">
                <a16:creationId xmlns:a16="http://schemas.microsoft.com/office/drawing/2014/main" id="{13765636-4D81-466D-B121-A400F850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95875"/>
            <a:ext cx="1514475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FF4E9"/>
          </a:solidFill>
          <a:ln xmlns:a="http://schemas.openxmlformats.org/drawingml/2006/main" w="14288">
            <a:solidFill>
              <a:srgbClr val="D3A3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3" name="state-value-accent">
            <a:extLst xmlns:a="http://schemas.openxmlformats.org/drawingml/2006/main">
              <a:ext uri="{FF2B5EF4-FFF2-40B4-BE49-F238E27FC236}">
                <a16:creationId xmlns:a16="http://schemas.microsoft.com/office/drawing/2014/main" id="{AD996049-A047-47BF-B131-A14E0BB2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95875"/>
            <a:ext cx="66675" cy="809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D762C"/>
          </a:solidFill>
          <a:ln xmlns:a="http://schemas.openxmlformats.org/drawingml/2006/main" w="0">
            <a:solidFill>
              <a:srgbClr val="BD762C"/>
            </a:solidFill>
            <a:prstDash val="solid"/>
          </a:ln>
        </p:spPr>
      </p:sp>
      <p:sp>
        <p:nvSpPr>
          <p:cNvPr id="54" name="state-value-title">
            <a:extLst xmlns:a="http://schemas.openxmlformats.org/drawingml/2006/main">
              <a:ext uri="{FF2B5EF4-FFF2-40B4-BE49-F238E27FC236}">
                <a16:creationId xmlns:a16="http://schemas.microsoft.com/office/drawing/2014/main" id="{76414426-D349-48A8-98CA-D046F988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181600"/>
            <a:ext cx="12668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230"/>
                </a:solidFill>
              </a:defRPr>
            </a:pPr>
            <a:r>
              <a:rPr sz="1275" b="1">
                <a:solidFill>
                  <a:srgbClr val="122230"/>
                </a:solidFill>
              </a:rPr>
              <a:t>State value  V(s)</a:t>
            </a:r>
          </a:p>
        </p:txBody>
      </p:sp>
      <p:sp>
        <p:nvSpPr>
          <p:cNvPr id="55" name="state-value-body">
            <a:extLst xmlns:a="http://schemas.openxmlformats.org/drawingml/2006/main">
              <a:ext uri="{FF2B5EF4-FFF2-40B4-BE49-F238E27FC236}">
                <a16:creationId xmlns:a16="http://schemas.microsoft.com/office/drawing/2014/main" id="{12D917BF-A451-4005-B3C3-750D050C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44830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Single scalar estimate</a:t>
            </a:r>
          </a:p>
        </p:txBody>
      </p:sp>
      <p:sp>
        <p:nvSpPr>
          <p:cNvPr id="56" name="mappo-update">
            <a:extLst xmlns:a="http://schemas.openxmlformats.org/drawingml/2006/main">
              <a:ext uri="{FF2B5EF4-FFF2-40B4-BE49-F238E27FC236}">
                <a16:creationId xmlns:a16="http://schemas.microsoft.com/office/drawing/2014/main" id="{D87E3287-ABD0-463B-B712-DC6298EB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14900"/>
            <a:ext cx="1971675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2EAF8"/>
          </a:solidFill>
          <a:ln xmlns:a="http://schemas.openxmlformats.org/drawingml/2006/main" w="14288">
            <a:solidFill>
              <a:srgbClr val="A68A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7" name="mappo-update-accent">
            <a:extLst xmlns:a="http://schemas.openxmlformats.org/drawingml/2006/main">
              <a:ext uri="{FF2B5EF4-FFF2-40B4-BE49-F238E27FC236}">
                <a16:creationId xmlns:a16="http://schemas.microsoft.com/office/drawing/2014/main" id="{9F1163EB-F668-4AD2-A130-9ADFB680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14900"/>
            <a:ext cx="66675" cy="1181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0579E"/>
          </a:solidFill>
          <a:ln xmlns:a="http://schemas.openxmlformats.org/drawingml/2006/main" w="0">
            <a:solidFill>
              <a:srgbClr val="80579E"/>
            </a:solidFill>
            <a:prstDash val="solid"/>
          </a:ln>
        </p:spPr>
      </p:sp>
      <p:sp>
        <p:nvSpPr>
          <p:cNvPr id="58" name="mappo-update-title">
            <a:extLst xmlns:a="http://schemas.openxmlformats.org/drawingml/2006/main">
              <a:ext uri="{FF2B5EF4-FFF2-40B4-BE49-F238E27FC236}">
                <a16:creationId xmlns:a16="http://schemas.microsoft.com/office/drawing/2014/main" id="{E7F2203F-C178-4197-96F2-3C7E7433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000625"/>
            <a:ext cx="1724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230"/>
                </a:solidFill>
              </a:defRPr>
            </a:pPr>
            <a:r>
              <a:rPr sz="1275" b="1">
                <a:solidFill>
                  <a:srgbClr val="122230"/>
                </a:solidFill>
              </a:rPr>
              <a:t>MAPPO update</a:t>
            </a:r>
          </a:p>
        </p:txBody>
      </p:sp>
      <p:sp>
        <p:nvSpPr>
          <p:cNvPr id="59" name="mappo-update-body">
            <a:extLst xmlns:a="http://schemas.openxmlformats.org/drawingml/2006/main">
              <a:ext uri="{FF2B5EF4-FFF2-40B4-BE49-F238E27FC236}">
                <a16:creationId xmlns:a16="http://schemas.microsoft.com/office/drawing/2014/main" id="{5B9E17C8-5942-4F67-B251-CC222321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267325"/>
            <a:ext cx="1714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GAE advantages + returns</a:t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Clipped policy loss</a:t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Entropy bonus + value loss</a:t>
            </a:r>
          </a:p>
        </p:txBody>
      </p:sp>
      <p:sp>
        <p:nvSpPr>
          <p:cNvPr id="60" name="grid-environment">
            <a:extLst xmlns:a="http://schemas.openxmlformats.org/drawingml/2006/main">
              <a:ext uri="{FF2B5EF4-FFF2-40B4-BE49-F238E27FC236}">
                <a16:creationId xmlns:a16="http://schemas.microsoft.com/office/drawing/2014/main" id="{2D8F35E1-91B8-4423-B117-84CFF906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857750"/>
            <a:ext cx="17907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5EC"/>
          </a:solidFill>
          <a:ln xmlns:a="http://schemas.openxmlformats.org/drawingml/2006/main" w="14288">
            <a:solidFill>
              <a:srgbClr val="79A88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1" name="grid-environment-accent">
            <a:extLst xmlns:a="http://schemas.openxmlformats.org/drawingml/2006/main">
              <a:ext uri="{FF2B5EF4-FFF2-40B4-BE49-F238E27FC236}">
                <a16:creationId xmlns:a16="http://schemas.microsoft.com/office/drawing/2014/main" id="{82FC7331-C2EA-4776-A72A-2CE81E60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857750"/>
            <a:ext cx="66675" cy="1285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E8250"/>
          </a:solidFill>
          <a:ln xmlns:a="http://schemas.openxmlformats.org/drawingml/2006/main" w="0">
            <a:solidFill>
              <a:srgbClr val="3E8250"/>
            </a:solidFill>
            <a:prstDash val="solid"/>
          </a:ln>
        </p:spPr>
      </p:sp>
      <p:sp>
        <p:nvSpPr>
          <p:cNvPr id="62" name="grid-environment-title">
            <a:extLst xmlns:a="http://schemas.openxmlformats.org/drawingml/2006/main">
              <a:ext uri="{FF2B5EF4-FFF2-40B4-BE49-F238E27FC236}">
                <a16:creationId xmlns:a16="http://schemas.microsoft.com/office/drawing/2014/main" id="{06E9BDE0-5372-470D-8AC3-780CAFC6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943475"/>
            <a:ext cx="1543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230"/>
                </a:solidFill>
              </a:defRPr>
            </a:pPr>
            <a:r>
              <a:rPr sz="1275" b="1">
                <a:solidFill>
                  <a:srgbClr val="122230"/>
                </a:solidFill>
              </a:rPr>
              <a:t>WCCI-36 environment</a:t>
            </a:r>
          </a:p>
        </p:txBody>
      </p:sp>
      <p:sp>
        <p:nvSpPr>
          <p:cNvPr id="63" name="grid-environment-body">
            <a:extLst xmlns:a="http://schemas.openxmlformats.org/drawingml/2006/main">
              <a:ext uri="{FF2B5EF4-FFF2-40B4-BE49-F238E27FC236}">
                <a16:creationId xmlns:a16="http://schemas.microsoft.com/office/drawing/2014/main" id="{41448407-183E-4694-A66F-77052A87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210175"/>
            <a:ext cx="15335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Joint action (a₀…a₃)</a:t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AC power flow</a:t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reward · next state</a:t>
            </a:r>
          </a:p>
        </p:txBody>
      </p:sp>
      <p:cxnSp>
        <p:nvCxnSpPr>
          <p:cNvPr id="136" name=""/>
          <p:cNvCxnSpPr>
            <a:stCxn xmlns:a="http://schemas.openxmlformats.org/drawingml/2006/main" id="44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2257425" y="550545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7843"/>
            </a:solidFill>
            <a:prstDash val="solid"/>
            <a:tailEnd type="triangle" w="sm" len="sm"/>
          </a:ln>
        </p:spPr>
      </p:cxnSp>
      <p:cxnSp>
        <p:nvCxnSpPr>
          <p:cNvPr id="137" name=""/>
          <p:cNvCxnSpPr>
            <a:stCxn xmlns:a="http://schemas.openxmlformats.org/drawingml/2006/main" id="48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 flipV="1">
            <a:off x="4657725" y="5500688"/>
            <a:ext cx="466725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7843"/>
            </a:solidFill>
            <a:prstDash val="solid"/>
            <a:tailEnd type="triangle" w="sm" len="sm"/>
          </a:ln>
        </p:spPr>
      </p:cxnSp>
      <p:cxnSp>
        <p:nvCxnSpPr>
          <p:cNvPr id="138" name=""/>
          <p:cNvCxnSpPr>
            <a:stCxn xmlns:a="http://schemas.openxmlformats.org/drawingml/2006/main" id="52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6638925" y="5500688"/>
            <a:ext cx="600075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87348"/>
            </a:solidFill>
            <a:prstDash val="solid"/>
            <a:tailEnd type="triangle" w="sm" len="sm"/>
          </a:ln>
        </p:spPr>
      </p:cxnSp>
      <p:cxnSp>
        <p:nvCxnSpPr>
          <p:cNvPr id="139" name=""/>
          <p:cNvCxnSpPr>
            <a:stCxn xmlns:a="http://schemas.openxmlformats.org/drawingml/2006/main" id="56" idx="2"/>
            <a:endCxn xmlns:a="http://schemas.openxmlformats.org/drawingml/2006/main" id="48" idx="2"/>
          </p:cNvCxnSpPr>
          <p:nvPr/>
        </p:nvCxnSpPr>
        <p:spPr>
          <a:xfrm xmlns:a="http://schemas.openxmlformats.org/drawingml/2006/main" flipH="1" flipV="1">
            <a:off x="3690938" y="5981700"/>
            <a:ext cx="4533900" cy="114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895E9E"/>
            </a:solidFill>
            <a:prstDash val="dash"/>
            <a:tailEnd type="triangle" w="sm" len="sm"/>
          </a:ln>
        </p:spPr>
      </p:cxnSp>
      <p:cxnSp>
        <p:nvCxnSpPr>
          <p:cNvPr id="140" name=""/>
          <p:cNvCxnSpPr>
            <a:stCxn xmlns:a="http://schemas.openxmlformats.org/drawingml/2006/main" id="30" idx="2"/>
            <a:endCxn xmlns:a="http://schemas.openxmlformats.org/drawingml/2006/main" id="60" idx="0"/>
          </p:cNvCxnSpPr>
          <p:nvPr/>
        </p:nvCxnSpPr>
        <p:spPr>
          <a:xfrm xmlns:a="http://schemas.openxmlformats.org/drawingml/2006/main" flipH="1">
            <a:off x="10753725" y="3238500"/>
            <a:ext cx="180975" cy="1619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46A92"/>
            </a:solidFill>
            <a:prstDash val="solid"/>
            <a:tailEnd type="triangle" w="sm" len="sm"/>
          </a:ln>
        </p:spPr>
      </p:cxnSp>
      <p:cxnSp>
        <p:nvCxnSpPr>
          <p:cNvPr id="141" name=""/>
          <p:cNvCxnSpPr>
            <a:stCxn xmlns:a="http://schemas.openxmlformats.org/drawingml/2006/main" id="60" idx="1"/>
            <a:endCxn xmlns:a="http://schemas.openxmlformats.org/drawingml/2006/main" id="56" idx="3"/>
          </p:cNvCxnSpPr>
          <p:nvPr/>
        </p:nvCxnSpPr>
        <p:spPr>
          <a:xfrm xmlns:a="http://schemas.openxmlformats.org/drawingml/2006/main" flipH="1">
            <a:off x="9210675" y="5500688"/>
            <a:ext cx="647700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8A6C"/>
            </a:solidFill>
            <a:prstDash val="solid"/>
            <a:tailEnd type="triangle" w="sm" len="sm"/>
          </a:ln>
        </p:spPr>
      </p:cxnSp>
      <p:cxnSp>
        <p:nvCxnSpPr>
          <p:cNvPr id="142" name=""/>
          <p:cNvCxnSpPr>
            <a:stCxn xmlns:a="http://schemas.openxmlformats.org/drawingml/2006/main" id="56" idx="0"/>
            <a:endCxn xmlns:a="http://schemas.openxmlformats.org/drawingml/2006/main" id="26" idx="2"/>
          </p:cNvCxnSpPr>
          <p:nvPr/>
        </p:nvCxnSpPr>
        <p:spPr>
          <a:xfrm xmlns:a="http://schemas.openxmlformats.org/drawingml/2006/main" flipV="1">
            <a:off x="8224838" y="3038475"/>
            <a:ext cx="923925" cy="18764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80579E"/>
            </a:solidFill>
            <a:prstDash val="dash"/>
            <a:tailEnd type="triangle" w="sm" len="sm"/>
          </a:ln>
        </p:spPr>
      </p:cxnSp>
      <p:sp>
        <p:nvSpPr>
          <p:cNvPr id="71" name="actor-update-label">
            <a:extLst xmlns:a="http://schemas.openxmlformats.org/drawingml/2006/main">
              <a:ext uri="{FF2B5EF4-FFF2-40B4-BE49-F238E27FC236}">
                <a16:creationId xmlns:a16="http://schemas.microsoft.com/office/drawing/2014/main" id="{C63B7497-017C-4355-A069-91B4CE2B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91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0579E"/>
                </a:solidFill>
              </a:defRPr>
            </a:pPr>
            <a:r>
              <a:rPr sz="825" b="1">
                <a:solidFill>
                  <a:srgbClr val="80579E"/>
                </a:solidFill>
              </a:rPr>
              <a:t>policy gradients</a:t>
            </a:r>
          </a:p>
        </p:txBody>
      </p:sp>
      <p:sp>
        <p:nvSpPr>
          <p:cNvPr id="72" name="critic-update-label">
            <a:extLst xmlns:a="http://schemas.openxmlformats.org/drawingml/2006/main">
              <a:ext uri="{FF2B5EF4-FFF2-40B4-BE49-F238E27FC236}">
                <a16:creationId xmlns:a16="http://schemas.microsoft.com/office/drawing/2014/main" id="{60C48BD0-6DA9-470E-A0E1-4E6A66C9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143625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0579E"/>
                </a:solidFill>
              </a:defRPr>
            </a:pPr>
            <a:r>
              <a:rPr sz="825" b="1">
                <a:solidFill>
                  <a:srgbClr val="80579E"/>
                </a:solidFill>
              </a:rPr>
              <a:t>value gradients</a:t>
            </a:r>
          </a:p>
        </p:txBody>
      </p:sp>
    </p:spTree>
    <p:extLst>
      <p:ext uri="{BB962C8B-B14F-4D97-AF65-F5344CB8AC3E}">
        <p14:creationId xmlns:p14="http://schemas.microsoft.com/office/powerpoint/2010/main" val="3189945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slide2-title">
            <a:extLst xmlns:a="http://schemas.openxmlformats.org/drawingml/2006/main">
              <a:ext uri="{FF2B5EF4-FFF2-40B4-BE49-F238E27FC236}">
                <a16:creationId xmlns:a16="http://schemas.microsoft.com/office/drawing/2014/main" id="{CCD8DE98-9EB9-4D6A-AA78-FCE9E5D5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0"/>
                </a:solidFill>
              </a:defRPr>
            </a:pPr>
            <a:r>
              <a:rPr sz="2250" b="1">
                <a:solidFill>
                  <a:srgbClr val="111820"/>
                </a:solidFill>
              </a:rPr>
              <a:t>A fixed chronic split separates policy learning from model selection</a:t>
            </a:r>
          </a:p>
        </p:txBody>
      </p:sp>
      <p:sp>
        <p:nvSpPr>
          <p:cNvPr id="2" name="slide2-subtitle">
            <a:extLst xmlns:a="http://schemas.openxmlformats.org/drawingml/2006/main">
              <a:ext uri="{FF2B5EF4-FFF2-40B4-BE49-F238E27FC236}">
                <a16:creationId xmlns:a16="http://schemas.microsoft.com/office/drawing/2014/main" id="{EA61FCD1-6B23-4A95-9412-A6EB3A3B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5247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A6875"/>
                </a:solidFill>
              </a:defRPr>
            </a:pPr>
            <a:r>
              <a:rPr sz="1125" b="0">
                <a:solidFill>
                  <a:srgbClr val="5A6875"/>
                </a:solidFill>
              </a:rPr>
              <a:t>Agents act every five simulated minutes; held-out chronics never enter MAPPO training</a:t>
            </a:r>
          </a:p>
        </p:txBody>
      </p:sp>
      <p:sp>
        <p:nvSpPr>
          <p:cNvPr id="3" name="action-space-band">
            <a:extLst xmlns:a="http://schemas.openxmlformats.org/drawingml/2006/main">
              <a:ext uri="{FF2B5EF4-FFF2-40B4-BE49-F238E27FC236}">
                <a16:creationId xmlns:a16="http://schemas.microsoft.com/office/drawing/2014/main" id="{6BCF164B-981C-4455-9982-48EB8B81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43000"/>
            <a:ext cx="3448050" cy="5219700"/>
          </a:xfrm>
          <a:prstGeom xmlns:a="http://schemas.openxmlformats.org/drawingml/2006/main" prst="roundRect">
            <a:avLst>
              <a:gd name="adj" fmla="val 386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7E3EC"/>
            </a:solidFill>
            <a:prstDash val="solid"/>
          </a:ln>
        </p:spPr>
      </p:sp>
      <p:sp>
        <p:nvSpPr>
          <p:cNvPr id="4" name="chronic-split-band">
            <a:extLst xmlns:a="http://schemas.openxmlformats.org/drawingml/2006/main">
              <a:ext uri="{FF2B5EF4-FFF2-40B4-BE49-F238E27FC236}">
                <a16:creationId xmlns:a16="http://schemas.microsoft.com/office/drawing/2014/main" id="{8C14E51C-2D0B-4992-8106-78E3B88E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143000"/>
            <a:ext cx="7943850" cy="5219700"/>
          </a:xfrm>
          <a:prstGeom xmlns:a="http://schemas.openxmlformats.org/drawingml/2006/main" prst="roundRect">
            <a:avLst>
              <a:gd name="adj" fmla="val 2555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E3E5E7"/>
            </a:solidFill>
            <a:prstDash val="solid"/>
          </a:ln>
        </p:spPr>
      </p:sp>
      <p:sp>
        <p:nvSpPr>
          <p:cNvPr id="5" name="action-space-label">
            <a:extLst xmlns:a="http://schemas.openxmlformats.org/drawingml/2006/main">
              <a:ext uri="{FF2B5EF4-FFF2-40B4-BE49-F238E27FC236}">
                <a16:creationId xmlns:a16="http://schemas.microsoft.com/office/drawing/2014/main" id="{99A29721-9F48-4ACD-B9A5-68BA2369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668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6F9C"/>
                </a:solidFill>
              </a:defRPr>
            </a:pPr>
            <a:r>
              <a:rPr sz="975" b="1">
                <a:solidFill>
                  <a:srgbClr val="2B6F9C"/>
                </a:solidFill>
              </a:rPr>
              <a:t>TOPOLOGY ACTION SPACE</a:t>
            </a:r>
          </a:p>
        </p:txBody>
      </p:sp>
      <p:sp>
        <p:nvSpPr>
          <p:cNvPr id="6" name="action-space-heading">
            <a:extLst xmlns:a="http://schemas.openxmlformats.org/drawingml/2006/main">
              <a:ext uri="{FF2B5EF4-FFF2-40B4-BE49-F238E27FC236}">
                <a16:creationId xmlns:a16="http://schemas.microsoft.com/office/drawing/2014/main" id="{A4589BCA-C3B7-4ECB-96E7-F10845B1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735"/>
                </a:solidFill>
              </a:defRPr>
            </a:pPr>
            <a:r>
              <a:rPr sz="1725" b="1">
                <a:solidFill>
                  <a:srgbClr val="172735"/>
                </a:solidFill>
              </a:rPr>
              <a:t>Each agent selects one local action</a:t>
            </a:r>
          </a:p>
        </p:txBody>
      </p:sp>
      <p:sp>
        <p:nvSpPr>
          <p:cNvPr id="7" name="action-space-caption">
            <a:extLst xmlns:a="http://schemas.openxmlformats.org/drawingml/2006/main">
              <a:ext uri="{FF2B5EF4-FFF2-40B4-BE49-F238E27FC236}">
                <a16:creationId xmlns:a16="http://schemas.microsoft.com/office/drawing/2014/main" id="{0CEC9A32-BE9E-4E5C-A20F-D1595EC2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05025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80"/>
                </a:solidFill>
              </a:defRPr>
            </a:pPr>
            <a:r>
              <a:rPr sz="1050" b="0">
                <a:solidFill>
                  <a:srgbClr val="607080"/>
                </a:solidFill>
              </a:rPr>
              <a:t>The four agents’ selections are combined into one joint grid-control decision.</a:t>
            </a:r>
          </a:p>
        </p:txBody>
      </p:sp>
      <p:sp>
        <p:nvSpPr>
          <p:cNvPr id="8" name="noop-action-marker">
            <a:extLst xmlns:a="http://schemas.openxmlformats.org/drawingml/2006/main">
              <a:ext uri="{FF2B5EF4-FFF2-40B4-BE49-F238E27FC236}">
                <a16:creationId xmlns:a16="http://schemas.microsoft.com/office/drawing/2014/main" id="{8956B441-5FB2-421D-9C37-187D6992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289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F8"/>
          </a:solidFill>
          <a:ln xmlns:a="http://schemas.openxmlformats.org/drawingml/2006/main" w="14288">
            <a:solidFill>
              <a:srgbClr val="6F9EB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76F9A"/>
                </a:solidFill>
              </a:defRPr>
            </a:pPr>
            <a:r>
              <a:rPr sz="1425" b="1">
                <a:solidFill>
                  <a:srgbClr val="276F9A"/>
                </a:solidFill>
              </a:rPr>
              <a:t>0</a:t>
            </a:r>
          </a:p>
        </p:txBody>
      </p:sp>
      <p:sp>
        <p:nvSpPr>
          <p:cNvPr id="9" name="noop-action-title">
            <a:extLst xmlns:a="http://schemas.openxmlformats.org/drawingml/2006/main">
              <a:ext uri="{FF2B5EF4-FFF2-40B4-BE49-F238E27FC236}">
                <a16:creationId xmlns:a16="http://schemas.microsoft.com/office/drawing/2014/main" id="{33C7A31F-B7FB-4D4D-8044-8D4AB5B0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762250"/>
            <a:ext cx="2171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B2C39"/>
                </a:solidFill>
              </a:defRPr>
            </a:pPr>
            <a:r>
              <a:rPr sz="1275" b="1">
                <a:solidFill>
                  <a:srgbClr val="1B2C39"/>
                </a:solidFill>
              </a:rPr>
              <a:t>Do nothing</a:t>
            </a:r>
          </a:p>
        </p:txBody>
      </p:sp>
      <p:sp>
        <p:nvSpPr>
          <p:cNvPr id="10" name="noop-action-body">
            <a:extLst xmlns:a="http://schemas.openxmlformats.org/drawingml/2006/main">
              <a:ext uri="{FF2B5EF4-FFF2-40B4-BE49-F238E27FC236}">
                <a16:creationId xmlns:a16="http://schemas.microsoft.com/office/drawing/2014/main" id="{A504F02F-365F-47BC-99E9-844A8FBE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057525"/>
            <a:ext cx="2171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0"/>
                </a:solidFill>
              </a:defRPr>
            </a:pPr>
            <a:r>
              <a:rPr sz="975" b="0">
                <a:solidFill>
                  <a:srgbClr val="607080"/>
                </a:solidFill>
              </a:rPr>
              <a:t>Preserve the current topology</a:t>
            </a:r>
          </a:p>
        </p:txBody>
      </p:sp>
      <p:sp>
        <p:nvSpPr>
          <p:cNvPr id="11" name="line-action-marker">
            <a:extLst xmlns:a="http://schemas.openxmlformats.org/drawingml/2006/main">
              <a:ext uri="{FF2B5EF4-FFF2-40B4-BE49-F238E27FC236}">
                <a16:creationId xmlns:a16="http://schemas.microsoft.com/office/drawing/2014/main" id="{D58F9165-B393-45CE-9AFE-EDF921EA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052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F8"/>
          </a:solidFill>
          <a:ln xmlns:a="http://schemas.openxmlformats.org/drawingml/2006/main" w="14288">
            <a:solidFill>
              <a:srgbClr val="6F9EB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76F9A"/>
                </a:solidFill>
              </a:defRPr>
            </a:pPr>
            <a:r>
              <a:rPr sz="1425" b="1">
                <a:solidFill>
                  <a:srgbClr val="276F9A"/>
                </a:solidFill>
              </a:rPr>
              <a:t>↔</a:t>
            </a:r>
          </a:p>
        </p:txBody>
      </p:sp>
      <p:sp>
        <p:nvSpPr>
          <p:cNvPr id="12" name="line-action-title">
            <a:extLst xmlns:a="http://schemas.openxmlformats.org/drawingml/2006/main">
              <a:ext uri="{FF2B5EF4-FFF2-40B4-BE49-F238E27FC236}">
                <a16:creationId xmlns:a16="http://schemas.microsoft.com/office/drawing/2014/main" id="{4B9C7DE6-EA77-4781-BFB7-FE970284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638550"/>
            <a:ext cx="2171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B2C39"/>
                </a:solidFill>
              </a:defRPr>
            </a:pPr>
            <a:r>
              <a:rPr sz="1275" b="1">
                <a:solidFill>
                  <a:srgbClr val="1B2C39"/>
                </a:solidFill>
              </a:rPr>
              <a:t>Switch a transmission line</a:t>
            </a:r>
          </a:p>
        </p:txBody>
      </p:sp>
      <p:sp>
        <p:nvSpPr>
          <p:cNvPr id="13" name="line-action-body">
            <a:extLst xmlns:a="http://schemas.openxmlformats.org/drawingml/2006/main">
              <a:ext uri="{FF2B5EF4-FFF2-40B4-BE49-F238E27FC236}">
                <a16:creationId xmlns:a16="http://schemas.microsoft.com/office/drawing/2014/main" id="{2C61CC89-6DC9-4C41-A48D-6F185C77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933825"/>
            <a:ext cx="2171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0"/>
                </a:solidFill>
              </a:defRPr>
            </a:pPr>
            <a:r>
              <a:rPr sz="975" b="0">
                <a:solidFill>
                  <a:srgbClr val="607080"/>
                </a:solidFill>
              </a:rPr>
              <a:t>Connect or disconnect a line</a:t>
            </a:r>
          </a:p>
        </p:txBody>
      </p:sp>
      <p:sp>
        <p:nvSpPr>
          <p:cNvPr id="14" name="busbar-action-marker">
            <a:extLst xmlns:a="http://schemas.openxmlformats.org/drawingml/2006/main">
              <a:ext uri="{FF2B5EF4-FFF2-40B4-BE49-F238E27FC236}">
                <a16:creationId xmlns:a16="http://schemas.microsoft.com/office/drawing/2014/main" id="{B6AE5743-F175-426C-8AA1-7F6D05AE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815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F8"/>
          </a:solidFill>
          <a:ln xmlns:a="http://schemas.openxmlformats.org/drawingml/2006/main" w="14288">
            <a:solidFill>
              <a:srgbClr val="6F9EB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76F9A"/>
                </a:solidFill>
              </a:defRPr>
            </a:pPr>
            <a:r>
              <a:rPr sz="975" b="1">
                <a:solidFill>
                  <a:srgbClr val="276F9A"/>
                </a:solidFill>
              </a:rPr>
              <a:t>1|2</a:t>
            </a:r>
          </a:p>
        </p:txBody>
      </p:sp>
      <p:sp>
        <p:nvSpPr>
          <p:cNvPr id="15" name="busbar-action-title">
            <a:extLst xmlns:a="http://schemas.openxmlformats.org/drawingml/2006/main">
              <a:ext uri="{FF2B5EF4-FFF2-40B4-BE49-F238E27FC236}">
                <a16:creationId xmlns:a16="http://schemas.microsoft.com/office/drawing/2014/main" id="{292AC0CF-7B6D-44B7-AB7B-80C01568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514850"/>
            <a:ext cx="2171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B2C39"/>
                </a:solidFill>
              </a:defRPr>
            </a:pPr>
            <a:r>
              <a:rPr sz="1275" b="1">
                <a:solidFill>
                  <a:srgbClr val="1B2C39"/>
                </a:solidFill>
              </a:rPr>
              <a:t>Reassign substation elements</a:t>
            </a:r>
          </a:p>
        </p:txBody>
      </p:sp>
      <p:sp>
        <p:nvSpPr>
          <p:cNvPr id="16" name="busbar-action-body">
            <a:extLst xmlns:a="http://schemas.openxmlformats.org/drawingml/2006/main">
              <a:ext uri="{FF2B5EF4-FFF2-40B4-BE49-F238E27FC236}">
                <a16:creationId xmlns:a16="http://schemas.microsoft.com/office/drawing/2014/main" id="{CFBD89B8-41D8-4E56-B244-3F76540B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810125"/>
            <a:ext cx="2171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0"/>
                </a:solidFill>
              </a:defRPr>
            </a:pPr>
            <a:r>
              <a:rPr sz="975" b="0">
                <a:solidFill>
                  <a:srgbClr val="607080"/>
                </a:solidFill>
              </a:rPr>
              <a:t>Move components between busbars</a:t>
            </a:r>
          </a:p>
        </p:txBody>
      </p:sp>
      <p:sp>
        <p:nvSpPr>
          <p:cNvPr id="17" name="decision-cadence">
            <a:extLst xmlns:a="http://schemas.openxmlformats.org/drawingml/2006/main">
              <a:ext uri="{FF2B5EF4-FFF2-40B4-BE49-F238E27FC236}">
                <a16:creationId xmlns:a16="http://schemas.microsoft.com/office/drawing/2014/main" id="{58829862-8165-4781-97AA-84589063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0"/>
            <a:ext cx="291465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91B4C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85F7F"/>
                </a:solidFill>
              </a:defRPr>
            </a:pPr>
            <a:r>
              <a:rPr sz="1125" b="1">
                <a:solidFill>
                  <a:srgbClr val="285F7F"/>
                </a:solidFill>
              </a:rPr>
              <a:t>Every 5 minutes  ·  shared grid-level reward</a:t>
            </a:r>
          </a:p>
        </p:txBody>
      </p:sp>
      <p:sp>
        <p:nvSpPr>
          <p:cNvPr id="18" name="chronic-split-label">
            <a:extLst xmlns:a="http://schemas.openxmlformats.org/drawingml/2006/main">
              <a:ext uri="{FF2B5EF4-FFF2-40B4-BE49-F238E27FC236}">
                <a16:creationId xmlns:a16="http://schemas.microsoft.com/office/drawing/2014/main" id="{831D3372-5E8A-442E-B0AD-50196BFC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2668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5F6A"/>
                </a:solidFill>
              </a:defRPr>
            </a:pPr>
            <a:r>
              <a:rPr sz="975" b="1">
                <a:solidFill>
                  <a:srgbClr val="4F5F6A"/>
                </a:solidFill>
              </a:rPr>
              <a:t>CHRONIC SPLIT &amp; EVALUATION</a:t>
            </a:r>
          </a:p>
        </p:txBody>
      </p:sp>
      <p:sp>
        <p:nvSpPr>
          <p:cNvPr id="19" name="available-chronics">
            <a:extLst xmlns:a="http://schemas.openxmlformats.org/drawingml/2006/main">
              <a:ext uri="{FF2B5EF4-FFF2-40B4-BE49-F238E27FC236}">
                <a16:creationId xmlns:a16="http://schemas.microsoft.com/office/drawing/2014/main" id="{059D1F09-FC50-4DB4-93F1-D94EB7E6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04950"/>
            <a:ext cx="2952750" cy="6858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14288">
            <a:solidFill>
              <a:srgbClr val="9CA8A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available-chronics-title">
            <a:extLst xmlns:a="http://schemas.openxmlformats.org/drawingml/2006/main">
              <a:ext uri="{FF2B5EF4-FFF2-40B4-BE49-F238E27FC236}">
                <a16:creationId xmlns:a16="http://schemas.microsoft.com/office/drawing/2014/main" id="{CBB9E466-D508-4E8C-91BD-CFFEB2B5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81150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63641"/>
                </a:solidFill>
              </a:defRPr>
            </a:pPr>
            <a:r>
              <a:rPr sz="1275" b="1">
                <a:solidFill>
                  <a:srgbClr val="263641"/>
                </a:solidFill>
              </a:rPr>
              <a:t>Available chronics</a:t>
            </a:r>
          </a:p>
        </p:txBody>
      </p:sp>
      <p:sp>
        <p:nvSpPr>
          <p:cNvPr id="21" name="available-chronics-body">
            <a:extLst xmlns:a="http://schemas.openxmlformats.org/drawingml/2006/main">
              <a:ext uri="{FF2B5EF4-FFF2-40B4-BE49-F238E27FC236}">
                <a16:creationId xmlns:a16="http://schemas.microsoft.com/office/drawing/2014/main" id="{6111DB60-38BB-495E-A0C9-54ACBEAB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847850"/>
            <a:ext cx="2686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66573"/>
                </a:solidFill>
              </a:defRPr>
            </a:pPr>
            <a:r>
              <a:rPr sz="900" b="0">
                <a:solidFill>
                  <a:srgbClr val="566573"/>
                </a:solidFill>
              </a:rPr>
              <a:t>fixed shuffle · split seed 0</a:t>
            </a:r>
          </a:p>
        </p:txBody>
      </p:sp>
      <p:sp>
        <p:nvSpPr>
          <p:cNvPr id="22" name="train-column-label">
            <a:extLst xmlns:a="http://schemas.openxmlformats.org/drawingml/2006/main">
              <a:ext uri="{FF2B5EF4-FFF2-40B4-BE49-F238E27FC236}">
                <a16:creationId xmlns:a16="http://schemas.microsoft.com/office/drawing/2014/main" id="{757C9C3C-2F4E-4C0B-B175-2CF893E7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3907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A6B2E"/>
                </a:solidFill>
              </a:defRPr>
            </a:pPr>
            <a:r>
              <a:rPr sz="900" b="1">
                <a:solidFill>
                  <a:srgbClr val="BA6B2E"/>
                </a:solidFill>
              </a:rPr>
              <a:t>LEARNING</a:t>
            </a:r>
          </a:p>
        </p:txBody>
      </p:sp>
      <p:sp>
        <p:nvSpPr>
          <p:cNvPr id="23" name="test-column-label">
            <a:extLst xmlns:a="http://schemas.openxmlformats.org/drawingml/2006/main">
              <a:ext uri="{FF2B5EF4-FFF2-40B4-BE49-F238E27FC236}">
                <a16:creationId xmlns:a16="http://schemas.microsoft.com/office/drawing/2014/main" id="{5B6F0E65-B4A5-4BAD-9E5E-D0A9BA58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907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37F"/>
                </a:solidFill>
              </a:defRPr>
            </a:pPr>
            <a:r>
              <a:rPr sz="900" b="1">
                <a:solidFill>
                  <a:srgbClr val="16837F"/>
                </a:solidFill>
              </a:rPr>
              <a:t>MODEL SELECTION</a:t>
            </a:r>
          </a:p>
        </p:txBody>
      </p:sp>
      <p:sp>
        <p:nvSpPr>
          <p:cNvPr id="24" name="train-split">
            <a:extLst xmlns:a="http://schemas.openxmlformats.org/drawingml/2006/main">
              <a:ext uri="{FF2B5EF4-FFF2-40B4-BE49-F238E27FC236}">
                <a16:creationId xmlns:a16="http://schemas.microsoft.com/office/drawing/2014/main" id="{2196D6B7-2E30-458F-ACA8-5BE24A15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47950"/>
            <a:ext cx="2571750" cy="723900"/>
          </a:xfrm>
          <a:prstGeom xmlns:a="http://schemas.openxmlformats.org/drawingml/2006/main" prst="roundRect">
            <a:avLst>
              <a:gd name="adj" fmla="val 14474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4288">
            <a:solidFill>
              <a:srgbClr val="E9A1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train-split-title">
            <a:extLst xmlns:a="http://schemas.openxmlformats.org/drawingml/2006/main">
              <a:ext uri="{FF2B5EF4-FFF2-40B4-BE49-F238E27FC236}">
                <a16:creationId xmlns:a16="http://schemas.microsoft.com/office/drawing/2014/main" id="{E357F0A4-6A5E-4299-AA00-F9F43CE3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724150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75A24"/>
                </a:solidFill>
              </a:defRPr>
            </a:pPr>
            <a:r>
              <a:rPr sz="1275" b="1">
                <a:solidFill>
                  <a:srgbClr val="A75A24"/>
                </a:solidFill>
              </a:rPr>
              <a:t>80% training chronics</a:t>
            </a:r>
          </a:p>
        </p:txBody>
      </p:sp>
      <p:sp>
        <p:nvSpPr>
          <p:cNvPr id="26" name="train-split-body">
            <a:extLst xmlns:a="http://schemas.openxmlformats.org/drawingml/2006/main">
              <a:ext uri="{FF2B5EF4-FFF2-40B4-BE49-F238E27FC236}">
                <a16:creationId xmlns:a16="http://schemas.microsoft.com/office/drawing/2014/main" id="{4FA16D43-F888-40A4-80DE-CBE8806F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90850"/>
            <a:ext cx="2305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66573"/>
                </a:solidFill>
              </a:defRPr>
            </a:pPr>
            <a:r>
              <a:rPr sz="900" b="0">
                <a:solidFill>
                  <a:srgbClr val="566573"/>
                </a:solidFill>
              </a:rPr>
              <a:t>Only these chronics generate policy updates</a:t>
            </a:r>
          </a:p>
        </p:txBody>
      </p:sp>
      <p:sp>
        <p:nvSpPr>
          <p:cNvPr id="27" name="mappo-learning">
            <a:extLst xmlns:a="http://schemas.openxmlformats.org/drawingml/2006/main">
              <a:ext uri="{FF2B5EF4-FFF2-40B4-BE49-F238E27FC236}">
                <a16:creationId xmlns:a16="http://schemas.microsoft.com/office/drawing/2014/main" id="{E774B501-4311-4B9B-B463-59E13601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76650"/>
            <a:ext cx="2571750" cy="78105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FFF5ED"/>
          </a:solidFill>
          <a:ln xmlns:a="http://schemas.openxmlformats.org/drawingml/2006/main" w="14288">
            <a:solidFill>
              <a:srgbClr val="E9A1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mappo-learning-title">
            <a:extLst xmlns:a="http://schemas.openxmlformats.org/drawingml/2006/main">
              <a:ext uri="{FF2B5EF4-FFF2-40B4-BE49-F238E27FC236}">
                <a16:creationId xmlns:a16="http://schemas.microsoft.com/office/drawing/2014/main" id="{544FDB5D-C69D-48C2-AC9B-AF451FB4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752850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75A24"/>
                </a:solidFill>
              </a:defRPr>
            </a:pPr>
            <a:r>
              <a:rPr sz="1275" b="1">
                <a:solidFill>
                  <a:srgbClr val="A75A24"/>
                </a:solidFill>
              </a:rPr>
              <a:t>MAPPO rollouts &amp; updates</a:t>
            </a:r>
          </a:p>
        </p:txBody>
      </p:sp>
      <p:sp>
        <p:nvSpPr>
          <p:cNvPr id="29" name="mappo-learning-body">
            <a:extLst xmlns:a="http://schemas.openxmlformats.org/drawingml/2006/main">
              <a:ext uri="{FF2B5EF4-FFF2-40B4-BE49-F238E27FC236}">
                <a16:creationId xmlns:a16="http://schemas.microsoft.com/office/drawing/2014/main" id="{723C53BE-B43D-450E-9268-20A734A6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19550"/>
            <a:ext cx="2305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66573"/>
                </a:solidFill>
              </a:defRPr>
            </a:pPr>
            <a:r>
              <a:rPr sz="900" b="0">
                <a:solidFill>
                  <a:srgbClr val="566573"/>
                </a:solidFill>
              </a:rPr>
              <a:t>72 parallel environments in the current WCCI runs</a:t>
            </a:r>
          </a:p>
        </p:txBody>
      </p:sp>
      <p:sp>
        <p:nvSpPr>
          <p:cNvPr id="30" name="train-diagnostic">
            <a:extLst xmlns:a="http://schemas.openxmlformats.org/drawingml/2006/main">
              <a:ext uri="{FF2B5EF4-FFF2-40B4-BE49-F238E27FC236}">
                <a16:creationId xmlns:a16="http://schemas.microsoft.com/office/drawing/2014/main" id="{4E926FCB-3214-4FA6-B5C8-422E8F2A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19650"/>
            <a:ext cx="2571750" cy="78105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FFF9F4"/>
          </a:solidFill>
          <a:ln xmlns:a="http://schemas.openxmlformats.org/drawingml/2006/main" w="14288">
            <a:solidFill>
              <a:srgbClr val="EAB28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train-diagnostic-title">
            <a:extLst xmlns:a="http://schemas.openxmlformats.org/drawingml/2006/main">
              <a:ext uri="{FF2B5EF4-FFF2-40B4-BE49-F238E27FC236}">
                <a16:creationId xmlns:a16="http://schemas.microsoft.com/office/drawing/2014/main" id="{7D240B79-5FFA-4BB1-AF98-F258021C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895850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75A24"/>
                </a:solidFill>
              </a:defRPr>
            </a:pPr>
            <a:r>
              <a:rPr sz="1275" b="1">
                <a:solidFill>
                  <a:srgbClr val="A75A24"/>
                </a:solidFill>
              </a:rPr>
              <a:t>Train-split evaluation</a:t>
            </a:r>
          </a:p>
        </p:txBody>
      </p:sp>
      <p:sp>
        <p:nvSpPr>
          <p:cNvPr id="32" name="train-diagnostic-body">
            <a:extLst xmlns:a="http://schemas.openxmlformats.org/drawingml/2006/main">
              <a:ext uri="{FF2B5EF4-FFF2-40B4-BE49-F238E27FC236}">
                <a16:creationId xmlns:a16="http://schemas.microsoft.com/office/drawing/2014/main" id="{4D71E5EE-0AE4-4F48-9F91-80A4C470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62550"/>
            <a:ext cx="2305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66573"/>
                </a:solidFill>
              </a:defRPr>
            </a:pPr>
            <a:r>
              <a:rPr sz="900" b="0">
                <a:solidFill>
                  <a:srgbClr val="566573"/>
                </a:solidFill>
              </a:rPr>
              <a:t>Diagnostic only · does not choose the checkpoint</a:t>
            </a:r>
          </a:p>
        </p:txBody>
      </p:sp>
      <p:sp>
        <p:nvSpPr>
          <p:cNvPr id="33" name="test-split">
            <a:extLst xmlns:a="http://schemas.openxmlformats.org/drawingml/2006/main">
              <a:ext uri="{FF2B5EF4-FFF2-40B4-BE49-F238E27FC236}">
                <a16:creationId xmlns:a16="http://schemas.microsoft.com/office/drawing/2014/main" id="{D76E5924-66D1-4CFA-A42F-ACA6DB90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47950"/>
            <a:ext cx="3009900" cy="723900"/>
          </a:xfrm>
          <a:prstGeom xmlns:a="http://schemas.openxmlformats.org/drawingml/2006/main" prst="roundRect">
            <a:avLst>
              <a:gd name="adj" fmla="val 14474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14288">
            <a:solidFill>
              <a:srgbClr val="49A8A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test-split-title">
            <a:extLst xmlns:a="http://schemas.openxmlformats.org/drawingml/2006/main">
              <a:ext uri="{FF2B5EF4-FFF2-40B4-BE49-F238E27FC236}">
                <a16:creationId xmlns:a16="http://schemas.microsoft.com/office/drawing/2014/main" id="{F1D04007-0A43-4069-BDB5-E2EBE72A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724150"/>
            <a:ext cx="2724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6E6B"/>
                </a:solidFill>
              </a:defRPr>
            </a:pPr>
            <a:r>
              <a:rPr sz="1275" b="1">
                <a:solidFill>
                  <a:srgbClr val="146E6B"/>
                </a:solidFill>
              </a:rPr>
              <a:t>20% held-out test chronics</a:t>
            </a:r>
          </a:p>
        </p:txBody>
      </p:sp>
      <p:sp>
        <p:nvSpPr>
          <p:cNvPr id="35" name="test-split-body">
            <a:extLst xmlns:a="http://schemas.openxmlformats.org/drawingml/2006/main">
              <a:ext uri="{FF2B5EF4-FFF2-40B4-BE49-F238E27FC236}">
                <a16:creationId xmlns:a16="http://schemas.microsoft.com/office/drawing/2014/main" id="{87F84903-6AC1-4AAF-8296-1F9CD217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90850"/>
            <a:ext cx="2743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66573"/>
                </a:solidFill>
              </a:defRPr>
            </a:pPr>
            <a:r>
              <a:rPr sz="900" b="0">
                <a:solidFill>
                  <a:srgbClr val="566573"/>
                </a:solidFill>
              </a:rPr>
              <a:t>Never used for gradient updates</a:t>
            </a:r>
          </a:p>
        </p:txBody>
      </p:sp>
      <p:sp>
        <p:nvSpPr>
          <p:cNvPr id="36" name="periodic-test-eval">
            <a:extLst xmlns:a="http://schemas.openxmlformats.org/drawingml/2006/main">
              <a:ext uri="{FF2B5EF4-FFF2-40B4-BE49-F238E27FC236}">
                <a16:creationId xmlns:a16="http://schemas.microsoft.com/office/drawing/2014/main" id="{7DE304B6-DCD1-4E81-873F-FE90BA38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81400"/>
            <a:ext cx="3009900" cy="723900"/>
          </a:xfrm>
          <a:prstGeom xmlns:a="http://schemas.openxmlformats.org/drawingml/2006/main" prst="roundRect">
            <a:avLst>
              <a:gd name="adj" fmla="val 14474"/>
            </a:avLst>
          </a:prstGeom>
          <a:solidFill xmlns:a="http://schemas.openxmlformats.org/drawingml/2006/main">
            <a:srgbClr val="EFF9F8"/>
          </a:solidFill>
          <a:ln xmlns:a="http://schemas.openxmlformats.org/drawingml/2006/main" w="14288">
            <a:solidFill>
              <a:srgbClr val="49A8A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periodic-test-eval-title">
            <a:extLst xmlns:a="http://schemas.openxmlformats.org/drawingml/2006/main">
              <a:ext uri="{FF2B5EF4-FFF2-40B4-BE49-F238E27FC236}">
                <a16:creationId xmlns:a16="http://schemas.microsoft.com/office/drawing/2014/main" id="{6EC42732-7E9A-4B0C-B7B7-195669C4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657600"/>
            <a:ext cx="2724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6E6B"/>
                </a:solidFill>
              </a:defRPr>
            </a:pPr>
            <a:r>
              <a:rPr sz="1275" b="1">
                <a:solidFill>
                  <a:srgbClr val="146E6B"/>
                </a:solidFill>
              </a:rPr>
              <a:t>Deterministic test evaluation</a:t>
            </a:r>
          </a:p>
        </p:txBody>
      </p:sp>
      <p:sp>
        <p:nvSpPr>
          <p:cNvPr id="38" name="periodic-test-eval-body">
            <a:extLst xmlns:a="http://schemas.openxmlformats.org/drawingml/2006/main">
              <a:ext uri="{FF2B5EF4-FFF2-40B4-BE49-F238E27FC236}">
                <a16:creationId xmlns:a16="http://schemas.microsoft.com/office/drawing/2014/main" id="{B38096CD-28B6-422E-A69F-03E24ADE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24300"/>
            <a:ext cx="2743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66573"/>
                </a:solidFill>
              </a:defRPr>
            </a:pPr>
            <a:r>
              <a:rPr sz="900" b="0">
                <a:solidFill>
                  <a:srgbClr val="566573"/>
                </a:solidFill>
              </a:rPr>
              <a:t>Greedy actions on a held-out subset during training</a:t>
            </a:r>
          </a:p>
        </p:txBody>
      </p:sp>
      <p:sp>
        <p:nvSpPr>
          <p:cNvPr id="39" name="checkpoint-selection">
            <a:extLst xmlns:a="http://schemas.openxmlformats.org/drawingml/2006/main">
              <a:ext uri="{FF2B5EF4-FFF2-40B4-BE49-F238E27FC236}">
                <a16:creationId xmlns:a16="http://schemas.microsoft.com/office/drawing/2014/main" id="{EE43DEAE-C20F-4A2F-B886-35FB164E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14850"/>
            <a:ext cx="3009900" cy="723900"/>
          </a:xfrm>
          <a:prstGeom xmlns:a="http://schemas.openxmlformats.org/drawingml/2006/main" prst="roundRect">
            <a:avLst>
              <a:gd name="adj" fmla="val 14474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14288">
            <a:solidFill>
              <a:srgbClr val="49A8A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checkpoint-selection-title">
            <a:extLst xmlns:a="http://schemas.openxmlformats.org/drawingml/2006/main">
              <a:ext uri="{FF2B5EF4-FFF2-40B4-BE49-F238E27FC236}">
                <a16:creationId xmlns:a16="http://schemas.microsoft.com/office/drawing/2014/main" id="{DD6CF670-0541-4F4B-89F5-678F6634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591050"/>
            <a:ext cx="2724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6E6B"/>
                </a:solidFill>
              </a:defRPr>
            </a:pPr>
            <a:r>
              <a:rPr sz="1275" b="1">
                <a:solidFill>
                  <a:srgbClr val="146E6B"/>
                </a:solidFill>
              </a:rPr>
              <a:t>Best checkpoint</a:t>
            </a:r>
          </a:p>
        </p:txBody>
      </p:sp>
      <p:sp>
        <p:nvSpPr>
          <p:cNvPr id="41" name="checkpoint-selection-body">
            <a:extLst xmlns:a="http://schemas.openxmlformats.org/drawingml/2006/main">
              <a:ext uri="{FF2B5EF4-FFF2-40B4-BE49-F238E27FC236}">
                <a16:creationId xmlns:a16="http://schemas.microsoft.com/office/drawing/2014/main" id="{AECC447F-DFD5-4EE4-B22A-FC6466A8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57750"/>
            <a:ext cx="2743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66573"/>
                </a:solidFill>
              </a:defRPr>
            </a:pPr>
            <a:r>
              <a:rPr sz="900" b="0">
                <a:solidFill>
                  <a:srgbClr val="566573"/>
                </a:solidFill>
              </a:rPr>
              <a:t>Selected by mean held-out test survival</a:t>
            </a:r>
          </a:p>
        </p:txBody>
      </p:sp>
      <p:sp>
        <p:nvSpPr>
          <p:cNvPr id="42" name="final-test-eval">
            <a:extLst xmlns:a="http://schemas.openxmlformats.org/drawingml/2006/main">
              <a:ext uri="{FF2B5EF4-FFF2-40B4-BE49-F238E27FC236}">
                <a16:creationId xmlns:a16="http://schemas.microsoft.com/office/drawing/2014/main" id="{3ED001FE-F251-470E-BC5A-0FCACF89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448300"/>
            <a:ext cx="3009900" cy="723900"/>
          </a:xfrm>
          <a:prstGeom xmlns:a="http://schemas.openxmlformats.org/drawingml/2006/main" prst="roundRect">
            <a:avLst>
              <a:gd name="adj" fmla="val 14474"/>
            </a:avLst>
          </a:prstGeom>
          <a:solidFill xmlns:a="http://schemas.openxmlformats.org/drawingml/2006/main">
            <a:srgbClr val="E4F5F3"/>
          </a:solidFill>
          <a:ln xmlns:a="http://schemas.openxmlformats.org/drawingml/2006/main" w="14288">
            <a:solidFill>
              <a:srgbClr val="31989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3" name="final-test-eval-title">
            <a:extLst xmlns:a="http://schemas.openxmlformats.org/drawingml/2006/main">
              <a:ext uri="{FF2B5EF4-FFF2-40B4-BE49-F238E27FC236}">
                <a16:creationId xmlns:a16="http://schemas.microsoft.com/office/drawing/2014/main" id="{AA265E86-9C5F-4DFE-B3B8-290FD9EE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524500"/>
            <a:ext cx="2724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5F5C"/>
                </a:solidFill>
              </a:defRPr>
            </a:pPr>
            <a:r>
              <a:rPr sz="1275" b="1">
                <a:solidFill>
                  <a:srgbClr val="105F5C"/>
                </a:solidFill>
              </a:rPr>
              <a:t>Final full-split evaluation</a:t>
            </a:r>
          </a:p>
        </p:txBody>
      </p:sp>
      <p:sp>
        <p:nvSpPr>
          <p:cNvPr id="44" name="final-test-eval-body">
            <a:extLst xmlns:a="http://schemas.openxmlformats.org/drawingml/2006/main">
              <a:ext uri="{FF2B5EF4-FFF2-40B4-BE49-F238E27FC236}">
                <a16:creationId xmlns:a16="http://schemas.microsoft.com/office/drawing/2014/main" id="{D766749C-8B92-4CFD-9446-C7A4D091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791200"/>
            <a:ext cx="2743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66573"/>
                </a:solidFill>
              </a:defRPr>
            </a:pPr>
            <a:r>
              <a:rPr sz="900" b="0">
                <a:solidFill>
                  <a:srgbClr val="566573"/>
                </a:solidFill>
              </a:rPr>
              <a:t>Every chronic in the complete held-out test split</a:t>
            </a:r>
          </a:p>
        </p:txBody>
      </p:sp>
      <p:cxnSp>
        <p:nvCxnSpPr>
          <p:cNvPr id="96" name=""/>
          <p:cNvCxnSpPr>
            <a:stCxn xmlns:a="http://schemas.openxmlformats.org/drawingml/2006/main" id="19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 flipH="1">
            <a:off x="5629275" y="2190750"/>
            <a:ext cx="2276475" cy="457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D6874D"/>
            </a:solidFill>
            <a:prstDash val="solid"/>
            <a:tailEnd type="triangle" w="sm" len="sm"/>
          </a:ln>
        </p:spPr>
      </p:cxnSp>
      <p:cxnSp>
        <p:nvCxnSpPr>
          <p:cNvPr id="97" name=""/>
          <p:cNvCxnSpPr>
            <a:stCxn xmlns:a="http://schemas.openxmlformats.org/drawingml/2006/main" id="19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7905750" y="2190750"/>
            <a:ext cx="2057400" cy="457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88F8B"/>
            </a:solidFill>
            <a:prstDash val="solid"/>
            <a:tailEnd type="triangle" w="sm" len="sm"/>
          </a:ln>
        </p:spPr>
      </p:cxnSp>
      <p:cxnSp>
        <p:nvCxnSpPr>
          <p:cNvPr id="98" name=""/>
          <p:cNvCxnSpPr>
            <a:stCxn xmlns:a="http://schemas.openxmlformats.org/drawingml/2006/main" id="24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5629275" y="337185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874D"/>
            </a:solidFill>
            <a:prstDash val="solid"/>
            <a:tailEnd type="triangle" w="sm" len="sm"/>
          </a:ln>
        </p:spPr>
      </p:cxnSp>
      <p:cxnSp>
        <p:nvCxnSpPr>
          <p:cNvPr id="99" name=""/>
          <p:cNvCxnSpPr>
            <a:stCxn xmlns:a="http://schemas.openxmlformats.org/drawingml/2006/main" id="27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5629275" y="445770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874D"/>
            </a:solidFill>
            <a:prstDash val="dash"/>
            <a:tailEnd type="triangle" w="sm" len="sm"/>
          </a:ln>
        </p:spPr>
      </p:cxnSp>
      <p:cxnSp>
        <p:nvCxnSpPr>
          <p:cNvPr id="100" name=""/>
          <p:cNvCxnSpPr>
            <a:stCxn xmlns:a="http://schemas.openxmlformats.org/drawingml/2006/main" id="33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9963150" y="33718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8F8B"/>
            </a:solidFill>
            <a:prstDash val="solid"/>
            <a:tailEnd type="triangle" w="sm" len="sm"/>
          </a:ln>
        </p:spPr>
      </p:cxnSp>
      <p:cxnSp>
        <p:nvCxnSpPr>
          <p:cNvPr id="101" name=""/>
          <p:cNvCxnSpPr>
            <a:stCxn xmlns:a="http://schemas.openxmlformats.org/drawingml/2006/main" id="36" idx="2"/>
            <a:endCxn xmlns:a="http://schemas.openxmlformats.org/drawingml/2006/main" id="39" idx="0"/>
          </p:cNvCxnSpPr>
          <p:nvPr/>
        </p:nvCxnSpPr>
        <p:spPr>
          <a:xfrm xmlns:a="http://schemas.openxmlformats.org/drawingml/2006/main">
            <a:off x="9963150" y="430530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8F8B"/>
            </a:solidFill>
            <a:prstDash val="solid"/>
            <a:tailEnd type="triangle" w="sm" len="sm"/>
          </a:ln>
        </p:spPr>
      </p:cxnSp>
      <p:cxnSp>
        <p:nvCxnSpPr>
          <p:cNvPr id="102" name=""/>
          <p:cNvCxnSpPr>
            <a:stCxn xmlns:a="http://schemas.openxmlformats.org/drawingml/2006/main" id="39" idx="2"/>
            <a:endCxn xmlns:a="http://schemas.openxmlformats.org/drawingml/2006/main" id="42" idx="0"/>
          </p:cNvCxnSpPr>
          <p:nvPr/>
        </p:nvCxnSpPr>
        <p:spPr>
          <a:xfrm xmlns:a="http://schemas.openxmlformats.org/drawingml/2006/main">
            <a:off x="9963150" y="52387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8F8B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2737695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3-title">
            <a:extLst xmlns:a="http://schemas.openxmlformats.org/drawingml/2006/main">
              <a:ext uri="{FF2B5EF4-FFF2-40B4-BE49-F238E27FC236}">
                <a16:creationId xmlns:a16="http://schemas.microsoft.com/office/drawing/2014/main" id="{5738B212-2AA5-48F4-8812-5BEAF234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0"/>
                </a:solidFill>
              </a:defRPr>
            </a:pPr>
            <a:r>
              <a:rPr sz="2250" b="1">
                <a:solidFill>
                  <a:srgbClr val="111820"/>
                </a:solidFill>
              </a:rPr>
              <a:t>The IEEE-14 reference baseline trains for 25M steps with 80 PPO epochs</a:t>
            </a:r>
          </a:p>
        </p:txBody>
      </p:sp>
      <p:sp>
        <p:nvSpPr>
          <p:cNvPr id="2" name="slide3-subtitle">
            <a:extLst xmlns:a="http://schemas.openxmlformats.org/drawingml/2006/main">
              <a:ext uri="{FF2B5EF4-FFF2-40B4-BE49-F238E27FC236}">
                <a16:creationId xmlns:a16="http://schemas.microsoft.com/office/drawing/2014/main" id="{4D06F4A0-F331-4FE2-AEAD-C5B2A285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5247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A6875"/>
                </a:solidFill>
              </a:defRPr>
            </a:pPr>
            <a:r>
              <a:rPr sz="1125" b="0">
                <a:solidFill>
                  <a:srgbClr val="5A6875"/>
                </a:solidFill>
              </a:rPr>
              <a:t>Original MAPPO hyperparameters reproduced before architectural changes</a:t>
            </a:r>
          </a:p>
        </p:txBody>
      </p:sp>
      <p:sp>
        <p:nvSpPr>
          <p:cNvPr id="3" name="training-network-table-frame">
            <a:extLst xmlns:a="http://schemas.openxmlformats.org/drawingml/2006/main">
              <a:ext uri="{FF2B5EF4-FFF2-40B4-BE49-F238E27FC236}">
                <a16:creationId xmlns:a16="http://schemas.microsoft.com/office/drawing/2014/main" id="{7087D25D-FCA2-4DED-A342-EA8FCDED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00150"/>
            <a:ext cx="5276850" cy="493395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4" name="ppo-table-frame">
            <a:extLst xmlns:a="http://schemas.openxmlformats.org/drawingml/2006/main">
              <a:ext uri="{FF2B5EF4-FFF2-40B4-BE49-F238E27FC236}">
                <a16:creationId xmlns:a16="http://schemas.microsoft.com/office/drawing/2014/main" id="{219919D8-7412-4775-AFCE-E768A12E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200150"/>
            <a:ext cx="5981700" cy="493395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33400" y="1362075"/>
          <a:ext xmlns:a="http://schemas.openxmlformats.org/drawingml/2006/main" cx="4972050" cy="4552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1781175"/>
              </a:tblGrid>
              <a:tr h="45529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63641"/>
                          </a:solidFill>
                        </a:rPr>
                        <a:t>Hyperparameter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63641"/>
                          </a:solidFill>
                        </a:rPr>
                        <a:t>Value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55295">
                <a:tc gridSpan="2"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A75A24"/>
                          </a:solidFill>
                        </a:rPr>
                        <a:t>TRAINING</a:t>
                      </a:r>
                    </a:p>
                  </a:txBody>
                  <a:tcPr marL="91440" marR="91440" marT="45720" marB="45720">
                    <a:solidFill>
                      <a:srgbClr val="FFF2E8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529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Total timesteps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A75A24"/>
                          </a:solidFill>
                        </a:rPr>
                        <a:t>25M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529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Rollout steps per environment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2,000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529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Total rollout batch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A75A24"/>
                          </a:solidFill>
                        </a:rPr>
                        <a:t>20,000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529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Evaluation frequency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80,000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5295">
                <a:tc gridSpan="2"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76F9A"/>
                          </a:solidFill>
                        </a:rPr>
                        <a:t>NETWORK</a:t>
                      </a:r>
                    </a:p>
                  </a:txBody>
                  <a:tcPr marL="91440" marR="91440" marT="45720" marB="45720">
                    <a:solidFill>
                      <a:srgbClr val="EAF3FA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529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Actor architecture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MLP · 256 × 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529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Critic architecture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MLP · 256 × 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529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Activation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ReLU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"/>
          <p:cNvGraphicFramePr/>
          <p:nvPr/>
        </p:nvGraphicFramePr>
        <p:xfrm>
          <a:off xmlns:a="http://schemas.openxmlformats.org/drawingml/2006/main" x="5981700" y="1362075"/>
          <a:ext xmlns:a="http://schemas.openxmlformats.org/drawingml/2006/main" cx="5676900" cy="4552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38550"/>
                <a:gridCol w="2038350"/>
              </a:tblGrid>
              <a:tr h="325211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63641"/>
                          </a:solidFill>
                        </a:rPr>
                        <a:t>Hyperparameter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63641"/>
                          </a:solidFill>
                        </a:rPr>
                        <a:t>Value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325211">
                <a:tc gridSpan="2"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80579E"/>
                          </a:solidFill>
                        </a:rPr>
                        <a:t>PPO OPTIMIZATION</a:t>
                      </a:r>
                    </a:p>
                  </a:txBody>
                  <a:tcPr marL="91440" marR="91440" marT="45720" marB="45720">
                    <a:solidFill>
                      <a:srgbClr val="F2EAF8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521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Actor learning rate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3 × 10⁻⁵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521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Critic learning rate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3 × 10⁻⁵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521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Learning-rate schedule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Linear decay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521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Discount factor  γ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0.99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521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GAE parameter  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0.95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521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Update epochs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80579E"/>
                          </a:solidFill>
                        </a:rPr>
                        <a:t>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521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Minibatches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521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Clip coefficient  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0.20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521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Target KL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0.02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521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Maximum gradient norm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10.0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521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Entropy coefficient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0.01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521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Value-loss coefficient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0.50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lide3-source">
            <a:extLst xmlns:a="http://schemas.openxmlformats.org/drawingml/2006/main">
              <a:ext uri="{FF2B5EF4-FFF2-40B4-BE49-F238E27FC236}">
                <a16:creationId xmlns:a16="http://schemas.microsoft.com/office/drawing/2014/main" id="{865B4568-2198-4D10-80A9-3C3EACF9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67450"/>
            <a:ext cx="666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838C"/>
                </a:solidFill>
              </a:defRPr>
            </a:pPr>
            <a:r>
              <a:rPr sz="825" b="0">
                <a:solidFill>
                  <a:srgbClr val="77838C"/>
                </a:solidFill>
              </a:rPr>
              <a:t>Source: original IEEE-14 MAPPO baseline hyperparameters</a:t>
            </a:r>
          </a:p>
        </p:txBody>
      </p:sp>
    </p:spTree>
    <p:extLst>
      <p:ext uri="{BB962C8B-B14F-4D97-AF65-F5344CB8AC3E}">
        <p14:creationId xmlns:p14="http://schemas.microsoft.com/office/powerpoint/2010/main" val="7403622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2026-07-19T09:17:43.8120000Z</dcterms:created>
  <dcterms:modified xsi:type="dcterms:W3CDTF">2026-07-19T09:17:43.8120000Z</dcterms:modified>
</coreProperties>
</file>